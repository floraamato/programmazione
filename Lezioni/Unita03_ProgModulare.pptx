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3"/>
  </p:sldMasterIdLst>
  <p:notesMasterIdLst>
    <p:notesMasterId r:id="rId33"/>
  </p:notesMasterIdLst>
  <p:handoutMasterIdLst>
    <p:handoutMasterId r:id="rId34"/>
  </p:handoutMasterIdLst>
  <p:sldIdLst>
    <p:sldId id="368" r:id="rId4"/>
    <p:sldId id="363" r:id="rId5"/>
    <p:sldId id="341" r:id="rId6"/>
    <p:sldId id="364" r:id="rId7"/>
    <p:sldId id="343" r:id="rId8"/>
    <p:sldId id="344" r:id="rId9"/>
    <p:sldId id="345" r:id="rId10"/>
    <p:sldId id="342" r:id="rId11"/>
    <p:sldId id="346" r:id="rId12"/>
    <p:sldId id="352" r:id="rId13"/>
    <p:sldId id="350" r:id="rId14"/>
    <p:sldId id="351" r:id="rId15"/>
    <p:sldId id="353" r:id="rId16"/>
    <p:sldId id="354" r:id="rId17"/>
    <p:sldId id="355" r:id="rId18"/>
    <p:sldId id="357" r:id="rId19"/>
    <p:sldId id="358" r:id="rId20"/>
    <p:sldId id="359" r:id="rId21"/>
    <p:sldId id="365" r:id="rId22"/>
    <p:sldId id="366" r:id="rId23"/>
    <p:sldId id="360" r:id="rId24"/>
    <p:sldId id="361" r:id="rId25"/>
    <p:sldId id="367" r:id="rId26"/>
    <p:sldId id="310" r:id="rId27"/>
    <p:sldId id="260" r:id="rId28"/>
    <p:sldId id="262" r:id="rId29"/>
    <p:sldId id="263" r:id="rId30"/>
    <p:sldId id="264" r:id="rId31"/>
    <p:sldId id="369" r:id="rId32"/>
  </p:sldIdLst>
  <p:sldSz cx="9906000" cy="6858000" type="A4"/>
  <p:notesSz cx="7102475" cy="10233025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94" autoAdjust="0"/>
  </p:normalViewPr>
  <p:slideViewPr>
    <p:cSldViewPr>
      <p:cViewPr varScale="1">
        <p:scale>
          <a:sx n="117" d="100"/>
          <a:sy n="117" d="100"/>
        </p:scale>
        <p:origin x="1648" y="16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customXml" Target="../customXml/item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4DF94B-CC12-6B2C-7E43-5C8E28DB54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078163" cy="4778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t" anchorCtr="0" compatLnSpc="1">
            <a:prstTxWarp prst="textNoShape">
              <a:avLst/>
            </a:prstTxWarp>
          </a:bodyPr>
          <a:lstStyle>
            <a:lvl1pPr defTabSz="947864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3186959-8878-65F1-5608-E66B9DAE0A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11113"/>
            <a:ext cx="3078162" cy="4778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t" anchorCtr="0" compatLnSpc="1">
            <a:prstTxWarp prst="textNoShape">
              <a:avLst/>
            </a:prstTxWarp>
          </a:bodyPr>
          <a:lstStyle>
            <a:lvl1pPr algn="r" defTabSz="947864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29B1123-59E7-EE0F-3F0B-9725D737133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744075"/>
            <a:ext cx="3078163" cy="477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b" anchorCtr="0" compatLnSpc="1">
            <a:prstTxWarp prst="textNoShape">
              <a:avLst/>
            </a:prstTxWarp>
          </a:bodyPr>
          <a:lstStyle>
            <a:lvl1pPr defTabSz="947864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4485D89-C57F-6D34-7B44-3748B91E2FC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44075"/>
            <a:ext cx="3078162" cy="477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b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000" b="0" 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0853B8-07BA-4E71-88D2-05DE55C2BD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EBAD57F-788E-AEE2-EDCC-FB02DF13CC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078163" cy="4778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t" anchorCtr="0" compatLnSpc="1">
            <a:prstTxWarp prst="textNoShape">
              <a:avLst/>
            </a:prstTxWarp>
          </a:bodyPr>
          <a:lstStyle>
            <a:lvl1pPr defTabSz="790161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F223AE7-B9C7-5585-3235-79C0F5D4E4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11113"/>
            <a:ext cx="3078162" cy="4778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t" anchorCtr="0" compatLnSpc="1">
            <a:prstTxWarp prst="textNoShape">
              <a:avLst/>
            </a:prstTxWarp>
          </a:bodyPr>
          <a:lstStyle>
            <a:lvl1pPr algn="r" defTabSz="790161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0130A15-BC18-9651-38F6-591949EE44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744075"/>
            <a:ext cx="3078163" cy="477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b" anchorCtr="0" compatLnSpc="1">
            <a:prstTxWarp prst="textNoShape">
              <a:avLst/>
            </a:prstTxWarp>
          </a:bodyPr>
          <a:lstStyle>
            <a:lvl1pPr defTabSz="790161" eaLnBrk="0" hangingPunct="0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B375C7E-0B42-AB62-1D9D-295B2BDC37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44075"/>
            <a:ext cx="3078162" cy="477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744" tIns="0" rIns="19744" bIns="0" numCol="1" anchor="b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81A5BDC-0752-4E9A-9795-06FE564DDA7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356C8F8D-E1AD-A456-A14B-267F2DD0D17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4100"/>
            <a:ext cx="5205412" cy="4310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429" tIns="47716" rIns="95429" bIns="47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Fare clic per modificare gli stili delle note dello Schema</a:t>
            </a:r>
          </a:p>
          <a:p>
            <a:pPr lvl="1"/>
            <a:r>
              <a:rPr lang="it-IT" altLang="it-IT" noProof="0"/>
              <a:t>Secondo livello</a:t>
            </a:r>
          </a:p>
          <a:p>
            <a:pPr lvl="2"/>
            <a:r>
              <a:rPr lang="it-IT" altLang="it-IT" noProof="0"/>
              <a:t>Terzo livello</a:t>
            </a:r>
          </a:p>
          <a:p>
            <a:pPr lvl="3"/>
            <a:r>
              <a:rPr lang="it-IT" altLang="it-IT" noProof="0"/>
              <a:t>Quarto Livello</a:t>
            </a:r>
          </a:p>
          <a:p>
            <a:pPr lvl="4"/>
            <a:r>
              <a:rPr lang="it-IT" altLang="it-IT" noProof="0"/>
              <a:t>Quinto livello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70D805D1-5F99-154D-8401-75DE3AB1929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62025" y="893763"/>
            <a:ext cx="517842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75E7BF0-CB71-DF92-80D5-1F9CC51C8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6AC91E-D879-48FB-9755-0065AAC699A4}" type="slidenum">
              <a:rPr lang="en-US" altLang="it-IT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it-IT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1A3D7D1-D7AE-B15A-92B4-03576364E0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22" tIns="47311" rIns="94622" bIns="4731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it-IT"/>
              <a:t>Università di Napoli Federico II - Facoltà di Ingegneria - Corso di Laurea in Ingegneria Informatica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EE6FFC8-48E4-191D-65EE-44F28D3389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00A59D-1692-79ED-185F-FA8EC310E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egnaposto immagine diapositiva 1">
            <a:extLst>
              <a:ext uri="{FF2B5EF4-FFF2-40B4-BE49-F238E27FC236}">
                <a16:creationId xmlns:a16="http://schemas.microsoft.com/office/drawing/2014/main" id="{EA30D3B5-6AAD-77D1-249C-9F3F207224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Segnaposto note 2">
            <a:extLst>
              <a:ext uri="{FF2B5EF4-FFF2-40B4-BE49-F238E27FC236}">
                <a16:creationId xmlns:a16="http://schemas.microsoft.com/office/drawing/2014/main" id="{AC32046A-1324-8FB0-F5CF-7654672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en-US">
              <a:latin typeface="Arial" panose="020B0604020202020204" pitchFamily="34" charset="0"/>
            </a:endParaRPr>
          </a:p>
        </p:txBody>
      </p:sp>
      <p:sp>
        <p:nvSpPr>
          <p:cNvPr id="41987" name="Segnaposto numero diapositiva 3">
            <a:extLst>
              <a:ext uri="{FF2B5EF4-FFF2-40B4-BE49-F238E27FC236}">
                <a16:creationId xmlns:a16="http://schemas.microsoft.com/office/drawing/2014/main" id="{F0C1674F-F7A8-18C8-992D-535FCA16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88988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88988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88988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88988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fld id="{8F5E4EBF-2606-4078-B986-04E3D8FE4245}" type="slidenum">
              <a:rPr lang="it-IT" altLang="it-IT" sz="10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25</a:t>
            </a:fld>
            <a:endParaRPr lang="it-IT" altLang="it-IT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616A5BF6-FFF5-2BFA-AB2C-55609BC6F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726EAB26-7350-7A78-9058-B048623845CF}"/>
              </a:ext>
            </a:extLst>
          </p:cNvPr>
          <p:cNvGrpSpPr>
            <a:grpSpLocks/>
          </p:cNvGrpSpPr>
          <p:nvPr/>
        </p:nvGrpSpPr>
        <p:grpSpPr bwMode="auto">
          <a:xfrm>
            <a:off x="8116888" y="2992438"/>
            <a:ext cx="1450975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08C0646A-A755-15EA-3171-4E8166807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06CD3510-19E3-045D-11D0-F02DACC91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7CAAD65-12A8-3E73-42F8-A7AAD3828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C85A1D89-1954-1807-C8E4-98B5CD12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7CFD1798-AD9D-8807-88BF-E7650E1F9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82A7607-BC01-F2D1-5DE0-DEBA5838F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2F68E522-B9D2-3BB0-E59E-639CA86F9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F556929C-719A-5A19-BCBA-09C9AB5D3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DE66B3C5-CC00-A87C-73D3-6C0E4C8E2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77D4C4AE-EC00-55C8-58EA-FAB9D69F7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5E70001-AAE0-C2CA-5983-52AF6187F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F5616E19-68FC-5342-2960-F24EA9A7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C4EFBF5C-5C8E-CB13-F9E3-07BA9B8C6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A8378F24-5F3E-75D6-2019-9849B39D0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30E1D0-D987-7BD9-C869-C32EB3AE2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5CAA926F-3C3D-6DDF-26CF-22F3D883B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0766A897-5557-3007-02E9-B4C4AAC27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0B054397-F86A-6724-2080-7448CC32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3F3145AD-82DB-3382-04EF-FB23B86B8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D56A19F0-F880-005A-BEAC-858CA510D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F05C2E88-FDCC-7D26-543D-C58E809D9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FDAB7FF1-F7DB-31E9-799D-F6A84EDC3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0AAB32BE-D7D2-6FE4-2083-BEFA55AF7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C6CD6E44-2FB1-D8BD-1E13-1CDA6F58C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E0203D1C-2A08-7927-41A9-FC2EEA964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A15D0FB7-71D2-B90B-52E3-CFAC67F3F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ACC74D1-A946-7FD7-8A5D-0DD61E823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35F7B089-D2B9-C716-DEC7-53F352CDC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FD219821-6C1A-C94B-C586-999DED55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70E5309B-106B-CF8C-71F5-88BF413F1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E61B2EC0-4826-D4AC-DA36-F89CCD18F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981674B7-353E-573B-C963-6E8BDBAC2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200" y="2819400"/>
            <a:ext cx="8915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18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42900" y="466725"/>
            <a:ext cx="734695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Fare clic per modificare lo stile del titolo</a:t>
            </a:r>
          </a:p>
        </p:txBody>
      </p:sp>
      <p:sp>
        <p:nvSpPr>
          <p:cNvPr id="518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20750" y="3049588"/>
            <a:ext cx="67691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D0FC5BCB-7EDD-BD82-5694-168AD0916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2E8B249C-D52A-B25F-D2BE-2464358265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4B3681BF-9905-18BF-8E77-061C3DDB8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ACC9A-AD1F-4C2D-87D2-A3DF12463831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11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162BBF-4D90-6FCD-592D-4516B56451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796018-7032-E0E6-960D-627C77497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770BD68-4326-80DB-92BB-565EBCCB5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6D157-8B07-4D6A-9BE7-AC378364233F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24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3FB109-43A3-722A-9F7A-994CD755CC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2C81CC-C0AD-9AC3-1005-5F217DD617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8FD0C82-248E-7CE4-2A3F-79224E7A5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3BCF1-541F-463C-A592-E22EAB82602C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89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95300" y="1719263"/>
            <a:ext cx="43815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719263"/>
            <a:ext cx="43815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4371E7-BB69-56D3-F5B5-B8FEA035EC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68E46A-4321-82E2-0465-111F37660F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46B5699-92E3-4333-EDB7-42B9E9B4E5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932F2-B057-4A76-AD8E-AB14B0020622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4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7D8C3C-8823-31BC-3319-C45AC99B35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31484AE-FFD5-E0C2-DCDD-A5B696E7F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9A1F6D7-287E-9103-09A0-A784D1AAE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4D2A8-FDAC-4538-8E26-7B2A5462D82A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24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D21ED3-AA70-E242-313D-CEA15B4BAE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8A3BC5-F46F-FF31-C06E-EB369A2217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8E1C750-3171-2A21-ABA0-FB9271360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DDDDF-DE72-445C-B6AA-E6F341BBE038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54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B8DD6F3-60D5-662B-06F6-7D96F84CA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3826B0E-45CE-5F14-10BC-5163C6CE16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619AFD6-F449-5F62-78DF-A208390AA8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0DC51-AAB0-4064-B46C-5FCF979AB233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32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98828E-584D-98F3-ECB7-A14D59D93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FE71F3-16E6-6DDC-3C21-B14A042BCA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073B9A2-9CBE-7778-2DF7-144B3CD65C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7CDCA-115B-440F-A216-FA7E560149E6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0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43BD17-69C7-1D9B-6FA7-BEC91BBDFE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3A7F8E-3DB5-D066-C287-29CCC952B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8A84E0A-1752-0B30-5605-838291F569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E96BA-6DBA-4478-8D6D-222322E4F471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23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72E972-8F77-FBDF-7D48-0F204C1F08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1B0F80-0BE4-8844-C163-08C3D5A499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9479B6D-3560-71A7-EBD9-867096D9E8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1C270-8072-4231-93DC-AFFA5D6C6323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68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181850" y="122238"/>
            <a:ext cx="222885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95300" y="122238"/>
            <a:ext cx="653415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2AF98C8-810C-3C30-01C9-43A7C5FD77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0856A-6366-74C4-E479-F278295783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6E0D42A-D469-A48C-A32B-9C3FC5CB58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E2CC9-F014-4255-A9C4-5E69011154AA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23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F0DB6572-9D62-D935-051C-9AA755D1A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6475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BBC4BC-4245-39E0-52E7-7E649DE13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22238"/>
            <a:ext cx="81724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5FC362-35A4-2DCC-DF21-7587BDA57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719263"/>
            <a:ext cx="89154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517125" name="Rectangle 5">
            <a:extLst>
              <a:ext uri="{FF2B5EF4-FFF2-40B4-BE49-F238E27FC236}">
                <a16:creationId xmlns:a16="http://schemas.microsoft.com/office/drawing/2014/main" id="{B0BBE1EC-DEC4-1DCB-ED8C-DEB4F37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8400"/>
            <a:ext cx="2311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7126" name="Rectangle 6">
            <a:extLst>
              <a:ext uri="{FF2B5EF4-FFF2-40B4-BE49-F238E27FC236}">
                <a16:creationId xmlns:a16="http://schemas.microsoft.com/office/drawing/2014/main" id="{A6D40A06-FD60-941B-0B92-DF6AF44093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7127" name="Rectangle 7">
            <a:extLst>
              <a:ext uri="{FF2B5EF4-FFF2-40B4-BE49-F238E27FC236}">
                <a16:creationId xmlns:a16="http://schemas.microsoft.com/office/drawing/2014/main" id="{21B1393A-4246-B36F-3491-1CFC4E1AA2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311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/>
            </a:lvl1pPr>
          </a:lstStyle>
          <a:p>
            <a:pPr>
              <a:defRPr/>
            </a:pPr>
            <a:fld id="{E2B48217-9ACF-4CBB-829D-84A1075186E8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B2E716F2-5045-3806-5FE2-C9974EF51807}"/>
              </a:ext>
            </a:extLst>
          </p:cNvPr>
          <p:cNvGrpSpPr>
            <a:grpSpLocks/>
          </p:cNvGrpSpPr>
          <p:nvPr/>
        </p:nvGrpSpPr>
        <p:grpSpPr bwMode="auto">
          <a:xfrm>
            <a:off x="8832850" y="152400"/>
            <a:ext cx="858838" cy="1295400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2B0CF95D-7462-6A32-E191-6DADDF943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4BABD7AC-5C46-7E6F-4133-1AA02705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2647787C-E221-B58E-090B-0C401F901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1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C95368F2-4718-73F4-2F0B-884D21566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737BFF25-5090-43D6-4A8C-0D4EBA25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FAC88303-5A82-AD41-5214-1BA953F18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1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1CAD1D61-15E4-6CE1-F56C-F53877E2D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9FE2E0BD-28A4-AE2C-86A9-35F833DE6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3A7752C4-B6FD-25FC-A992-D6DE7727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406D88CD-F326-45C1-07D6-320FA1650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1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6AC26CA4-A7A1-B4FE-6FE9-56EF10978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560BE8F1-50A8-85DB-388D-2EB6FB7D4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125BD320-5F5F-4250-1DCB-C0E9CECD9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2FE29C4C-005E-EF07-06B5-B90B3171F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2F4AD76E-47F8-EEFF-D031-01FAFB1B1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1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EA8DD459-2C5D-287B-AFD8-7572BABAA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3CFE924B-BDE7-47C3-FFBE-0FA47C9F3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0CD68772-7668-5B8D-DC59-43F880051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9F2AC1D0-EADD-0E59-9C72-B961DEE03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1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A2FAD0DC-5267-DAC6-F926-0973EE4A5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469814A0-6E1A-EC04-73B2-0DD9DCE1B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3DD386E0-C281-491C-D2E2-C10EE2B47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4C6CEC4C-9DD7-4FB5-1482-1A64FB08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629E878B-1C10-6951-6A75-39F878DF5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1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D2A15313-8FFF-0877-01B6-3578B6DD4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4CA2E607-1BE4-0033-E6B8-3737ACE9E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C3862DC1-DD95-CD72-8D5A-1DA5081E0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D89F69C0-9A7A-07D3-E070-66FABE913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1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2DB4099C-155E-44BF-E18B-F16615A70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5F9F78E7-6483-E0D0-4FC4-E46A37E51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57B20A74-01E8-7F43-683E-9F65770B9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6559104-678F-2A7A-85CC-7A74D0E252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50838" y="2060575"/>
            <a:ext cx="7839075" cy="1152525"/>
          </a:xfrm>
        </p:spPr>
        <p:txBody>
          <a:bodyPr/>
          <a:lstStyle/>
          <a:p>
            <a:pPr algn="ctr" eaLnBrk="1" hangingPunct="1"/>
            <a:r>
              <a:rPr lang="en-US" altLang="it-IT" sz="4000">
                <a:latin typeface="Times New Roman" panose="02020603050405020304" pitchFamily="18" charset="0"/>
              </a:rPr>
              <a:t>Corso di Programmazione </a:t>
            </a:r>
            <a:br>
              <a:rPr lang="en-US" altLang="it-IT" sz="4000">
                <a:latin typeface="Times New Roman" panose="02020603050405020304" pitchFamily="18" charset="0"/>
              </a:rPr>
            </a:br>
            <a:endParaRPr lang="en-US" altLang="it-IT" sz="4000" b="0" i="1">
              <a:latin typeface="Times New Roman" panose="02020603050405020304" pitchFamily="18" charset="0"/>
            </a:endParaRPr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49453557-7162-DE3A-974B-F17C040754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2800" b="1" i="1">
                <a:latin typeface="Times New Roman" panose="02020603050405020304" pitchFamily="18" charset="0"/>
              </a:rPr>
              <a:t>Programmazione modulare: concetti base</a:t>
            </a:r>
          </a:p>
        </p:txBody>
      </p:sp>
      <p:sp>
        <p:nvSpPr>
          <p:cNvPr id="15363" name="Text Box 6">
            <a:extLst>
              <a:ext uri="{FF2B5EF4-FFF2-40B4-BE49-F238E27FC236}">
                <a16:creationId xmlns:a16="http://schemas.microsoft.com/office/drawing/2014/main" id="{C0A58B9B-3ED1-524D-D42C-43B544913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260350"/>
            <a:ext cx="7280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/>
              <a:t>Università di Napoli Federico II - </a:t>
            </a:r>
            <a:r>
              <a:rPr lang="en-GB" altLang="it-IT" sz="1200"/>
              <a:t>Dip. di Ingegneria Elettrica e delle Tecnologie dell’Informazione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15364" name="Immagine 1">
            <a:extLst>
              <a:ext uri="{FF2B5EF4-FFF2-40B4-BE49-F238E27FC236}">
                <a16:creationId xmlns:a16="http://schemas.microsoft.com/office/drawing/2014/main" id="{81000E78-B8F6-5532-D289-FDB504DDE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88" y="373063"/>
            <a:ext cx="9159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AEF1B2E-F0B9-16D9-06BF-B10B11850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050" y="-387350"/>
            <a:ext cx="8172450" cy="1295400"/>
          </a:xfrm>
        </p:spPr>
        <p:txBody>
          <a:bodyPr/>
          <a:lstStyle/>
          <a:p>
            <a:pPr eaLnBrk="1" hangingPunct="1"/>
            <a:r>
              <a:rPr lang="en-US" altLang="it-IT"/>
              <a:t>Il problema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51A96683-97EF-4BC7-7BE0-DC1139F82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3050" y="1268413"/>
            <a:ext cx="9137650" cy="50403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600"/>
              <a:t>Lo sviluppo di sistemi software complessi (programmazione in grande o “in the large”) richiede di: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200"/>
              <a:t>poter suddividere il lavoro tra diversi gruppi di lavoro e di contenere i tempi e i costi di sviluppo che sono in generale molto alti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200"/>
              <a:t>Garantire la qualità del software in termini di: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100"/>
              <a:t>Affidabilità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100"/>
              <a:t>Prestazioni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100"/>
              <a:t>Modificabilità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100"/>
              <a:t>Estensibilità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2100"/>
              <a:t>Riutilizzo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600"/>
              <a:t>La programmazione modulare è un necessario approccio alla </a:t>
            </a:r>
            <a:r>
              <a:rPr lang="it-IT" altLang="it-IT" sz="2600" b="1" i="1"/>
              <a:t>programmazione in grande, </a:t>
            </a:r>
            <a:r>
              <a:rPr lang="it-IT" altLang="it-IT" sz="2600"/>
              <a:t>in quanto consente gestire la complessità del sistema da realizzare suddividendolo in parti tra loro correlate.</a:t>
            </a:r>
            <a:endParaRPr lang="en-US" altLang="it-IT"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B982D06-FB53-8218-2B5C-34E511EAB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5925" y="260350"/>
            <a:ext cx="8420100" cy="812800"/>
          </a:xfrm>
        </p:spPr>
        <p:txBody>
          <a:bodyPr/>
          <a:lstStyle/>
          <a:p>
            <a:pPr eaLnBrk="1" hangingPunct="1"/>
            <a:r>
              <a:rPr lang="it-IT" altLang="it-IT"/>
              <a:t>Modularizzazione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8AEFC1B4-1C11-1FF2-1A41-FF4B8DFE8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341438"/>
            <a:ext cx="84201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600"/>
              <a:t>La </a:t>
            </a:r>
            <a:r>
              <a:rPr lang="it-IT" altLang="it-IT" sz="2600" b="1" i="1">
                <a:solidFill>
                  <a:schemeClr val="accent2"/>
                </a:solidFill>
              </a:rPr>
              <a:t>modularizzazione</a:t>
            </a:r>
            <a:r>
              <a:rPr lang="it-IT" altLang="it-IT" sz="2600" b="1"/>
              <a:t> </a:t>
            </a:r>
            <a:r>
              <a:rPr lang="it-IT" altLang="it-IT" sz="2600"/>
              <a:t>è la suddivisione in parti (moduli) di un sistema, in modo che esso risulti più semplice da comprendere e manipolare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Essa determina la definizione di una “architettura”, che descrive l’organizzazione del sistema in parti e le interconnessioni tra di esse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Gran parte dei </a:t>
            </a:r>
            <a:r>
              <a:rPr lang="it-IT" altLang="it-IT" sz="2600" b="1"/>
              <a:t>sistemi complessi</a:t>
            </a:r>
            <a:r>
              <a:rPr lang="it-IT" altLang="it-IT" sz="2600"/>
              <a:t> sono modulari. Ad esempio, un elaboratore: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Sottosistema di elaborazione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Sottosistema di memorizzazione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Sottosistema di comunicazione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Rete di interconnessione</a:t>
            </a:r>
          </a:p>
          <a:p>
            <a:pPr marL="742950" lvl="1" indent="-285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A4E2235A-EF4A-1EBA-CB42-444530413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Modularizzazione e Astrazione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A5DFA399-93AC-36E8-0421-B018EA919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916113"/>
            <a:ext cx="8915400" cy="4411662"/>
          </a:xfrm>
        </p:spPr>
        <p:txBody>
          <a:bodyPr/>
          <a:lstStyle/>
          <a:p>
            <a:pPr eaLnBrk="1" hangingPunct="1"/>
            <a:r>
              <a:rPr lang="en-US" altLang="it-IT"/>
              <a:t>La suddivisione di un sistema in parti richiede che ciascuna di esse realizzi un aspetto o un comportamento ben definito all’interno del sistema</a:t>
            </a:r>
          </a:p>
          <a:p>
            <a:pPr eaLnBrk="1" hangingPunct="1"/>
            <a:r>
              <a:rPr lang="en-US" altLang="it-IT"/>
              <a:t>E’ necessario a questo scopo che venga effettuato un processo di astrazione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C62FBC8-BB09-F5CD-5B58-992EDDCB2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60350"/>
            <a:ext cx="8420100" cy="812800"/>
          </a:xfrm>
        </p:spPr>
        <p:txBody>
          <a:bodyPr/>
          <a:lstStyle/>
          <a:p>
            <a:pPr eaLnBrk="1" hangingPunct="1"/>
            <a:r>
              <a:rPr lang="it-IT" altLang="it-IT"/>
              <a:t>Il processo di astrazione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A0C6C34F-1318-E1E1-88AA-515DC6778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1484313"/>
            <a:ext cx="84201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600"/>
              <a:t>L’</a:t>
            </a:r>
            <a:r>
              <a:rPr lang="it-IT" altLang="it-IT" sz="2600" i="1">
                <a:solidFill>
                  <a:schemeClr val="accent2"/>
                </a:solidFill>
              </a:rPr>
              <a:t>astrazione</a:t>
            </a:r>
            <a:r>
              <a:rPr lang="it-IT" altLang="it-IT" sz="2600"/>
              <a:t> è il processo che porta ad individuare e considerare le proprietà rilevanti di un’entità, ignorando i dettagli inessenziali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Le proprietà prese in considerazione definiscono una particolare vista dell’entità (che può in generale essere considerata secondo viste diverse)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Esempio: una persona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vista “anagrafica”:</a:t>
            </a:r>
          </a:p>
          <a:p>
            <a:pPr marL="1143000" lvl="2" indent="-228600" eaLnBrk="1" hangingPunct="1">
              <a:lnSpc>
                <a:spcPct val="90000"/>
              </a:lnSpc>
            </a:pPr>
            <a:r>
              <a:rPr lang="it-IT" altLang="it-IT" sz="2100"/>
              <a:t>Nome, cognome, data di nascita, luogo di nascita, residenza ...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it-IT" altLang="it-IT" sz="2200"/>
              <a:t>visita “clinica”:</a:t>
            </a:r>
          </a:p>
          <a:p>
            <a:pPr marL="1143000" lvl="2" indent="-228600" eaLnBrk="1" hangingPunct="1">
              <a:lnSpc>
                <a:spcPct val="90000"/>
              </a:lnSpc>
            </a:pPr>
            <a:r>
              <a:rPr lang="it-IT" altLang="it-IT" sz="2100"/>
              <a:t>Temperatura corporea, peso, pressione arteriosa, ...</a:t>
            </a:r>
          </a:p>
          <a:p>
            <a:pPr eaLnBrk="1" hangingPunct="1">
              <a:lnSpc>
                <a:spcPct val="90000"/>
              </a:lnSpc>
            </a:pPr>
            <a:endParaRPr lang="it-IT" altLang="it-IT"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87254F46-56EF-7DEC-5C4F-C4EAA850A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388" y="404813"/>
            <a:ext cx="8420100" cy="787400"/>
          </a:xfrm>
        </p:spPr>
        <p:txBody>
          <a:bodyPr/>
          <a:lstStyle/>
          <a:p>
            <a:pPr eaLnBrk="1" hangingPunct="1"/>
            <a:r>
              <a:rPr lang="it-IT" altLang="it-IT"/>
              <a:t>L’importanza delle astrazioni</a:t>
            </a:r>
            <a:endParaRPr lang="en-GB" altLang="it-IT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E66B74E-498E-A8C8-25BA-2058668EC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484313"/>
            <a:ext cx="8420100" cy="5003800"/>
          </a:xfrm>
        </p:spPr>
        <p:txBody>
          <a:bodyPr/>
          <a:lstStyle/>
          <a:p>
            <a:pPr eaLnBrk="1" hangingPunct="1"/>
            <a:r>
              <a:rPr lang="it-IT" altLang="it-IT"/>
              <a:t>Problemi complessi possono essere gestiti e risolti facendo uso di astrazioni, ad esempio sviluppando un modello della realtà/sistema ad un (appropriato) livello di astrazione:</a:t>
            </a:r>
          </a:p>
          <a:p>
            <a:pPr marL="742950" lvl="1" indent="-285750" eaLnBrk="1" hangingPunct="1"/>
            <a:r>
              <a:rPr lang="it-IT" altLang="it-IT"/>
              <a:t>Sufficientemente dettagliato da renderne significativa l’analisi</a:t>
            </a:r>
          </a:p>
          <a:p>
            <a:pPr marL="742950" lvl="1" indent="-285750" eaLnBrk="1" hangingPunct="1"/>
            <a:r>
              <a:rPr lang="it-IT" altLang="it-IT"/>
              <a:t>Non tanto dettagliato da rendere troppo onerosa l’analisi</a:t>
            </a:r>
          </a:p>
          <a:p>
            <a:pPr marL="742950" lvl="1" indent="-285750" eaLnBrk="1" hangingPunct="1"/>
            <a:r>
              <a:rPr lang="it-IT" altLang="it-IT"/>
              <a:t>I linguaggi di programmazione fanno uso di diverse astrazioni, ad esempio i TIPI di dato, i sottoprogrammi, etc…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endParaRPr lang="it-IT" altLang="it-IT"/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/>
          </a:p>
          <a:p>
            <a:pPr eaLnBrk="1" hangingPunct="1"/>
            <a:endParaRPr lang="it-IT" alt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C57C817-E2DB-C77A-112F-D9076F4B5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-315913"/>
            <a:ext cx="8172450" cy="1295401"/>
          </a:xfrm>
        </p:spPr>
        <p:txBody>
          <a:bodyPr/>
          <a:lstStyle/>
          <a:p>
            <a:pPr eaLnBrk="1" hangingPunct="1"/>
            <a:r>
              <a:rPr lang="it-IT" altLang="it-IT"/>
              <a:t>Meccanismi di astrazione</a:t>
            </a:r>
          </a:p>
        </p:txBody>
      </p:sp>
      <p:sp>
        <p:nvSpPr>
          <p:cNvPr id="22530" name="Rectangle 5">
            <a:extLst>
              <a:ext uri="{FF2B5EF4-FFF2-40B4-BE49-F238E27FC236}">
                <a16:creationId xmlns:a16="http://schemas.microsoft.com/office/drawing/2014/main" id="{EAC8D508-0512-BE82-2A7F-634E59F34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1196975"/>
            <a:ext cx="8640762" cy="53736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I meccanismi di astrazione più diffusi sono: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/>
              <a:t> Astrazione sul controllo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/>
              <a:t> Astrazione sui dati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L’astrazione fondamentale dei linguaggi procedurali è l’astrazione sul controllo che consiste nell'astrarre una data funzionalità dai dettagli della sua implementazione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L’astrazione fondamentale dei linguaggi a oggetti è l’astrazione sui dati che c</a:t>
            </a:r>
            <a:r>
              <a:rPr lang="it-IT" altLang="it-IT" sz="2800">
                <a:cs typeface="Times New Roman" panose="02020603050405020304" pitchFamily="18" charset="0"/>
              </a:rPr>
              <a:t>onsiste nell'astrarre le entità (oggetti) costituenti il sistema, descritte in termini di una struttura dati e delle operazioni possibili su di essa</a:t>
            </a:r>
            <a:endParaRPr lang="en-US" altLang="it-IT" sz="2800"/>
          </a:p>
          <a:p>
            <a:pPr eaLnBrk="1" hangingPunct="1">
              <a:lnSpc>
                <a:spcPct val="90000"/>
              </a:lnSpc>
            </a:pPr>
            <a:endParaRPr lang="en-US" altLang="it-IT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F5E59C9-42CA-81FD-A004-22D2939BF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Il concetto di modulo</a:t>
            </a:r>
          </a:p>
        </p:txBody>
      </p:sp>
      <p:sp>
        <p:nvSpPr>
          <p:cNvPr id="23554" name="Rectangle 13">
            <a:extLst>
              <a:ext uri="{FF2B5EF4-FFF2-40B4-BE49-F238E27FC236}">
                <a16:creationId xmlns:a16="http://schemas.microsoft.com/office/drawing/2014/main" id="{C99DAF4F-76F6-9B54-A0D6-DAE259BBD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1628775"/>
            <a:ext cx="8915400" cy="4411663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it-IT" sz="2600"/>
              <a:t>Un modulo in un sistema software è un componente che può essere utilizzato per </a:t>
            </a:r>
            <a:r>
              <a:rPr lang="it-IT" altLang="it-IT" sz="2600" i="1">
                <a:solidFill>
                  <a:srgbClr val="FF3300"/>
                </a:solidFill>
              </a:rPr>
              <a:t>realizzare una astrazione</a:t>
            </a:r>
          </a:p>
          <a:p>
            <a:pPr eaLnBrk="1" hangingPunct="1"/>
            <a:r>
              <a:rPr lang="it-IT" altLang="it-IT" sz="2600"/>
              <a:t>In generale può </a:t>
            </a:r>
            <a:r>
              <a:rPr lang="it-IT" altLang="it-IT" sz="2600">
                <a:solidFill>
                  <a:srgbClr val="FF3300"/>
                </a:solidFill>
              </a:rPr>
              <a:t>esportare</a:t>
            </a:r>
            <a:r>
              <a:rPr lang="it-IT" altLang="it-IT" sz="2600"/>
              <a:t> all’esterno:</a:t>
            </a:r>
          </a:p>
          <a:p>
            <a:pPr lvl="1" eaLnBrk="1" hangingPunct="1"/>
            <a:r>
              <a:rPr lang="it-IT" altLang="it-IT" sz="2200"/>
              <a:t>servizi/funzioni (“astrazione sul controllo”)</a:t>
            </a:r>
          </a:p>
          <a:p>
            <a:pPr lvl="1" eaLnBrk="1" hangingPunct="1"/>
            <a:r>
              <a:rPr lang="it-IT" altLang="it-IT" sz="2200"/>
              <a:t>dati (“astrazione sui dati”)</a:t>
            </a:r>
          </a:p>
          <a:p>
            <a:pPr lvl="1" eaLnBrk="1" hangingPunct="1"/>
            <a:r>
              <a:rPr lang="it-IT" altLang="it-IT" sz="2200"/>
              <a:t>identificativi</a:t>
            </a:r>
          </a:p>
          <a:p>
            <a:pPr eaLnBrk="1" hangingPunct="1"/>
            <a:r>
              <a:rPr lang="it-IT" altLang="it-IT" sz="2600"/>
              <a:t>A sua volta può </a:t>
            </a:r>
            <a:r>
              <a:rPr lang="it-IT" altLang="it-IT" sz="2600">
                <a:solidFill>
                  <a:srgbClr val="FF3300"/>
                </a:solidFill>
              </a:rPr>
              <a:t>importare</a:t>
            </a:r>
            <a:r>
              <a:rPr lang="it-IT" altLang="it-IT" sz="2600"/>
              <a:t> dati, funzionalità e identificativi da altri moduli</a:t>
            </a:r>
          </a:p>
          <a:p>
            <a:pPr eaLnBrk="1" hangingPunct="1"/>
            <a:r>
              <a:rPr lang="it-IT" altLang="it-IT" sz="2600"/>
              <a:t>E’ definito come una unità di compilazione</a:t>
            </a:r>
          </a:p>
          <a:p>
            <a:pPr eaLnBrk="1" hangingPunct="1"/>
            <a:r>
              <a:rPr lang="it-IT" altLang="it-IT" sz="2600"/>
              <a:t>Definisce un AMBIENTE DI VISIBILITA’</a:t>
            </a:r>
          </a:p>
          <a:p>
            <a:pPr eaLnBrk="1" hangingPunct="1"/>
            <a:endParaRPr lang="it-IT" altLang="it-IT" sz="2600">
              <a:solidFill>
                <a:srgbClr val="FF3300"/>
              </a:solidFill>
            </a:endParaRPr>
          </a:p>
          <a:p>
            <a:pPr eaLnBrk="1" hangingPunct="1"/>
            <a:endParaRPr lang="en-US" altLang="it-IT" sz="2600" b="1" i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06571C95-BCC3-54E4-7041-826B014CC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-242888"/>
            <a:ext cx="8172450" cy="1295401"/>
          </a:xfrm>
        </p:spPr>
        <p:txBody>
          <a:bodyPr/>
          <a:lstStyle/>
          <a:p>
            <a:pPr eaLnBrk="1" hangingPunct="1"/>
            <a:r>
              <a:rPr lang="en-US" altLang="it-IT"/>
              <a:t>Realizzazione di un modulo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0FB2682D-F458-A28D-6DEC-2F1916F8D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341438"/>
            <a:ext cx="5465763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/>
              <a:t>È dotato di una chiara separazione tra: 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i="1"/>
              <a:t>Interfaccia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i="1"/>
              <a:t>Corpo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L’interfaccia specifica “cosa” fa il modulo (l’astrazione realizzata) e “come” si utilizza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Il corpo descrive “come” l’astrazione è realizzata</a:t>
            </a:r>
          </a:p>
          <a:p>
            <a:pPr eaLnBrk="1" hangingPunct="1">
              <a:lnSpc>
                <a:spcPct val="90000"/>
              </a:lnSpc>
            </a:pPr>
            <a:endParaRPr lang="en-US" altLang="it-IT"/>
          </a:p>
        </p:txBody>
      </p:sp>
      <p:grpSp>
        <p:nvGrpSpPr>
          <p:cNvPr id="24579" name="Group 4">
            <a:extLst>
              <a:ext uri="{FF2B5EF4-FFF2-40B4-BE49-F238E27FC236}">
                <a16:creationId xmlns:a16="http://schemas.microsoft.com/office/drawing/2014/main" id="{7C6E9E8D-B633-8610-D8BD-67CEBEE0EC14}"/>
              </a:ext>
            </a:extLst>
          </p:cNvPr>
          <p:cNvGrpSpPr>
            <a:grpSpLocks/>
          </p:cNvGrpSpPr>
          <p:nvPr/>
        </p:nvGrpSpPr>
        <p:grpSpPr bwMode="auto">
          <a:xfrm>
            <a:off x="6105525" y="2133600"/>
            <a:ext cx="2890838" cy="3848100"/>
            <a:chOff x="3600" y="984"/>
            <a:chExt cx="2008" cy="2480"/>
          </a:xfrm>
        </p:grpSpPr>
        <p:grpSp>
          <p:nvGrpSpPr>
            <p:cNvPr id="24583" name="Group 5">
              <a:extLst>
                <a:ext uri="{FF2B5EF4-FFF2-40B4-BE49-F238E27FC236}">
                  <a16:creationId xmlns:a16="http://schemas.microsoft.com/office/drawing/2014/main" id="{ECE0C92D-FF97-88F2-CA75-71AD7A702C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984"/>
              <a:ext cx="2008" cy="2480"/>
              <a:chOff x="2896" y="1544"/>
              <a:chExt cx="2304" cy="2448"/>
            </a:xfrm>
          </p:grpSpPr>
          <p:sp>
            <p:nvSpPr>
              <p:cNvPr id="24586" name="Rectangle 6">
                <a:extLst>
                  <a:ext uri="{FF2B5EF4-FFF2-40B4-BE49-F238E27FC236}">
                    <a16:creationId xmlns:a16="http://schemas.microsoft.com/office/drawing/2014/main" id="{F80B5F1D-781D-BA83-9D7C-3C175F5A8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6" y="1544"/>
                <a:ext cx="2304" cy="24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it-IT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87" name="Line 7">
                <a:extLst>
                  <a:ext uri="{FF2B5EF4-FFF2-40B4-BE49-F238E27FC236}">
                    <a16:creationId xmlns:a16="http://schemas.microsoft.com/office/drawing/2014/main" id="{84D0B662-6E4F-FB19-E768-9B48F42EF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6" y="2264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it-IT"/>
              </a:p>
            </p:txBody>
          </p:sp>
        </p:grpSp>
        <p:sp>
          <p:nvSpPr>
            <p:cNvPr id="24584" name="Text Box 8">
              <a:extLst>
                <a:ext uri="{FF2B5EF4-FFF2-40B4-BE49-F238E27FC236}">
                  <a16:creationId xmlns:a16="http://schemas.microsoft.com/office/drawing/2014/main" id="{DC10858B-422D-2CBF-6759-7438EEBB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" y="1090"/>
              <a:ext cx="1031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Times New Roman" panose="02020603050405020304" pitchFamily="18" charset="0"/>
                </a:rPr>
                <a:t>Interfaccia</a:t>
              </a:r>
            </a:p>
          </p:txBody>
        </p:sp>
        <p:sp>
          <p:nvSpPr>
            <p:cNvPr id="24585" name="Text Box 9">
              <a:extLst>
                <a:ext uri="{FF2B5EF4-FFF2-40B4-BE49-F238E27FC236}">
                  <a16:creationId xmlns:a16="http://schemas.microsoft.com/office/drawing/2014/main" id="{88CEF63C-F2CE-3292-61F8-942967B35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4" y="1818"/>
              <a:ext cx="657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Times New Roman" panose="02020603050405020304" pitchFamily="18" charset="0"/>
                </a:rPr>
                <a:t>Corpo</a:t>
              </a:r>
            </a:p>
          </p:txBody>
        </p:sp>
      </p:grpSp>
      <p:sp>
        <p:nvSpPr>
          <p:cNvPr id="24580" name="Text Box 10">
            <a:extLst>
              <a:ext uri="{FF2B5EF4-FFF2-40B4-BE49-F238E27FC236}">
                <a16:creationId xmlns:a16="http://schemas.microsoft.com/office/drawing/2014/main" id="{ECEAA9F4-D787-38EE-4BAD-8FD536302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563" y="6053138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000066"/>
                </a:solidFill>
                <a:latin typeface="Times New Roman" panose="02020603050405020304" pitchFamily="18" charset="0"/>
              </a:rPr>
              <a:t>Modulo</a:t>
            </a:r>
          </a:p>
        </p:txBody>
      </p:sp>
      <p:sp>
        <p:nvSpPr>
          <p:cNvPr id="24581" name="Text Box 11">
            <a:extLst>
              <a:ext uri="{FF2B5EF4-FFF2-40B4-BE49-F238E27FC236}">
                <a16:creationId xmlns:a16="http://schemas.microsoft.com/office/drawing/2014/main" id="{E5F83DA2-D2C3-C96E-963E-4461B3F87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513" y="2803525"/>
            <a:ext cx="219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(Visibile dall’esterno)</a:t>
            </a:r>
          </a:p>
        </p:txBody>
      </p:sp>
      <p:sp>
        <p:nvSpPr>
          <p:cNvPr id="24582" name="Text Box 12">
            <a:extLst>
              <a:ext uri="{FF2B5EF4-FFF2-40B4-BE49-F238E27FC236}">
                <a16:creationId xmlns:a16="http://schemas.microsoft.com/office/drawing/2014/main" id="{65E50611-898A-7718-8AD1-EA3A50859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513" y="4073525"/>
            <a:ext cx="217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(Nascosto all’esterno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e protetto)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74093DEB-1B33-BAFB-11CA-9D7F417FB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Relazioni tra moduli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CBF46C85-479E-8E52-DDBF-6DAC69E81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388" y="1700213"/>
            <a:ext cx="8915400" cy="4411662"/>
          </a:xfrm>
        </p:spPr>
        <p:txBody>
          <a:bodyPr/>
          <a:lstStyle/>
          <a:p>
            <a:pPr eaLnBrk="1" hangingPunct="1"/>
            <a:r>
              <a:rPr lang="en-US" altLang="it-IT" sz="2400"/>
              <a:t>“usa”: M1 usa M2 se importa dati e/o funzionalità esportati da M2</a:t>
            </a:r>
          </a:p>
          <a:p>
            <a:pPr eaLnBrk="1" hangingPunct="1"/>
            <a:r>
              <a:rPr lang="en-US" altLang="it-IT" sz="2400"/>
              <a:t>“è composto da”: M1 è costruito a partire da altri moduli secondo una metodologia di sviluppo “top down” o “bottom up”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1AE34BED-E6F7-A258-93F7-5981ED4AD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3663950"/>
            <a:ext cx="1223963" cy="12112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800"/>
              <a:t>PLAYLIST</a:t>
            </a:r>
          </a:p>
        </p:txBody>
      </p:sp>
      <p:sp>
        <p:nvSpPr>
          <p:cNvPr id="25604" name="Rectangle 5">
            <a:extLst>
              <a:ext uri="{FF2B5EF4-FFF2-40B4-BE49-F238E27FC236}">
                <a16:creationId xmlns:a16="http://schemas.microsoft.com/office/drawing/2014/main" id="{4762ABF7-3081-2D09-AE4F-81250E5AE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3663950"/>
            <a:ext cx="1997075" cy="12112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800"/>
              <a:t>RIPRODUTTORE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800"/>
              <a:t>AUDIO</a:t>
            </a:r>
          </a:p>
        </p:txBody>
      </p:sp>
      <p:cxnSp>
        <p:nvCxnSpPr>
          <p:cNvPr id="25605" name="Connettore 2 5">
            <a:extLst>
              <a:ext uri="{FF2B5EF4-FFF2-40B4-BE49-F238E27FC236}">
                <a16:creationId xmlns:a16="http://schemas.microsoft.com/office/drawing/2014/main" id="{011E0B97-68EA-516F-1696-07FEB9337CB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002088" y="4270375"/>
            <a:ext cx="86201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06" name="Rectangle 5">
            <a:extLst>
              <a:ext uri="{FF2B5EF4-FFF2-40B4-BE49-F238E27FC236}">
                <a16:creationId xmlns:a16="http://schemas.microsoft.com/office/drawing/2014/main" id="{854CED62-F6C8-C7F7-1827-5462CAEC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613" y="5272088"/>
            <a:ext cx="1223962" cy="1209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800"/>
              <a:t>PLAYLIST</a:t>
            </a:r>
          </a:p>
        </p:txBody>
      </p:sp>
      <p:sp>
        <p:nvSpPr>
          <p:cNvPr id="25607" name="Rectangle 5">
            <a:extLst>
              <a:ext uri="{FF2B5EF4-FFF2-40B4-BE49-F238E27FC236}">
                <a16:creationId xmlns:a16="http://schemas.microsoft.com/office/drawing/2014/main" id="{B713FF7A-12E3-DB4B-78C6-E3FD72C6F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5272088"/>
            <a:ext cx="1223963" cy="1209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800"/>
              <a:t>BRANO</a:t>
            </a:r>
          </a:p>
        </p:txBody>
      </p:sp>
      <p:sp>
        <p:nvSpPr>
          <p:cNvPr id="25608" name="CasellaDiTesto 10">
            <a:extLst>
              <a:ext uri="{FF2B5EF4-FFF2-40B4-BE49-F238E27FC236}">
                <a16:creationId xmlns:a16="http://schemas.microsoft.com/office/drawing/2014/main" id="{74298B2C-3F69-22D5-E115-A7359B9B5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3900488"/>
            <a:ext cx="671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/>
              <a:t>USA</a:t>
            </a:r>
          </a:p>
        </p:txBody>
      </p:sp>
      <p:cxnSp>
        <p:nvCxnSpPr>
          <p:cNvPr id="25609" name="Connettore 2 13">
            <a:extLst>
              <a:ext uri="{FF2B5EF4-FFF2-40B4-BE49-F238E27FC236}">
                <a16:creationId xmlns:a16="http://schemas.microsoft.com/office/drawing/2014/main" id="{474E7F12-E4DE-E99F-C168-B61E18D51253}"/>
              </a:ext>
            </a:extLst>
          </p:cNvPr>
          <p:cNvCxnSpPr>
            <a:cxnSpLocks noChangeShapeType="1"/>
            <a:stCxn id="25606" idx="3"/>
            <a:endCxn id="25607" idx="1"/>
          </p:cNvCxnSpPr>
          <p:nvPr/>
        </p:nvCxnSpPr>
        <p:spPr bwMode="auto">
          <a:xfrm>
            <a:off x="3584575" y="5876925"/>
            <a:ext cx="284480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10" name="CasellaDiTesto 14">
            <a:extLst>
              <a:ext uri="{FF2B5EF4-FFF2-40B4-BE49-F238E27FC236}">
                <a16:creationId xmlns:a16="http://schemas.microsoft.com/office/drawing/2014/main" id="{01C1F7E9-A828-C453-FF74-6D8640697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5481638"/>
            <a:ext cx="2193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/>
              <a:t>E’ COMPOSTO 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EBEAACE2-EAB3-E0BF-FE45-C33B4C0BA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Modularizzazione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96524358-BC31-8A66-0A1E-7B0E46250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700213"/>
            <a:ext cx="8915400" cy="4411662"/>
          </a:xfrm>
        </p:spPr>
        <p:txBody>
          <a:bodyPr/>
          <a:lstStyle/>
          <a:p>
            <a:pPr eaLnBrk="1" hangingPunct="1"/>
            <a:r>
              <a:rPr lang="en-US" altLang="it-IT" sz="2600"/>
              <a:t>L’organizzazione in moduli di un sistema software è un problema trattato dall’ingegneria del software</a:t>
            </a:r>
          </a:p>
          <a:p>
            <a:pPr eaLnBrk="1" hangingPunct="1"/>
            <a:r>
              <a:rPr lang="en-US" altLang="it-IT" sz="2600"/>
              <a:t>E’ possibile organizzare in moduli secondo diverse metodologie di sviluppo (Top-down, Bottom-up)</a:t>
            </a:r>
          </a:p>
          <a:p>
            <a:pPr eaLnBrk="1" hangingPunct="1"/>
            <a:r>
              <a:rPr lang="en-US" altLang="it-IT" sz="2600"/>
              <a:t>Possono essere adottati diversi criteri che tengano conto di alcuni elementi, tra i quali:</a:t>
            </a:r>
          </a:p>
          <a:p>
            <a:pPr lvl="1" eaLnBrk="1" hangingPunct="1"/>
            <a:r>
              <a:rPr lang="en-US" altLang="it-IT" sz="2200"/>
              <a:t>Information hiding</a:t>
            </a:r>
          </a:p>
          <a:p>
            <a:pPr lvl="1" eaLnBrk="1" hangingPunct="1"/>
            <a:r>
              <a:rPr lang="en-US" altLang="it-IT" sz="2200"/>
              <a:t>coesione</a:t>
            </a:r>
          </a:p>
          <a:p>
            <a:pPr lvl="1" eaLnBrk="1" hangingPunct="1"/>
            <a:r>
              <a:rPr lang="en-US" altLang="it-IT" sz="2200"/>
              <a:t>accoppiamento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t-IT" sz="2600"/>
          </a:p>
          <a:p>
            <a:pPr eaLnBrk="1" hangingPunct="1"/>
            <a:endParaRPr lang="en-US" altLang="it-IT"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1947603-3596-997E-E6B5-4A82FC757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476250"/>
            <a:ext cx="8172450" cy="1295400"/>
          </a:xfrm>
        </p:spPr>
        <p:txBody>
          <a:bodyPr/>
          <a:lstStyle/>
          <a:p>
            <a:pPr eaLnBrk="1" hangingPunct="1"/>
            <a:r>
              <a:rPr lang="en-US" altLang="it-IT"/>
              <a:t>Metodologie di sviluppo</a:t>
            </a:r>
            <a:br>
              <a:rPr lang="en-US" altLang="it-IT"/>
            </a:br>
            <a:endParaRPr lang="en-US" altLang="it-IT"/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B2D398C0-868B-5C28-AF35-D9E60D149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1484313"/>
            <a:ext cx="8915400" cy="4411662"/>
          </a:xfrm>
        </p:spPr>
        <p:txBody>
          <a:bodyPr/>
          <a:lstStyle/>
          <a:p>
            <a:pPr eaLnBrk="1" hangingPunct="1"/>
            <a:r>
              <a:rPr lang="en-US" altLang="it-IT"/>
              <a:t>Top down: si parte dall’alto, considerando il problema nella sua interezza e si procede verso il basso per raffinamenti successivi fino a ridurlo ad un insieme di sottoproblemi elementari</a:t>
            </a:r>
          </a:p>
          <a:p>
            <a:pPr eaLnBrk="1" hangingPunct="1"/>
            <a:r>
              <a:rPr lang="en-US" altLang="it-IT"/>
              <a:t> Bottom up: si risolvono singole parti del problema, senza averne necessariamente una visione d’insieme, per poi risalire procedendo per aggiustamenti successivi fino ad ottenere la soluzione globale.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89304EAC-1FD1-459B-540C-C4E17549A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Information hiding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ED627AC-2604-AC78-F9EF-E871687E7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Consiste nel nascondere e proteggere (</a:t>
            </a:r>
            <a:r>
              <a:rPr lang="en-US" altLang="it-IT" i="1">
                <a:solidFill>
                  <a:srgbClr val="FF3300"/>
                </a:solidFill>
              </a:rPr>
              <a:t>incapsulare</a:t>
            </a:r>
            <a:r>
              <a:rPr lang="en-US" altLang="it-IT"/>
              <a:t>) alcune informazioni di una entità all’interno del modulo</a:t>
            </a:r>
          </a:p>
          <a:p>
            <a:pPr eaLnBrk="1" hangingPunct="1"/>
            <a:r>
              <a:rPr lang="en-US" altLang="it-IT"/>
              <a:t>Alle informazioni protette l’accesso da parte degli utilizzatori del modulo è fornito in maniera controllata</a:t>
            </a:r>
          </a:p>
          <a:p>
            <a:pPr eaLnBrk="1" hangingPunct="1"/>
            <a:r>
              <a:rPr lang="en-US" altLang="it-IT"/>
              <a:t>L’accesso ad esse è possibile solo attraverso l’interfaccia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86B97D4-B492-C574-2577-C14B73301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60350"/>
            <a:ext cx="8172450" cy="714375"/>
          </a:xfrm>
        </p:spPr>
        <p:txBody>
          <a:bodyPr/>
          <a:lstStyle/>
          <a:p>
            <a:pPr eaLnBrk="1" hangingPunct="1"/>
            <a:r>
              <a:rPr lang="en-US" altLang="it-IT"/>
              <a:t>Information hiding: esempio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C8F3316A-CCDE-C55C-F4FB-458F4437B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1484313"/>
            <a:ext cx="8915400" cy="5040312"/>
          </a:xfrm>
        </p:spPr>
        <p:txBody>
          <a:bodyPr>
            <a:normAutofit lnSpcReduction="10000"/>
          </a:bodyPr>
          <a:lstStyle/>
          <a:p>
            <a:pPr algn="just" eaLnBrk="1" hangingPunct="1">
              <a:spcBef>
                <a:spcPts val="1224"/>
              </a:spcBef>
              <a:defRPr/>
            </a:pPr>
            <a:r>
              <a:rPr lang="en-US" altLang="it-IT" sz="2600" dirty="0"/>
              <a:t>Un modulo </a:t>
            </a:r>
            <a:r>
              <a:rPr lang="en-US" altLang="it-IT" sz="2600" dirty="0" err="1"/>
              <a:t>realizza</a:t>
            </a:r>
            <a:r>
              <a:rPr lang="en-US" altLang="it-IT" sz="2600" dirty="0"/>
              <a:t> </a:t>
            </a:r>
            <a:r>
              <a:rPr lang="en-US" altLang="it-IT" sz="2600" dirty="0" err="1"/>
              <a:t>l’astrazione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dati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fornendo</a:t>
            </a:r>
            <a:r>
              <a:rPr lang="en-US" altLang="it-IT" sz="2600" dirty="0"/>
              <a:t> un </a:t>
            </a:r>
            <a:r>
              <a:rPr lang="en-US" altLang="it-IT" sz="2600" dirty="0" err="1"/>
              <a:t>tipo</a:t>
            </a:r>
            <a:r>
              <a:rPr lang="en-US" altLang="it-IT" sz="2600" dirty="0"/>
              <a:t> “persona”</a:t>
            </a:r>
          </a:p>
          <a:p>
            <a:pPr algn="just" eaLnBrk="1" hangingPunct="1">
              <a:spcBef>
                <a:spcPts val="1224"/>
              </a:spcBef>
              <a:defRPr/>
            </a:pPr>
            <a:r>
              <a:rPr lang="en-US" altLang="it-IT" sz="2600" dirty="0"/>
              <a:t>Una persona </a:t>
            </a:r>
            <a:r>
              <a:rPr lang="en-US" altLang="it-IT" sz="2600" dirty="0" err="1"/>
              <a:t>è</a:t>
            </a:r>
            <a:r>
              <a:rPr lang="en-US" altLang="it-IT" sz="2600" dirty="0"/>
              <a:t> </a:t>
            </a:r>
            <a:r>
              <a:rPr lang="en-US" altLang="it-IT" sz="2600" dirty="0" err="1"/>
              <a:t>caratterizzata</a:t>
            </a:r>
            <a:r>
              <a:rPr lang="en-US" altLang="it-IT" sz="2600" dirty="0"/>
              <a:t> al </a:t>
            </a:r>
            <a:r>
              <a:rPr lang="en-US" altLang="it-IT" sz="2600" dirty="0" err="1"/>
              <a:t>livello</a:t>
            </a:r>
            <a:r>
              <a:rPr lang="en-US" altLang="it-IT" sz="2600" dirty="0"/>
              <a:t> di </a:t>
            </a:r>
            <a:r>
              <a:rPr lang="en-US" altLang="it-IT" sz="2600" dirty="0" err="1"/>
              <a:t>astrazione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scelto</a:t>
            </a:r>
            <a:r>
              <a:rPr lang="en-US" altLang="it-IT" sz="2600" dirty="0"/>
              <a:t> da </a:t>
            </a:r>
            <a:r>
              <a:rPr lang="en-US" altLang="it-IT" sz="2600" dirty="0" err="1"/>
              <a:t>Codice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Fiscale</a:t>
            </a:r>
            <a:r>
              <a:rPr lang="en-US" altLang="it-IT" sz="2600" dirty="0"/>
              <a:t>, Nome, </a:t>
            </a:r>
            <a:r>
              <a:rPr lang="en-US" altLang="it-IT" sz="2600" dirty="0" err="1"/>
              <a:t>Cognome</a:t>
            </a:r>
            <a:r>
              <a:rPr lang="en-US" altLang="it-IT" sz="2600" dirty="0"/>
              <a:t>, Data e </a:t>
            </a:r>
            <a:r>
              <a:rPr lang="en-US" altLang="it-IT" sz="2600" dirty="0" err="1"/>
              <a:t>Luogo</a:t>
            </a:r>
            <a:r>
              <a:rPr lang="en-US" altLang="it-IT" sz="2600" dirty="0"/>
              <a:t> di </a:t>
            </a:r>
            <a:r>
              <a:rPr lang="en-US" altLang="it-IT" sz="2600" dirty="0" err="1"/>
              <a:t>nascita</a:t>
            </a:r>
            <a:r>
              <a:rPr lang="en-US" altLang="it-IT" sz="2600" dirty="0"/>
              <a:t>, </a:t>
            </a:r>
            <a:r>
              <a:rPr lang="en-US" altLang="it-IT" sz="2600" dirty="0" err="1"/>
              <a:t>Residenza</a:t>
            </a:r>
            <a:r>
              <a:rPr lang="en-US" altLang="it-IT" sz="2600" dirty="0"/>
              <a:t>…</a:t>
            </a:r>
          </a:p>
          <a:p>
            <a:pPr algn="just" eaLnBrk="1" hangingPunct="1">
              <a:spcBef>
                <a:spcPts val="1224"/>
              </a:spcBef>
              <a:defRPr/>
            </a:pPr>
            <a:r>
              <a:rPr lang="en-US" altLang="it-IT" sz="2600" dirty="0"/>
              <a:t>Il modulo </a:t>
            </a:r>
            <a:r>
              <a:rPr lang="en-US" altLang="it-IT" sz="2600" dirty="0" err="1"/>
              <a:t>esporta</a:t>
            </a:r>
            <a:r>
              <a:rPr lang="en-US" altLang="it-IT" sz="2600" dirty="0"/>
              <a:t> </a:t>
            </a:r>
            <a:r>
              <a:rPr lang="en-US" altLang="it-IT" sz="2600" dirty="0" err="1"/>
              <a:t>attraverso</a:t>
            </a:r>
            <a:r>
              <a:rPr lang="en-US" altLang="it-IT" sz="2600" dirty="0"/>
              <a:t> la </a:t>
            </a:r>
            <a:r>
              <a:rPr lang="en-US" altLang="it-IT" sz="2600" dirty="0" err="1"/>
              <a:t>sua</a:t>
            </a:r>
            <a:r>
              <a:rPr lang="en-US" altLang="it-IT" sz="2600" dirty="0"/>
              <a:t> </a:t>
            </a:r>
            <a:r>
              <a:rPr lang="en-US" altLang="it-IT" sz="2600" dirty="0" err="1"/>
              <a:t>interfaccia</a:t>
            </a:r>
            <a:r>
              <a:rPr lang="en-US" altLang="it-IT" sz="2600" dirty="0"/>
              <a:t> il </a:t>
            </a:r>
            <a:r>
              <a:rPr lang="en-US" altLang="it-IT" sz="2600" dirty="0" err="1"/>
              <a:t>tipo</a:t>
            </a:r>
            <a:r>
              <a:rPr lang="en-US" altLang="it-IT" sz="2600" dirty="0"/>
              <a:t> “persona” ed </a:t>
            </a:r>
            <a:r>
              <a:rPr lang="en-US" altLang="it-IT" sz="2600" dirty="0" err="1"/>
              <a:t>alcune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operazioni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che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è</a:t>
            </a:r>
            <a:r>
              <a:rPr lang="en-US" altLang="it-IT" sz="2600" dirty="0"/>
              <a:t> </a:t>
            </a:r>
            <a:r>
              <a:rPr lang="en-US" altLang="it-IT" sz="2600" dirty="0" err="1"/>
              <a:t>possibile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effettuare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su</a:t>
            </a:r>
            <a:r>
              <a:rPr lang="en-US" altLang="it-IT" sz="2600" dirty="0"/>
              <a:t> </a:t>
            </a:r>
            <a:r>
              <a:rPr lang="en-US" altLang="it-IT" sz="2600" dirty="0" err="1"/>
              <a:t>variabili</a:t>
            </a:r>
            <a:r>
              <a:rPr lang="en-US" altLang="it-IT" sz="2600" dirty="0"/>
              <a:t> di </a:t>
            </a:r>
            <a:r>
              <a:rPr lang="en-US" altLang="it-IT" sz="2600" dirty="0" err="1"/>
              <a:t>quel</a:t>
            </a:r>
            <a:r>
              <a:rPr lang="en-US" altLang="it-IT" sz="2600" dirty="0"/>
              <a:t> </a:t>
            </a:r>
            <a:r>
              <a:rPr lang="en-US" altLang="it-IT" sz="2600" dirty="0" err="1"/>
              <a:t>tipo</a:t>
            </a:r>
            <a:r>
              <a:rPr lang="en-US" altLang="it-IT" sz="2600" dirty="0"/>
              <a:t>, ad </a:t>
            </a:r>
            <a:r>
              <a:rPr lang="en-US" altLang="it-IT" sz="2600" dirty="0" err="1"/>
              <a:t>esempio</a:t>
            </a:r>
            <a:r>
              <a:rPr lang="en-US" altLang="it-IT" sz="2600" dirty="0"/>
              <a:t> </a:t>
            </a:r>
            <a:r>
              <a:rPr lang="en-US" altLang="it-IT" sz="2600" dirty="0" err="1"/>
              <a:t>inizializzazione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dei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dati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della</a:t>
            </a:r>
            <a:r>
              <a:rPr lang="en-US" altLang="it-IT" sz="2600" dirty="0"/>
              <a:t> persona, </a:t>
            </a:r>
            <a:r>
              <a:rPr lang="en-US" altLang="it-IT" sz="2600" dirty="0" err="1"/>
              <a:t>stampa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dei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dati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etc</a:t>
            </a:r>
            <a:r>
              <a:rPr lang="en-US" altLang="it-IT" sz="2600" dirty="0"/>
              <a:t>…</a:t>
            </a:r>
          </a:p>
          <a:p>
            <a:pPr algn="just" eaLnBrk="1" hangingPunct="1">
              <a:spcBef>
                <a:spcPts val="1224"/>
              </a:spcBef>
              <a:defRPr/>
            </a:pPr>
            <a:r>
              <a:rPr lang="en-US" altLang="it-IT" sz="2600" dirty="0"/>
              <a:t>Non </a:t>
            </a:r>
            <a:r>
              <a:rPr lang="en-US" altLang="it-IT" sz="2600" dirty="0" err="1"/>
              <a:t>è</a:t>
            </a:r>
            <a:r>
              <a:rPr lang="en-US" altLang="it-IT" sz="2600" dirty="0"/>
              <a:t> </a:t>
            </a:r>
            <a:r>
              <a:rPr lang="en-US" altLang="it-IT" sz="2600" dirty="0" err="1"/>
              <a:t>possibile</a:t>
            </a:r>
            <a:r>
              <a:rPr lang="en-US" altLang="it-IT" sz="2600" dirty="0"/>
              <a:t> per </a:t>
            </a:r>
            <a:r>
              <a:rPr lang="en-US" altLang="it-IT" sz="2600" dirty="0" err="1"/>
              <a:t>l’utente</a:t>
            </a:r>
            <a:r>
              <a:rPr lang="en-US" altLang="it-IT" sz="2600" dirty="0"/>
              <a:t> del modulo </a:t>
            </a:r>
            <a:r>
              <a:rPr lang="en-US" altLang="it-IT" sz="2600" dirty="0" err="1"/>
              <a:t>modificare</a:t>
            </a:r>
            <a:r>
              <a:rPr lang="en-US" altLang="it-IT" sz="2600" dirty="0"/>
              <a:t> o </a:t>
            </a:r>
            <a:r>
              <a:rPr lang="en-US" altLang="it-IT" sz="2600" dirty="0" err="1"/>
              <a:t>leggere</a:t>
            </a:r>
            <a:r>
              <a:rPr lang="en-US" altLang="it-IT" sz="2600" dirty="0"/>
              <a:t> </a:t>
            </a:r>
            <a:r>
              <a:rPr lang="en-US" altLang="it-IT" sz="2600" dirty="0" err="1"/>
              <a:t>i</a:t>
            </a:r>
            <a:r>
              <a:rPr lang="en-US" altLang="it-IT" sz="2600" dirty="0"/>
              <a:t> </a:t>
            </a:r>
            <a:r>
              <a:rPr lang="en-US" altLang="it-IT" sz="2600" dirty="0" err="1"/>
              <a:t>dati</a:t>
            </a:r>
            <a:r>
              <a:rPr lang="en-US" altLang="it-IT" sz="2600" dirty="0"/>
              <a:t> di </a:t>
            </a:r>
            <a:r>
              <a:rPr lang="en-US" altLang="it-IT" sz="2600" dirty="0" err="1"/>
              <a:t>una</a:t>
            </a:r>
            <a:r>
              <a:rPr lang="en-US" altLang="it-IT" sz="2600" dirty="0"/>
              <a:t> (</a:t>
            </a:r>
            <a:r>
              <a:rPr lang="en-US" altLang="it-IT" sz="2600" dirty="0" err="1"/>
              <a:t>variabile</a:t>
            </a:r>
            <a:r>
              <a:rPr lang="en-US" altLang="it-IT" sz="2600" dirty="0"/>
              <a:t>) persona se non </a:t>
            </a:r>
            <a:r>
              <a:rPr lang="en-US" altLang="it-IT" sz="2600" dirty="0" err="1"/>
              <a:t>utilizzando</a:t>
            </a:r>
            <a:r>
              <a:rPr lang="en-US" altLang="it-IT" sz="2600" dirty="0"/>
              <a:t> le </a:t>
            </a:r>
            <a:r>
              <a:rPr lang="en-US" altLang="it-IT" sz="2600" dirty="0" err="1"/>
              <a:t>funzionalità</a:t>
            </a:r>
            <a:r>
              <a:rPr lang="en-US" altLang="it-IT" sz="2600" dirty="0"/>
              <a:t> </a:t>
            </a:r>
            <a:r>
              <a:rPr lang="en-US" altLang="it-IT" sz="2600" dirty="0" err="1"/>
              <a:t>esportate</a:t>
            </a:r>
            <a:r>
              <a:rPr lang="en-US" altLang="it-IT" sz="2600" dirty="0"/>
              <a:t> dal modulo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it-IT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741183-0B2C-1C0E-5B26-DE38520FF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122238"/>
            <a:ext cx="8172450" cy="858837"/>
          </a:xfrm>
        </p:spPr>
        <p:txBody>
          <a:bodyPr/>
          <a:lstStyle/>
          <a:p>
            <a:pPr eaLnBrk="1" hangingPunct="1"/>
            <a:r>
              <a:rPr lang="en-US" altLang="it-IT"/>
              <a:t>Information hiding: criteri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DB390D37-E92B-FFF5-1DDB-1A1B3C9E6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1773238"/>
            <a:ext cx="891540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/>
              <a:t>Devono essere progettate definendo con attenzione cosa esportare e cosa nascondere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Le interfacce devono esporre solo ciò che è strettamente necessario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/>
              <a:t>Devono essere stabili, cioè possibilmente non devono subire cambiamenti nel tempo: s</a:t>
            </a:r>
            <a:r>
              <a:rPr lang="it-IT" altLang="it-IT"/>
              <a:t>e l’interfaccia non cambia, le informazioni nascoste possono essere modificate senza che questo influisca sulle altre parti del sistema di cui l’entità fa parte</a:t>
            </a:r>
          </a:p>
          <a:p>
            <a:pPr lvl="1" eaLnBrk="1" hangingPunct="1">
              <a:lnSpc>
                <a:spcPct val="90000"/>
              </a:lnSpc>
            </a:pPr>
            <a:endParaRPr lang="en-US" alt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B7FFB79E-CFAA-37CC-B5FF-836FE147E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0"/>
            <a:ext cx="8172450" cy="1295400"/>
          </a:xfrm>
        </p:spPr>
        <p:txBody>
          <a:bodyPr/>
          <a:lstStyle/>
          <a:p>
            <a:pPr eaLnBrk="1" hangingPunct="1"/>
            <a:r>
              <a:rPr lang="en-US" altLang="it-IT"/>
              <a:t>Accoppiamento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87EC596A-88D7-BF01-02E3-B88AB2E96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1700213"/>
            <a:ext cx="8915400" cy="4411662"/>
          </a:xfrm>
        </p:spPr>
        <p:txBody>
          <a:bodyPr/>
          <a:lstStyle/>
          <a:p>
            <a:pPr eaLnBrk="1" hangingPunct="1"/>
            <a:r>
              <a:rPr lang="en-US" altLang="it-IT"/>
              <a:t>Due moduli si dicono </a:t>
            </a:r>
            <a:r>
              <a:rPr lang="en-US" altLang="it-IT" i="1"/>
              <a:t>debolmente accoppiati</a:t>
            </a:r>
            <a:r>
              <a:rPr lang="en-US" altLang="it-IT"/>
              <a:t> se  le dipendenze tra di essi sono minimizzate (non si sono create dipendenze non volute o non necessarie); </a:t>
            </a:r>
          </a:p>
          <a:p>
            <a:pPr eaLnBrk="1" hangingPunct="1"/>
            <a:r>
              <a:rPr lang="en-US" altLang="it-IT"/>
              <a:t>Ad esempio: limitare al massimo l’uso di variabili globali, visibili e utilizzabili da più moduli poiché creano dipendenze non facilmente controllabili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065E0B9-E972-8CE8-5FC3-8F94C3626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Coesione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38FDE156-6C4A-2235-2B53-2A9CF40CF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Un modulo è fortemente coeso se incapsula un insieme di caratteristiche omogenee, sufficientemente indipendenti da altri moduli</a:t>
            </a:r>
          </a:p>
          <a:p>
            <a:pPr eaLnBrk="1" hangingPunct="1"/>
            <a:r>
              <a:rPr lang="en-US" altLang="it-IT"/>
              <a:t>Un esempio di modulo fortemente coeso è un modulo che realizza un’ unica astrazione (Persona, Ordina)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739A7EB-6DC2-5BC2-A1DC-51FCF939E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sz="3400"/>
              <a:t>Coesione e Accoppiamento: criteri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EED093C4-4B3B-D2AA-121B-5193329CA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 sz="2600"/>
              <a:t>Nello sviluppo software coesione e accoppiamento suggeriscono criteri contrastanti, tra i quali è opportuno valutare un tradeoff</a:t>
            </a:r>
          </a:p>
          <a:p>
            <a:pPr eaLnBrk="1" hangingPunct="1"/>
            <a:r>
              <a:rPr lang="en-US" altLang="it-IT" sz="2600"/>
              <a:t>L’ideale sarebbe riuscire ad ottenere una alta coesione tra i moduli ed un basso accoppiamento, ma:</a:t>
            </a:r>
          </a:p>
          <a:p>
            <a:pPr lvl="1" eaLnBrk="1" hangingPunct="1"/>
            <a:r>
              <a:rPr lang="en-US" altLang="it-IT" sz="2200"/>
              <a:t>Un livello molto alto di coesione dei moduli genera in generale una eccessiva crescita delle dipendenze tra di essi</a:t>
            </a:r>
          </a:p>
          <a:p>
            <a:pPr lvl="1" eaLnBrk="1" hangingPunct="1"/>
            <a:r>
              <a:rPr lang="en-US" altLang="it-IT" sz="2200"/>
              <a:t>Un livello molto basso di accoppiamento può determinare uno scadere della qualità delle astrazioni realizzate dai moduli</a:t>
            </a:r>
          </a:p>
          <a:p>
            <a:pPr eaLnBrk="1" hangingPunct="1"/>
            <a:endParaRPr lang="en-US" altLang="it-IT" sz="2600"/>
          </a:p>
          <a:p>
            <a:pPr eaLnBrk="1" hangingPunct="1"/>
            <a:endParaRPr lang="en-US" altLang="it-IT"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>
            <a:extLst>
              <a:ext uri="{FF2B5EF4-FFF2-40B4-BE49-F238E27FC236}">
                <a16:creationId xmlns:a16="http://schemas.microsoft.com/office/drawing/2014/main" id="{8BAEFFA8-5717-B032-B6EC-5F65A4CD6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122238"/>
            <a:ext cx="8172450" cy="642937"/>
          </a:xfrm>
        </p:spPr>
        <p:txBody>
          <a:bodyPr/>
          <a:lstStyle/>
          <a:p>
            <a:pPr eaLnBrk="1" hangingPunct="1"/>
            <a:r>
              <a:rPr lang="en-US" altLang="it-IT" sz="3500"/>
              <a:t>Un esempio in pseudo-codice</a:t>
            </a:r>
          </a:p>
        </p:txBody>
      </p:sp>
      <p:sp>
        <p:nvSpPr>
          <p:cNvPr id="34818" name="Text Box 5">
            <a:extLst>
              <a:ext uri="{FF2B5EF4-FFF2-40B4-BE49-F238E27FC236}">
                <a16:creationId xmlns:a16="http://schemas.microsoft.com/office/drawing/2014/main" id="{7DB30F02-D73C-1E73-D2EF-674B5B678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836613"/>
            <a:ext cx="7065963" cy="5661025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0"/>
              <a:t>/*interfaccia*/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module interface </a:t>
            </a:r>
            <a:r>
              <a:rPr lang="en-US" altLang="it-IT" sz="1400"/>
              <a:t>PERSONA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import</a:t>
            </a:r>
            <a:r>
              <a:rPr lang="en-US" altLang="it-IT" sz="1400"/>
              <a:t> cin, cout from iostream;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end import;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export type hidden</a:t>
            </a:r>
            <a:r>
              <a:rPr lang="en-US" altLang="it-IT" sz="1400"/>
              <a:t> Persona;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Persona CreaPersona(const char *; const char *, const char *);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void StampaDatiPersona();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void ModificaResidenza(const char *);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&lt;altre operazioni...&gt;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end export;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end interface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t-IT" sz="1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 b="0"/>
              <a:t>/*corpo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module implementation</a:t>
            </a:r>
            <a:r>
              <a:rPr lang="en-US" altLang="it-IT" sz="1400"/>
              <a:t> PERSONA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typedef struct {char Nome[20]; char Cognome[20]; char Residenza[40];} Persona;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Persona crea(const char * N; const char * C, const char * R)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/* codice funzione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void StampaDatiPersona() 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/* codice funzione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void ModificaResidenza(const char * R){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/* codice funzione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/>
              <a:t>&lt;definizioni di altre funzioni&gt;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rgbClr val="FF3300"/>
                </a:solidFill>
              </a:rPr>
              <a:t>end implementation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AAA30EB-1019-B7FF-2EB7-8929D89A5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Nell’esempio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4696798C-CEA9-59BF-7287-CAD6E97B5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600"/>
              <a:t>E’ esplicitamente definito un modulo PERSONA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2600"/>
              <a:t>Sono esplicitate la sezione di interfaccia e il corpo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2600"/>
              <a:t>E’ esplicitamente definito cosa viene esportato e cosa viene importato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2600"/>
              <a:t>E’ realizzato l’information hiding: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200"/>
              <a:t>Sui tipi: il tipo persona definito dal modulo è esplicitamente incapsulato nel modulo, l’utente potrà dichiarare variabili del tipo Persona ma </a:t>
            </a:r>
            <a:r>
              <a:rPr lang="en-US" altLang="it-IT" sz="2200" i="1"/>
              <a:t>non ha la visibilità della dichiarazione del tipo</a:t>
            </a:r>
            <a:r>
              <a:rPr lang="en-US" altLang="it-IT" sz="2200"/>
              <a:t> (tipo opaco) nè ha necessità di sapere come è realizzato.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200"/>
              <a:t>Sulle funzioni: l’implementazione delle operazioni è esplicitamente incapsulata nel corpo del modulo, l’utente ha visibilità dei prototipi esportati dall’interfaccia e attraverso di essi potrà invocare le funzioni.</a:t>
            </a:r>
          </a:p>
          <a:p>
            <a:pPr eaLnBrk="1" hangingPunct="1">
              <a:lnSpc>
                <a:spcPct val="80000"/>
              </a:lnSpc>
            </a:pPr>
            <a:endParaRPr lang="en-US" altLang="it-IT" sz="2600"/>
          </a:p>
          <a:p>
            <a:pPr eaLnBrk="1" hangingPunct="1">
              <a:lnSpc>
                <a:spcPct val="80000"/>
              </a:lnSpc>
            </a:pPr>
            <a:endParaRPr lang="en-US" altLang="it-IT"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6235307A-3054-0EAB-30B1-3A6755EBF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388" y="-315913"/>
            <a:ext cx="8172450" cy="1295401"/>
          </a:xfrm>
        </p:spPr>
        <p:txBody>
          <a:bodyPr/>
          <a:lstStyle/>
          <a:p>
            <a:pPr eaLnBrk="1" hangingPunct="1"/>
            <a:r>
              <a:rPr lang="en-US" altLang="it-IT"/>
              <a:t>Vantaggi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15FA14AA-1871-D228-40E3-DBDD8B88F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125538"/>
            <a:ext cx="891540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 sz="2400"/>
              <a:t>Seguendo i criteri a cui abbiamo accennato si riesce ad ottenere che: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200"/>
              <a:t>L’implementazione del modulo dipenda in modo minimo dall’ “esterno”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200"/>
              <a:t>Le modifiche apportate ad un modulo impattino in modo minimo sull’ “esterno”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2400"/>
              <a:t>Ciò comporta i seguenti vantaggi: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Riuso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Modificabilità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Estensibilità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Manutenibilità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Leggibilità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Protezione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/>
              <a:t>Sviluppo separato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4A2D001-A4AE-F7B7-F4B3-325804F61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-458788"/>
            <a:ext cx="8172450" cy="1295401"/>
          </a:xfrm>
        </p:spPr>
        <p:txBody>
          <a:bodyPr/>
          <a:lstStyle/>
          <a:p>
            <a:pPr eaLnBrk="1" hangingPunct="1"/>
            <a:r>
              <a:rPr lang="en-US" altLang="it-IT"/>
              <a:t>Meccanismi e Linguaggi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CD8ACDB-1444-6579-231D-88F980C9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0850" y="1412875"/>
            <a:ext cx="8915400" cy="5183188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it-IT" altLang="it-IT" sz="2600" dirty="0"/>
              <a:t>La strutturazione di un programma in moduli deve essere supportata da opportuni meccanismi offerti dal linguaggio di programmazione</a:t>
            </a:r>
          </a:p>
          <a:p>
            <a:pPr eaLnBrk="1" hangingPunct="1">
              <a:defRPr/>
            </a:pPr>
            <a:r>
              <a:rPr lang="it-IT" altLang="it-IT" sz="2600" dirty="0"/>
              <a:t>Non tutti i linguaggi sono “modulari”, nel senso di offrire costrutti espliciti per la strutturazione dei programmi in moduli. Alcuni linguaggi modulari sono: ADA, Mesa, Modula2</a:t>
            </a:r>
          </a:p>
          <a:p>
            <a:pPr eaLnBrk="1" hangingPunct="1">
              <a:defRPr/>
            </a:pPr>
            <a:r>
              <a:rPr lang="it-IT" altLang="it-IT" sz="2600" dirty="0"/>
              <a:t>Il C non è un linguaggio modulare perché non offre costrutti espliciti, una programmazione modulare è possibile mediante un uso auto-disciplinato degli strumenti del linguaggio</a:t>
            </a:r>
          </a:p>
          <a:p>
            <a:pPr eaLnBrk="1" hangingPunct="1">
              <a:defRPr/>
            </a:pPr>
            <a:r>
              <a:rPr lang="it-IT" altLang="it-IT" sz="2600" dirty="0"/>
              <a:t>Il C++ e JAVA offrono meccanismi espliciti a supporto dell’information </a:t>
            </a:r>
            <a:r>
              <a:rPr lang="it-IT" altLang="it-IT" sz="2600" dirty="0" err="1"/>
              <a:t>hiding</a:t>
            </a:r>
            <a:r>
              <a:rPr lang="it-IT" altLang="it-IT" sz="2600" dirty="0"/>
              <a:t>, ma non prevede costrutti per la definizione esplicita dei moduli 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it-IT" sz="26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it-IT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B5F28E05-CA6E-DC23-E2D8-A5C3DE3AA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Utilizzo dei Moduli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CFAF98CE-F5B8-443A-7659-DC32F0F2E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Per realizzare LIBRERIE software: per offrire collezioni coese di procedure e funzioni </a:t>
            </a:r>
          </a:p>
          <a:p>
            <a:pPr eaLnBrk="1" hangingPunct="1"/>
            <a:r>
              <a:rPr lang="en-US" altLang="it-IT"/>
              <a:t>Per realizzare astrazioni di dato, utilizzando in maniera disciplinata gli strumenti offerti dal linguaggio. </a:t>
            </a:r>
          </a:p>
          <a:p>
            <a:pPr eaLnBrk="1" hangingPunct="1"/>
            <a:r>
              <a:rPr lang="en-US" altLang="it-IT" b="1" i="1"/>
              <a:t>Per implementare Tipi di Dati Astratti, avendo a disposizione meccanismi forniti dal linguaggio per l’information hiding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E75D7245-253F-6479-3C21-B605A195C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138" y="14288"/>
            <a:ext cx="8420100" cy="1143000"/>
          </a:xfrm>
        </p:spPr>
        <p:txBody>
          <a:bodyPr/>
          <a:lstStyle/>
          <a:p>
            <a:pPr defTabSz="912813" eaLnBrk="1" hangingPunct="1"/>
            <a:r>
              <a:rPr lang="it-IT" altLang="it-IT"/>
              <a:t>Definizione (ADT)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C05925A2-F7B0-A1AB-9DE2-91865C9C1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268413"/>
            <a:ext cx="8420100" cy="4114800"/>
          </a:xfrm>
        </p:spPr>
        <p:txBody>
          <a:bodyPr/>
          <a:lstStyle/>
          <a:p>
            <a:pPr defTabSz="912813" eaLnBrk="1" hangingPunct="1">
              <a:buFont typeface="Times New Roman" panose="02020603050405020304" pitchFamily="18" charset="0"/>
              <a:buChar char="•"/>
            </a:pPr>
            <a:r>
              <a:rPr lang="it-IT" altLang="it-IT" sz="2400"/>
              <a:t>Un tipo di dato astratto (Abstract Data Type: ADT) è una struttura dati </a:t>
            </a:r>
            <a:r>
              <a:rPr lang="it-IT" altLang="it-IT" sz="2400">
                <a:solidFill>
                  <a:srgbClr val="FF0000"/>
                </a:solidFill>
              </a:rPr>
              <a:t>incapsulata </a:t>
            </a:r>
            <a:r>
              <a:rPr lang="it-IT" altLang="it-IT" sz="2400"/>
              <a:t>dalle operazioni consentite su di essa</a:t>
            </a:r>
          </a:p>
          <a:p>
            <a:pPr defTabSz="912813" eaLnBrk="1" hangingPunct="1">
              <a:buFont typeface="Times New Roman" panose="02020603050405020304" pitchFamily="18" charset="0"/>
              <a:buChar char="•"/>
            </a:pPr>
            <a:r>
              <a:rPr lang="it-IT" altLang="it-IT" sz="2400">
                <a:solidFill>
                  <a:srgbClr val="FF0000"/>
                </a:solidFill>
              </a:rPr>
              <a:t>Non è possibile accedere alla struttura dati </a:t>
            </a:r>
            <a:r>
              <a:rPr lang="it-IT" altLang="it-IT" sz="2400"/>
              <a:t>(né in lettura né in scrittura) se non attraverso le operazioni definite su di essa</a:t>
            </a:r>
          </a:p>
          <a:p>
            <a:pPr defTabSz="912813" eaLnBrk="1" hangingPunct="1">
              <a:buFont typeface="Times New Roman" panose="02020603050405020304" pitchFamily="18" charset="0"/>
              <a:buChar char="•"/>
            </a:pPr>
            <a:endParaRPr lang="it-IT" altLang="it-IT"/>
          </a:p>
        </p:txBody>
      </p:sp>
      <p:sp>
        <p:nvSpPr>
          <p:cNvPr id="39939" name="Oval 4">
            <a:extLst>
              <a:ext uri="{FF2B5EF4-FFF2-40B4-BE49-F238E27FC236}">
                <a16:creationId xmlns:a16="http://schemas.microsoft.com/office/drawing/2014/main" id="{BEE0C7CB-462D-E57F-18EC-088178B1E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3644900"/>
            <a:ext cx="3221038" cy="274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 New Roman" panose="02020603050405020304" pitchFamily="18" charset="0"/>
              <a:buNone/>
            </a:pPr>
            <a:endParaRPr lang="it-IT" altLang="it-IT" sz="2400">
              <a:latin typeface="Times New Roman" panose="02020603050405020304" pitchFamily="18" charset="0"/>
            </a:endParaRPr>
          </a:p>
        </p:txBody>
      </p:sp>
      <p:sp>
        <p:nvSpPr>
          <p:cNvPr id="39940" name="Oval 5">
            <a:extLst>
              <a:ext uri="{FF2B5EF4-FFF2-40B4-BE49-F238E27FC236}">
                <a16:creationId xmlns:a16="http://schemas.microsoft.com/office/drawing/2014/main" id="{AFD22E43-79E2-CF04-C365-4A09AE18B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825" y="4483100"/>
            <a:ext cx="1322388" cy="1066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ADT</a:t>
            </a:r>
          </a:p>
        </p:txBody>
      </p:sp>
      <p:sp>
        <p:nvSpPr>
          <p:cNvPr id="39941" name="Line 6">
            <a:extLst>
              <a:ext uri="{FF2B5EF4-FFF2-40B4-BE49-F238E27FC236}">
                <a16:creationId xmlns:a16="http://schemas.microsoft.com/office/drawing/2014/main" id="{11401194-8251-1648-6D15-28471F20D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0663" y="4254500"/>
            <a:ext cx="74295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2" name="Line 7">
            <a:extLst>
              <a:ext uri="{FF2B5EF4-FFF2-40B4-BE49-F238E27FC236}">
                <a16:creationId xmlns:a16="http://schemas.microsoft.com/office/drawing/2014/main" id="{26AE460B-DCD2-546B-6AD6-DFC9566B1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213" y="5168900"/>
            <a:ext cx="90805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3" name="Line 8">
            <a:extLst>
              <a:ext uri="{FF2B5EF4-FFF2-40B4-BE49-F238E27FC236}">
                <a16:creationId xmlns:a16="http://schemas.microsoft.com/office/drawing/2014/main" id="{B5A36E65-15C9-C699-91A6-64583AC834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2975" y="5321300"/>
            <a:ext cx="74295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4" name="Line 9">
            <a:extLst>
              <a:ext uri="{FF2B5EF4-FFF2-40B4-BE49-F238E27FC236}">
                <a16:creationId xmlns:a16="http://schemas.microsoft.com/office/drawing/2014/main" id="{1FFFC99F-7A63-33D0-4BEC-C2CAB39A5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7913" y="5549900"/>
            <a:ext cx="8255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5" name="Line 10">
            <a:extLst>
              <a:ext uri="{FF2B5EF4-FFF2-40B4-BE49-F238E27FC236}">
                <a16:creationId xmlns:a16="http://schemas.microsoft.com/office/drawing/2014/main" id="{20FDAA27-34F6-DCFB-6BD1-00286A3F9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5325" y="4483100"/>
            <a:ext cx="90805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6" name="Line 11">
            <a:extLst>
              <a:ext uri="{FF2B5EF4-FFF2-40B4-BE49-F238E27FC236}">
                <a16:creationId xmlns:a16="http://schemas.microsoft.com/office/drawing/2014/main" id="{DAA702E6-65FE-C702-998A-B2C2F3297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2813" y="3644900"/>
            <a:ext cx="8255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39947" name="Text Box 12">
            <a:extLst>
              <a:ext uri="{FF2B5EF4-FFF2-40B4-BE49-F238E27FC236}">
                <a16:creationId xmlns:a16="http://schemas.microsoft.com/office/drawing/2014/main" id="{EE72F997-72C6-F338-F5AC-388EFDD2B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914775"/>
            <a:ext cx="765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OP1</a:t>
            </a:r>
          </a:p>
        </p:txBody>
      </p:sp>
      <p:sp>
        <p:nvSpPr>
          <p:cNvPr id="39948" name="Text Box 13">
            <a:extLst>
              <a:ext uri="{FF2B5EF4-FFF2-40B4-BE49-F238E27FC236}">
                <a16:creationId xmlns:a16="http://schemas.microsoft.com/office/drawing/2014/main" id="{F16E4B42-ED1B-0E8F-7599-B1811C007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990975"/>
            <a:ext cx="765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OP2</a:t>
            </a:r>
          </a:p>
        </p:txBody>
      </p:sp>
      <p:sp>
        <p:nvSpPr>
          <p:cNvPr id="39949" name="Text Box 14">
            <a:extLst>
              <a:ext uri="{FF2B5EF4-FFF2-40B4-BE49-F238E27FC236}">
                <a16:creationId xmlns:a16="http://schemas.microsoft.com/office/drawing/2014/main" id="{4EDB2298-0E84-C7B1-6063-9672855C5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50" y="4600575"/>
            <a:ext cx="765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OP3</a:t>
            </a:r>
          </a:p>
        </p:txBody>
      </p:sp>
      <p:sp>
        <p:nvSpPr>
          <p:cNvPr id="39950" name="Text Box 15">
            <a:extLst>
              <a:ext uri="{FF2B5EF4-FFF2-40B4-BE49-F238E27FC236}">
                <a16:creationId xmlns:a16="http://schemas.microsoft.com/office/drawing/2014/main" id="{83F2ED32-E89D-E886-E513-22D11EB3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55149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9951" name="Text Box 16">
            <a:extLst>
              <a:ext uri="{FF2B5EF4-FFF2-40B4-BE49-F238E27FC236}">
                <a16:creationId xmlns:a16="http://schemas.microsoft.com/office/drawing/2014/main" id="{1C748568-DCE8-0F57-BE54-C54B8AE06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47529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9952" name="Text Box 17">
            <a:extLst>
              <a:ext uri="{FF2B5EF4-FFF2-40B4-BE49-F238E27FC236}">
                <a16:creationId xmlns:a16="http://schemas.microsoft.com/office/drawing/2014/main" id="{1EB23C8F-3B13-93DE-6824-98433A790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5" y="5626100"/>
            <a:ext cx="782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OPn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43B07F7-0964-54A3-75A4-18F1817AB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050" y="-242888"/>
            <a:ext cx="8166100" cy="1290638"/>
          </a:xfrm>
        </p:spPr>
        <p:txBody>
          <a:bodyPr/>
          <a:lstStyle/>
          <a:p>
            <a:pPr defTabSz="912813" eaLnBrk="1" hangingPunct="1"/>
            <a:r>
              <a:rPr lang="it-IT" altLang="it-IT"/>
              <a:t>Metodologicamente: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EF09D1ED-08FA-243E-A052-510DC320C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162050"/>
            <a:ext cx="8909050" cy="4629150"/>
          </a:xfrm>
        </p:spPr>
        <p:txBody>
          <a:bodyPr/>
          <a:lstStyle/>
          <a:p>
            <a:pPr defTabSz="912813" eaLnBrk="1" hangingPunct="1"/>
            <a:r>
              <a:rPr lang="it-IT" altLang="it-IT"/>
              <a:t>Interfaccia</a:t>
            </a:r>
          </a:p>
          <a:p>
            <a:pPr defTabSz="912813" eaLnBrk="1" hangingPunct="1"/>
            <a:r>
              <a:rPr lang="it-IT" altLang="it-IT"/>
              <a:t>Realizzazione</a:t>
            </a:r>
          </a:p>
        </p:txBody>
      </p:sp>
      <p:pic>
        <p:nvPicPr>
          <p:cNvPr id="40963" name="Picture 4" descr="PE01460_">
            <a:extLst>
              <a:ext uri="{FF2B5EF4-FFF2-40B4-BE49-F238E27FC236}">
                <a16:creationId xmlns:a16="http://schemas.microsoft.com/office/drawing/2014/main" id="{8BDB9B4D-9A7A-5C56-981C-A6943EF3F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662238"/>
            <a:ext cx="1727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5">
            <a:extLst>
              <a:ext uri="{FF2B5EF4-FFF2-40B4-BE49-F238E27FC236}">
                <a16:creationId xmlns:a16="http://schemas.microsoft.com/office/drawing/2014/main" id="{22649B9A-A270-C123-AB47-9FA42F158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0" y="494823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CLIENTE</a:t>
            </a:r>
          </a:p>
        </p:txBody>
      </p:sp>
      <p:sp>
        <p:nvSpPr>
          <p:cNvPr id="40965" name="Rectangle 6">
            <a:extLst>
              <a:ext uri="{FF2B5EF4-FFF2-40B4-BE49-F238E27FC236}">
                <a16:creationId xmlns:a16="http://schemas.microsoft.com/office/drawing/2014/main" id="{02174D10-5A1B-4BDA-C7E0-F6E865488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2205038"/>
            <a:ext cx="165100" cy="304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it-IT" altLang="it-IT"/>
          </a:p>
        </p:txBody>
      </p:sp>
      <p:sp>
        <p:nvSpPr>
          <p:cNvPr id="40966" name="Line 7">
            <a:extLst>
              <a:ext uri="{FF2B5EF4-FFF2-40B4-BE49-F238E27FC236}">
                <a16:creationId xmlns:a16="http://schemas.microsoft.com/office/drawing/2014/main" id="{7D961EF9-9FE5-52D3-D22A-11F47A8C2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0" y="365283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40967" name="Line 8">
            <a:extLst>
              <a:ext uri="{FF2B5EF4-FFF2-40B4-BE49-F238E27FC236}">
                <a16:creationId xmlns:a16="http://schemas.microsoft.com/office/drawing/2014/main" id="{07504B68-CC0C-0E24-51CD-D81A463975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6500" y="411003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40968" name="Text Box 9">
            <a:extLst>
              <a:ext uri="{FF2B5EF4-FFF2-40B4-BE49-F238E27FC236}">
                <a16:creationId xmlns:a16="http://schemas.microsoft.com/office/drawing/2014/main" id="{5EDF553C-142B-161C-89C2-5BBCBC2F1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700" y="5329238"/>
            <a:ext cx="1619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Interfaccia</a:t>
            </a:r>
          </a:p>
        </p:txBody>
      </p:sp>
      <p:sp>
        <p:nvSpPr>
          <p:cNvPr id="40969" name="Oval 10">
            <a:extLst>
              <a:ext uri="{FF2B5EF4-FFF2-40B4-BE49-F238E27FC236}">
                <a16:creationId xmlns:a16="http://schemas.microsoft.com/office/drawing/2014/main" id="{DE83F7ED-0424-9E8A-B04C-E3CCD41B2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3043238"/>
            <a:ext cx="1651000" cy="1524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it-IT" altLang="it-IT"/>
          </a:p>
        </p:txBody>
      </p:sp>
      <p:sp>
        <p:nvSpPr>
          <p:cNvPr id="40970" name="Line 11">
            <a:extLst>
              <a:ext uri="{FF2B5EF4-FFF2-40B4-BE49-F238E27FC236}">
                <a16:creationId xmlns:a16="http://schemas.microsoft.com/office/drawing/2014/main" id="{71911CDF-4DBE-6047-6709-DC78E78C7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3805238"/>
            <a:ext cx="742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40971" name="Line 12">
            <a:extLst>
              <a:ext uri="{FF2B5EF4-FFF2-40B4-BE49-F238E27FC236}">
                <a16:creationId xmlns:a16="http://schemas.microsoft.com/office/drawing/2014/main" id="{98373ABA-18B3-074E-E600-7EE528A90C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2200" y="3881438"/>
            <a:ext cx="742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40972" name="Oval 13">
            <a:extLst>
              <a:ext uri="{FF2B5EF4-FFF2-40B4-BE49-F238E27FC236}">
                <a16:creationId xmlns:a16="http://schemas.microsoft.com/office/drawing/2014/main" id="{A5204911-A3F9-A1EC-A029-05B5CE2F1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3424238"/>
            <a:ext cx="74295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ADT</a:t>
            </a:r>
          </a:p>
        </p:txBody>
      </p:sp>
      <p:sp>
        <p:nvSpPr>
          <p:cNvPr id="40973" name="Text Box 14">
            <a:extLst>
              <a:ext uri="{FF2B5EF4-FFF2-40B4-BE49-F238E27FC236}">
                <a16:creationId xmlns:a16="http://schemas.microsoft.com/office/drawing/2014/main" id="{9AC12739-B378-F0DE-CF42-F9155FF07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4462463"/>
            <a:ext cx="24796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Realizzazione =&gt; </a:t>
            </a:r>
          </a:p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Progettista e</a:t>
            </a:r>
          </a:p>
          <a:p>
            <a:pPr eaLnBrk="1" hangingPunct="1">
              <a:buFont typeface="Times New Roman" panose="02020603050405020304" pitchFamily="18" charset="0"/>
              <a:buNone/>
            </a:pPr>
            <a:r>
              <a:rPr lang="it-IT" altLang="it-IT" sz="2400">
                <a:latin typeface="Times New Roman" panose="02020603050405020304" pitchFamily="18" charset="0"/>
              </a:rPr>
              <a:t>implementatore</a:t>
            </a:r>
          </a:p>
          <a:p>
            <a:pPr eaLnBrk="1" hangingPunct="1">
              <a:buFont typeface="Times New Roman" panose="02020603050405020304" pitchFamily="18" charset="0"/>
              <a:buNone/>
            </a:pPr>
            <a:endParaRPr lang="it-IT" altLang="it-IT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CCE7EC1E-0C7F-99BC-4649-8B7F069AF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75" y="188913"/>
            <a:ext cx="8420100" cy="1143000"/>
          </a:xfrm>
        </p:spPr>
        <p:txBody>
          <a:bodyPr/>
          <a:lstStyle/>
          <a:p>
            <a:pPr defTabSz="912813" eaLnBrk="1" hangingPunct="1"/>
            <a:r>
              <a:rPr lang="it-IT" altLang="it-IT"/>
              <a:t>Clienti e sviluppatori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2FF57BC-E5F1-BA90-B17A-DFBC25F9C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484313"/>
            <a:ext cx="8420100" cy="4114800"/>
          </a:xfrm>
        </p:spPr>
        <p:txBody>
          <a:bodyPr/>
          <a:lstStyle/>
          <a:p>
            <a:pPr defTabSz="914217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it-IT" altLang="it-IT" sz="2599" dirty="0"/>
              <a:t>Il cliente fa uso delle funzionalità offerte per realizzare procedure di un’applicazione o per costruire operazioni su dati più complessi</a:t>
            </a:r>
          </a:p>
          <a:p>
            <a:pPr defTabSz="914217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it-IT" altLang="it-IT" sz="2599" dirty="0"/>
              <a:t>Il progettista e lo sviluppatore devono realizzare le astrazioni e le funzionalità previste per il dato facendo uso di un linguaggio di programmazione o appoggiandosi sulle primitive di un altro tipo di dato già disponibile</a:t>
            </a:r>
          </a:p>
          <a:p>
            <a:pPr lvl="2" defTabSz="914217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endParaRPr lang="it-IT" altLang="it-IT" sz="2100" dirty="0"/>
          </a:p>
          <a:p>
            <a:pPr lvl="3" defTabSz="914217" eaLnBrk="1" hangingPunct="1">
              <a:lnSpc>
                <a:spcPct val="90000"/>
              </a:lnSpc>
              <a:defRPr/>
            </a:pPr>
            <a:r>
              <a:rPr lang="it-IT" altLang="it-IT" sz="1800" b="1" dirty="0"/>
              <a:t>Un progettista o uno sviluppatore può essere il cliente di un altro tipo di dato astratto</a:t>
            </a:r>
            <a:r>
              <a:rPr lang="it-IT" altLang="it-IT" sz="1800" dirty="0"/>
              <a:t> </a:t>
            </a:r>
          </a:p>
          <a:p>
            <a:pPr defTabSz="914217" eaLnBrk="1" hangingPunct="1">
              <a:lnSpc>
                <a:spcPct val="90000"/>
              </a:lnSpc>
              <a:defRPr/>
            </a:pPr>
            <a:endParaRPr lang="it-IT" altLang="it-IT" sz="2599" dirty="0"/>
          </a:p>
        </p:txBody>
      </p:sp>
      <p:sp>
        <p:nvSpPr>
          <p:cNvPr id="43011" name="AutoShape 4">
            <a:extLst>
              <a:ext uri="{FF2B5EF4-FFF2-40B4-BE49-F238E27FC236}">
                <a16:creationId xmlns:a16="http://schemas.microsoft.com/office/drawing/2014/main" id="{82CD840A-33B2-52F1-54CD-D4CB67D97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4868863"/>
            <a:ext cx="1250950" cy="304800"/>
          </a:xfrm>
          <a:prstGeom prst="rightArrow">
            <a:avLst>
              <a:gd name="adj1" fmla="val 50000"/>
              <a:gd name="adj2" fmla="val 1286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it-IT" altLang="it-IT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D0C10E5-373C-8623-4D8D-9BB308E57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it-IT" altLang="it-IT"/>
              <a:t>Vantaggi principali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CF98F932-51C7-E541-D8AA-48E31D3C1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69913" indent="-569913" defTabSz="912813" eaLnBrk="1" hangingPunct="1">
              <a:buFont typeface="Times New Roman" panose="02020603050405020304" pitchFamily="18" charset="0"/>
              <a:buChar char="•"/>
            </a:pPr>
            <a:r>
              <a:rPr lang="it-IT" altLang="it-IT"/>
              <a:t>La struttura dei dati non può venire alterata da operazioni scorrette</a:t>
            </a:r>
          </a:p>
          <a:p>
            <a:pPr marL="569913" indent="-569913" defTabSz="912813" eaLnBrk="1" hangingPunct="1">
              <a:buFont typeface="Times New Roman" panose="02020603050405020304" pitchFamily="18" charset="0"/>
              <a:buChar char="•"/>
            </a:pPr>
            <a:r>
              <a:rPr lang="it-IT" altLang="it-IT"/>
              <a:t>La realizzazione della struttura dei dati può essere modificata senza influenzare i moduli che ne fanno uso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4CEDA900-D669-3D0A-84A1-6218197C9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-315913"/>
            <a:ext cx="8172450" cy="1295401"/>
          </a:xfrm>
        </p:spPr>
        <p:txBody>
          <a:bodyPr/>
          <a:lstStyle/>
          <a:p>
            <a:pPr defTabSz="912813" eaLnBrk="1" hangingPunct="1"/>
            <a:r>
              <a:rPr lang="it-IT" altLang="it-IT"/>
              <a:t>Tecnicamente…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EFDDBC8-6DFE-4487-45B4-227BD2EE8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5" y="1052513"/>
            <a:ext cx="8421688" cy="4752975"/>
          </a:xfrm>
        </p:spPr>
        <p:txBody>
          <a:bodyPr/>
          <a:lstStyle/>
          <a:p>
            <a:pPr marL="0" indent="0" defTabSz="914217" eaLnBrk="1" hangingPunct="1">
              <a:buFont typeface="Wingdings" panose="05000000000000000000" pitchFamily="2" charset="2"/>
              <a:buNone/>
              <a:defRPr/>
            </a:pPr>
            <a:r>
              <a:rPr lang="it-IT" altLang="it-IT" sz="2400" b="1" u="sng" dirty="0"/>
              <a:t>In C/C++</a:t>
            </a:r>
          </a:p>
          <a:p>
            <a:pPr defTabSz="914217" eaLnBrk="1" hangingPunct="1">
              <a:defRPr/>
            </a:pPr>
            <a:r>
              <a:rPr lang="it-IT" altLang="it-IT" sz="2400" dirty="0"/>
              <a:t>Meccanismi per l’Information </a:t>
            </a:r>
            <a:r>
              <a:rPr lang="it-IT" altLang="it-IT" sz="2400" dirty="0" err="1"/>
              <a:t>Hiding</a:t>
            </a:r>
            <a:r>
              <a:rPr lang="it-IT" altLang="it-IT" sz="2400" dirty="0"/>
              <a:t> </a:t>
            </a:r>
          </a:p>
          <a:p>
            <a:pPr defTabSz="914217" eaLnBrk="1" hangingPunct="1">
              <a:defRPr/>
            </a:pPr>
            <a:r>
              <a:rPr lang="it-IT" altLang="it-IT" sz="2400" dirty="0"/>
              <a:t>Descrizione (o specifica) dell’interfaccia</a:t>
            </a:r>
          </a:p>
          <a:p>
            <a:pPr defTabSz="914217" eaLnBrk="1" hangingPunct="1">
              <a:defRPr/>
            </a:pPr>
            <a:r>
              <a:rPr lang="it-IT" altLang="it-IT" sz="2400" dirty="0"/>
              <a:t>Compilazione separata e inclusione di file (#include)</a:t>
            </a:r>
          </a:p>
          <a:p>
            <a:pPr defTabSz="914217" eaLnBrk="1" hangingPunct="1">
              <a:defRPr/>
            </a:pPr>
            <a:r>
              <a:rPr lang="it-IT" sz="2400" dirty="0"/>
              <a:t>C++20 introduce meccanismi </a:t>
            </a:r>
            <a:r>
              <a:rPr lang="it-IT" sz="2400" dirty="0" err="1"/>
              <a:t>linguistisci</a:t>
            </a:r>
            <a:r>
              <a:rPr lang="it-IT" sz="2400" dirty="0"/>
              <a:t> per la dichiarazione e l’utilizzo di moduli. </a:t>
            </a:r>
            <a:endParaRPr lang="it-IT" altLang="it-IT" sz="2400" dirty="0"/>
          </a:p>
          <a:p>
            <a:pPr marL="0" indent="0" defTabSz="914217" eaLnBrk="1" hangingPunct="1">
              <a:buFont typeface="Wingdings" panose="05000000000000000000" pitchFamily="2" charset="2"/>
              <a:buNone/>
              <a:defRPr/>
            </a:pPr>
            <a:r>
              <a:rPr lang="it-IT" altLang="it-IT" sz="2400" b="1" u="sng" dirty="0"/>
              <a:t>In JAVA</a:t>
            </a:r>
          </a:p>
          <a:p>
            <a:pPr defTabSz="914217" eaLnBrk="1" hangingPunct="1">
              <a:defRPr/>
            </a:pPr>
            <a:r>
              <a:rPr lang="it-IT" altLang="it-IT" sz="2400" dirty="0"/>
              <a:t>Meccanismi per l’Information </a:t>
            </a:r>
            <a:r>
              <a:rPr lang="it-IT" altLang="it-IT" sz="2400" dirty="0" err="1"/>
              <a:t>Hiding</a:t>
            </a:r>
            <a:endParaRPr lang="it-IT" altLang="it-IT" sz="2400" dirty="0"/>
          </a:p>
          <a:p>
            <a:pPr defTabSz="914217" eaLnBrk="1" hangingPunct="1">
              <a:defRPr/>
            </a:pPr>
            <a:r>
              <a:rPr lang="it-IT" altLang="it-IT" sz="2400" dirty="0"/>
              <a:t>Packages</a:t>
            </a:r>
          </a:p>
          <a:p>
            <a:pPr defTabSz="914217" eaLnBrk="1" hangingPunct="1">
              <a:defRPr/>
            </a:pPr>
            <a:r>
              <a:rPr lang="it-IT" altLang="it-IT" sz="2400" dirty="0"/>
              <a:t>Java 9 ha introdotto la possibilità di introdurre esplicitamente i moduli ed è possibile specificare le relazioni e le dipendenze tra essi (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 </a:t>
            </a:r>
            <a:r>
              <a:rPr lang="it-IT" sz="2400" dirty="0" err="1"/>
              <a:t>requires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, </a:t>
            </a:r>
            <a:r>
              <a:rPr lang="it-IT" sz="2400" dirty="0"/>
              <a:t>exports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, </a:t>
            </a:r>
            <a:r>
              <a:rPr lang="it-IT" sz="2400" dirty="0" err="1"/>
              <a:t>provides</a:t>
            </a:r>
            <a:r>
              <a:rPr lang="it-IT" sz="2400" dirty="0"/>
              <a:t>…with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, </a:t>
            </a:r>
            <a:r>
              <a:rPr lang="it-IT" sz="2400" dirty="0" err="1"/>
              <a:t>uses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 e </a:t>
            </a:r>
            <a:r>
              <a:rPr lang="it-IT" sz="2400" dirty="0" err="1"/>
              <a:t>opens</a:t>
            </a:r>
            <a:r>
              <a:rPr lang="it-IT" sz="2400" dirty="0"/>
              <a:t>)</a:t>
            </a:r>
            <a:r>
              <a:rPr lang="it-IT" sz="2400" dirty="0">
                <a:solidFill>
                  <a:srgbClr val="514C47"/>
                </a:solidFill>
                <a:latin typeface="OracleSansVF"/>
              </a:rPr>
              <a:t> </a:t>
            </a:r>
            <a:endParaRPr lang="it-IT" altLang="it-IT" sz="2400" dirty="0"/>
          </a:p>
          <a:p>
            <a:pPr marL="0" indent="0" defTabSz="914217" eaLnBrk="1" hangingPunct="1">
              <a:buFont typeface="Wingdings" panose="05000000000000000000" pitchFamily="2" charset="2"/>
              <a:buNone/>
              <a:defRPr/>
            </a:pPr>
            <a:endParaRPr lang="it-IT" altLang="it-IT" dirty="0"/>
          </a:p>
          <a:p>
            <a:pPr marL="0" indent="0" defTabSz="914217" eaLnBrk="1" hangingPunct="1">
              <a:buFont typeface="Wingdings" panose="05000000000000000000" pitchFamily="2" charset="2"/>
              <a:buNone/>
              <a:defRPr/>
            </a:pPr>
            <a:endParaRPr lang="it-IT" altLang="it-IT" dirty="0"/>
          </a:p>
          <a:p>
            <a:pPr marL="0" indent="0" defTabSz="914217" eaLnBrk="1" hangingPunct="1">
              <a:buFont typeface="Wingdings" panose="05000000000000000000" pitchFamily="2" charset="2"/>
              <a:buNone/>
              <a:defRPr/>
            </a:pPr>
            <a:endParaRPr lang="it-IT" altLang="it-IT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olo 1">
            <a:extLst>
              <a:ext uri="{FF2B5EF4-FFF2-40B4-BE49-F238E27FC236}">
                <a16:creationId xmlns:a16="http://schemas.microsoft.com/office/drawing/2014/main" id="{A8DACB64-A5B7-97EE-54E4-0334BA0AF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Riferimenti</a:t>
            </a:r>
          </a:p>
        </p:txBody>
      </p:sp>
      <p:sp>
        <p:nvSpPr>
          <p:cNvPr id="47106" name="Segnaposto contenuto 2">
            <a:extLst>
              <a:ext uri="{FF2B5EF4-FFF2-40B4-BE49-F238E27FC236}">
                <a16:creationId xmlns:a16="http://schemas.microsoft.com/office/drawing/2014/main" id="{5759F340-EFDC-F1C5-CBD7-67470E58A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Dispense fornite dal docente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93BBC2-D7A0-4782-9651-6F4DE33C41B8}"/>
</file>

<file path=customXml/itemProps2.xml><?xml version="1.0" encoding="utf-8"?>
<ds:datastoreItem xmlns:ds="http://schemas.openxmlformats.org/officeDocument/2006/customXml" ds:itemID="{0501D53D-752C-4748-9633-5D3069CE78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90FB6B-445F-47AC-B11A-787A51DD57A6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1171</TotalTime>
  <Pages>39</Pages>
  <Words>1856</Words>
  <Application>Microsoft Office PowerPoint</Application>
  <PresentationFormat>A4 (21x29,7 cm)</PresentationFormat>
  <Paragraphs>208</Paragraphs>
  <Slides>29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Rete</vt:lpstr>
      <vt:lpstr>Corso di Programmazione  </vt:lpstr>
      <vt:lpstr>Il problema</vt:lpstr>
      <vt:lpstr>Modularizzazione</vt:lpstr>
      <vt:lpstr>Modularizzazione e Astrazione</vt:lpstr>
      <vt:lpstr>Il processo di astrazione</vt:lpstr>
      <vt:lpstr>L’importanza delle astrazioni</vt:lpstr>
      <vt:lpstr>Meccanismi di astrazione</vt:lpstr>
      <vt:lpstr>Il concetto di modulo</vt:lpstr>
      <vt:lpstr>Realizzazione di un modulo</vt:lpstr>
      <vt:lpstr>Relazioni tra moduli</vt:lpstr>
      <vt:lpstr>Modularizzazione</vt:lpstr>
      <vt:lpstr>Metodologie di sviluppo </vt:lpstr>
      <vt:lpstr>Information hiding</vt:lpstr>
      <vt:lpstr>Information hiding: esempio</vt:lpstr>
      <vt:lpstr>Information hiding: criteri</vt:lpstr>
      <vt:lpstr>Accoppiamento</vt:lpstr>
      <vt:lpstr>Coesione</vt:lpstr>
      <vt:lpstr>Coesione e Accoppiamento: criteri</vt:lpstr>
      <vt:lpstr>Un esempio in pseudo-codice</vt:lpstr>
      <vt:lpstr>Nell’esempio</vt:lpstr>
      <vt:lpstr>Vantaggi</vt:lpstr>
      <vt:lpstr>Meccanismi e Linguaggi</vt:lpstr>
      <vt:lpstr>Utilizzo dei Moduli</vt:lpstr>
      <vt:lpstr>Definizione (ADT)</vt:lpstr>
      <vt:lpstr>Metodologicamente:</vt:lpstr>
      <vt:lpstr>Clienti e sviluppatori</vt:lpstr>
      <vt:lpstr>Vantaggi principali</vt:lpstr>
      <vt:lpstr>Tecnicamente…</vt:lpstr>
      <vt:lpstr>Riferimenti</vt:lpstr>
    </vt:vector>
  </TitlesOfParts>
  <Company> DIS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</dc:title>
  <dc:subject/>
  <dc:creator>Valeria Vittorini</dc:creator>
  <cp:keywords/>
  <dc:description/>
  <cp:lastModifiedBy>DOMENICO AMALFITANO</cp:lastModifiedBy>
  <cp:revision>77</cp:revision>
  <cp:lastPrinted>1999-05-26T13:44:20Z</cp:lastPrinted>
  <dcterms:created xsi:type="dcterms:W3CDTF">2007-03-07T11:06:59Z</dcterms:created>
  <dcterms:modified xsi:type="dcterms:W3CDTF">2026-03-18T08:40:23Z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2023-11-22T13:16:24Z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49154a93-b488-4626-9cf8-5d0c92687691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</Properties>
</file>