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265" r:id="rId5"/>
    <p:sldId id="335" r:id="rId6"/>
    <p:sldId id="331" r:id="rId7"/>
    <p:sldId id="344" r:id="rId8"/>
    <p:sldId id="345" r:id="rId9"/>
    <p:sldId id="346" r:id="rId10"/>
    <p:sldId id="347" r:id="rId11"/>
    <p:sldId id="348" r:id="rId12"/>
    <p:sldId id="349" r:id="rId13"/>
    <p:sldId id="350" r:id="rId14"/>
    <p:sldId id="351" r:id="rId15"/>
    <p:sldId id="352" r:id="rId16"/>
    <p:sldId id="353" r:id="rId17"/>
    <p:sldId id="354" r:id="rId18"/>
    <p:sldId id="355" r:id="rId19"/>
    <p:sldId id="356" r:id="rId20"/>
    <p:sldId id="357" r:id="rId21"/>
    <p:sldId id="358" r:id="rId22"/>
    <p:sldId id="359" r:id="rId23"/>
    <p:sldId id="343" r:id="rId24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56076F-1EA2-E544-8244-AED971FB78B7}" v="15" dt="2024-02-20T15:16:04.1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>
      <p:cViewPr varScale="1">
        <p:scale>
          <a:sx n="103" d="100"/>
          <a:sy n="103" d="100"/>
        </p:scale>
        <p:origin x="178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LERIA VITTORINI" userId="8c590808-2c0b-4c77-aa35-c80ef3354ea7" providerId="ADAL" clId="{1A56076F-1EA2-E544-8244-AED971FB78B7}"/>
    <pc:docChg chg="modSld">
      <pc:chgData name="VALERIA VITTORINI" userId="8c590808-2c0b-4c77-aa35-c80ef3354ea7" providerId="ADAL" clId="{1A56076F-1EA2-E544-8244-AED971FB78B7}" dt="2024-02-20T15:16:04.134" v="10" actId="14100"/>
      <pc:docMkLst>
        <pc:docMk/>
      </pc:docMkLst>
      <pc:sldChg chg="modSp mod">
        <pc:chgData name="VALERIA VITTORINI" userId="8c590808-2c0b-4c77-aa35-c80ef3354ea7" providerId="ADAL" clId="{1A56076F-1EA2-E544-8244-AED971FB78B7}" dt="2024-02-20T15:15:21.048" v="4" actId="1076"/>
        <pc:sldMkLst>
          <pc:docMk/>
          <pc:sldMk cId="3101136853" sldId="359"/>
        </pc:sldMkLst>
        <pc:spChg chg="mod">
          <ac:chgData name="VALERIA VITTORINI" userId="8c590808-2c0b-4c77-aa35-c80ef3354ea7" providerId="ADAL" clId="{1A56076F-1EA2-E544-8244-AED971FB78B7}" dt="2024-02-20T15:15:21.048" v="4" actId="1076"/>
          <ac:spMkLst>
            <pc:docMk/>
            <pc:sldMk cId="3101136853" sldId="359"/>
            <ac:spMk id="4" creationId="{865D3AFF-4448-DD7E-4A77-FE5E5E0C35A7}"/>
          </ac:spMkLst>
        </pc:spChg>
      </pc:sldChg>
      <pc:sldChg chg="modSp mod">
        <pc:chgData name="VALERIA VITTORINI" userId="8c590808-2c0b-4c77-aa35-c80ef3354ea7" providerId="ADAL" clId="{1A56076F-1EA2-E544-8244-AED971FB78B7}" dt="2024-02-20T15:16:04.134" v="10" actId="14100"/>
        <pc:sldMkLst>
          <pc:docMk/>
          <pc:sldMk cId="4136751395" sldId="360"/>
        </pc:sldMkLst>
        <pc:spChg chg="mod">
          <ac:chgData name="VALERIA VITTORINI" userId="8c590808-2c0b-4c77-aa35-c80ef3354ea7" providerId="ADAL" clId="{1A56076F-1EA2-E544-8244-AED971FB78B7}" dt="2024-02-20T15:16:04.134" v="10" actId="14100"/>
          <ac:spMkLst>
            <pc:docMk/>
            <pc:sldMk cId="4136751395" sldId="360"/>
            <ac:spMk id="5" creationId="{9AE2F5F7-471D-15C4-55AD-C526FFF3C75D}"/>
          </ac:spMkLst>
        </pc:spChg>
      </pc:sldChg>
      <pc:sldChg chg="modSp">
        <pc:chgData name="VALERIA VITTORINI" userId="8c590808-2c0b-4c77-aa35-c80ef3354ea7" providerId="ADAL" clId="{1A56076F-1EA2-E544-8244-AED971FB78B7}" dt="2024-02-20T15:15:44.374" v="7" actId="1076"/>
        <pc:sldMkLst>
          <pc:docMk/>
          <pc:sldMk cId="4269468544" sldId="361"/>
        </pc:sldMkLst>
        <pc:spChg chg="mod">
          <ac:chgData name="VALERIA VITTORINI" userId="8c590808-2c0b-4c77-aa35-c80ef3354ea7" providerId="ADAL" clId="{1A56076F-1EA2-E544-8244-AED971FB78B7}" dt="2024-02-20T15:15:44.374" v="7" actId="1076"/>
          <ac:spMkLst>
            <pc:docMk/>
            <pc:sldMk cId="4269468544" sldId="361"/>
            <ac:spMk id="3" creationId="{E350779F-3385-6135-AC97-FCFBF89F1D0D}"/>
          </ac:spMkLst>
        </pc:spChg>
      </pc:sldChg>
      <pc:sldChg chg="modSp mod">
        <pc:chgData name="VALERIA VITTORINI" userId="8c590808-2c0b-4c77-aa35-c80ef3354ea7" providerId="ADAL" clId="{1A56076F-1EA2-E544-8244-AED971FB78B7}" dt="2024-02-20T15:15:52.429" v="8" actId="14100"/>
        <pc:sldMkLst>
          <pc:docMk/>
          <pc:sldMk cId="1405781237" sldId="362"/>
        </pc:sldMkLst>
        <pc:spChg chg="mod">
          <ac:chgData name="VALERIA VITTORINI" userId="8c590808-2c0b-4c77-aa35-c80ef3354ea7" providerId="ADAL" clId="{1A56076F-1EA2-E544-8244-AED971FB78B7}" dt="2024-02-20T15:15:52.429" v="8" actId="14100"/>
          <ac:spMkLst>
            <pc:docMk/>
            <pc:sldMk cId="1405781237" sldId="362"/>
            <ac:spMk id="5" creationId="{731F420C-0979-C131-89DC-74C22F793C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26/03/25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>
                <a:latin typeface="Times New Roman" pitchFamily="18" charset="0"/>
              </a:rPr>
            </a:br>
            <a:r>
              <a:rPr lang="en-US" altLang="it-IT" sz="4000">
                <a:latin typeface="Times New Roman" pitchFamily="18" charset="0"/>
              </a:rPr>
              <a:t> Corso di </a:t>
            </a:r>
            <a:r>
              <a:rPr lang="en-US" altLang="it-IT" sz="4000" err="1">
                <a:latin typeface="Times New Roman" pitchFamily="18" charset="0"/>
              </a:rPr>
              <a:t>Programmazione</a:t>
            </a:r>
            <a:endParaRPr lang="en-US" altLang="it-IT" sz="4000" b="0" i="1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 dirty="0">
                <a:latin typeface="Times New Roman" pitchFamily="18" charset="0"/>
              </a:rPr>
              <a:t>Array</a:t>
            </a:r>
          </a:p>
          <a:p>
            <a:pPr eaLnBrk="1" hangingPunct="1"/>
            <a:r>
              <a:rPr lang="en-US" altLang="it-IT" sz="3600" b="1" i="1" dirty="0" err="1">
                <a:latin typeface="Times New Roman" pitchFamily="18" charset="0"/>
              </a:rPr>
              <a:t>Nozioni</a:t>
            </a:r>
            <a:r>
              <a:rPr lang="en-US" altLang="it-IT" sz="3600" b="1" i="1" dirty="0">
                <a:latin typeface="Times New Roman" pitchFamily="18" charset="0"/>
              </a:rPr>
              <a:t> Base</a:t>
            </a: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522B56-8A32-CD19-4C7F-2448D3047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3408"/>
            <a:ext cx="7543800" cy="1295400"/>
          </a:xfrm>
        </p:spPr>
        <p:txBody>
          <a:bodyPr/>
          <a:lstStyle/>
          <a:p>
            <a:r>
              <a:rPr lang="it-IT"/>
              <a:t>Array in Java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73C5A2-A8B1-01EC-EBBD-E978C5332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700808"/>
            <a:ext cx="8229600" cy="4411662"/>
          </a:xfrm>
        </p:spPr>
        <p:txBody>
          <a:bodyPr/>
          <a:lstStyle/>
          <a:p>
            <a:r>
              <a:rPr lang="it-IT"/>
              <a:t>Ricordiamo che i tipi in Java appartengono a due categorie:</a:t>
            </a:r>
          </a:p>
          <a:p>
            <a:pPr lvl="1"/>
            <a:r>
              <a:rPr lang="it-IT"/>
              <a:t>Tipi primitivi</a:t>
            </a:r>
          </a:p>
          <a:p>
            <a:pPr lvl="1"/>
            <a:r>
              <a:rPr lang="it-IT"/>
              <a:t>Riferimenti ad oggetti</a:t>
            </a:r>
          </a:p>
          <a:p>
            <a:r>
              <a:rPr lang="it-IT"/>
              <a:t>Gli array in Java sono oggetti</a:t>
            </a:r>
          </a:p>
          <a:p>
            <a:r>
              <a:rPr lang="it-IT"/>
              <a:t>Quindi aggregati di variabili in memoria tutti dello stesso tipo (primitivo o riferimento) a cui si arriva tramite un riferimento</a:t>
            </a:r>
          </a:p>
          <a:p>
            <a:pPr marL="344487" lvl="1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550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32C4D38-5152-05F2-AEB0-467D74A31C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0345" y="-459432"/>
            <a:ext cx="7543800" cy="1295400"/>
          </a:xfrm>
        </p:spPr>
        <p:txBody>
          <a:bodyPr/>
          <a:lstStyle/>
          <a:p>
            <a:pPr eaLnBrk="1" hangingPunct="1"/>
            <a:r>
              <a:rPr lang="en-US" altLang="it-IT" err="1"/>
              <a:t>Gli</a:t>
            </a:r>
            <a:r>
              <a:rPr lang="en-US" altLang="it-IT"/>
              <a:t> array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8A86037-2339-BD51-2CE8-CEBDBE6097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5193" y="1556792"/>
            <a:ext cx="8229600" cy="518457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it-IT" sz="2000" err="1"/>
              <a:t>Gli</a:t>
            </a:r>
            <a:r>
              <a:rPr lang="en-US" altLang="it-IT" sz="2000"/>
              <a:t> array </a:t>
            </a:r>
            <a:r>
              <a:rPr lang="en-US" altLang="it-IT" sz="2000" err="1"/>
              <a:t>possono</a:t>
            </a:r>
            <a:r>
              <a:rPr lang="en-US" altLang="it-IT" sz="2000"/>
              <a:t> </a:t>
            </a:r>
            <a:r>
              <a:rPr lang="en-US" altLang="it-IT" sz="2000" err="1"/>
              <a:t>essere</a:t>
            </a:r>
            <a:r>
              <a:rPr lang="en-US" altLang="it-IT" sz="2000"/>
              <a:t> </a:t>
            </a:r>
            <a:r>
              <a:rPr lang="en-US" altLang="it-IT" sz="2000" err="1"/>
              <a:t>monodimensionali</a:t>
            </a:r>
            <a:r>
              <a:rPr lang="en-US" altLang="it-IT" sz="2000"/>
              <a:t> (</a:t>
            </a:r>
            <a:r>
              <a:rPr lang="en-US" altLang="it-IT" sz="2000" err="1"/>
              <a:t>vettori</a:t>
            </a:r>
            <a:r>
              <a:rPr lang="en-US" altLang="it-IT" sz="2000"/>
              <a:t>) o </a:t>
            </a:r>
            <a:r>
              <a:rPr lang="en-US" altLang="it-IT" sz="2000" err="1"/>
              <a:t>avere</a:t>
            </a:r>
            <a:r>
              <a:rPr lang="en-US" altLang="it-IT" sz="2000"/>
              <a:t> </a:t>
            </a:r>
            <a:r>
              <a:rPr lang="en-US" altLang="it-IT" sz="2000" err="1"/>
              <a:t>più</a:t>
            </a:r>
            <a:r>
              <a:rPr lang="en-US" altLang="it-IT" sz="2000"/>
              <a:t> </a:t>
            </a:r>
            <a:r>
              <a:rPr lang="en-US" altLang="it-IT" sz="2000" err="1"/>
              <a:t>dimensioni</a:t>
            </a:r>
            <a:r>
              <a:rPr lang="en-US" altLang="it-IT" sz="2000"/>
              <a:t>, (</a:t>
            </a:r>
            <a:r>
              <a:rPr lang="en-US" altLang="it-IT" sz="2000" err="1"/>
              <a:t>gli</a:t>
            </a:r>
            <a:r>
              <a:rPr lang="en-US" altLang="it-IT" sz="2000"/>
              <a:t> array </a:t>
            </a:r>
            <a:r>
              <a:rPr lang="en-US" altLang="it-IT" sz="2000" err="1"/>
              <a:t>bidimensionali</a:t>
            </a:r>
            <a:r>
              <a:rPr lang="en-US" altLang="it-IT" sz="2000"/>
              <a:t> </a:t>
            </a:r>
            <a:r>
              <a:rPr lang="en-US" altLang="it-IT" sz="2000" err="1"/>
              <a:t>sono</a:t>
            </a:r>
            <a:r>
              <a:rPr lang="en-US" altLang="it-IT" sz="2000"/>
              <a:t> </a:t>
            </a:r>
            <a:r>
              <a:rPr lang="en-US" altLang="it-IT" sz="2000" err="1"/>
              <a:t>matrici</a:t>
            </a:r>
            <a:r>
              <a:rPr lang="en-US" altLang="it-IT" sz="2000"/>
              <a:t>)</a:t>
            </a:r>
          </a:p>
          <a:p>
            <a:pPr eaLnBrk="1" hangingPunct="1"/>
            <a:r>
              <a:rPr lang="en-US" altLang="it-IT" sz="2000" err="1"/>
              <a:t>Gli</a:t>
            </a:r>
            <a:r>
              <a:rPr lang="en-US" altLang="it-IT" sz="2000"/>
              <a:t> </a:t>
            </a:r>
            <a:r>
              <a:rPr lang="en-US" altLang="it-IT" sz="2000" err="1"/>
              <a:t>elementi</a:t>
            </a:r>
            <a:r>
              <a:rPr lang="en-US" altLang="it-IT" sz="2000"/>
              <a:t> di un array </a:t>
            </a:r>
            <a:r>
              <a:rPr lang="en-US" altLang="it-IT" sz="2000" err="1"/>
              <a:t>vengono</a:t>
            </a:r>
            <a:r>
              <a:rPr lang="en-US" altLang="it-IT" sz="2000"/>
              <a:t> </a:t>
            </a:r>
            <a:r>
              <a:rPr lang="en-US" altLang="it-IT" sz="2000" err="1"/>
              <a:t>inizializzati</a:t>
            </a:r>
            <a:r>
              <a:rPr lang="en-US" altLang="it-IT" sz="2000"/>
              <a:t> ad un </a:t>
            </a:r>
            <a:r>
              <a:rPr lang="en-US" altLang="it-IT" sz="2000" err="1"/>
              <a:t>valore</a:t>
            </a:r>
            <a:r>
              <a:rPr lang="en-US" altLang="it-IT" sz="2000"/>
              <a:t> di default </a:t>
            </a:r>
            <a:r>
              <a:rPr lang="en-US" altLang="it-IT" sz="2000" err="1"/>
              <a:t>quando</a:t>
            </a:r>
            <a:r>
              <a:rPr lang="en-US" altLang="it-IT" sz="2000"/>
              <a:t> </a:t>
            </a:r>
            <a:r>
              <a:rPr lang="en-US" altLang="it-IT" sz="2000" err="1"/>
              <a:t>l’array</a:t>
            </a:r>
            <a:r>
              <a:rPr lang="en-US" altLang="it-IT" sz="2000"/>
              <a:t> </a:t>
            </a:r>
            <a:r>
              <a:rPr lang="en-US" altLang="it-IT" sz="2000" err="1"/>
              <a:t>viene</a:t>
            </a:r>
            <a:r>
              <a:rPr lang="en-US" altLang="it-IT" sz="2000"/>
              <a:t> </a:t>
            </a:r>
            <a:r>
              <a:rPr lang="en-US" altLang="it-IT" sz="2000" err="1"/>
              <a:t>creato</a:t>
            </a:r>
            <a:r>
              <a:rPr lang="en-US" altLang="it-IT" sz="2000"/>
              <a:t> (se non </a:t>
            </a:r>
            <a:r>
              <a:rPr lang="en-US" altLang="it-IT" sz="2000" err="1"/>
              <a:t>diversamente</a:t>
            </a:r>
            <a:r>
              <a:rPr lang="en-US" altLang="it-IT" sz="2000"/>
              <a:t> </a:t>
            </a:r>
            <a:r>
              <a:rPr lang="en-US" altLang="it-IT" sz="2000" err="1"/>
              <a:t>specificato</a:t>
            </a:r>
            <a:r>
              <a:rPr lang="en-US" altLang="it-IT" sz="2000"/>
              <a:t>)</a:t>
            </a:r>
          </a:p>
          <a:p>
            <a:pPr lvl="2" eaLnBrk="1" hangingPunct="1"/>
            <a:r>
              <a:rPr lang="en-US" altLang="it-IT" sz="2000">
                <a:solidFill>
                  <a:srgbClr val="FF0000"/>
                </a:solidFill>
              </a:rPr>
              <a:t>null</a:t>
            </a:r>
            <a:r>
              <a:rPr lang="en-US" altLang="it-IT" sz="2000"/>
              <a:t> per </a:t>
            </a:r>
            <a:r>
              <a:rPr lang="en-US" altLang="it-IT" sz="2000" err="1"/>
              <a:t>i</a:t>
            </a:r>
            <a:r>
              <a:rPr lang="en-US" altLang="it-IT" sz="2000"/>
              <a:t> </a:t>
            </a:r>
            <a:r>
              <a:rPr lang="en-US" altLang="it-IT" sz="2000" err="1"/>
              <a:t>riferimenti</a:t>
            </a:r>
            <a:endParaRPr lang="en-US" altLang="it-IT" sz="2000"/>
          </a:p>
          <a:p>
            <a:pPr lvl="2" eaLnBrk="1" hangingPunct="1"/>
            <a:r>
              <a:rPr lang="en-US" altLang="it-IT" sz="2000">
                <a:solidFill>
                  <a:srgbClr val="FF0000"/>
                </a:solidFill>
              </a:rPr>
              <a:t>0</a:t>
            </a:r>
            <a:r>
              <a:rPr lang="en-US" altLang="it-IT" sz="2000"/>
              <a:t> per </a:t>
            </a:r>
            <a:r>
              <a:rPr lang="en-US" altLang="it-IT" sz="2000" err="1"/>
              <a:t>gli</a:t>
            </a:r>
            <a:r>
              <a:rPr lang="en-US" altLang="it-IT" sz="2000"/>
              <a:t> </a:t>
            </a:r>
            <a:r>
              <a:rPr lang="en-US" altLang="it-IT" sz="2000" err="1"/>
              <a:t>interi</a:t>
            </a:r>
            <a:endParaRPr lang="en-US" altLang="it-IT" sz="2000"/>
          </a:p>
          <a:p>
            <a:pPr lvl="2" eaLnBrk="1" hangingPunct="1"/>
            <a:r>
              <a:rPr lang="en-US" altLang="it-IT" sz="2000">
                <a:solidFill>
                  <a:srgbClr val="FF0000"/>
                </a:solidFill>
              </a:rPr>
              <a:t>false</a:t>
            </a:r>
            <a:r>
              <a:rPr lang="en-US" altLang="it-IT" sz="2000"/>
              <a:t> per </a:t>
            </a:r>
            <a:r>
              <a:rPr lang="en-US" altLang="it-IT" sz="2000" err="1"/>
              <a:t>i</a:t>
            </a:r>
            <a:r>
              <a:rPr lang="en-US" altLang="it-IT" sz="2000"/>
              <a:t> </a:t>
            </a:r>
            <a:r>
              <a:rPr lang="en-US" altLang="it-IT" sz="2000" err="1"/>
              <a:t>boolean</a:t>
            </a:r>
            <a:endParaRPr lang="en-US" altLang="it-IT" sz="2000"/>
          </a:p>
          <a:p>
            <a:pPr eaLnBrk="1" hangingPunct="1"/>
            <a:r>
              <a:rPr lang="en-US" altLang="it-IT" sz="2000"/>
              <a:t>Come in </a:t>
            </a:r>
            <a:r>
              <a:rPr lang="en-US" altLang="it-IT" sz="2000">
                <a:solidFill>
                  <a:srgbClr val="FF0000"/>
                </a:solidFill>
              </a:rPr>
              <a:t>C </a:t>
            </a:r>
            <a:r>
              <a:rPr lang="en-US" altLang="it-IT" sz="2000" err="1"/>
              <a:t>l’accesso</a:t>
            </a:r>
            <a:r>
              <a:rPr lang="en-US" altLang="it-IT" sz="2000"/>
              <a:t> ai </a:t>
            </a:r>
            <a:r>
              <a:rPr lang="en-US" altLang="it-IT" sz="2000" err="1"/>
              <a:t>singoli</a:t>
            </a:r>
            <a:r>
              <a:rPr lang="en-US" altLang="it-IT" sz="2000"/>
              <a:t> </a:t>
            </a:r>
            <a:r>
              <a:rPr lang="en-US" altLang="it-IT" sz="2000" err="1"/>
              <a:t>elementi</a:t>
            </a:r>
            <a:r>
              <a:rPr lang="en-US" altLang="it-IT" sz="2000"/>
              <a:t> </a:t>
            </a:r>
            <a:r>
              <a:rPr lang="en-US" altLang="it-IT" sz="2000" err="1"/>
              <a:t>dell’array</a:t>
            </a:r>
            <a:r>
              <a:rPr lang="en-US" altLang="it-IT" sz="2000"/>
              <a:t> </a:t>
            </a:r>
            <a:r>
              <a:rPr lang="en-US" altLang="it-IT" sz="2000" err="1"/>
              <a:t>è</a:t>
            </a:r>
            <a:r>
              <a:rPr lang="en-US" altLang="it-IT" sz="2000"/>
              <a:t> </a:t>
            </a:r>
            <a:r>
              <a:rPr lang="en-US" altLang="it-IT" sz="2000" err="1"/>
              <a:t>diretto</a:t>
            </a:r>
            <a:r>
              <a:rPr lang="en-US" altLang="it-IT" sz="2000"/>
              <a:t> ed </a:t>
            </a:r>
            <a:r>
              <a:rPr lang="en-US" altLang="it-IT" sz="2000" err="1"/>
              <a:t>è</a:t>
            </a:r>
            <a:r>
              <a:rPr lang="en-US" altLang="it-IT" sz="2000"/>
              <a:t> </a:t>
            </a:r>
            <a:r>
              <a:rPr lang="en-US" altLang="it-IT" sz="2000" err="1"/>
              <a:t>effettuato</a:t>
            </a:r>
            <a:r>
              <a:rPr lang="en-US" altLang="it-IT" sz="2000"/>
              <a:t> </a:t>
            </a:r>
            <a:r>
              <a:rPr lang="en-US" altLang="it-IT" sz="2000" err="1"/>
              <a:t>mediante</a:t>
            </a:r>
            <a:r>
              <a:rPr lang="en-US" altLang="it-IT" sz="2000"/>
              <a:t> la </a:t>
            </a:r>
            <a:r>
              <a:rPr lang="en-US" altLang="it-IT" sz="2000" err="1"/>
              <a:t>notazione</a:t>
            </a:r>
            <a:r>
              <a:rPr lang="en-US" altLang="it-IT" sz="2000"/>
              <a:t> [] e la </a:t>
            </a:r>
            <a:r>
              <a:rPr lang="en-US" altLang="it-IT" sz="2000" err="1"/>
              <a:t>posizione</a:t>
            </a:r>
            <a:r>
              <a:rPr lang="en-US" altLang="it-IT" sz="2000"/>
              <a:t> </a:t>
            </a:r>
            <a:r>
              <a:rPr lang="en-US" altLang="it-IT" sz="2000" err="1"/>
              <a:t>dell’elemento</a:t>
            </a:r>
            <a:r>
              <a:rPr lang="en-US" altLang="it-IT" sz="2000"/>
              <a:t> </a:t>
            </a:r>
            <a:r>
              <a:rPr lang="en-US" altLang="it-IT" sz="2000" err="1"/>
              <a:t>nell’array</a:t>
            </a:r>
            <a:r>
              <a:rPr lang="en-US" altLang="it-IT" sz="2000"/>
              <a:t> </a:t>
            </a:r>
          </a:p>
          <a:p>
            <a:pPr eaLnBrk="1" hangingPunct="1"/>
            <a:r>
              <a:rPr lang="en-US" altLang="it-IT" sz="2000"/>
              <a:t>Come in </a:t>
            </a:r>
            <a:r>
              <a:rPr lang="en-US" altLang="it-IT" sz="2000">
                <a:solidFill>
                  <a:srgbClr val="FF0000"/>
                </a:solidFill>
              </a:rPr>
              <a:t>C </a:t>
            </a:r>
            <a:r>
              <a:rPr lang="en-US" altLang="it-IT" sz="2000" i="1"/>
              <a:t>la prima </a:t>
            </a:r>
            <a:r>
              <a:rPr lang="en-US" altLang="it-IT" sz="2000" i="1" err="1"/>
              <a:t>posizione</a:t>
            </a:r>
            <a:r>
              <a:rPr lang="en-US" altLang="it-IT" sz="2000" i="1"/>
              <a:t> del </a:t>
            </a:r>
            <a:r>
              <a:rPr lang="en-US" altLang="it-IT" sz="2000" i="1" err="1"/>
              <a:t>vettore</a:t>
            </a:r>
            <a:r>
              <a:rPr lang="en-US" altLang="it-IT" sz="2000" i="1"/>
              <a:t> </a:t>
            </a:r>
            <a:r>
              <a:rPr lang="en-US" altLang="it-IT" sz="2000" i="1" err="1"/>
              <a:t>è</a:t>
            </a:r>
            <a:r>
              <a:rPr lang="en-US" altLang="it-IT" sz="2000" i="1"/>
              <a:t> la </a:t>
            </a:r>
            <a:r>
              <a:rPr lang="en-US" altLang="it-IT" sz="2000" i="1" err="1"/>
              <a:t>posizione</a:t>
            </a:r>
            <a:r>
              <a:rPr lang="en-US" altLang="it-IT" sz="2000" i="1"/>
              <a:t> 0</a:t>
            </a:r>
          </a:p>
          <a:p>
            <a:pPr eaLnBrk="1" hangingPunct="1"/>
            <a:r>
              <a:rPr lang="en-US" altLang="it-IT" sz="2000"/>
              <a:t>A </a:t>
            </a:r>
            <a:r>
              <a:rPr lang="en-US" altLang="it-IT" sz="2000" err="1"/>
              <a:t>differenza</a:t>
            </a:r>
            <a:r>
              <a:rPr lang="en-US" altLang="it-IT" sz="2000"/>
              <a:t> del </a:t>
            </a:r>
            <a:r>
              <a:rPr lang="en-US" altLang="it-IT" sz="2000">
                <a:solidFill>
                  <a:srgbClr val="FF0000"/>
                </a:solidFill>
              </a:rPr>
              <a:t>C</a:t>
            </a:r>
            <a:r>
              <a:rPr lang="en-US" altLang="it-IT" sz="2000"/>
              <a:t> il </a:t>
            </a:r>
            <a:r>
              <a:rPr lang="en-US" altLang="it-IT" sz="2000" err="1"/>
              <a:t>compilatore</a:t>
            </a:r>
            <a:r>
              <a:rPr lang="en-US" altLang="it-IT" sz="2000"/>
              <a:t> </a:t>
            </a:r>
            <a:r>
              <a:rPr lang="en-US" altLang="it-IT" sz="2000" err="1"/>
              <a:t>effettua</a:t>
            </a:r>
            <a:r>
              <a:rPr lang="en-US" altLang="it-IT" sz="2000"/>
              <a:t> sempre il </a:t>
            </a:r>
            <a:r>
              <a:rPr lang="en-US" altLang="it-IT" sz="2000" err="1"/>
              <a:t>controllo</a:t>
            </a:r>
            <a:r>
              <a:rPr lang="en-US" altLang="it-IT" sz="2000"/>
              <a:t> sui </a:t>
            </a:r>
            <a:r>
              <a:rPr lang="en-US" altLang="it-IT" sz="2000" err="1"/>
              <a:t>limiti</a:t>
            </a:r>
            <a:r>
              <a:rPr lang="en-US" altLang="it-IT" sz="2000"/>
              <a:t> (non </a:t>
            </a:r>
            <a:r>
              <a:rPr lang="en-US" altLang="it-IT" sz="2000" err="1"/>
              <a:t>si</a:t>
            </a:r>
            <a:r>
              <a:rPr lang="en-US" altLang="it-IT" sz="2000"/>
              <a:t> </a:t>
            </a:r>
            <a:r>
              <a:rPr lang="en-US" altLang="it-IT" sz="2000" err="1"/>
              <a:t>può</a:t>
            </a:r>
            <a:r>
              <a:rPr lang="en-US" altLang="it-IT" sz="2000"/>
              <a:t> </a:t>
            </a:r>
            <a:r>
              <a:rPr lang="en-US" altLang="it-IT" sz="2000" err="1"/>
              <a:t>accedere</a:t>
            </a:r>
            <a:r>
              <a:rPr lang="en-US" altLang="it-IT" sz="2000"/>
              <a:t> al di </a:t>
            </a:r>
            <a:r>
              <a:rPr lang="en-US" altLang="it-IT" sz="2000" err="1"/>
              <a:t>fuori</a:t>
            </a:r>
            <a:r>
              <a:rPr lang="en-US" altLang="it-IT" sz="2000"/>
              <a:t> </a:t>
            </a:r>
            <a:r>
              <a:rPr lang="en-US" altLang="it-IT" sz="2000" err="1"/>
              <a:t>dell’intervallo</a:t>
            </a:r>
            <a:r>
              <a:rPr lang="en-US" altLang="it-IT" sz="2000"/>
              <a:t> </a:t>
            </a:r>
            <a:r>
              <a:rPr lang="en-US" altLang="it-IT" sz="2000" err="1"/>
              <a:t>degli</a:t>
            </a:r>
            <a:r>
              <a:rPr lang="en-US" altLang="it-IT" sz="2000"/>
              <a:t> </a:t>
            </a:r>
            <a:r>
              <a:rPr lang="en-US" altLang="it-IT" sz="2000" err="1"/>
              <a:t>indici</a:t>
            </a:r>
            <a:r>
              <a:rPr lang="en-US" altLang="it-IT" sz="2000"/>
              <a:t>)</a:t>
            </a:r>
          </a:p>
          <a:p>
            <a:pPr eaLnBrk="1" hangingPunct="1"/>
            <a:r>
              <a:rPr lang="en-US" altLang="it-IT" sz="2000"/>
              <a:t>Nota: In C++ </a:t>
            </a:r>
            <a:r>
              <a:rPr lang="en-US" altLang="it-IT" sz="2000" err="1"/>
              <a:t>è</a:t>
            </a:r>
            <a:r>
              <a:rPr lang="en-US" altLang="it-IT" sz="2000"/>
              <a:t> </a:t>
            </a:r>
            <a:r>
              <a:rPr lang="en-US" altLang="it-IT" sz="2000" err="1"/>
              <a:t>disponibile</a:t>
            </a:r>
            <a:r>
              <a:rPr lang="en-US" altLang="it-IT" sz="2000"/>
              <a:t> </a:t>
            </a:r>
            <a:r>
              <a:rPr lang="en-US" altLang="it-IT" sz="2000" err="1">
                <a:solidFill>
                  <a:srgbClr val="FF0000"/>
                </a:solidFill>
              </a:rPr>
              <a:t>anche</a:t>
            </a:r>
            <a:r>
              <a:rPr lang="en-US" altLang="it-IT" sz="2000"/>
              <a:t> la </a:t>
            </a:r>
            <a:r>
              <a:rPr lang="en-US" altLang="it-IT" sz="2000" err="1"/>
              <a:t>classe</a:t>
            </a:r>
            <a:r>
              <a:rPr lang="en-US" altLang="it-IT" sz="2000"/>
              <a:t> </a:t>
            </a:r>
            <a:r>
              <a:rPr lang="en-US" altLang="it-IT" sz="2000">
                <a:solidFill>
                  <a:srgbClr val="00B050"/>
                </a:solidFill>
              </a:rPr>
              <a:t>vector</a:t>
            </a:r>
            <a:r>
              <a:rPr lang="en-US" altLang="it-IT" sz="2000"/>
              <a:t>…</a:t>
            </a:r>
          </a:p>
          <a:p>
            <a:pPr marL="0" indent="0" eaLnBrk="1" hangingPunct="1">
              <a:buNone/>
            </a:pPr>
            <a:endParaRPr lang="en-US" altLang="it-IT" sz="2400"/>
          </a:p>
          <a:p>
            <a:pPr marL="0" indent="0" eaLnBrk="1" hangingPunct="1">
              <a:buNone/>
            </a:pPr>
            <a:endParaRPr lang="en-US" altLang="it-IT"/>
          </a:p>
          <a:p>
            <a:pPr eaLnBrk="1" hangingPunct="1">
              <a:buFont typeface="Wingdings" pitchFamily="2" charset="2"/>
              <a:buNone/>
            </a:pPr>
            <a:endParaRPr lang="en-US" alt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C4FE08-993B-467B-DD50-3CBB75AF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Array monodimensionali (vettori)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EB6CAB-808A-E4B4-EA91-2AB5BA77E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19263"/>
            <a:ext cx="8229600" cy="773633"/>
          </a:xfrm>
        </p:spPr>
        <p:txBody>
          <a:bodyPr/>
          <a:lstStyle/>
          <a:p>
            <a:r>
              <a:rPr lang="it-IT"/>
              <a:t>Dichiarazione e Creazione: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endParaRPr lang="it-IT"/>
          </a:p>
          <a:p>
            <a:r>
              <a:rPr lang="it-IT" sz="2800"/>
              <a:t>La precedente istruzione dichiara il riferimento </a:t>
            </a:r>
            <a:r>
              <a:rPr lang="it-IT" sz="2800" i="1">
                <a:solidFill>
                  <a:srgbClr val="FF0000"/>
                </a:solidFill>
              </a:rPr>
              <a:t>a</a:t>
            </a:r>
            <a:r>
              <a:rPr lang="it-IT" sz="2800"/>
              <a:t> ad un array monodimensionale e lo inizializza con il valore tornato da new</a:t>
            </a:r>
          </a:p>
          <a:p>
            <a:r>
              <a:rPr lang="it-IT" sz="2800">
                <a:solidFill>
                  <a:srgbClr val="FF0000"/>
                </a:solidFill>
              </a:rPr>
              <a:t>new</a:t>
            </a:r>
            <a:r>
              <a:rPr lang="it-IT" sz="2800"/>
              <a:t> alloca in memoria un array di 10 interi e ritorna il riferimento all’area di memoria </a:t>
            </a:r>
          </a:p>
          <a:p>
            <a:r>
              <a:rPr lang="it-IT" sz="2800"/>
              <a:t>NOTA: </a:t>
            </a:r>
            <a:r>
              <a:rPr lang="it-IT" sz="2800" err="1"/>
              <a:t>int</a:t>
            </a:r>
            <a:r>
              <a:rPr lang="it-IT" sz="2800"/>
              <a:t> a[10] in Java è un errore di sintassi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A9242A9-3D0F-9FDB-0B53-F1BA36B80450}"/>
              </a:ext>
            </a:extLst>
          </p:cNvPr>
          <p:cNvSpPr txBox="1"/>
          <p:nvPr/>
        </p:nvSpPr>
        <p:spPr>
          <a:xfrm>
            <a:off x="2123728" y="2471197"/>
            <a:ext cx="3310522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800" err="1"/>
              <a:t>int</a:t>
            </a:r>
            <a:r>
              <a:rPr lang="it-IT" sz="2800"/>
              <a:t> a[] = new </a:t>
            </a:r>
            <a:r>
              <a:rPr lang="it-IT" sz="2800" err="1"/>
              <a:t>int</a:t>
            </a:r>
            <a:r>
              <a:rPr lang="it-IT" sz="2800"/>
              <a:t>[10];</a:t>
            </a:r>
          </a:p>
        </p:txBody>
      </p:sp>
    </p:spTree>
    <p:extLst>
      <p:ext uri="{BB962C8B-B14F-4D97-AF65-F5344CB8AC3E}">
        <p14:creationId xmlns:p14="http://schemas.microsoft.com/office/powerpoint/2010/main" val="200813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5E7CFE0-7229-BBC6-18DD-599D9396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321" y="-387424"/>
            <a:ext cx="7543800" cy="1295400"/>
          </a:xfrm>
        </p:spPr>
        <p:txBody>
          <a:bodyPr/>
          <a:lstStyle/>
          <a:p>
            <a:r>
              <a:rPr lang="it-IT"/>
              <a:t>Esempi di uso dei vettori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95993C-0890-4780-6C54-C024D1066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596199"/>
            <a:ext cx="8229600" cy="4411662"/>
          </a:xfrm>
        </p:spPr>
        <p:txBody>
          <a:bodyPr/>
          <a:lstStyle/>
          <a:p>
            <a:r>
              <a:rPr lang="it-IT" sz="2400"/>
              <a:t>Un vettore, una volta a disposizione il riferimento, si usa come in C/C++, ricordando sempre che in realtà utilizziamo un riferimento</a:t>
            </a:r>
          </a:p>
          <a:p>
            <a:r>
              <a:rPr lang="it-IT" sz="2400"/>
              <a:t>Esempi:</a:t>
            </a:r>
          </a:p>
          <a:p>
            <a:pPr marL="0" indent="0">
              <a:buNone/>
            </a:pPr>
            <a:r>
              <a:rPr lang="it-IT" sz="2400"/>
              <a:t>    Lettura da tastiera del vettore </a:t>
            </a:r>
            <a:r>
              <a:rPr lang="it-IT" sz="2400" i="1">
                <a:solidFill>
                  <a:srgbClr val="FF0000"/>
                </a:solidFill>
              </a:rPr>
              <a:t>a</a:t>
            </a:r>
            <a:r>
              <a:rPr lang="it-IT" sz="2400" i="1"/>
              <a:t>:</a:t>
            </a:r>
          </a:p>
          <a:p>
            <a:pPr marL="0" indent="0">
              <a:buNone/>
            </a:pPr>
            <a:r>
              <a:rPr lang="it-IT" sz="2400" i="1"/>
              <a:t>   </a:t>
            </a:r>
          </a:p>
          <a:p>
            <a:pPr marL="0" indent="0">
              <a:buNone/>
            </a:pPr>
            <a:r>
              <a:rPr lang="it-IT" i="1"/>
              <a:t>   </a:t>
            </a:r>
          </a:p>
          <a:p>
            <a:pPr marL="0" indent="0">
              <a:buNone/>
            </a:pPr>
            <a:r>
              <a:rPr lang="it-IT" sz="1200" i="1"/>
              <a:t>  </a:t>
            </a:r>
          </a:p>
          <a:p>
            <a:pPr marL="0" indent="0">
              <a:buNone/>
            </a:pPr>
            <a:r>
              <a:rPr lang="it-IT" i="1"/>
              <a:t>   </a:t>
            </a:r>
            <a:r>
              <a:rPr lang="it-IT" sz="2400" i="1"/>
              <a:t>Visualizzazione </a:t>
            </a:r>
            <a:r>
              <a:rPr lang="it-IT" sz="2400"/>
              <a:t>del vettore a:</a:t>
            </a:r>
          </a:p>
          <a:p>
            <a:pPr marL="0" indent="0">
              <a:buNone/>
            </a:pPr>
            <a:endParaRPr lang="it-IT" i="1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2CF18FC-DE60-085A-7EBB-97A5F32DFDDE}"/>
              </a:ext>
            </a:extLst>
          </p:cNvPr>
          <p:cNvSpPr txBox="1"/>
          <p:nvPr/>
        </p:nvSpPr>
        <p:spPr>
          <a:xfrm>
            <a:off x="2466601" y="3802030"/>
            <a:ext cx="4448654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/>
              <a:t>Scanner input = new Scanner(</a:t>
            </a:r>
            <a:r>
              <a:rPr lang="it-IT" err="1"/>
              <a:t>System.in</a:t>
            </a:r>
            <a:r>
              <a:rPr lang="it-IT"/>
              <a:t>);</a:t>
            </a:r>
          </a:p>
          <a:p>
            <a:r>
              <a:rPr lang="it-IT"/>
              <a:t>for(</a:t>
            </a:r>
            <a:r>
              <a:rPr lang="it-IT" err="1"/>
              <a:t>int</a:t>
            </a:r>
            <a:r>
              <a:rPr lang="it-IT"/>
              <a:t> i=0; i&lt;10; i++)</a:t>
            </a:r>
          </a:p>
          <a:p>
            <a:r>
              <a:rPr lang="it-IT"/>
              <a:t>        a[i]=</a:t>
            </a:r>
            <a:r>
              <a:rPr lang="it-IT" err="1"/>
              <a:t>input.nextInt</a:t>
            </a:r>
            <a:r>
              <a:rPr lang="it-IT"/>
              <a:t>();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D368F3-DAA3-CB9A-D3E0-EB65CB374072}"/>
              </a:ext>
            </a:extLst>
          </p:cNvPr>
          <p:cNvSpPr txBox="1"/>
          <p:nvPr/>
        </p:nvSpPr>
        <p:spPr>
          <a:xfrm>
            <a:off x="2466601" y="5734997"/>
            <a:ext cx="3246402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/>
              <a:t>for(</a:t>
            </a:r>
            <a:r>
              <a:rPr lang="it-IT" err="1"/>
              <a:t>int</a:t>
            </a:r>
            <a:r>
              <a:rPr lang="it-IT"/>
              <a:t> i=0; i&lt;10; i++)</a:t>
            </a:r>
          </a:p>
          <a:p>
            <a:r>
              <a:rPr lang="it-IT"/>
              <a:t>  </a:t>
            </a:r>
            <a:r>
              <a:rPr lang="it-IT" err="1"/>
              <a:t>System.out.printf</a:t>
            </a:r>
            <a:r>
              <a:rPr lang="it-IT"/>
              <a:t>(" %d", a[i]);</a:t>
            </a:r>
          </a:p>
        </p:txBody>
      </p:sp>
    </p:spTree>
    <p:extLst>
      <p:ext uri="{BB962C8B-B14F-4D97-AF65-F5344CB8AC3E}">
        <p14:creationId xmlns:p14="http://schemas.microsoft.com/office/powerpoint/2010/main" val="2529578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7649C1-FB8F-B437-3213-36599FCC6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26" y="-315416"/>
            <a:ext cx="7543800" cy="1295400"/>
          </a:xfrm>
        </p:spPr>
        <p:txBody>
          <a:bodyPr/>
          <a:lstStyle/>
          <a:p>
            <a:r>
              <a:rPr lang="it-IT"/>
              <a:t>Inizializzazione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9D82E90-C941-1F53-D25A-82E3294BF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411662"/>
          </a:xfrm>
        </p:spPr>
        <p:txBody>
          <a:bodyPr/>
          <a:lstStyle/>
          <a:p>
            <a:r>
              <a:rPr lang="it-IT"/>
              <a:t>E’ possibile specificare il valore dei singoli elementi di un vettore all’atto della sua creazione:</a:t>
            </a:r>
          </a:p>
          <a:p>
            <a:pPr marL="0" indent="0">
              <a:buNone/>
            </a:pPr>
            <a:endParaRPr lang="it-IT"/>
          </a:p>
          <a:p>
            <a:pPr marL="0" indent="0">
              <a:buNone/>
            </a:pPr>
            <a:endParaRPr lang="it-IT"/>
          </a:p>
          <a:p>
            <a:r>
              <a:rPr lang="it-IT"/>
              <a:t>In questo caso la chiamata di new è implicita, </a:t>
            </a:r>
            <a:r>
              <a:rPr lang="it-IT" i="1"/>
              <a:t>il compilatore deriva la dimensione del vettore dal numero di elementi specificati </a:t>
            </a:r>
            <a:r>
              <a:rPr lang="it-IT"/>
              <a:t>e esegue l’opportuna istruzione new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B6640DD8-58D6-C2BE-F247-5D87FD215971}"/>
              </a:ext>
            </a:extLst>
          </p:cNvPr>
          <p:cNvSpPr txBox="1"/>
          <p:nvPr/>
        </p:nvSpPr>
        <p:spPr>
          <a:xfrm>
            <a:off x="2051720" y="3167390"/>
            <a:ext cx="3908442" cy="5232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800" err="1"/>
              <a:t>int</a:t>
            </a:r>
            <a:r>
              <a:rPr lang="it-IT" sz="2800"/>
              <a:t> a[] = {4, 5, 1, 13, 0 };</a:t>
            </a:r>
          </a:p>
        </p:txBody>
      </p:sp>
    </p:spTree>
    <p:extLst>
      <p:ext uri="{BB962C8B-B14F-4D97-AF65-F5344CB8AC3E}">
        <p14:creationId xmlns:p14="http://schemas.microsoft.com/office/powerpoint/2010/main" val="3781684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455FC1-BB2B-9A4E-1799-1281954B2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lenght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013A53-353F-A338-2030-EC4CE2748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/>
              <a:t>E’ possibile determinare la dimensione massima di un vettore interrogando la variabile di istanza pubblica </a:t>
            </a:r>
            <a:r>
              <a:rPr lang="it-IT" b="1" i="1" err="1"/>
              <a:t>lenght</a:t>
            </a:r>
            <a:endParaRPr lang="it-IT" b="1" i="1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33FC8AF-D494-ECB1-620E-95AD339F8F38}"/>
              </a:ext>
            </a:extLst>
          </p:cNvPr>
          <p:cNvSpPr txBox="1"/>
          <p:nvPr/>
        </p:nvSpPr>
        <p:spPr>
          <a:xfrm>
            <a:off x="1835696" y="3573016"/>
            <a:ext cx="4972836" cy="13849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800" err="1"/>
              <a:t>int</a:t>
            </a:r>
            <a:r>
              <a:rPr lang="it-IT" sz="2800"/>
              <a:t> a[] = {4, 5, 1, 13, 0 };</a:t>
            </a:r>
          </a:p>
          <a:p>
            <a:r>
              <a:rPr lang="it-IT" sz="2800"/>
              <a:t>for(</a:t>
            </a:r>
            <a:r>
              <a:rPr lang="it-IT" sz="2800" err="1"/>
              <a:t>int</a:t>
            </a:r>
            <a:r>
              <a:rPr lang="it-IT" sz="2800"/>
              <a:t> i=0; i&lt;</a:t>
            </a:r>
            <a:r>
              <a:rPr lang="it-IT" sz="2800" err="1">
                <a:solidFill>
                  <a:srgbClr val="FF0000"/>
                </a:solidFill>
              </a:rPr>
              <a:t>a.lenght</a:t>
            </a:r>
            <a:r>
              <a:rPr lang="it-IT" sz="2800"/>
              <a:t>; i++)</a:t>
            </a:r>
          </a:p>
          <a:p>
            <a:r>
              <a:rPr lang="it-IT" sz="2800"/>
              <a:t>  </a:t>
            </a:r>
            <a:r>
              <a:rPr lang="it-IT" sz="2800" err="1"/>
              <a:t>System.out.printf</a:t>
            </a:r>
            <a:r>
              <a:rPr lang="it-IT" sz="2800"/>
              <a:t>(" %d", a[i]);</a:t>
            </a:r>
          </a:p>
        </p:txBody>
      </p:sp>
    </p:spTree>
    <p:extLst>
      <p:ext uri="{BB962C8B-B14F-4D97-AF65-F5344CB8AC3E}">
        <p14:creationId xmlns:p14="http://schemas.microsoft.com/office/powerpoint/2010/main" val="3503052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FBA8D-8792-B06A-0451-A605896C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15416"/>
            <a:ext cx="7543800" cy="1295400"/>
          </a:xfrm>
        </p:spPr>
        <p:txBody>
          <a:bodyPr/>
          <a:lstStyle/>
          <a:p>
            <a:r>
              <a:rPr lang="it-IT"/>
              <a:t>Istruzione for su array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2EBF86-B866-E83C-1E22-5AB0517C2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411662"/>
          </a:xfrm>
        </p:spPr>
        <p:txBody>
          <a:bodyPr/>
          <a:lstStyle/>
          <a:p>
            <a:r>
              <a:rPr lang="it-IT" sz="2800"/>
              <a:t>Dalla JDK 5.0 in poi l’istruzione for è stata «potenziata» per iterare sugli elementi di una qualsiasi collezione, e in particolare sugli elementi di un array, </a:t>
            </a:r>
            <a:r>
              <a:rPr lang="it-IT" sz="2800" i="1">
                <a:solidFill>
                  <a:srgbClr val="FF0000"/>
                </a:solidFill>
              </a:rPr>
              <a:t>senza dover usare un contatore: </a:t>
            </a:r>
          </a:p>
          <a:p>
            <a:endParaRPr lang="it-IT" i="1">
              <a:solidFill>
                <a:srgbClr val="FF0000"/>
              </a:solidFill>
            </a:endParaRPr>
          </a:p>
          <a:p>
            <a:endParaRPr lang="it-IT" i="1">
              <a:solidFill>
                <a:srgbClr val="FF0000"/>
              </a:solidFill>
            </a:endParaRPr>
          </a:p>
          <a:p>
            <a:r>
              <a:rPr lang="it-IT" sz="2800" i="1">
                <a:solidFill>
                  <a:srgbClr val="FF0000"/>
                </a:solidFill>
              </a:rPr>
              <a:t>parametro </a:t>
            </a:r>
            <a:r>
              <a:rPr lang="it-IT" sz="2800"/>
              <a:t>è specificato da un tipo compatibile con il tipo degli elementi dell’array e da un identificatore</a:t>
            </a:r>
            <a:endParaRPr lang="it-IT" sz="2800" i="1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22108DC-DB56-1250-C59E-3D277BD979DB}"/>
              </a:ext>
            </a:extLst>
          </p:cNvPr>
          <p:cNvSpPr txBox="1"/>
          <p:nvPr/>
        </p:nvSpPr>
        <p:spPr>
          <a:xfrm>
            <a:off x="2843808" y="3618607"/>
            <a:ext cx="4703532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800" b="1"/>
              <a:t>for</a:t>
            </a:r>
            <a:r>
              <a:rPr lang="it-IT" sz="2800"/>
              <a:t>(</a:t>
            </a:r>
            <a:r>
              <a:rPr lang="it-IT" sz="2800" i="1"/>
              <a:t> parametro </a:t>
            </a:r>
            <a:r>
              <a:rPr lang="it-IT" sz="2800"/>
              <a:t>: </a:t>
            </a:r>
            <a:r>
              <a:rPr lang="it-IT" sz="2800" err="1"/>
              <a:t>nomeArray</a:t>
            </a:r>
            <a:r>
              <a:rPr lang="it-IT" sz="2800"/>
              <a:t>)</a:t>
            </a:r>
          </a:p>
          <a:p>
            <a:r>
              <a:rPr lang="it-IT" sz="2800"/>
              <a:t>     </a:t>
            </a:r>
            <a:r>
              <a:rPr lang="it-IT" sz="2800" i="1"/>
              <a:t>blocco del for</a:t>
            </a:r>
          </a:p>
        </p:txBody>
      </p:sp>
    </p:spTree>
    <p:extLst>
      <p:ext uri="{BB962C8B-B14F-4D97-AF65-F5344CB8AC3E}">
        <p14:creationId xmlns:p14="http://schemas.microsoft.com/office/powerpoint/2010/main" val="1555749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AAC08-B7F8-3D9A-A85B-3FFF555EE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9392"/>
            <a:ext cx="7543800" cy="1295400"/>
          </a:xfrm>
        </p:spPr>
        <p:txBody>
          <a:bodyPr/>
          <a:lstStyle/>
          <a:p>
            <a:r>
              <a:rPr lang="it-IT"/>
              <a:t>Esempio: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9BCEEF-D8DF-CE48-9B33-18E148D6B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5121"/>
            <a:ext cx="8229600" cy="4411662"/>
          </a:xfrm>
        </p:spPr>
        <p:txBody>
          <a:bodyPr/>
          <a:lstStyle/>
          <a:p>
            <a:endParaRPr lang="it-IT"/>
          </a:p>
          <a:p>
            <a:endParaRPr lang="it-IT"/>
          </a:p>
          <a:p>
            <a:endParaRPr lang="it-IT" sz="2400"/>
          </a:p>
          <a:p>
            <a:endParaRPr lang="it-IT" sz="2400"/>
          </a:p>
          <a:p>
            <a:r>
              <a:rPr lang="it-IT" sz="2400"/>
              <a:t>Questo utilizzo del for semplifica il codice nel caso in cui si debba accedere </a:t>
            </a:r>
            <a:r>
              <a:rPr lang="it-IT" sz="2400" i="1"/>
              <a:t>in lettura </a:t>
            </a:r>
            <a:r>
              <a:rPr lang="it-IT" sz="2400"/>
              <a:t>a tutti gli elementi del vettore</a:t>
            </a:r>
          </a:p>
          <a:p>
            <a:r>
              <a:rPr lang="it-IT" sz="2400"/>
              <a:t>Non può essere utilizzato se gli elementi devono essere modificati</a:t>
            </a:r>
          </a:p>
          <a:p>
            <a:r>
              <a:rPr lang="it-IT" sz="2400"/>
              <a:t>Non può essere utilizzato se le operazioni non devono essere effettuate su tutti gli elementi del vettore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C279090A-DAB1-A501-52DD-D4A336A0CF20}"/>
              </a:ext>
            </a:extLst>
          </p:cNvPr>
          <p:cNvSpPr txBox="1"/>
          <p:nvPr/>
        </p:nvSpPr>
        <p:spPr>
          <a:xfrm>
            <a:off x="704595" y="1484784"/>
            <a:ext cx="7734810" cy="14773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/>
              <a:t>double array[] = {3.4, 2.5, 1.7, 9.0};</a:t>
            </a:r>
          </a:p>
          <a:p>
            <a:r>
              <a:rPr lang="it-IT"/>
              <a:t>        double somma = 0.0;</a:t>
            </a:r>
          </a:p>
          <a:p>
            <a:r>
              <a:rPr lang="it-IT"/>
              <a:t>        for(</a:t>
            </a:r>
            <a:r>
              <a:rPr lang="it-IT" b="1">
                <a:solidFill>
                  <a:srgbClr val="FF0000"/>
                </a:solidFill>
              </a:rPr>
              <a:t>double </a:t>
            </a:r>
            <a:r>
              <a:rPr lang="it-IT" b="1" err="1">
                <a:solidFill>
                  <a:srgbClr val="FF0000"/>
                </a:solidFill>
              </a:rPr>
              <a:t>elem</a:t>
            </a:r>
            <a:r>
              <a:rPr lang="it-IT" b="1">
                <a:solidFill>
                  <a:srgbClr val="FF0000"/>
                </a:solidFill>
              </a:rPr>
              <a:t> : array</a:t>
            </a:r>
            <a:r>
              <a:rPr lang="it-IT"/>
              <a:t>)</a:t>
            </a:r>
          </a:p>
          <a:p>
            <a:r>
              <a:rPr lang="it-IT"/>
              <a:t>            somma += </a:t>
            </a:r>
            <a:r>
              <a:rPr lang="it-IT" b="1" err="1">
                <a:solidFill>
                  <a:srgbClr val="FF0000"/>
                </a:solidFill>
              </a:rPr>
              <a:t>elem</a:t>
            </a:r>
            <a:r>
              <a:rPr lang="it-IT"/>
              <a:t>;</a:t>
            </a:r>
          </a:p>
          <a:p>
            <a:r>
              <a:rPr lang="it-IT"/>
              <a:t>        </a:t>
            </a:r>
            <a:r>
              <a:rPr lang="it-IT" err="1"/>
              <a:t>System.out.printf</a:t>
            </a:r>
            <a:r>
              <a:rPr lang="it-IT"/>
              <a:t>("somma degli elementi del vettore: %</a:t>
            </a:r>
            <a:r>
              <a:rPr lang="it-IT" err="1"/>
              <a:t>f</a:t>
            </a:r>
            <a:r>
              <a:rPr lang="it-IT"/>
              <a:t> \</a:t>
            </a:r>
            <a:r>
              <a:rPr lang="it-IT" err="1"/>
              <a:t>n</a:t>
            </a:r>
            <a:r>
              <a:rPr lang="it-IT"/>
              <a:t>", somma);</a:t>
            </a:r>
          </a:p>
        </p:txBody>
      </p:sp>
    </p:spTree>
    <p:extLst>
      <p:ext uri="{BB962C8B-B14F-4D97-AF65-F5344CB8AC3E}">
        <p14:creationId xmlns:p14="http://schemas.microsoft.com/office/powerpoint/2010/main" val="1245771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3E5137-4C37-22C4-4E56-05BB7E2D1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300200"/>
            <a:ext cx="7543800" cy="1295400"/>
          </a:xfrm>
        </p:spPr>
        <p:txBody>
          <a:bodyPr/>
          <a:lstStyle/>
          <a:p>
            <a:r>
              <a:rPr lang="it-IT"/>
              <a:t>Copia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931CB1-8A4D-06A4-EBBE-00A4B345D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223169"/>
            <a:ext cx="8229600" cy="4411662"/>
          </a:xfrm>
        </p:spPr>
        <p:txBody>
          <a:bodyPr/>
          <a:lstStyle/>
          <a:p>
            <a:r>
              <a:rPr lang="it-IT" sz="2400"/>
              <a:t>Non è possibile copiare gli array con l’ operatore = </a:t>
            </a:r>
          </a:p>
          <a:p>
            <a:endParaRPr lang="it-IT"/>
          </a:p>
          <a:p>
            <a:endParaRPr lang="it-IT"/>
          </a:p>
          <a:p>
            <a:pPr marL="0" indent="0">
              <a:buNone/>
            </a:pPr>
            <a:endParaRPr lang="it-IT"/>
          </a:p>
          <a:p>
            <a:endParaRPr lang="it-IT" sz="2400"/>
          </a:p>
          <a:p>
            <a:r>
              <a:rPr lang="it-IT" sz="2400"/>
              <a:t>Se si vuole ottenere una copia dell’oggetto è necessario creare l’oggetto puntato da </a:t>
            </a:r>
            <a:r>
              <a:rPr lang="it-IT" sz="2400" i="1"/>
              <a:t>b</a:t>
            </a:r>
            <a:r>
              <a:rPr lang="it-IT" sz="2400"/>
              <a:t> della stessa dimensione di quello puntato da </a:t>
            </a:r>
            <a:r>
              <a:rPr lang="it-IT" sz="2400" i="1"/>
              <a:t>a </a:t>
            </a:r>
            <a:r>
              <a:rPr lang="it-IT" sz="2400"/>
              <a:t>e copiare elemento per elemento</a:t>
            </a:r>
          </a:p>
          <a:p>
            <a:endParaRPr lang="it-IT" sz="240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4C12A89-B6FC-912F-C84D-7CD829B9BCCC}"/>
              </a:ext>
            </a:extLst>
          </p:cNvPr>
          <p:cNvSpPr txBox="1"/>
          <p:nvPr/>
        </p:nvSpPr>
        <p:spPr>
          <a:xfrm>
            <a:off x="1797041" y="1875969"/>
            <a:ext cx="5549917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400"/>
              <a:t>Esempio:</a:t>
            </a:r>
          </a:p>
          <a:p>
            <a:r>
              <a:rPr lang="it-IT" sz="2400" err="1"/>
              <a:t>int</a:t>
            </a:r>
            <a:r>
              <a:rPr lang="it-IT" sz="2400"/>
              <a:t> a[] = {4, 5, 1, 13, 0 };</a:t>
            </a:r>
          </a:p>
          <a:p>
            <a:r>
              <a:rPr lang="it-IT" sz="2400"/>
              <a:t>Int b[] ;</a:t>
            </a:r>
          </a:p>
          <a:p>
            <a:r>
              <a:rPr lang="it-IT" sz="2400"/>
              <a:t>b=a; // il </a:t>
            </a:r>
            <a:r>
              <a:rPr lang="it-IT" sz="2400" i="1"/>
              <a:t>riferimento</a:t>
            </a:r>
            <a:r>
              <a:rPr lang="it-IT" sz="2400"/>
              <a:t> </a:t>
            </a:r>
            <a:r>
              <a:rPr lang="it-IT" sz="2400" i="1"/>
              <a:t>a</a:t>
            </a:r>
            <a:r>
              <a:rPr lang="it-IT" sz="2400"/>
              <a:t> viene copiato in </a:t>
            </a:r>
            <a:r>
              <a:rPr lang="it-IT" sz="2400" i="1"/>
              <a:t>b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26BD08-7E32-F26F-F464-5755D7F1CD80}"/>
              </a:ext>
            </a:extLst>
          </p:cNvPr>
          <p:cNvSpPr txBox="1"/>
          <p:nvPr/>
        </p:nvSpPr>
        <p:spPr>
          <a:xfrm>
            <a:off x="2424602" y="5013176"/>
            <a:ext cx="3692036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400" err="1"/>
              <a:t>int</a:t>
            </a:r>
            <a:r>
              <a:rPr lang="it-IT" sz="2400"/>
              <a:t> a[] = {4, 5, 1, 13, 0 };</a:t>
            </a:r>
          </a:p>
          <a:p>
            <a:r>
              <a:rPr lang="it-IT" sz="2400" err="1"/>
              <a:t>int</a:t>
            </a:r>
            <a:r>
              <a:rPr lang="it-IT" sz="2400"/>
              <a:t> b[]  = new[</a:t>
            </a:r>
            <a:r>
              <a:rPr lang="it-IT" sz="2400" err="1"/>
              <a:t>a.lenght</a:t>
            </a:r>
            <a:r>
              <a:rPr lang="it-IT" sz="2400"/>
              <a:t>];</a:t>
            </a:r>
          </a:p>
          <a:p>
            <a:r>
              <a:rPr lang="it-IT" sz="2400"/>
              <a:t>for(</a:t>
            </a:r>
            <a:r>
              <a:rPr lang="it-IT" sz="2400" err="1"/>
              <a:t>int</a:t>
            </a:r>
            <a:r>
              <a:rPr lang="it-IT" sz="2400"/>
              <a:t> i=0; i&lt;</a:t>
            </a:r>
            <a:r>
              <a:rPr lang="it-IT" sz="2400" err="1"/>
              <a:t>a.lenght</a:t>
            </a:r>
            <a:r>
              <a:rPr lang="it-IT" sz="2400"/>
              <a:t>; i++)</a:t>
            </a:r>
          </a:p>
          <a:p>
            <a:r>
              <a:rPr lang="it-IT" sz="2400"/>
              <a:t>  b[i]=a[i];</a:t>
            </a:r>
          </a:p>
        </p:txBody>
      </p:sp>
    </p:spTree>
    <p:extLst>
      <p:ext uri="{BB962C8B-B14F-4D97-AF65-F5344CB8AC3E}">
        <p14:creationId xmlns:p14="http://schemas.microsoft.com/office/powerpoint/2010/main" val="330944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C3DF4F-992C-2CB0-5CBA-7FDB8DD4A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2973"/>
            <a:ext cx="7543800" cy="1295400"/>
          </a:xfrm>
        </p:spPr>
        <p:txBody>
          <a:bodyPr/>
          <a:lstStyle/>
          <a:p>
            <a:r>
              <a:rPr lang="it-IT"/>
              <a:t>Confronto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21452-6281-4569-4D83-8FBE3B841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411662"/>
          </a:xfrm>
        </p:spPr>
        <p:txBody>
          <a:bodyPr/>
          <a:lstStyle/>
          <a:p>
            <a:r>
              <a:rPr lang="it-IT" sz="2400"/>
              <a:t>Analogamente non è possibile confrontare gli array con l’ operatore ==</a:t>
            </a:r>
          </a:p>
          <a:p>
            <a:pPr marL="0" indent="0">
              <a:buNone/>
            </a:pPr>
            <a:endParaRPr lang="it-IT" sz="3200"/>
          </a:p>
          <a:p>
            <a:pPr marL="0" indent="0">
              <a:buNone/>
            </a:pPr>
            <a:endParaRPr lang="it-IT"/>
          </a:p>
          <a:p>
            <a:endParaRPr lang="it-IT"/>
          </a:p>
          <a:p>
            <a:pPr marL="0" indent="0">
              <a:buNone/>
            </a:pPr>
            <a:endParaRPr lang="it-IT" sz="2600"/>
          </a:p>
          <a:p>
            <a:r>
              <a:rPr lang="it-IT" sz="2400"/>
              <a:t>Nell’esempio i due oggetti hanno lo stesso stato ma sono oggetti diversi, quindi il valore dei loro riferimenti è diverso</a:t>
            </a:r>
          </a:p>
          <a:p>
            <a:r>
              <a:rPr lang="it-IT" sz="2400"/>
              <a:t>Anche in questo caso è necessario confrontare gli oggetti elemento per elemento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2943C0E9-7FDD-DF44-E733-F5347A2BCDAB}"/>
              </a:ext>
            </a:extLst>
          </p:cNvPr>
          <p:cNvSpPr txBox="1"/>
          <p:nvPr/>
        </p:nvSpPr>
        <p:spPr>
          <a:xfrm>
            <a:off x="1691680" y="2274838"/>
            <a:ext cx="6822702" cy="19389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400"/>
              <a:t>Esempio:</a:t>
            </a:r>
          </a:p>
          <a:p>
            <a:r>
              <a:rPr lang="it-IT" sz="2400" err="1"/>
              <a:t>int</a:t>
            </a:r>
            <a:r>
              <a:rPr lang="it-IT" sz="2400"/>
              <a:t> a[] = {4, 5, 1, 13, 0 };</a:t>
            </a:r>
          </a:p>
          <a:p>
            <a:r>
              <a:rPr lang="it-IT" sz="2400"/>
              <a:t>Int b[] = {4, 5, 1, 13, 0 };</a:t>
            </a:r>
          </a:p>
          <a:p>
            <a:r>
              <a:rPr lang="it-IT" sz="2400" err="1"/>
              <a:t>If</a:t>
            </a:r>
            <a:r>
              <a:rPr lang="it-IT" sz="2400"/>
              <a:t>(b==a) // il </a:t>
            </a:r>
            <a:r>
              <a:rPr lang="it-IT" sz="2400" i="1"/>
              <a:t>riferimento</a:t>
            </a:r>
            <a:r>
              <a:rPr lang="it-IT" sz="2400"/>
              <a:t> </a:t>
            </a:r>
            <a:r>
              <a:rPr lang="it-IT" sz="2400" i="1"/>
              <a:t>b</a:t>
            </a:r>
            <a:r>
              <a:rPr lang="it-IT" sz="2400"/>
              <a:t> viene confrontato con </a:t>
            </a:r>
            <a:r>
              <a:rPr lang="it-IT" sz="2400" i="1"/>
              <a:t>a</a:t>
            </a:r>
            <a:endParaRPr lang="it-IT" sz="2400"/>
          </a:p>
          <a:p>
            <a:r>
              <a:rPr lang="it-IT" sz="2400"/>
              <a:t> {//…}</a:t>
            </a:r>
          </a:p>
        </p:txBody>
      </p:sp>
    </p:spTree>
    <p:extLst>
      <p:ext uri="{BB962C8B-B14F-4D97-AF65-F5344CB8AC3E}">
        <p14:creationId xmlns:p14="http://schemas.microsoft.com/office/powerpoint/2010/main" val="327881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FD08C4-9EED-64DE-2B75-1C0A6DD78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-391120"/>
            <a:ext cx="7543800" cy="1295400"/>
          </a:xfrm>
        </p:spPr>
        <p:txBody>
          <a:bodyPr/>
          <a:lstStyle/>
          <a:p>
            <a:r>
              <a:rPr lang="it-IT"/>
              <a:t>Dimensione e riempimento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433C394-2794-90C0-6F9B-0F999CC01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35596"/>
            <a:ext cx="7704856" cy="4411662"/>
          </a:xfrm>
        </p:spPr>
        <p:txBody>
          <a:bodyPr/>
          <a:lstStyle/>
          <a:p>
            <a:r>
              <a:rPr lang="it-IT" sz="1800"/>
              <a:t>All’atto della creazione di un array bisogna specificare la sua dimensione MASSIMA</a:t>
            </a:r>
          </a:p>
          <a:p>
            <a:r>
              <a:rPr lang="it-IT" sz="1800"/>
              <a:t>La dimensione fornita a new può anche essere una variabile (il cui valore è noto a tempo di esecuzione)</a:t>
            </a:r>
          </a:p>
          <a:p>
            <a:r>
              <a:rPr lang="it-IT" sz="1800"/>
              <a:t>Ovviamente il valore deve essere assunto dalla variabile prima del suo uso in new</a:t>
            </a:r>
          </a:p>
          <a:p>
            <a:r>
              <a:rPr lang="it-IT" sz="1800"/>
              <a:t>In generale però non è necessario o opportuno utilizzare tutti gli elementi allocati, come anche in C/C++ si può utilizzare il concetto di </a:t>
            </a:r>
            <a:r>
              <a:rPr lang="it-IT" sz="1800">
                <a:solidFill>
                  <a:srgbClr val="FF0000"/>
                </a:solidFill>
              </a:rPr>
              <a:t>riempimento</a:t>
            </a:r>
          </a:p>
          <a:p>
            <a:r>
              <a:rPr lang="it-IT" sz="1800"/>
              <a:t>In riempimento sarà a sua volta una variabile che in ogni istante fornisce </a:t>
            </a:r>
            <a:r>
              <a:rPr lang="it-IT" sz="1800">
                <a:solidFill>
                  <a:srgbClr val="FF0000"/>
                </a:solidFill>
              </a:rPr>
              <a:t>il numero corrente di elementi effettivamente presenti nell’array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5257FC9-7D3B-3053-D647-FD0DDDAFBC01}"/>
              </a:ext>
            </a:extLst>
          </p:cNvPr>
          <p:cNvSpPr txBox="1"/>
          <p:nvPr/>
        </p:nvSpPr>
        <p:spPr>
          <a:xfrm>
            <a:off x="2552674" y="4424412"/>
            <a:ext cx="6192721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800" err="1"/>
              <a:t>int</a:t>
            </a:r>
            <a:r>
              <a:rPr lang="it-IT" sz="1800"/>
              <a:t> a[] = new </a:t>
            </a:r>
            <a:r>
              <a:rPr lang="it-IT" sz="1800" err="1"/>
              <a:t>int</a:t>
            </a:r>
            <a:r>
              <a:rPr lang="it-IT" sz="1800"/>
              <a:t>[200];  </a:t>
            </a:r>
            <a:r>
              <a:rPr lang="it-IT" sz="1800">
                <a:solidFill>
                  <a:srgbClr val="FF0000"/>
                </a:solidFill>
              </a:rPr>
              <a:t>//dimensione massima: 200 elementi</a:t>
            </a:r>
          </a:p>
          <a:p>
            <a:r>
              <a:rPr lang="it-IT" err="1">
                <a:solidFill>
                  <a:srgbClr val="FF0000"/>
                </a:solidFill>
              </a:rPr>
              <a:t>int</a:t>
            </a:r>
            <a:r>
              <a:rPr lang="it-IT">
                <a:solidFill>
                  <a:srgbClr val="FF0000"/>
                </a:solidFill>
              </a:rPr>
              <a:t> </a:t>
            </a:r>
            <a:r>
              <a:rPr lang="it-IT" err="1">
                <a:solidFill>
                  <a:srgbClr val="FF0000"/>
                </a:solidFill>
              </a:rPr>
              <a:t>n</a:t>
            </a:r>
            <a:r>
              <a:rPr lang="it-IT">
                <a:solidFill>
                  <a:srgbClr val="FF0000"/>
                </a:solidFill>
              </a:rPr>
              <a:t>; //riempimento</a:t>
            </a:r>
          </a:p>
          <a:p>
            <a:r>
              <a:rPr lang="it-IT"/>
              <a:t>Scanner input = new Scanner(</a:t>
            </a:r>
            <a:r>
              <a:rPr lang="it-IT" err="1"/>
              <a:t>System.in</a:t>
            </a:r>
            <a:r>
              <a:rPr lang="it-IT"/>
              <a:t>);</a:t>
            </a:r>
          </a:p>
          <a:p>
            <a:r>
              <a:rPr lang="it-IT" err="1"/>
              <a:t>System.out.printl</a:t>
            </a:r>
            <a:r>
              <a:rPr lang="it-IT"/>
              <a:t>("Quanti elementi vuoi nel vettore? ");</a:t>
            </a:r>
          </a:p>
          <a:p>
            <a:r>
              <a:rPr lang="it-IT" err="1">
                <a:solidFill>
                  <a:srgbClr val="FF0000"/>
                </a:solidFill>
              </a:rPr>
              <a:t>n</a:t>
            </a:r>
            <a:r>
              <a:rPr lang="it-IT">
                <a:solidFill>
                  <a:srgbClr val="FF0000"/>
                </a:solidFill>
              </a:rPr>
              <a:t> = </a:t>
            </a:r>
            <a:r>
              <a:rPr lang="it-IT" err="1">
                <a:solidFill>
                  <a:srgbClr val="FF0000"/>
                </a:solidFill>
              </a:rPr>
              <a:t>input.nextInt</a:t>
            </a:r>
            <a:r>
              <a:rPr lang="it-IT">
                <a:solidFill>
                  <a:srgbClr val="FF0000"/>
                </a:solidFill>
              </a:rPr>
              <a:t>();</a:t>
            </a:r>
          </a:p>
          <a:p>
            <a:r>
              <a:rPr lang="it-IT" err="1"/>
              <a:t>System.out.printl</a:t>
            </a:r>
            <a:r>
              <a:rPr lang="it-IT"/>
              <a:t>("Inserisci il vettore:");</a:t>
            </a:r>
          </a:p>
          <a:p>
            <a:r>
              <a:rPr lang="it-IT"/>
              <a:t>for(</a:t>
            </a:r>
            <a:r>
              <a:rPr lang="it-IT" err="1"/>
              <a:t>int</a:t>
            </a:r>
            <a:r>
              <a:rPr lang="it-IT"/>
              <a:t> i=0; </a:t>
            </a:r>
            <a:r>
              <a:rPr lang="it-IT">
                <a:solidFill>
                  <a:srgbClr val="FF0000"/>
                </a:solidFill>
              </a:rPr>
              <a:t>i&lt;</a:t>
            </a:r>
            <a:r>
              <a:rPr lang="it-IT" err="1">
                <a:solidFill>
                  <a:srgbClr val="FF0000"/>
                </a:solidFill>
              </a:rPr>
              <a:t>n</a:t>
            </a:r>
            <a:r>
              <a:rPr lang="it-IT">
                <a:solidFill>
                  <a:srgbClr val="FF0000"/>
                </a:solidFill>
              </a:rPr>
              <a:t>; </a:t>
            </a:r>
            <a:r>
              <a:rPr lang="it-IT"/>
              <a:t>i++)  </a:t>
            </a:r>
            <a:r>
              <a:rPr lang="it-IT">
                <a:solidFill>
                  <a:srgbClr val="FF0000"/>
                </a:solidFill>
              </a:rPr>
              <a:t>//vengono usati solo </a:t>
            </a:r>
            <a:r>
              <a:rPr lang="it-IT" err="1">
                <a:solidFill>
                  <a:srgbClr val="FF0000"/>
                </a:solidFill>
              </a:rPr>
              <a:t>n</a:t>
            </a:r>
            <a:r>
              <a:rPr lang="it-IT">
                <a:solidFill>
                  <a:srgbClr val="FF0000"/>
                </a:solidFill>
              </a:rPr>
              <a:t> elementi su 200</a:t>
            </a:r>
          </a:p>
          <a:p>
            <a:r>
              <a:rPr lang="it-IT"/>
              <a:t>        a[i]=</a:t>
            </a:r>
            <a:r>
              <a:rPr lang="it-IT" err="1"/>
              <a:t>input.nextInt</a:t>
            </a:r>
            <a:r>
              <a:rPr lang="it-IT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612958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5FA3-6556-EE02-8CA5-6221C29E9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14981"/>
            <a:ext cx="7543800" cy="1295400"/>
          </a:xfrm>
        </p:spPr>
        <p:txBody>
          <a:bodyPr/>
          <a:lstStyle/>
          <a:p>
            <a:r>
              <a:rPr lang="it-IT"/>
              <a:t>Array bidimensionali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703110-4929-0535-5852-D2A293DCC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411662"/>
          </a:xfrm>
        </p:spPr>
        <p:txBody>
          <a:bodyPr/>
          <a:lstStyle/>
          <a:p>
            <a:r>
              <a:rPr lang="it-IT" dirty="0"/>
              <a:t>Per le matrici valgono tutte le considerazioni già fatte per i vettori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r>
              <a:rPr lang="it-IT" dirty="0"/>
              <a:t>E’ possibile avere array bidimensionali in cui ogni riga ha un diverso numero di elementi! 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DE783AA-B057-F9EE-29CD-61DEC6FD66AE}"/>
              </a:ext>
            </a:extLst>
          </p:cNvPr>
          <p:cNvSpPr txBox="1"/>
          <p:nvPr/>
        </p:nvSpPr>
        <p:spPr>
          <a:xfrm>
            <a:off x="242930" y="2773459"/>
            <a:ext cx="8658139" cy="163121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000" dirty="0" err="1"/>
              <a:t>int</a:t>
            </a:r>
            <a:r>
              <a:rPr lang="it-IT" sz="2000" dirty="0"/>
              <a:t> m1[][] = new </a:t>
            </a:r>
            <a:r>
              <a:rPr lang="it-IT" sz="2000" dirty="0" err="1"/>
              <a:t>int</a:t>
            </a:r>
            <a:r>
              <a:rPr lang="it-IT" sz="2000" dirty="0"/>
              <a:t>[4][5];                   //crea una matrice 4x5</a:t>
            </a:r>
          </a:p>
          <a:p>
            <a:r>
              <a:rPr lang="it-IT" sz="2000" dirty="0" err="1"/>
              <a:t>int</a:t>
            </a:r>
            <a:r>
              <a:rPr lang="it-IT" sz="2000" dirty="0"/>
              <a:t> m2[][] = {{ 4, 5, 9 } , {1, 13, 0 } };  //crea una matrice 2x3</a:t>
            </a:r>
          </a:p>
          <a:p>
            <a:r>
              <a:rPr lang="it-IT" sz="2000" dirty="0"/>
              <a:t>                                                         // e la inizializza ai valori specificati</a:t>
            </a:r>
          </a:p>
          <a:p>
            <a:r>
              <a:rPr lang="it-IT" sz="2000" dirty="0" err="1"/>
              <a:t>int</a:t>
            </a:r>
            <a:r>
              <a:rPr lang="it-IT" sz="2000" dirty="0"/>
              <a:t> m3[][] = {{ 4, 5 } , { 8 },  {1, 13, 0 } }; crea un </a:t>
            </a:r>
            <a:r>
              <a:rPr lang="it-IT" sz="2000" b="1" dirty="0"/>
              <a:t>array 2D non rettangolare</a:t>
            </a:r>
            <a:r>
              <a:rPr lang="it-IT" sz="2000" dirty="0"/>
              <a:t> </a:t>
            </a:r>
          </a:p>
          <a:p>
            <a:r>
              <a:rPr lang="it-IT" sz="2000" dirty="0"/>
              <a:t>(noto anche come </a:t>
            </a:r>
            <a:r>
              <a:rPr lang="it-IT" sz="2000" i="1" dirty="0"/>
              <a:t>array "</a:t>
            </a:r>
            <a:r>
              <a:rPr lang="it-IT" sz="2000" i="1" dirty="0" err="1"/>
              <a:t>jagged</a:t>
            </a:r>
            <a:r>
              <a:rPr lang="it-IT" sz="2000" i="1" dirty="0"/>
              <a:t>"</a:t>
            </a:r>
            <a:r>
              <a:rPr lang="it-IT" sz="2000" dirty="0"/>
              <a:t> o "triangolare"</a:t>
            </a:r>
            <a:endParaRPr lang="it-IT" sz="2000" b="1" dirty="0">
              <a:solidFill>
                <a:srgbClr val="FF0000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1223F32-DD15-3799-0ADE-276C9AED9F1F}"/>
              </a:ext>
            </a:extLst>
          </p:cNvPr>
          <p:cNvSpPr txBox="1"/>
          <p:nvPr/>
        </p:nvSpPr>
        <p:spPr>
          <a:xfrm>
            <a:off x="1221655" y="5698837"/>
            <a:ext cx="6700690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sz="2000" dirty="0" err="1"/>
              <a:t>int</a:t>
            </a:r>
            <a:r>
              <a:rPr lang="it-IT" sz="2000" dirty="0"/>
              <a:t> m[][] = new </a:t>
            </a:r>
            <a:r>
              <a:rPr lang="it-IT" sz="2000" dirty="0" err="1"/>
              <a:t>int</a:t>
            </a:r>
            <a:r>
              <a:rPr lang="it-IT" sz="2000" dirty="0"/>
              <a:t>[2][];  //crea 2 righe</a:t>
            </a:r>
          </a:p>
          <a:p>
            <a:r>
              <a:rPr lang="it-IT" sz="2000" dirty="0"/>
              <a:t>m[0] = new </a:t>
            </a:r>
            <a:r>
              <a:rPr lang="it-IT" sz="2000" dirty="0" err="1"/>
              <a:t>int</a:t>
            </a:r>
            <a:r>
              <a:rPr lang="it-IT" sz="2000" dirty="0"/>
              <a:t>[5];    // la prima riga ha 5 colonne</a:t>
            </a:r>
          </a:p>
          <a:p>
            <a:r>
              <a:rPr lang="it-IT" sz="2000" dirty="0"/>
              <a:t>m[1] = new </a:t>
            </a:r>
            <a:r>
              <a:rPr lang="it-IT" sz="2000" dirty="0" err="1"/>
              <a:t>int</a:t>
            </a:r>
            <a:r>
              <a:rPr lang="it-IT" sz="2000" dirty="0"/>
              <a:t>[3];   //  la seconda riga ha 3 colonne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0861096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F51B05-50B0-683F-6267-65A5A703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32656"/>
            <a:ext cx="7543800" cy="1295400"/>
          </a:xfrm>
        </p:spPr>
        <p:txBody>
          <a:bodyPr/>
          <a:lstStyle/>
          <a:p>
            <a:r>
              <a:rPr lang="it-IT" sz="3200"/>
              <a:t>Esempio: </a:t>
            </a:r>
            <a:br>
              <a:rPr lang="it-IT" sz="3200"/>
            </a:br>
            <a:r>
              <a:rPr lang="it-IT" sz="3200"/>
              <a:t>visualizzazione degli elementi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7167D3D1-D106-2CBA-EABC-DAEAA6DD3FC5}"/>
              </a:ext>
            </a:extLst>
          </p:cNvPr>
          <p:cNvSpPr txBox="1"/>
          <p:nvPr/>
        </p:nvSpPr>
        <p:spPr>
          <a:xfrm>
            <a:off x="838047" y="2204864"/>
            <a:ext cx="7082388" cy="267765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800" err="1"/>
              <a:t>int</a:t>
            </a:r>
            <a:r>
              <a:rPr lang="it-IT" sz="2800"/>
              <a:t> m3[][] = {{ 4, 5 } , { 8 },  {1, 13, 0 } };    </a:t>
            </a:r>
          </a:p>
          <a:p>
            <a:r>
              <a:rPr lang="it-IT" sz="2800"/>
              <a:t>        for(</a:t>
            </a:r>
            <a:r>
              <a:rPr lang="it-IT" sz="2800" err="1">
                <a:solidFill>
                  <a:srgbClr val="FF0000"/>
                </a:solidFill>
              </a:rPr>
              <a:t>int</a:t>
            </a:r>
            <a:r>
              <a:rPr lang="it-IT" sz="2800">
                <a:solidFill>
                  <a:srgbClr val="FF0000"/>
                </a:solidFill>
              </a:rPr>
              <a:t> </a:t>
            </a:r>
            <a:r>
              <a:rPr lang="it-IT" sz="2800" err="1">
                <a:solidFill>
                  <a:srgbClr val="FF0000"/>
                </a:solidFill>
              </a:rPr>
              <a:t>r</a:t>
            </a:r>
            <a:r>
              <a:rPr lang="it-IT" sz="2800"/>
              <a:t> = 0; </a:t>
            </a:r>
            <a:r>
              <a:rPr lang="it-IT" sz="2800" err="1"/>
              <a:t>r</a:t>
            </a:r>
            <a:r>
              <a:rPr lang="it-IT" sz="2800"/>
              <a:t> &lt; </a:t>
            </a:r>
            <a:r>
              <a:rPr lang="it-IT" sz="2800">
                <a:solidFill>
                  <a:srgbClr val="FF0000"/>
                </a:solidFill>
              </a:rPr>
              <a:t>m3.length</a:t>
            </a:r>
            <a:r>
              <a:rPr lang="it-IT" sz="2800"/>
              <a:t>; </a:t>
            </a:r>
            <a:r>
              <a:rPr lang="it-IT" sz="2800" err="1"/>
              <a:t>r</a:t>
            </a:r>
            <a:r>
              <a:rPr lang="it-IT" sz="2800"/>
              <a:t>++){</a:t>
            </a:r>
          </a:p>
          <a:p>
            <a:r>
              <a:rPr lang="it-IT" sz="2800"/>
              <a:t>            for(</a:t>
            </a:r>
            <a:r>
              <a:rPr lang="it-IT" sz="2800" err="1">
                <a:solidFill>
                  <a:srgbClr val="FF0000"/>
                </a:solidFill>
              </a:rPr>
              <a:t>int</a:t>
            </a:r>
            <a:r>
              <a:rPr lang="it-IT" sz="2800">
                <a:solidFill>
                  <a:srgbClr val="FF0000"/>
                </a:solidFill>
              </a:rPr>
              <a:t> c</a:t>
            </a:r>
            <a:r>
              <a:rPr lang="it-IT" sz="2800"/>
              <a:t> = 0; c &lt; </a:t>
            </a:r>
            <a:r>
              <a:rPr lang="it-IT" sz="2800">
                <a:solidFill>
                  <a:srgbClr val="FF0000"/>
                </a:solidFill>
              </a:rPr>
              <a:t>m3[</a:t>
            </a:r>
            <a:r>
              <a:rPr lang="it-IT" sz="2800" err="1">
                <a:solidFill>
                  <a:srgbClr val="FF0000"/>
                </a:solidFill>
              </a:rPr>
              <a:t>r</a:t>
            </a:r>
            <a:r>
              <a:rPr lang="it-IT" sz="2800">
                <a:solidFill>
                  <a:srgbClr val="FF0000"/>
                </a:solidFill>
              </a:rPr>
              <a:t>].</a:t>
            </a:r>
            <a:r>
              <a:rPr lang="it-IT" sz="2800" err="1">
                <a:solidFill>
                  <a:srgbClr val="FF0000"/>
                </a:solidFill>
              </a:rPr>
              <a:t>length</a:t>
            </a:r>
            <a:r>
              <a:rPr lang="it-IT" sz="2800"/>
              <a:t>; c++)</a:t>
            </a:r>
          </a:p>
          <a:p>
            <a:r>
              <a:rPr lang="it-IT" sz="2800"/>
              <a:t>                </a:t>
            </a:r>
            <a:r>
              <a:rPr lang="it-IT" sz="2800" err="1"/>
              <a:t>System.out.printf</a:t>
            </a:r>
            <a:r>
              <a:rPr lang="it-IT" sz="2800"/>
              <a:t>(" %d", m3[</a:t>
            </a:r>
            <a:r>
              <a:rPr lang="it-IT" sz="2800" err="1"/>
              <a:t>r</a:t>
            </a:r>
            <a:r>
              <a:rPr lang="it-IT" sz="2800"/>
              <a:t>][c]);</a:t>
            </a:r>
          </a:p>
          <a:p>
            <a:r>
              <a:rPr lang="it-IT" sz="2800"/>
              <a:t>         </a:t>
            </a:r>
            <a:r>
              <a:rPr lang="it-IT" sz="2800" err="1"/>
              <a:t>System.out.println</a:t>
            </a:r>
            <a:r>
              <a:rPr lang="it-IT" sz="2800"/>
              <a:t>(); </a:t>
            </a:r>
          </a:p>
          <a:p>
            <a:r>
              <a:rPr lang="it-IT" sz="280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2375203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471DD9-EE53-70EA-C40B-4094D1CE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638" y="260648"/>
            <a:ext cx="7543800" cy="954107"/>
          </a:xfrm>
        </p:spPr>
        <p:txBody>
          <a:bodyPr/>
          <a:lstStyle/>
          <a:p>
            <a:r>
              <a:rPr lang="it-IT"/>
              <a:t>Esempio: manipolazioni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48E495-E15D-5A75-233B-BA83C68849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638" y="1556792"/>
            <a:ext cx="8395522" cy="3816424"/>
          </a:xfrm>
        </p:spPr>
        <p:txBody>
          <a:bodyPr/>
          <a:lstStyle/>
          <a:p>
            <a:r>
              <a:rPr lang="it-IT"/>
              <a:t>E’ possibile manipolare gli array bidimensionali per righe, il for seguente imposta a -1 tutti gli elementi della terza riga della matrice m3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8815510-C387-13BE-2FC1-BC1C21E26E09}"/>
              </a:ext>
            </a:extLst>
          </p:cNvPr>
          <p:cNvSpPr txBox="1"/>
          <p:nvPr/>
        </p:nvSpPr>
        <p:spPr>
          <a:xfrm>
            <a:off x="1931693" y="3717032"/>
            <a:ext cx="5280613" cy="9541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800"/>
              <a:t> for(</a:t>
            </a:r>
            <a:r>
              <a:rPr lang="it-IT" sz="2800" err="1"/>
              <a:t>int</a:t>
            </a:r>
            <a:r>
              <a:rPr lang="it-IT" sz="2800"/>
              <a:t> i = 0; i&lt;m3[2].</a:t>
            </a:r>
            <a:r>
              <a:rPr lang="it-IT" sz="2800" err="1"/>
              <a:t>length</a:t>
            </a:r>
            <a:r>
              <a:rPr lang="it-IT" sz="2800"/>
              <a:t>; i++)</a:t>
            </a:r>
          </a:p>
          <a:p>
            <a:r>
              <a:rPr lang="it-IT" sz="2800"/>
              <a:t>           m3[2][i] = -1;</a:t>
            </a:r>
          </a:p>
        </p:txBody>
      </p:sp>
    </p:spTree>
    <p:extLst>
      <p:ext uri="{BB962C8B-B14F-4D97-AF65-F5344CB8AC3E}">
        <p14:creationId xmlns:p14="http://schemas.microsoft.com/office/powerpoint/2010/main" val="402669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D8A8A5-DA6F-01F5-4125-7E7656E4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45897"/>
            <a:ext cx="7543800" cy="1295400"/>
          </a:xfrm>
        </p:spPr>
        <p:txBody>
          <a:bodyPr/>
          <a:lstStyle/>
          <a:p>
            <a:r>
              <a:rPr lang="it-IT" dirty="0"/>
              <a:t>Esercizio: un array di oggetti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46A1D1-731C-FB32-BF5F-7CEC37F1D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7378"/>
            <a:ext cx="8229600" cy="4411662"/>
          </a:xfrm>
        </p:spPr>
        <p:txBody>
          <a:bodyPr/>
          <a:lstStyle/>
          <a:p>
            <a:r>
              <a:rPr lang="it-IT" dirty="0"/>
              <a:t>Supponiamo di voler gestire un insieme di…contatori, utilizzando la nostra classe Counter di esempio</a:t>
            </a:r>
          </a:p>
          <a:p>
            <a:r>
              <a:rPr lang="it-IT" dirty="0"/>
              <a:t>A tale scopo rappresentiamo l’insieme di contatori con un vettore di oggetti di tipo Counter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7314056-6BF3-515F-A3F2-CE9702F9A338}"/>
              </a:ext>
            </a:extLst>
          </p:cNvPr>
          <p:cNvSpPr txBox="1"/>
          <p:nvPr/>
        </p:nvSpPr>
        <p:spPr>
          <a:xfrm>
            <a:off x="1698171" y="4667002"/>
            <a:ext cx="5493812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2400" b="1" dirty="0" err="1"/>
              <a:t>int</a:t>
            </a:r>
            <a:r>
              <a:rPr lang="it-IT" sz="2400" b="1" dirty="0"/>
              <a:t> DIM=3;</a:t>
            </a:r>
          </a:p>
          <a:p>
            <a:r>
              <a:rPr lang="it-IT" sz="2400" b="1" dirty="0"/>
              <a:t>Counter array[] = new Counter[DIM];</a:t>
            </a:r>
          </a:p>
          <a:p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1348873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4072DF-EEA7-9B0D-1BDC-CEC4F6B3E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75" y="-530905"/>
            <a:ext cx="7543800" cy="1295400"/>
          </a:xfrm>
        </p:spPr>
        <p:txBody>
          <a:bodyPr/>
          <a:lstStyle/>
          <a:p>
            <a:r>
              <a:rPr lang="it-IT" sz="3200" dirty="0"/>
              <a:t>Uso di vettore di oggetti Counter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1E411D-5B9D-6D9E-4866-2836272AE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073" y="923616"/>
            <a:ext cx="8229600" cy="4411662"/>
          </a:xfrm>
        </p:spPr>
        <p:txBody>
          <a:bodyPr/>
          <a:lstStyle/>
          <a:p>
            <a:r>
              <a:rPr lang="it-IT" sz="2000" dirty="0"/>
              <a:t>Avendo precedentemente creato tre oggetti di tipo Counter C1, C2, e C3 e avendo utilizzato le funzioni </a:t>
            </a:r>
            <a:r>
              <a:rPr lang="it-IT" sz="2000" b="1" i="1" dirty="0"/>
              <a:t>Incrementa</a:t>
            </a:r>
            <a:r>
              <a:rPr lang="it-IT" sz="2000" dirty="0"/>
              <a:t> e </a:t>
            </a:r>
            <a:r>
              <a:rPr lang="it-IT" sz="2000" b="1" i="1" dirty="0"/>
              <a:t>Decrementa</a:t>
            </a:r>
            <a:r>
              <a:rPr lang="it-IT" sz="2000" dirty="0"/>
              <a:t> per modificare lo stato degli oggetti, un esempio di utilizzo del vettore è il seguente: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E06A197-7E2A-7E2C-0D45-9A05C53C9184}"/>
              </a:ext>
            </a:extLst>
          </p:cNvPr>
          <p:cNvSpPr txBox="1"/>
          <p:nvPr/>
        </p:nvSpPr>
        <p:spPr>
          <a:xfrm>
            <a:off x="792760" y="2425731"/>
            <a:ext cx="7558479" cy="35086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 err="1"/>
              <a:t>int</a:t>
            </a:r>
            <a:r>
              <a:rPr lang="it-IT" dirty="0"/>
              <a:t> DIM=3;</a:t>
            </a:r>
          </a:p>
          <a:p>
            <a:r>
              <a:rPr lang="it-IT" dirty="0"/>
              <a:t>Counter array[] = new Counter[DIM];</a:t>
            </a:r>
          </a:p>
          <a:p>
            <a:endParaRPr lang="it-IT" sz="800" dirty="0"/>
          </a:p>
          <a:p>
            <a:r>
              <a:rPr lang="it-IT" dirty="0"/>
              <a:t>array[0]=C1;</a:t>
            </a:r>
          </a:p>
          <a:p>
            <a:r>
              <a:rPr lang="it-IT" dirty="0"/>
              <a:t>array[1]=C2;</a:t>
            </a:r>
          </a:p>
          <a:p>
            <a:r>
              <a:rPr lang="it-IT" dirty="0"/>
              <a:t>array[2]=C3;</a:t>
            </a:r>
          </a:p>
          <a:p>
            <a:r>
              <a:rPr lang="it-IT" sz="800" dirty="0"/>
              <a:t>        </a:t>
            </a:r>
          </a:p>
          <a:p>
            <a:r>
              <a:rPr lang="it-IT" dirty="0"/>
              <a:t>//il codice seguente determina il valore massimo dei contatori nel vettore</a:t>
            </a:r>
          </a:p>
          <a:p>
            <a:r>
              <a:rPr lang="it-IT" sz="800" dirty="0"/>
              <a:t>        </a:t>
            </a:r>
          </a:p>
          <a:p>
            <a:r>
              <a:rPr lang="it-IT" dirty="0"/>
              <a:t>        long max=array[0].</a:t>
            </a:r>
            <a:r>
              <a:rPr lang="it-IT" dirty="0" err="1"/>
              <a:t>get_value</a:t>
            </a:r>
            <a:r>
              <a:rPr lang="it-IT" dirty="0"/>
              <a:t>();</a:t>
            </a:r>
          </a:p>
          <a:p>
            <a:r>
              <a:rPr lang="it-IT" dirty="0"/>
              <a:t>        for (</a:t>
            </a:r>
            <a:r>
              <a:rPr lang="it-IT" dirty="0" err="1"/>
              <a:t>int</a:t>
            </a:r>
            <a:r>
              <a:rPr lang="it-IT" dirty="0"/>
              <a:t> i=0; i&lt;DIM; i++)</a:t>
            </a:r>
          </a:p>
          <a:p>
            <a:r>
              <a:rPr lang="it-IT" dirty="0"/>
              <a:t>            </a:t>
            </a:r>
            <a:r>
              <a:rPr lang="it-IT" dirty="0" err="1"/>
              <a:t>if</a:t>
            </a:r>
            <a:r>
              <a:rPr lang="it-IT" dirty="0"/>
              <a:t>(max&lt;array[i].</a:t>
            </a:r>
            <a:r>
              <a:rPr lang="it-IT" dirty="0" err="1"/>
              <a:t>get_value</a:t>
            </a:r>
            <a:r>
              <a:rPr lang="it-IT" dirty="0"/>
              <a:t>())</a:t>
            </a:r>
          </a:p>
          <a:p>
            <a:r>
              <a:rPr lang="it-IT" dirty="0"/>
              <a:t>                max=array[i].</a:t>
            </a:r>
            <a:r>
              <a:rPr lang="it-IT" dirty="0" err="1"/>
              <a:t>get_value</a:t>
            </a:r>
            <a:r>
              <a:rPr lang="it-IT" dirty="0"/>
              <a:t>();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("il massimo valore tra i contatori </a:t>
            </a:r>
            <a:r>
              <a:rPr lang="it-IT" dirty="0" err="1"/>
              <a:t>e'</a:t>
            </a:r>
            <a:r>
              <a:rPr lang="it-IT" dirty="0"/>
              <a:t>: " + max);</a:t>
            </a:r>
          </a:p>
        </p:txBody>
      </p:sp>
    </p:spTree>
    <p:extLst>
      <p:ext uri="{BB962C8B-B14F-4D97-AF65-F5344CB8AC3E}">
        <p14:creationId xmlns:p14="http://schemas.microsoft.com/office/powerpoint/2010/main" val="2223443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1EB905-DB8E-9EF5-7D9D-0695383F7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Usando il for potenziato…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E3CC7C3-C4F3-A545-820A-90821F56C456}"/>
              </a:ext>
            </a:extLst>
          </p:cNvPr>
          <p:cNvSpPr txBox="1"/>
          <p:nvPr/>
        </p:nvSpPr>
        <p:spPr>
          <a:xfrm>
            <a:off x="590879" y="2124601"/>
            <a:ext cx="7558479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array[0]=C1;</a:t>
            </a:r>
          </a:p>
          <a:p>
            <a:r>
              <a:rPr lang="it-IT" dirty="0"/>
              <a:t>array[1]=C2;</a:t>
            </a:r>
          </a:p>
          <a:p>
            <a:r>
              <a:rPr lang="it-IT" dirty="0"/>
              <a:t>array[2]=C3;</a:t>
            </a:r>
          </a:p>
          <a:p>
            <a:r>
              <a:rPr lang="it-IT" dirty="0"/>
              <a:t>        </a:t>
            </a:r>
          </a:p>
          <a:p>
            <a:r>
              <a:rPr lang="it-IT" dirty="0"/>
              <a:t>//il codice seguente determina il valore massimo dei contatori nel vettore</a:t>
            </a:r>
          </a:p>
          <a:p>
            <a:r>
              <a:rPr lang="it-IT" dirty="0"/>
              <a:t>        </a:t>
            </a:r>
          </a:p>
          <a:p>
            <a:r>
              <a:rPr lang="it-IT" dirty="0"/>
              <a:t>        long max=array[0].</a:t>
            </a:r>
            <a:r>
              <a:rPr lang="it-IT" dirty="0" err="1"/>
              <a:t>get_value</a:t>
            </a:r>
            <a:r>
              <a:rPr lang="it-IT" dirty="0"/>
              <a:t>();</a:t>
            </a:r>
          </a:p>
          <a:p>
            <a:r>
              <a:rPr lang="it-IT" dirty="0"/>
              <a:t>        for (Contatore </a:t>
            </a:r>
            <a:r>
              <a:rPr lang="it-IT" dirty="0" err="1"/>
              <a:t>elem</a:t>
            </a:r>
            <a:r>
              <a:rPr lang="it-IT" dirty="0"/>
              <a:t>: array)</a:t>
            </a:r>
          </a:p>
          <a:p>
            <a:r>
              <a:rPr lang="it-IT" dirty="0"/>
              <a:t>              </a:t>
            </a:r>
            <a:r>
              <a:rPr lang="it-IT" dirty="0" err="1"/>
              <a:t>if</a:t>
            </a:r>
            <a:r>
              <a:rPr lang="it-IT" dirty="0"/>
              <a:t>(max&lt;</a:t>
            </a:r>
            <a:r>
              <a:rPr lang="it-IT" dirty="0" err="1"/>
              <a:t>elem.get_value</a:t>
            </a:r>
            <a:r>
              <a:rPr lang="it-IT" dirty="0"/>
              <a:t>())</a:t>
            </a:r>
          </a:p>
          <a:p>
            <a:r>
              <a:rPr lang="it-IT" dirty="0"/>
              <a:t>                  max=</a:t>
            </a:r>
            <a:r>
              <a:rPr lang="it-IT" dirty="0" err="1"/>
              <a:t>elem.get_value</a:t>
            </a:r>
            <a:r>
              <a:rPr lang="it-IT" dirty="0"/>
              <a:t>();        </a:t>
            </a:r>
          </a:p>
          <a:p>
            <a:r>
              <a:rPr lang="it-IT" dirty="0"/>
              <a:t>        </a:t>
            </a:r>
            <a:r>
              <a:rPr lang="it-IT" dirty="0" err="1"/>
              <a:t>System.out.println</a:t>
            </a:r>
            <a:r>
              <a:rPr lang="it-IT" dirty="0"/>
              <a:t>("il massimo valore tra i contatori </a:t>
            </a:r>
            <a:r>
              <a:rPr lang="it-IT" dirty="0" err="1"/>
              <a:t>e'</a:t>
            </a:r>
            <a:r>
              <a:rPr lang="it-IT" dirty="0"/>
              <a:t>: " + max);</a:t>
            </a:r>
          </a:p>
          <a:p>
            <a:r>
              <a:rPr lang="it-IT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0522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E69797-A38B-FA62-D558-1D7877F69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/>
              <a:t>Inizializzazione del vettore mediante input da tastiera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47EDB18A-DD5A-55CE-9F6A-E58C8D62C77E}"/>
              </a:ext>
            </a:extLst>
          </p:cNvPr>
          <p:cNvSpPr txBox="1"/>
          <p:nvPr/>
        </p:nvSpPr>
        <p:spPr>
          <a:xfrm>
            <a:off x="84874" y="1995053"/>
            <a:ext cx="8974251" cy="39703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it-IT" dirty="0"/>
              <a:t>     </a:t>
            </a:r>
            <a:r>
              <a:rPr lang="it-IT" dirty="0" err="1"/>
              <a:t>int</a:t>
            </a:r>
            <a:r>
              <a:rPr lang="it-IT" dirty="0"/>
              <a:t> DIM=3;</a:t>
            </a:r>
          </a:p>
          <a:p>
            <a:r>
              <a:rPr lang="it-IT" dirty="0"/>
              <a:t>     Contatore array[] = new Contatore[DIM];</a:t>
            </a:r>
          </a:p>
          <a:p>
            <a:r>
              <a:rPr lang="it-IT" dirty="0"/>
              <a:t>       </a:t>
            </a:r>
          </a:p>
          <a:p>
            <a:r>
              <a:rPr lang="it-IT" dirty="0"/>
              <a:t>     Scanner input = new Scanner (</a:t>
            </a:r>
            <a:r>
              <a:rPr lang="it-IT" dirty="0" err="1"/>
              <a:t>System.in</a:t>
            </a:r>
            <a:r>
              <a:rPr lang="it-IT" dirty="0"/>
              <a:t>); </a:t>
            </a:r>
          </a:p>
          <a:p>
            <a:r>
              <a:rPr lang="it-IT" dirty="0"/>
              <a:t>        </a:t>
            </a:r>
          </a:p>
          <a:p>
            <a:r>
              <a:rPr lang="it-IT" dirty="0"/>
              <a:t>     long val;</a:t>
            </a:r>
          </a:p>
          <a:p>
            <a:r>
              <a:rPr lang="it-IT" dirty="0"/>
              <a:t>     long massimo;</a:t>
            </a:r>
          </a:p>
          <a:p>
            <a:r>
              <a:rPr lang="it-IT" dirty="0"/>
              <a:t>     for(</a:t>
            </a:r>
            <a:r>
              <a:rPr lang="it-IT" dirty="0" err="1"/>
              <a:t>int</a:t>
            </a:r>
            <a:r>
              <a:rPr lang="it-IT" dirty="0"/>
              <a:t> i=0; i&lt;DIM; i++) {</a:t>
            </a:r>
          </a:p>
          <a:p>
            <a:r>
              <a:rPr lang="it-IT" dirty="0"/>
              <a:t>         </a:t>
            </a:r>
            <a:r>
              <a:rPr lang="it-IT" dirty="0" err="1"/>
              <a:t>System.out.print</a:t>
            </a:r>
            <a:r>
              <a:rPr lang="it-IT" dirty="0"/>
              <a:t>("Inserire il valore massimo per il contatore in posizione: "+i+": ");</a:t>
            </a:r>
          </a:p>
          <a:p>
            <a:r>
              <a:rPr lang="it-IT" dirty="0"/>
              <a:t>         massimo = </a:t>
            </a:r>
            <a:r>
              <a:rPr lang="it-IT" dirty="0" err="1"/>
              <a:t>input.nextLong</a:t>
            </a:r>
            <a:r>
              <a:rPr lang="it-IT" dirty="0"/>
              <a:t>();</a:t>
            </a:r>
          </a:p>
          <a:p>
            <a:r>
              <a:rPr lang="it-IT" dirty="0"/>
              <a:t>         </a:t>
            </a:r>
            <a:r>
              <a:rPr lang="it-IT" dirty="0" err="1"/>
              <a:t>System.out.print</a:t>
            </a:r>
            <a:r>
              <a:rPr lang="it-IT" dirty="0"/>
              <a:t>("Inserire il valore iniziale per il contatore in posizione: "+i+": ");</a:t>
            </a:r>
          </a:p>
          <a:p>
            <a:r>
              <a:rPr lang="it-IT" dirty="0"/>
              <a:t>         val = </a:t>
            </a:r>
            <a:r>
              <a:rPr lang="it-IT" dirty="0" err="1"/>
              <a:t>input.nextLong</a:t>
            </a:r>
            <a:r>
              <a:rPr lang="it-IT" dirty="0"/>
              <a:t>();</a:t>
            </a:r>
          </a:p>
          <a:p>
            <a:r>
              <a:rPr lang="it-IT" b="1" dirty="0"/>
              <a:t>         array[i]= new Contatore(</a:t>
            </a:r>
            <a:r>
              <a:rPr lang="it-IT" b="1" dirty="0" err="1"/>
              <a:t>massimo,val</a:t>
            </a:r>
            <a:r>
              <a:rPr lang="it-IT" b="1" dirty="0"/>
              <a:t>);</a:t>
            </a:r>
          </a:p>
          <a:p>
            <a:r>
              <a:rPr lang="it-IT" dirty="0"/>
              <a:t>     }</a:t>
            </a:r>
          </a:p>
        </p:txBody>
      </p:sp>
    </p:spTree>
    <p:extLst>
      <p:ext uri="{BB962C8B-B14F-4D97-AF65-F5344CB8AC3E}">
        <p14:creationId xmlns:p14="http://schemas.microsoft.com/office/powerpoint/2010/main" val="522627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CB421-3055-B4DE-4989-BA94B9DA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98396"/>
            <a:ext cx="7543800" cy="1295400"/>
          </a:xfrm>
        </p:spPr>
        <p:txBody>
          <a:bodyPr/>
          <a:lstStyle/>
          <a:p>
            <a:r>
              <a:rPr lang="it-IT" dirty="0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5B64D3-990B-5BF0-F32D-B74C92E1B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9253"/>
            <a:ext cx="8229600" cy="4411662"/>
          </a:xfrm>
        </p:spPr>
        <p:txBody>
          <a:bodyPr/>
          <a:lstStyle/>
          <a:p>
            <a:r>
              <a:rPr lang="it-IT" altLang="en-US" dirty="0"/>
              <a:t>Programmare in Java: </a:t>
            </a:r>
            <a:br>
              <a:rPr lang="it-IT" altLang="en-US" dirty="0"/>
            </a:br>
            <a:r>
              <a:rPr lang="it-IT" altLang="en-US" dirty="0"/>
              <a:t>Capitolo 7, §7.2, §7.3, §7.7, §7.8, §7.11</a:t>
            </a:r>
          </a:p>
          <a:p>
            <a:r>
              <a:rPr lang="it-IT" dirty="0" err="1"/>
              <a:t>Savitch</a:t>
            </a:r>
            <a:r>
              <a:rPr lang="it-IT"/>
              <a:t>: Capitolo 6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7406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97C0B1-6858-4C37-A999-DB61E96BA8F9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2F9C156-B927-4DE9-BA8D-6D1E1B7D32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6F4D61-8A3B-4640-B2FE-AE669EA6775B}"/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85</TotalTime>
  <Words>1862</Words>
  <Application>Microsoft Macintosh PowerPoint</Application>
  <PresentationFormat>Presentazione su schermo (4:3)</PresentationFormat>
  <Paragraphs>196</Paragraphs>
  <Slides>20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Verdana</vt:lpstr>
      <vt:lpstr>Wingdings</vt:lpstr>
      <vt:lpstr>Rete</vt:lpstr>
      <vt:lpstr>  Corso di Programmazione</vt:lpstr>
      <vt:lpstr>Array in Java</vt:lpstr>
      <vt:lpstr>Gli array</vt:lpstr>
      <vt:lpstr>Array monodimensionali (vettori)</vt:lpstr>
      <vt:lpstr>Esempi di uso dei vettori</vt:lpstr>
      <vt:lpstr>Inizializzazione</vt:lpstr>
      <vt:lpstr>lenght</vt:lpstr>
      <vt:lpstr>Istruzione for su array</vt:lpstr>
      <vt:lpstr>Esempio:</vt:lpstr>
      <vt:lpstr>Copia</vt:lpstr>
      <vt:lpstr>Confronto</vt:lpstr>
      <vt:lpstr>Dimensione e riempimento</vt:lpstr>
      <vt:lpstr>Array bidimensionali</vt:lpstr>
      <vt:lpstr>Esempio:  visualizzazione degli elementi</vt:lpstr>
      <vt:lpstr>Esempio: manipolazioni</vt:lpstr>
      <vt:lpstr>Esercizio: un array di oggetti</vt:lpstr>
      <vt:lpstr>Uso di vettore di oggetti Counter</vt:lpstr>
      <vt:lpstr>Usando il for potenziato…</vt:lpstr>
      <vt:lpstr>Inizializzazione del vettore mediante input da tastiera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DOMENICO AMALFITANO</cp:lastModifiedBy>
  <cp:revision>10</cp:revision>
  <cp:lastPrinted>1999-11-19T14:12:44Z</cp:lastPrinted>
  <dcterms:created xsi:type="dcterms:W3CDTF">1999-10-30T10:20:48Z</dcterms:created>
  <dcterms:modified xsi:type="dcterms:W3CDTF">2025-03-26T07:06:37Z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