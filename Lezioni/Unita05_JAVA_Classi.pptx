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39"/>
  </p:notesMasterIdLst>
  <p:handoutMasterIdLst>
    <p:handoutMasterId r:id="rId40"/>
  </p:handoutMasterIdLst>
  <p:sldIdLst>
    <p:sldId id="265" r:id="rId5"/>
    <p:sldId id="370" r:id="rId6"/>
    <p:sldId id="264" r:id="rId7"/>
    <p:sldId id="261" r:id="rId8"/>
    <p:sldId id="365" r:id="rId9"/>
    <p:sldId id="391" r:id="rId10"/>
    <p:sldId id="351" r:id="rId11"/>
    <p:sldId id="258" r:id="rId12"/>
    <p:sldId id="367" r:id="rId13"/>
    <p:sldId id="371" r:id="rId14"/>
    <p:sldId id="372" r:id="rId15"/>
    <p:sldId id="373" r:id="rId16"/>
    <p:sldId id="375" r:id="rId17"/>
    <p:sldId id="392" r:id="rId18"/>
    <p:sldId id="376" r:id="rId19"/>
    <p:sldId id="275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6" r:id="rId29"/>
    <p:sldId id="385" r:id="rId30"/>
    <p:sldId id="387" r:id="rId31"/>
    <p:sldId id="388" r:id="rId32"/>
    <p:sldId id="389" r:id="rId33"/>
    <p:sldId id="333" r:id="rId34"/>
    <p:sldId id="337" r:id="rId35"/>
    <p:sldId id="390" r:id="rId36"/>
    <p:sldId id="262" r:id="rId37"/>
    <p:sldId id="393" r:id="rId38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6"/>
  </p:normalViewPr>
  <p:slideViewPr>
    <p:cSldViewPr snapToGrid="0">
      <p:cViewPr varScale="1">
        <p:scale>
          <a:sx n="102" d="100"/>
          <a:sy n="102" d="100"/>
        </p:scale>
        <p:origin x="182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19/03/25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>
                <a:latin typeface="Times New Roman" pitchFamily="18" charset="0"/>
              </a:rPr>
            </a:br>
            <a:r>
              <a:rPr lang="en-US" altLang="it-IT" sz="4000">
                <a:latin typeface="Times New Roman" pitchFamily="18" charset="0"/>
              </a:rPr>
              <a:t> 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-138112" y="3049588"/>
            <a:ext cx="7235825" cy="2362200"/>
          </a:xfrm>
        </p:spPr>
        <p:txBody>
          <a:bodyPr/>
          <a:lstStyle/>
          <a:p>
            <a:pPr eaLnBrk="1" hangingPunct="1"/>
            <a:r>
              <a:rPr lang="en-US" altLang="it-IT" sz="3600" b="1" i="1" err="1">
                <a:latin typeface="Times New Roman" pitchFamily="18" charset="0"/>
              </a:rPr>
              <a:t>Introduzione</a:t>
            </a:r>
            <a:r>
              <a:rPr lang="en-US" altLang="it-IT" sz="3600" b="1" i="1">
                <a:latin typeface="Times New Roman" pitchFamily="18" charset="0"/>
              </a:rPr>
              <a:t> alle </a:t>
            </a:r>
            <a:r>
              <a:rPr lang="en-US" altLang="it-IT" sz="3600" b="1" i="1" err="1">
                <a:latin typeface="Times New Roman" pitchFamily="18" charset="0"/>
              </a:rPr>
              <a:t>Classi</a:t>
            </a:r>
            <a:r>
              <a:rPr lang="en-US" altLang="it-IT" sz="3600" b="1" i="1">
                <a:latin typeface="Times New Roman" pitchFamily="18" charset="0"/>
              </a:rPr>
              <a:t> </a:t>
            </a:r>
          </a:p>
          <a:p>
            <a:pPr eaLnBrk="1" hangingPunct="1"/>
            <a:r>
              <a:rPr lang="en-US" altLang="it-IT" sz="3600" b="1" i="1">
                <a:latin typeface="Times New Roman" pitchFamily="18" charset="0"/>
              </a:rPr>
              <a:t>e </a:t>
            </a:r>
            <a:r>
              <a:rPr lang="en-US" altLang="it-IT" sz="3600" b="1" i="1" err="1">
                <a:latin typeface="Times New Roman" pitchFamily="18" charset="0"/>
              </a:rPr>
              <a:t>agli</a:t>
            </a:r>
            <a:r>
              <a:rPr lang="en-US" altLang="it-IT" sz="3600" b="1" i="1">
                <a:latin typeface="Times New Roman" pitchFamily="18" charset="0"/>
              </a:rPr>
              <a:t> </a:t>
            </a:r>
            <a:r>
              <a:rPr lang="en-US" altLang="it-IT" sz="3600" b="1" i="1" err="1">
                <a:latin typeface="Times New Roman" pitchFamily="18" charset="0"/>
              </a:rPr>
              <a:t>Oggetti</a:t>
            </a:r>
            <a:endParaRPr lang="en-US" altLang="it-IT" sz="3600" b="1" i="1">
              <a:latin typeface="Times New Roman" pitchFamily="18" charset="0"/>
            </a:endParaRPr>
          </a:p>
          <a:p>
            <a:pPr eaLnBrk="1" hangingPunct="1"/>
            <a:endParaRPr lang="en-US" altLang="it-IT" sz="4100" b="1" i="1">
              <a:latin typeface="Times New Roman" pitchFamily="18" charset="0"/>
            </a:endParaRPr>
          </a:p>
          <a:p>
            <a:pPr eaLnBrk="1" hangingPunct="1"/>
            <a:endParaRPr lang="en-US" altLang="it-IT" sz="4100" b="1" i="1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CF6EAD-0E5A-A4B2-68D0-18B123F5A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738" y="188913"/>
            <a:ext cx="7772400" cy="762000"/>
          </a:xfrm>
        </p:spPr>
        <p:txBody>
          <a:bodyPr/>
          <a:lstStyle/>
          <a:p>
            <a:pPr eaLnBrk="1" hangingPunct="1"/>
            <a:r>
              <a:rPr lang="it-IT" altLang="it-IT"/>
              <a:t>Classi e oggetti</a:t>
            </a:r>
            <a:endParaRPr lang="en-GB" altLang="it-IT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07A73076-FCDC-605F-530E-DE576F66E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195" y="1412776"/>
            <a:ext cx="8212137" cy="58801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it-IT" altLang="it-IT" sz="2800"/>
              <a:t>Nei linguaggi a orientati agli oggetti, il costrutto classe consente di definire nuovi tipi di dato (astratti) e le relative operazioni</a:t>
            </a:r>
          </a:p>
          <a:p>
            <a:pPr marL="806450" lvl="1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it-IT" altLang="it-IT" sz="2400"/>
              <a:t>Il linguaggio fornisce i </a:t>
            </a:r>
            <a:r>
              <a:rPr lang="it-IT" altLang="it-IT" sz="2400" i="1">
                <a:solidFill>
                  <a:srgbClr val="FF0000"/>
                </a:solidFill>
              </a:rPr>
              <a:t>meccanismi per l’information </a:t>
            </a:r>
            <a:r>
              <a:rPr lang="it-IT" altLang="it-IT" sz="2400" i="1" err="1">
                <a:solidFill>
                  <a:srgbClr val="FF0000"/>
                </a:solidFill>
              </a:rPr>
              <a:t>hiding</a:t>
            </a:r>
            <a:r>
              <a:rPr lang="it-IT" altLang="it-IT" sz="2400"/>
              <a:t>, cioè per «incapsulare» i dati all’interno della classe.</a:t>
            </a:r>
          </a:p>
          <a:p>
            <a:pPr marL="806450" lvl="1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it-IT" altLang="it-IT" sz="2400"/>
              <a:t>Le operazioni sono fornite sotto forma di funzioni.</a:t>
            </a:r>
          </a:p>
          <a:p>
            <a:pPr marL="806450" lvl="1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it-IT" altLang="it-IT" sz="2400"/>
              <a:t>Si possono creare istanze di una classe e si possono eseguire operazioni su di esse.</a:t>
            </a:r>
          </a:p>
          <a:p>
            <a:pPr marL="806450" lvl="1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it-IT" altLang="it-IT" sz="2400">
                <a:solidFill>
                  <a:srgbClr val="FF0000"/>
                </a:solidFill>
              </a:rPr>
              <a:t>Un oggetto in realtà altro non è che una istanza di una classe </a:t>
            </a:r>
            <a:r>
              <a:rPr lang="it-IT" altLang="it-IT" sz="2400"/>
              <a:t>e lo </a:t>
            </a:r>
            <a:r>
              <a:rPr lang="it-IT" altLang="it-IT" sz="2400" b="1"/>
              <a:t>stato di un oggetto</a:t>
            </a:r>
            <a:r>
              <a:rPr lang="it-IT" altLang="it-IT" sz="2400"/>
              <a:t> è rappresentato dai valori correnti delle variabili che costituiscono la struttura dati concreta sottostante il tipo astratto.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GB" altLang="it-IT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>
            <a:extLst>
              <a:ext uri="{FF2B5EF4-FFF2-40B4-BE49-F238E27FC236}">
                <a16:creationId xmlns:a16="http://schemas.microsoft.com/office/drawing/2014/main" id="{840E67EF-13DC-7E53-A756-B2C845B21EE0}"/>
              </a:ext>
            </a:extLst>
          </p:cNvPr>
          <p:cNvGrpSpPr>
            <a:grpSpLocks/>
          </p:cNvGrpSpPr>
          <p:nvPr/>
        </p:nvGrpSpPr>
        <p:grpSpPr bwMode="auto">
          <a:xfrm>
            <a:off x="1303338" y="3009900"/>
            <a:ext cx="6872287" cy="3436938"/>
            <a:chOff x="821" y="1896"/>
            <a:chExt cx="4329" cy="2165"/>
          </a:xfrm>
        </p:grpSpPr>
        <p:grpSp>
          <p:nvGrpSpPr>
            <p:cNvPr id="7174" name="Group 3">
              <a:extLst>
                <a:ext uri="{FF2B5EF4-FFF2-40B4-BE49-F238E27FC236}">
                  <a16:creationId xmlns:a16="http://schemas.microsoft.com/office/drawing/2014/main" id="{772B042A-7A5E-8766-ED91-7D39A14D2F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2200"/>
              <a:ext cx="854" cy="905"/>
              <a:chOff x="889" y="1632"/>
              <a:chExt cx="925" cy="905"/>
            </a:xfrm>
          </p:grpSpPr>
          <p:grpSp>
            <p:nvGrpSpPr>
              <p:cNvPr id="7237" name="Group 4">
                <a:extLst>
                  <a:ext uri="{FF2B5EF4-FFF2-40B4-BE49-F238E27FC236}">
                    <a16:creationId xmlns:a16="http://schemas.microsoft.com/office/drawing/2014/main" id="{1ABD91D8-EA9F-98A2-1DEC-62281AA632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5" y="1632"/>
                <a:ext cx="919" cy="905"/>
                <a:chOff x="895" y="1632"/>
                <a:chExt cx="919" cy="905"/>
              </a:xfrm>
            </p:grpSpPr>
            <p:sp>
              <p:nvSpPr>
                <p:cNvPr id="7254" name="Oval 5">
                  <a:extLst>
                    <a:ext uri="{FF2B5EF4-FFF2-40B4-BE49-F238E27FC236}">
                      <a16:creationId xmlns:a16="http://schemas.microsoft.com/office/drawing/2014/main" id="{5279BFD7-4DF4-DF63-6E9C-A8CF17DDC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6" y="1644"/>
                  <a:ext cx="908" cy="893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7255" name="Oval 6">
                  <a:extLst>
                    <a:ext uri="{FF2B5EF4-FFF2-40B4-BE49-F238E27FC236}">
                      <a16:creationId xmlns:a16="http://schemas.microsoft.com/office/drawing/2014/main" id="{81D5818D-633E-626A-06EE-6FD18DAA5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5" y="1632"/>
                  <a:ext cx="900" cy="885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</p:grpSp>
          <p:grpSp>
            <p:nvGrpSpPr>
              <p:cNvPr id="7238" name="Group 7">
                <a:extLst>
                  <a:ext uri="{FF2B5EF4-FFF2-40B4-BE49-F238E27FC236}">
                    <a16:creationId xmlns:a16="http://schemas.microsoft.com/office/drawing/2014/main" id="{9D72EBDC-20B1-6799-921C-4741F79F74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89" y="1635"/>
                <a:ext cx="909" cy="885"/>
                <a:chOff x="889" y="1635"/>
                <a:chExt cx="909" cy="885"/>
              </a:xfrm>
            </p:grpSpPr>
            <p:grpSp>
              <p:nvGrpSpPr>
                <p:cNvPr id="7239" name="Group 8">
                  <a:extLst>
                    <a:ext uri="{FF2B5EF4-FFF2-40B4-BE49-F238E27FC236}">
                      <a16:creationId xmlns:a16="http://schemas.microsoft.com/office/drawing/2014/main" id="{8725B9CF-9B55-60D9-ADA5-D7E7531455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9" y="1635"/>
                  <a:ext cx="909" cy="885"/>
                  <a:chOff x="889" y="1635"/>
                  <a:chExt cx="909" cy="885"/>
                </a:xfrm>
              </p:grpSpPr>
              <p:sp>
                <p:nvSpPr>
                  <p:cNvPr id="7244" name="Line 9">
                    <a:extLst>
                      <a:ext uri="{FF2B5EF4-FFF2-40B4-BE49-F238E27FC236}">
                        <a16:creationId xmlns:a16="http://schemas.microsoft.com/office/drawing/2014/main" id="{FC1CF340-5AF6-764A-EA04-3C550763E2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89" y="2077"/>
                    <a:ext cx="909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it-IT"/>
                  </a:p>
                </p:txBody>
              </p:sp>
              <p:sp>
                <p:nvSpPr>
                  <p:cNvPr id="7245" name="Line 10">
                    <a:extLst>
                      <a:ext uri="{FF2B5EF4-FFF2-40B4-BE49-F238E27FC236}">
                        <a16:creationId xmlns:a16="http://schemas.microsoft.com/office/drawing/2014/main" id="{5A323C71-2087-A29C-3141-500F9B4A07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52" y="1635"/>
                    <a:ext cx="0" cy="88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it-IT"/>
                  </a:p>
                </p:txBody>
              </p:sp>
              <p:grpSp>
                <p:nvGrpSpPr>
                  <p:cNvPr id="7246" name="Group 11">
                    <a:extLst>
                      <a:ext uri="{FF2B5EF4-FFF2-40B4-BE49-F238E27FC236}">
                        <a16:creationId xmlns:a16="http://schemas.microsoft.com/office/drawing/2014/main" id="{CC47992D-425E-1872-A691-A66CBE01DF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66" y="1893"/>
                    <a:ext cx="375" cy="371"/>
                    <a:chOff x="1166" y="1893"/>
                    <a:chExt cx="375" cy="371"/>
                  </a:xfrm>
                </p:grpSpPr>
                <p:sp>
                  <p:nvSpPr>
                    <p:cNvPr id="7252" name="Oval 12">
                      <a:extLst>
                        <a:ext uri="{FF2B5EF4-FFF2-40B4-BE49-F238E27FC236}">
                          <a16:creationId xmlns:a16="http://schemas.microsoft.com/office/drawing/2014/main" id="{4D191DBB-88E2-F8E9-2904-AF792F9C9B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7" y="1896"/>
                      <a:ext cx="374" cy="36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t-IT" altLang="it-IT"/>
                    </a:p>
                  </p:txBody>
                </p:sp>
                <p:sp>
                  <p:nvSpPr>
                    <p:cNvPr id="7253" name="Oval 13">
                      <a:extLst>
                        <a:ext uri="{FF2B5EF4-FFF2-40B4-BE49-F238E27FC236}">
                          <a16:creationId xmlns:a16="http://schemas.microsoft.com/office/drawing/2014/main" id="{7CF68F58-017D-3242-BE28-241E9AAC48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6" y="1893"/>
                      <a:ext cx="366" cy="36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t-IT" altLang="it-IT"/>
                    </a:p>
                  </p:txBody>
                </p:sp>
              </p:grpSp>
              <p:sp>
                <p:nvSpPr>
                  <p:cNvPr id="7247" name="Rectangle 14">
                    <a:extLst>
                      <a:ext uri="{FF2B5EF4-FFF2-40B4-BE49-F238E27FC236}">
                        <a16:creationId xmlns:a16="http://schemas.microsoft.com/office/drawing/2014/main" id="{86869303-CA49-8026-8AE1-45BCA200B0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64" y="2090"/>
                    <a:ext cx="363" cy="18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t-IT" altLang="it-IT"/>
                  </a:p>
                </p:txBody>
              </p:sp>
              <p:sp>
                <p:nvSpPr>
                  <p:cNvPr id="7248" name="Rectangle 15">
                    <a:extLst>
                      <a:ext uri="{FF2B5EF4-FFF2-40B4-BE49-F238E27FC236}">
                        <a16:creationId xmlns:a16="http://schemas.microsoft.com/office/drawing/2014/main" id="{6ADECF3D-B082-C697-381F-9109D91E1C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40" y="1802"/>
                    <a:ext cx="363" cy="1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t-IT" altLang="it-IT"/>
                  </a:p>
                </p:txBody>
              </p:sp>
              <p:sp>
                <p:nvSpPr>
                  <p:cNvPr id="7249" name="Rectangle 16">
                    <a:extLst>
                      <a:ext uri="{FF2B5EF4-FFF2-40B4-BE49-F238E27FC236}">
                        <a16:creationId xmlns:a16="http://schemas.microsoft.com/office/drawing/2014/main" id="{2A838ABB-177F-D2D7-67DF-8CB678DF46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01" y="1823"/>
                    <a:ext cx="362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t-IT" altLang="it-IT"/>
                  </a:p>
                </p:txBody>
              </p:sp>
              <p:sp>
                <p:nvSpPr>
                  <p:cNvPr id="7250" name="Rectangle 17">
                    <a:extLst>
                      <a:ext uri="{FF2B5EF4-FFF2-40B4-BE49-F238E27FC236}">
                        <a16:creationId xmlns:a16="http://schemas.microsoft.com/office/drawing/2014/main" id="{0E9C6950-1CCE-4099-062B-2E2B1E0D0B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5" y="2257"/>
                    <a:ext cx="363" cy="18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t-IT" altLang="it-IT"/>
                  </a:p>
                </p:txBody>
              </p:sp>
              <p:sp>
                <p:nvSpPr>
                  <p:cNvPr id="7251" name="Rectangle 18">
                    <a:extLst>
                      <a:ext uri="{FF2B5EF4-FFF2-40B4-BE49-F238E27FC236}">
                        <a16:creationId xmlns:a16="http://schemas.microsoft.com/office/drawing/2014/main" id="{4A205AB6-9AC7-BB63-5666-E8FC0F1D78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50" y="2239"/>
                    <a:ext cx="360" cy="1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t-IT" altLang="it-IT"/>
                  </a:p>
                </p:txBody>
              </p:sp>
            </p:grpSp>
            <p:sp>
              <p:nvSpPr>
                <p:cNvPr id="7240" name="Rectangle 19">
                  <a:extLst>
                    <a:ext uri="{FF2B5EF4-FFF2-40B4-BE49-F238E27FC236}">
                      <a16:creationId xmlns:a16="http://schemas.microsoft.com/office/drawing/2014/main" id="{C98C4DCA-A790-E092-2BAE-342AEAE44C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0" y="1961"/>
                  <a:ext cx="36" cy="6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7241" name="Rectangle 20">
                  <a:extLst>
                    <a:ext uri="{FF2B5EF4-FFF2-40B4-BE49-F238E27FC236}">
                      <a16:creationId xmlns:a16="http://schemas.microsoft.com/office/drawing/2014/main" id="{0A173E71-AD32-809C-07E8-F0D47C528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1984"/>
                  <a:ext cx="103" cy="4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7242" name="Oval 21">
                  <a:extLst>
                    <a:ext uri="{FF2B5EF4-FFF2-40B4-BE49-F238E27FC236}">
                      <a16:creationId xmlns:a16="http://schemas.microsoft.com/office/drawing/2014/main" id="{63724390-D9B5-7870-974C-E3CB781A9B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2032"/>
                  <a:ext cx="58" cy="61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  <p:sp>
              <p:nvSpPr>
                <p:cNvPr id="7243" name="Rectangle 22">
                  <a:extLst>
                    <a:ext uri="{FF2B5EF4-FFF2-40B4-BE49-F238E27FC236}">
                      <a16:creationId xmlns:a16="http://schemas.microsoft.com/office/drawing/2014/main" id="{98B13753-8C05-26CC-9E13-5C5FB6305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4" y="2077"/>
                  <a:ext cx="125" cy="1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t-IT" altLang="it-IT"/>
                </a:p>
              </p:txBody>
            </p:sp>
          </p:grpSp>
        </p:grpSp>
        <p:sp>
          <p:nvSpPr>
            <p:cNvPr id="7175" name="Oval 23">
              <a:extLst>
                <a:ext uri="{FF2B5EF4-FFF2-40B4-BE49-F238E27FC236}">
                  <a16:creationId xmlns:a16="http://schemas.microsoft.com/office/drawing/2014/main" id="{86AB3B59-76D5-7D18-5D5B-96487F9C4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2049"/>
              <a:ext cx="648" cy="63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76" name="Oval 24">
              <a:extLst>
                <a:ext uri="{FF2B5EF4-FFF2-40B4-BE49-F238E27FC236}">
                  <a16:creationId xmlns:a16="http://schemas.microsoft.com/office/drawing/2014/main" id="{4FDB0C67-78BA-6C85-E62E-4F11B2680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" y="2042"/>
              <a:ext cx="639" cy="6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77" name="Line 25">
              <a:extLst>
                <a:ext uri="{FF2B5EF4-FFF2-40B4-BE49-F238E27FC236}">
                  <a16:creationId xmlns:a16="http://schemas.microsoft.com/office/drawing/2014/main" id="{0174A7B2-8048-3D75-31B0-DC9DC5162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9" y="2356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8" name="Line 26">
              <a:extLst>
                <a:ext uri="{FF2B5EF4-FFF2-40B4-BE49-F238E27FC236}">
                  <a16:creationId xmlns:a16="http://schemas.microsoft.com/office/drawing/2014/main" id="{5713919D-657A-0E0E-41C1-81AA4882B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2042"/>
              <a:ext cx="0" cy="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9" name="Oval 27">
              <a:extLst>
                <a:ext uri="{FF2B5EF4-FFF2-40B4-BE49-F238E27FC236}">
                  <a16:creationId xmlns:a16="http://schemas.microsoft.com/office/drawing/2014/main" id="{25428062-3BC5-A38A-9E51-FF047BFEE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2227"/>
              <a:ext cx="267" cy="26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0" name="Oval 28">
              <a:extLst>
                <a:ext uri="{FF2B5EF4-FFF2-40B4-BE49-F238E27FC236}">
                  <a16:creationId xmlns:a16="http://schemas.microsoft.com/office/drawing/2014/main" id="{549C5FFA-3DA2-C7E5-82C4-EC93C5774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2227"/>
              <a:ext cx="259" cy="254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1" name="Rectangle 29">
              <a:extLst>
                <a:ext uri="{FF2B5EF4-FFF2-40B4-BE49-F238E27FC236}">
                  <a16:creationId xmlns:a16="http://schemas.microsoft.com/office/drawing/2014/main" id="{A45B6871-E773-BAFA-84D7-894E8FE99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" y="2366"/>
              <a:ext cx="25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2" name="Rectangle 30">
              <a:extLst>
                <a:ext uri="{FF2B5EF4-FFF2-40B4-BE49-F238E27FC236}">
                  <a16:creationId xmlns:a16="http://schemas.microsoft.com/office/drawing/2014/main" id="{BCCF52D0-B56F-F87E-CACA-59D2AFB2B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2161"/>
              <a:ext cx="260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3" name="Rectangle 31">
              <a:extLst>
                <a:ext uri="{FF2B5EF4-FFF2-40B4-BE49-F238E27FC236}">
                  <a16:creationId xmlns:a16="http://schemas.microsoft.com/office/drawing/2014/main" id="{AFA7FA81-9001-646C-7B1A-8261A96A1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" y="2177"/>
              <a:ext cx="25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4" name="Rectangle 32">
              <a:extLst>
                <a:ext uri="{FF2B5EF4-FFF2-40B4-BE49-F238E27FC236}">
                  <a16:creationId xmlns:a16="http://schemas.microsoft.com/office/drawing/2014/main" id="{49DB295D-7DC4-636C-80DE-B08110585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485"/>
              <a:ext cx="25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5" name="Rectangle 33">
              <a:extLst>
                <a:ext uri="{FF2B5EF4-FFF2-40B4-BE49-F238E27FC236}">
                  <a16:creationId xmlns:a16="http://schemas.microsoft.com/office/drawing/2014/main" id="{BA5DDC6F-71F4-A8A9-DFD1-228D53C7C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" y="2471"/>
              <a:ext cx="25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6" name="Rectangle 34">
              <a:extLst>
                <a:ext uri="{FF2B5EF4-FFF2-40B4-BE49-F238E27FC236}">
                  <a16:creationId xmlns:a16="http://schemas.microsoft.com/office/drawing/2014/main" id="{AF526FB6-B4C6-6108-6C01-7F48D3AB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2275"/>
              <a:ext cx="23" cy="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7" name="Rectangle 35">
              <a:extLst>
                <a:ext uri="{FF2B5EF4-FFF2-40B4-BE49-F238E27FC236}">
                  <a16:creationId xmlns:a16="http://schemas.microsoft.com/office/drawing/2014/main" id="{BE6B4644-D4B6-F25F-C0D7-87D8BDAB9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2292"/>
              <a:ext cx="72" cy="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8" name="Oval 36">
              <a:extLst>
                <a:ext uri="{FF2B5EF4-FFF2-40B4-BE49-F238E27FC236}">
                  <a16:creationId xmlns:a16="http://schemas.microsoft.com/office/drawing/2014/main" id="{7A3B39E0-A45D-29C7-BAD4-8D928660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326"/>
              <a:ext cx="41" cy="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89" name="Rectangle 37">
              <a:extLst>
                <a:ext uri="{FF2B5EF4-FFF2-40B4-BE49-F238E27FC236}">
                  <a16:creationId xmlns:a16="http://schemas.microsoft.com/office/drawing/2014/main" id="{32713669-C716-8EF2-11FF-B385D97AF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2358"/>
              <a:ext cx="87" cy="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0" name="Oval 38">
              <a:extLst>
                <a:ext uri="{FF2B5EF4-FFF2-40B4-BE49-F238E27FC236}">
                  <a16:creationId xmlns:a16="http://schemas.microsoft.com/office/drawing/2014/main" id="{1AC018EB-A526-A22F-DA27-F8F120F1C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2946"/>
              <a:ext cx="647" cy="63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1" name="Oval 39">
              <a:extLst>
                <a:ext uri="{FF2B5EF4-FFF2-40B4-BE49-F238E27FC236}">
                  <a16:creationId xmlns:a16="http://schemas.microsoft.com/office/drawing/2014/main" id="{478B60EB-9B1E-B18A-C300-6B8139E68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7" y="2939"/>
              <a:ext cx="640" cy="6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2" name="Line 40">
              <a:extLst>
                <a:ext uri="{FF2B5EF4-FFF2-40B4-BE49-F238E27FC236}">
                  <a16:creationId xmlns:a16="http://schemas.microsoft.com/office/drawing/2014/main" id="{75271F38-73CB-5A3C-2B6F-3EA12633B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253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93" name="Line 41">
              <a:extLst>
                <a:ext uri="{FF2B5EF4-FFF2-40B4-BE49-F238E27FC236}">
                  <a16:creationId xmlns:a16="http://schemas.microsoft.com/office/drawing/2014/main" id="{C2BAFF35-146A-7E88-DDA4-21B8D791B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941"/>
              <a:ext cx="0" cy="6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94" name="Oval 42">
              <a:extLst>
                <a:ext uri="{FF2B5EF4-FFF2-40B4-BE49-F238E27FC236}">
                  <a16:creationId xmlns:a16="http://schemas.microsoft.com/office/drawing/2014/main" id="{D9AAC82A-B812-CC4F-EA38-84E350BAE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3125"/>
              <a:ext cx="267" cy="261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5" name="Oval 43">
              <a:extLst>
                <a:ext uri="{FF2B5EF4-FFF2-40B4-BE49-F238E27FC236}">
                  <a16:creationId xmlns:a16="http://schemas.microsoft.com/office/drawing/2014/main" id="{2040F2B3-6ACA-C139-068D-C1639A63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3124"/>
              <a:ext cx="260" cy="254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6" name="Rectangle 44">
              <a:extLst>
                <a:ext uri="{FF2B5EF4-FFF2-40B4-BE49-F238E27FC236}">
                  <a16:creationId xmlns:a16="http://schemas.microsoft.com/office/drawing/2014/main" id="{F2BC0F44-D524-31EF-2F46-3071F01E5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" y="3263"/>
              <a:ext cx="25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7" name="Rectangle 45">
              <a:extLst>
                <a:ext uri="{FF2B5EF4-FFF2-40B4-BE49-F238E27FC236}">
                  <a16:creationId xmlns:a16="http://schemas.microsoft.com/office/drawing/2014/main" id="{4B52F75B-F6BA-BB49-517B-34F4DABD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3059"/>
              <a:ext cx="258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8" name="Rectangle 46">
              <a:extLst>
                <a:ext uri="{FF2B5EF4-FFF2-40B4-BE49-F238E27FC236}">
                  <a16:creationId xmlns:a16="http://schemas.microsoft.com/office/drawing/2014/main" id="{6BF01C46-DCA5-3674-55E6-3B826EDE1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3074"/>
              <a:ext cx="25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199" name="Rectangle 47">
              <a:extLst>
                <a:ext uri="{FF2B5EF4-FFF2-40B4-BE49-F238E27FC236}">
                  <a16:creationId xmlns:a16="http://schemas.microsoft.com/office/drawing/2014/main" id="{D51B0652-765C-0D88-706C-48DB0E60C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3382"/>
              <a:ext cx="25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0" name="Rectangle 48">
              <a:extLst>
                <a:ext uri="{FF2B5EF4-FFF2-40B4-BE49-F238E27FC236}">
                  <a16:creationId xmlns:a16="http://schemas.microsoft.com/office/drawing/2014/main" id="{5572EDDD-FBFD-6DD7-640A-8CBF6631E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5" y="3369"/>
              <a:ext cx="25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1" name="Rectangle 49">
              <a:extLst>
                <a:ext uri="{FF2B5EF4-FFF2-40B4-BE49-F238E27FC236}">
                  <a16:creationId xmlns:a16="http://schemas.microsoft.com/office/drawing/2014/main" id="{DE952C16-9D3E-071B-E2C5-EFB7E04C1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3173"/>
              <a:ext cx="23" cy="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2" name="Rectangle 50">
              <a:extLst>
                <a:ext uri="{FF2B5EF4-FFF2-40B4-BE49-F238E27FC236}">
                  <a16:creationId xmlns:a16="http://schemas.microsoft.com/office/drawing/2014/main" id="{F2218FF8-BD0E-108E-DACC-F4E392004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189"/>
              <a:ext cx="72" cy="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3" name="Oval 51">
              <a:extLst>
                <a:ext uri="{FF2B5EF4-FFF2-40B4-BE49-F238E27FC236}">
                  <a16:creationId xmlns:a16="http://schemas.microsoft.com/office/drawing/2014/main" id="{CBA6E5EC-C37D-B58C-D0D4-9D57D653D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5" y="3223"/>
              <a:ext cx="40" cy="4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4" name="Rectangle 52">
              <a:extLst>
                <a:ext uri="{FF2B5EF4-FFF2-40B4-BE49-F238E27FC236}">
                  <a16:creationId xmlns:a16="http://schemas.microsoft.com/office/drawing/2014/main" id="{E13476BD-3D46-26E0-9E5F-0A77E6612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3" y="3255"/>
              <a:ext cx="88" cy="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5" name="Oval 53">
              <a:extLst>
                <a:ext uri="{FF2B5EF4-FFF2-40B4-BE49-F238E27FC236}">
                  <a16:creationId xmlns:a16="http://schemas.microsoft.com/office/drawing/2014/main" id="{9F03396E-EACD-6601-25A0-11D59D012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3210"/>
              <a:ext cx="648" cy="63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6" name="Oval 54">
              <a:extLst>
                <a:ext uri="{FF2B5EF4-FFF2-40B4-BE49-F238E27FC236}">
                  <a16:creationId xmlns:a16="http://schemas.microsoft.com/office/drawing/2014/main" id="{A0ECBB58-6F84-B774-E4B0-8395851E5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203"/>
              <a:ext cx="639" cy="6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07" name="Line 55">
              <a:extLst>
                <a:ext uri="{FF2B5EF4-FFF2-40B4-BE49-F238E27FC236}">
                  <a16:creationId xmlns:a16="http://schemas.microsoft.com/office/drawing/2014/main" id="{BF320F9F-CFA2-FE28-4D48-00039A9A5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3517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08" name="Line 56">
              <a:extLst>
                <a:ext uri="{FF2B5EF4-FFF2-40B4-BE49-F238E27FC236}">
                  <a16:creationId xmlns:a16="http://schemas.microsoft.com/office/drawing/2014/main" id="{536F2755-BFBA-E0D1-D2B4-3EAC37964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1" y="3205"/>
              <a:ext cx="0" cy="6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09" name="Oval 57">
              <a:extLst>
                <a:ext uri="{FF2B5EF4-FFF2-40B4-BE49-F238E27FC236}">
                  <a16:creationId xmlns:a16="http://schemas.microsoft.com/office/drawing/2014/main" id="{BAFC6A75-3632-95DB-347F-1EDCE1260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3389"/>
              <a:ext cx="266" cy="261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0" name="Oval 58">
              <a:extLst>
                <a:ext uri="{FF2B5EF4-FFF2-40B4-BE49-F238E27FC236}">
                  <a16:creationId xmlns:a16="http://schemas.microsoft.com/office/drawing/2014/main" id="{4B6F9106-023B-5714-12F9-D1B6EBEA4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8" y="3388"/>
              <a:ext cx="260" cy="254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1" name="Rectangle 59">
              <a:extLst>
                <a:ext uri="{FF2B5EF4-FFF2-40B4-BE49-F238E27FC236}">
                  <a16:creationId xmlns:a16="http://schemas.microsoft.com/office/drawing/2014/main" id="{CA6D580E-E3BC-2979-1420-F4693A0F8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3527"/>
              <a:ext cx="25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2" name="Rectangle 60">
              <a:extLst>
                <a:ext uri="{FF2B5EF4-FFF2-40B4-BE49-F238E27FC236}">
                  <a16:creationId xmlns:a16="http://schemas.microsoft.com/office/drawing/2014/main" id="{B6EAE22F-FC1B-596D-A69D-0967425DE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" y="3323"/>
              <a:ext cx="259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3" name="Rectangle 61">
              <a:extLst>
                <a:ext uri="{FF2B5EF4-FFF2-40B4-BE49-F238E27FC236}">
                  <a16:creationId xmlns:a16="http://schemas.microsoft.com/office/drawing/2014/main" id="{1B56BDE3-2A60-C10D-1BF0-B5F2FC3B3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3338"/>
              <a:ext cx="25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4" name="Rectangle 62">
              <a:extLst>
                <a:ext uri="{FF2B5EF4-FFF2-40B4-BE49-F238E27FC236}">
                  <a16:creationId xmlns:a16="http://schemas.microsoft.com/office/drawing/2014/main" id="{F2B42928-60EF-E0BA-CD0E-445E562CA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3646"/>
              <a:ext cx="2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5" name="Rectangle 63">
              <a:extLst>
                <a:ext uri="{FF2B5EF4-FFF2-40B4-BE49-F238E27FC236}">
                  <a16:creationId xmlns:a16="http://schemas.microsoft.com/office/drawing/2014/main" id="{4688A5D2-9C5F-72E5-A4AF-1D53CEB31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633"/>
              <a:ext cx="25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6" name="Rectangle 64">
              <a:extLst>
                <a:ext uri="{FF2B5EF4-FFF2-40B4-BE49-F238E27FC236}">
                  <a16:creationId xmlns:a16="http://schemas.microsoft.com/office/drawing/2014/main" id="{EAB5E440-3E47-A6AD-2F87-11F80851B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3437"/>
              <a:ext cx="23" cy="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7" name="Rectangle 65">
              <a:extLst>
                <a:ext uri="{FF2B5EF4-FFF2-40B4-BE49-F238E27FC236}">
                  <a16:creationId xmlns:a16="http://schemas.microsoft.com/office/drawing/2014/main" id="{A5F67F53-CEE7-F3FF-20F9-843B0CC7E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3453"/>
              <a:ext cx="71" cy="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8" name="Oval 66">
              <a:extLst>
                <a:ext uri="{FF2B5EF4-FFF2-40B4-BE49-F238E27FC236}">
                  <a16:creationId xmlns:a16="http://schemas.microsoft.com/office/drawing/2014/main" id="{5F08F046-05FD-71EE-4565-C6076B7B1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3" y="3487"/>
              <a:ext cx="40" cy="4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19" name="Rectangle 67">
              <a:extLst>
                <a:ext uri="{FF2B5EF4-FFF2-40B4-BE49-F238E27FC236}">
                  <a16:creationId xmlns:a16="http://schemas.microsoft.com/office/drawing/2014/main" id="{EF17EE74-9FD4-571A-1A9D-9C1977062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3519"/>
              <a:ext cx="88" cy="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220" name="Rectangle 68">
              <a:extLst>
                <a:ext uri="{FF2B5EF4-FFF2-40B4-BE49-F238E27FC236}">
                  <a16:creationId xmlns:a16="http://schemas.microsoft.com/office/drawing/2014/main" id="{D9FC450B-00FF-81E9-9B53-E68C4F29D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" y="2064"/>
              <a:ext cx="65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MIV5678</a:t>
              </a:r>
            </a:p>
          </p:txBody>
        </p:sp>
        <p:sp>
          <p:nvSpPr>
            <p:cNvPr id="7221" name="Rectangle 69">
              <a:extLst>
                <a:ext uri="{FF2B5EF4-FFF2-40B4-BE49-F238E27FC236}">
                  <a16:creationId xmlns:a16="http://schemas.microsoft.com/office/drawing/2014/main" id="{70D9E627-977A-88E9-B7FA-43990AFB5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7" y="3701"/>
              <a:ext cx="633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MIK1178</a:t>
              </a:r>
            </a:p>
          </p:txBody>
        </p:sp>
        <p:sp>
          <p:nvSpPr>
            <p:cNvPr id="7222" name="Rectangle 70">
              <a:extLst>
                <a:ext uri="{FF2B5EF4-FFF2-40B4-BE49-F238E27FC236}">
                  <a16:creationId xmlns:a16="http://schemas.microsoft.com/office/drawing/2014/main" id="{4B1A03B9-CEDC-FA17-A737-A3F7E50AC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" y="2909"/>
              <a:ext cx="56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BO8956</a:t>
              </a:r>
            </a:p>
          </p:txBody>
        </p:sp>
        <p:sp>
          <p:nvSpPr>
            <p:cNvPr id="7223" name="Rectangle 71">
              <a:extLst>
                <a:ext uri="{FF2B5EF4-FFF2-40B4-BE49-F238E27FC236}">
                  <a16:creationId xmlns:a16="http://schemas.microsoft.com/office/drawing/2014/main" id="{D55E89A9-5B9A-82C3-20EE-D1CDA7128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173"/>
              <a:ext cx="985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>
                  <a:latin typeface="Times New Roman" panose="02020603050405020304" pitchFamily="18" charset="0"/>
                </a:rPr>
                <a:t>Automobile</a:t>
              </a:r>
              <a:endParaRPr lang="it-IT" altLang="it-IT" sz="1600">
                <a:latin typeface="Times New Roman" panose="02020603050405020304" pitchFamily="18" charset="0"/>
              </a:endParaRPr>
            </a:p>
          </p:txBody>
        </p:sp>
        <p:sp>
          <p:nvSpPr>
            <p:cNvPr id="7224" name="Line 72">
              <a:extLst>
                <a:ext uri="{FF2B5EF4-FFF2-40B4-BE49-F238E27FC236}">
                  <a16:creationId xmlns:a16="http://schemas.microsoft.com/office/drawing/2014/main" id="{16746788-3BFF-7432-7DCC-F9BDDAD360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8" y="2366"/>
              <a:ext cx="1120" cy="103"/>
            </a:xfrm>
            <a:prstGeom prst="line">
              <a:avLst/>
            </a:prstGeom>
            <a:noFill/>
            <a:ln w="127000">
              <a:solidFill>
                <a:schemeClr val="folHlink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25" name="Line 73">
              <a:extLst>
                <a:ext uri="{FF2B5EF4-FFF2-40B4-BE49-F238E27FC236}">
                  <a16:creationId xmlns:a16="http://schemas.microsoft.com/office/drawing/2014/main" id="{2149D638-7487-26AD-C679-04998A43D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" y="2632"/>
              <a:ext cx="1900" cy="578"/>
            </a:xfrm>
            <a:prstGeom prst="line">
              <a:avLst/>
            </a:prstGeom>
            <a:noFill/>
            <a:ln w="127000">
              <a:solidFill>
                <a:schemeClr val="folHlink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26" name="Line 74">
              <a:extLst>
                <a:ext uri="{FF2B5EF4-FFF2-40B4-BE49-F238E27FC236}">
                  <a16:creationId xmlns:a16="http://schemas.microsoft.com/office/drawing/2014/main" id="{C21F3F86-BA7F-63FF-E7EC-B0B972CB1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3" y="2896"/>
              <a:ext cx="924" cy="578"/>
            </a:xfrm>
            <a:prstGeom prst="line">
              <a:avLst/>
            </a:prstGeom>
            <a:noFill/>
            <a:ln w="127000">
              <a:solidFill>
                <a:schemeClr val="folHlink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27" name="Line 75">
              <a:extLst>
                <a:ext uri="{FF2B5EF4-FFF2-40B4-BE49-F238E27FC236}">
                  <a16:creationId xmlns:a16="http://schemas.microsoft.com/office/drawing/2014/main" id="{48C9EFE4-10F5-FC6C-C4A4-E15918AEA5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2156"/>
              <a:ext cx="437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28" name="Line 76">
              <a:extLst>
                <a:ext uri="{FF2B5EF4-FFF2-40B4-BE49-F238E27FC236}">
                  <a16:creationId xmlns:a16="http://schemas.microsoft.com/office/drawing/2014/main" id="{A5B2C41D-2C10-771A-0A82-CF4500E2C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9" y="3000"/>
              <a:ext cx="339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29" name="Line 77">
              <a:extLst>
                <a:ext uri="{FF2B5EF4-FFF2-40B4-BE49-F238E27FC236}">
                  <a16:creationId xmlns:a16="http://schemas.microsoft.com/office/drawing/2014/main" id="{71209BC1-97B4-79A1-4C76-50166BBC2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3476"/>
              <a:ext cx="390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30" name="Rectangle 78">
              <a:extLst>
                <a:ext uri="{FF2B5EF4-FFF2-40B4-BE49-F238E27FC236}">
                  <a16:creationId xmlns:a16="http://schemas.microsoft.com/office/drawing/2014/main" id="{1291576E-3BCD-9508-C0E8-C74501FFD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2681"/>
              <a:ext cx="185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231" name="Rectangle 79">
              <a:extLst>
                <a:ext uri="{FF2B5EF4-FFF2-40B4-BE49-F238E27FC236}">
                  <a16:creationId xmlns:a16="http://schemas.microsoft.com/office/drawing/2014/main" id="{CEC065FD-B52E-7BF6-930C-0D477D4B0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" y="3579"/>
              <a:ext cx="19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232" name="Rectangle 80">
              <a:extLst>
                <a:ext uri="{FF2B5EF4-FFF2-40B4-BE49-F238E27FC236}">
                  <a16:creationId xmlns:a16="http://schemas.microsoft.com/office/drawing/2014/main" id="{C94F22D0-31A4-E27A-FBFF-3BB5005C6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" y="3843"/>
              <a:ext cx="185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233" name="Line 81">
              <a:extLst>
                <a:ext uri="{FF2B5EF4-FFF2-40B4-BE49-F238E27FC236}">
                  <a16:creationId xmlns:a16="http://schemas.microsoft.com/office/drawing/2014/main" id="{0EA099C7-92CA-BE0D-6C43-06F3194CA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2" y="2028"/>
              <a:ext cx="436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234" name="Rectangle 82">
              <a:extLst>
                <a:ext uri="{FF2B5EF4-FFF2-40B4-BE49-F238E27FC236}">
                  <a16:creationId xmlns:a16="http://schemas.microsoft.com/office/drawing/2014/main" id="{CB9465CA-ECAF-D70A-71C2-9265969BF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" y="1896"/>
              <a:ext cx="57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valori</a:t>
              </a:r>
            </a:p>
          </p:txBody>
        </p:sp>
        <p:sp>
          <p:nvSpPr>
            <p:cNvPr id="7235" name="Rectangle 83">
              <a:extLst>
                <a:ext uri="{FF2B5EF4-FFF2-40B4-BE49-F238E27FC236}">
                  <a16:creationId xmlns:a16="http://schemas.microsoft.com/office/drawing/2014/main" id="{7D9B3016-3E88-C577-2D3A-31084884F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2112"/>
              <a:ext cx="573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0" tIns="50800" rIns="101600" bIns="50800">
              <a:spAutoFit/>
            </a:bodyPr>
            <a:lstStyle>
              <a:lvl1pPr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Times New Roman" panose="02020603050405020304" pitchFamily="18" charset="0"/>
                </a:rPr>
                <a:t>variabili</a:t>
              </a:r>
            </a:p>
          </p:txBody>
        </p:sp>
        <p:sp>
          <p:nvSpPr>
            <p:cNvPr id="7236" name="Line 84">
              <a:extLst>
                <a:ext uri="{FF2B5EF4-FFF2-40B4-BE49-F238E27FC236}">
                  <a16:creationId xmlns:a16="http://schemas.microsoft.com/office/drawing/2014/main" id="{519C1352-6D0A-4799-AF6B-749179793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1" y="2268"/>
              <a:ext cx="646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7171" name="Rectangle 85">
            <a:extLst>
              <a:ext uri="{FF2B5EF4-FFF2-40B4-BE49-F238E27FC236}">
                <a16:creationId xmlns:a16="http://schemas.microsoft.com/office/drawing/2014/main" id="{A0691CEF-8B8E-8F23-0B5C-E4DAD4E58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"/>
            <a:ext cx="8077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 sz="3900" b="1">
              <a:solidFill>
                <a:schemeClr val="tx2"/>
              </a:solidFill>
            </a:endParaRPr>
          </a:p>
        </p:txBody>
      </p:sp>
      <p:sp>
        <p:nvSpPr>
          <p:cNvPr id="7172" name="Rectangle 86">
            <a:extLst>
              <a:ext uri="{FF2B5EF4-FFF2-40B4-BE49-F238E27FC236}">
                <a16:creationId xmlns:a16="http://schemas.microsoft.com/office/drawing/2014/main" id="{76181E2E-1BDC-9CED-F5E4-89E94F822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-242888"/>
            <a:ext cx="7772400" cy="1143001"/>
          </a:xfrm>
        </p:spPr>
        <p:txBody>
          <a:bodyPr/>
          <a:lstStyle/>
          <a:p>
            <a:pPr eaLnBrk="1" hangingPunct="1"/>
            <a:r>
              <a:rPr lang="it-IT" altLang="it-IT"/>
              <a:t>L’istanziazione degli oggetti</a:t>
            </a:r>
          </a:p>
        </p:txBody>
      </p:sp>
      <p:sp>
        <p:nvSpPr>
          <p:cNvPr id="7173" name="Rectangle 87">
            <a:extLst>
              <a:ext uri="{FF2B5EF4-FFF2-40B4-BE49-F238E27FC236}">
                <a16:creationId xmlns:a16="http://schemas.microsoft.com/office/drawing/2014/main" id="{2712D345-FCF6-0DDB-CC1F-A47B429B6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7777163" cy="1600200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it-IT" altLang="it-IT" sz="2100">
                <a:latin typeface="Verdana" panose="020B0604030504040204" pitchFamily="34" charset="0"/>
              </a:rPr>
              <a:t>Un oggetto è una istanza (“esemplare”) di una classe 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2100">
                <a:latin typeface="Verdana" panose="020B0604030504040204" pitchFamily="34" charset="0"/>
              </a:rPr>
              <a:t>Due esemplari della stessa classe sono distinguibili soltanto per il loro stato mentre il comportamento (definito dalle funzioni della classe) è sempre identico</a:t>
            </a:r>
          </a:p>
          <a:p>
            <a:pPr algn="just" eaLnBrk="1" hangingPunct="1">
              <a:lnSpc>
                <a:spcPct val="90000"/>
              </a:lnSpc>
            </a:pPr>
            <a:endParaRPr lang="it-IT" altLang="it-IT" sz="21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A44F76E-1728-05B4-C447-942399597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918" y="-171400"/>
            <a:ext cx="8412163" cy="1143000"/>
          </a:xfrm>
        </p:spPr>
        <p:txBody>
          <a:bodyPr/>
          <a:lstStyle/>
          <a:p>
            <a:pPr eaLnBrk="1" hangingPunct="1"/>
            <a:r>
              <a:rPr lang="it-IT" altLang="it-IT" sz="3000">
                <a:latin typeface="Verdana" panose="020B0604030504040204" pitchFamily="34" charset="0"/>
              </a:rPr>
              <a:t>Dichiarazione di classe in Java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1604007D-DCA1-9FC2-4190-418663B00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268760"/>
            <a:ext cx="7772400" cy="2952328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dist="107763" dir="135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it-IT" altLang="it-IT" sz="1800" dirty="0">
                <a:cs typeface="Times New Roman" pitchFamily="18" charset="0"/>
              </a:rPr>
              <a:t>Il linguaggio Java supporta esplicitamente la dichiarazione e la definizione di tipi astratti da parte dell'utente mediante il costrutto </a:t>
            </a:r>
            <a:r>
              <a:rPr lang="it-IT" altLang="it-IT" sz="1800" b="1" dirty="0">
                <a:cs typeface="Times New Roman" pitchFamily="18" charset="0"/>
              </a:rPr>
              <a:t>class</a:t>
            </a:r>
            <a:endParaRPr lang="it-IT" altLang="it-IT" sz="1800" dirty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it-IT" altLang="it-IT" sz="1800" dirty="0">
                <a:cs typeface="Times New Roman" pitchFamily="18" charset="0"/>
              </a:rPr>
              <a:t>le istanze di una classe vengono dette </a:t>
            </a:r>
            <a:r>
              <a:rPr lang="it-IT" altLang="it-IT" sz="1800" b="1" dirty="0">
                <a:cs typeface="Times New Roman" pitchFamily="18" charset="0"/>
              </a:rPr>
              <a:t>oggetti</a:t>
            </a:r>
            <a:r>
              <a:rPr lang="it-IT" altLang="it-IT" sz="1800" dirty="0"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it-IT" altLang="it-IT" sz="1800" dirty="0">
                <a:cs typeface="Times New Roman" pitchFamily="18" charset="0"/>
              </a:rPr>
              <a:t>In una dichiarazione </a:t>
            </a:r>
            <a:r>
              <a:rPr lang="it-IT" altLang="it-IT" sz="1800" b="1" dirty="0">
                <a:cs typeface="Times New Roman" pitchFamily="18" charset="0"/>
              </a:rPr>
              <a:t>class</a:t>
            </a:r>
            <a:r>
              <a:rPr lang="it-IT" altLang="it-IT" sz="1800" dirty="0">
                <a:cs typeface="Times New Roman" pitchFamily="18" charset="0"/>
              </a:rPr>
              <a:t> occorre specificare sia la struttura dati che le operazioni consentite su di essa.</a:t>
            </a:r>
            <a:endParaRPr lang="en-GB" altLang="it-IT" sz="1800" dirty="0">
              <a:latin typeface="Verdana" pitchFamily="34" charset="0"/>
            </a:endParaRPr>
          </a:p>
          <a:p>
            <a:pPr eaLnBrk="1" hangingPunct="1">
              <a:defRPr/>
            </a:pPr>
            <a:r>
              <a:rPr lang="en-GB" altLang="it-IT" sz="1800" dirty="0"/>
              <a:t>La </a:t>
            </a:r>
            <a:r>
              <a:rPr lang="en-GB" altLang="it-IT" sz="1800" dirty="0" err="1"/>
              <a:t>dicharazione</a:t>
            </a:r>
            <a:r>
              <a:rPr lang="en-GB" altLang="it-IT" sz="1800" dirty="0"/>
              <a:t> di </a:t>
            </a:r>
            <a:r>
              <a:rPr lang="en-GB" altLang="it-IT" sz="1800" dirty="0" err="1"/>
              <a:t>classe</a:t>
            </a:r>
            <a:r>
              <a:rPr lang="en-GB" altLang="it-IT" sz="1800" dirty="0"/>
              <a:t> </a:t>
            </a:r>
            <a:r>
              <a:rPr lang="en-GB" altLang="it-IT" sz="1800" dirty="0" err="1"/>
              <a:t>inizia</a:t>
            </a:r>
            <a:r>
              <a:rPr lang="en-GB" altLang="it-IT" sz="1800" dirty="0"/>
              <a:t> con la </a:t>
            </a:r>
            <a:r>
              <a:rPr lang="en-GB" altLang="it-IT" sz="1800" dirty="0" err="1"/>
              <a:t>parola</a:t>
            </a:r>
            <a:r>
              <a:rPr lang="en-GB" altLang="it-IT" sz="1800" dirty="0"/>
              <a:t> </a:t>
            </a:r>
            <a:r>
              <a:rPr lang="en-GB" altLang="it-IT" sz="1800" dirty="0" err="1"/>
              <a:t>riservata</a:t>
            </a:r>
            <a:r>
              <a:rPr lang="en-GB" altLang="it-IT" sz="1800" dirty="0"/>
              <a:t> </a:t>
            </a:r>
            <a:r>
              <a:rPr lang="en-GB" altLang="it-IT" sz="1800" i="1" dirty="0">
                <a:solidFill>
                  <a:srgbClr val="FF0000"/>
                </a:solidFill>
              </a:rPr>
              <a:t>public</a:t>
            </a:r>
            <a:r>
              <a:rPr lang="en-GB" altLang="it-IT" sz="1800" dirty="0"/>
              <a:t> </a:t>
            </a:r>
            <a:r>
              <a:rPr lang="en-GB" altLang="it-IT" sz="1800" dirty="0" err="1"/>
              <a:t>che</a:t>
            </a:r>
            <a:r>
              <a:rPr lang="en-GB" altLang="it-IT" sz="1800" dirty="0"/>
              <a:t> </a:t>
            </a:r>
            <a:r>
              <a:rPr lang="en-GB" altLang="it-IT" sz="1800" dirty="0" err="1"/>
              <a:t>è</a:t>
            </a:r>
            <a:r>
              <a:rPr lang="en-GB" altLang="it-IT" sz="1800" dirty="0"/>
              <a:t> un </a:t>
            </a:r>
            <a:r>
              <a:rPr lang="en-GB" altLang="it-IT" sz="1800" b="1" i="1" dirty="0" err="1">
                <a:solidFill>
                  <a:srgbClr val="FF0000"/>
                </a:solidFill>
              </a:rPr>
              <a:t>modificatore</a:t>
            </a:r>
            <a:r>
              <a:rPr lang="en-GB" altLang="it-IT" sz="1800" b="1" i="1" dirty="0">
                <a:solidFill>
                  <a:srgbClr val="FF0000"/>
                </a:solidFill>
              </a:rPr>
              <a:t> di accesso</a:t>
            </a:r>
            <a:r>
              <a:rPr lang="en-GB" altLang="it-IT" sz="1800" i="1" dirty="0"/>
              <a:t> per </a:t>
            </a:r>
            <a:r>
              <a:rPr lang="en-GB" altLang="it-IT" sz="1800" i="1" dirty="0" err="1"/>
              <a:t>consentire</a:t>
            </a:r>
            <a:r>
              <a:rPr lang="en-GB" altLang="it-IT" sz="1800" i="1" dirty="0"/>
              <a:t> </a:t>
            </a:r>
            <a:r>
              <a:rPr lang="en-GB" altLang="it-IT" sz="1800" i="1" dirty="0" err="1"/>
              <a:t>l’uso</a:t>
            </a:r>
            <a:r>
              <a:rPr lang="en-GB" altLang="it-IT" sz="1800" i="1" dirty="0"/>
              <a:t> </a:t>
            </a:r>
            <a:r>
              <a:rPr lang="en-GB" altLang="it-IT" sz="1800" i="1" dirty="0" err="1"/>
              <a:t>della</a:t>
            </a:r>
            <a:r>
              <a:rPr lang="en-GB" altLang="it-IT" sz="1800" i="1" dirty="0"/>
              <a:t> </a:t>
            </a:r>
            <a:r>
              <a:rPr lang="en-GB" altLang="it-IT" sz="1800" i="1" dirty="0" err="1"/>
              <a:t>classe</a:t>
            </a:r>
            <a:r>
              <a:rPr lang="en-GB" altLang="it-IT" sz="1800" i="1" dirty="0"/>
              <a:t> a tutti </a:t>
            </a:r>
            <a:r>
              <a:rPr lang="en-GB" altLang="it-IT" sz="1800" i="1" dirty="0" err="1"/>
              <a:t>gli</a:t>
            </a:r>
            <a:r>
              <a:rPr lang="en-GB" altLang="it-IT" sz="1800" i="1" dirty="0"/>
              <a:t> </a:t>
            </a:r>
            <a:r>
              <a:rPr lang="en-GB" altLang="it-IT" sz="1800" i="1" dirty="0" err="1"/>
              <a:t>utenti</a:t>
            </a:r>
            <a:r>
              <a:rPr lang="en-GB" altLang="it-IT" sz="1800" i="1" dirty="0"/>
              <a:t>.</a:t>
            </a:r>
          </a:p>
          <a:p>
            <a:pPr eaLnBrk="1" hangingPunct="1">
              <a:defRPr/>
            </a:pPr>
            <a:r>
              <a:rPr lang="en-GB" altLang="it-IT" sz="1800" u="sng" dirty="0" err="1"/>
              <a:t>Ogni</a:t>
            </a:r>
            <a:r>
              <a:rPr lang="en-GB" altLang="it-IT" sz="1800" dirty="0"/>
              <a:t> </a:t>
            </a:r>
            <a:r>
              <a:rPr lang="en-GB" altLang="it-IT" sz="1800" dirty="0" err="1"/>
              <a:t>dichiarazione</a:t>
            </a:r>
            <a:r>
              <a:rPr lang="en-GB" altLang="it-IT" sz="1800" dirty="0"/>
              <a:t> di </a:t>
            </a:r>
            <a:r>
              <a:rPr lang="en-GB" altLang="it-IT" sz="1800" dirty="0" err="1"/>
              <a:t>classe</a:t>
            </a:r>
            <a:r>
              <a:rPr lang="en-GB" altLang="it-IT" sz="1800" dirty="0"/>
              <a:t> </a:t>
            </a:r>
            <a:r>
              <a:rPr lang="en-GB" altLang="it-IT" sz="1800" dirty="0" err="1"/>
              <a:t>deve</a:t>
            </a:r>
            <a:r>
              <a:rPr lang="en-GB" altLang="it-IT" sz="1800" dirty="0"/>
              <a:t> </a:t>
            </a:r>
            <a:r>
              <a:rPr lang="en-GB" altLang="it-IT" sz="1800" dirty="0" err="1"/>
              <a:t>essere</a:t>
            </a:r>
            <a:r>
              <a:rPr lang="en-GB" altLang="it-IT" sz="1800" dirty="0"/>
              <a:t> </a:t>
            </a:r>
            <a:r>
              <a:rPr lang="en-GB" altLang="it-IT" sz="1800" dirty="0" err="1"/>
              <a:t>salvata</a:t>
            </a:r>
            <a:r>
              <a:rPr lang="en-GB" altLang="it-IT" sz="1800" dirty="0"/>
              <a:t> i</a:t>
            </a:r>
            <a:r>
              <a:rPr lang="en-GB" altLang="it-IT" sz="1800" dirty="0">
                <a:solidFill>
                  <a:srgbClr val="FF0000"/>
                </a:solidFill>
              </a:rPr>
              <a:t>n un file </a:t>
            </a:r>
            <a:r>
              <a:rPr lang="en-GB" altLang="it-IT" sz="1800" dirty="0" err="1">
                <a:solidFill>
                  <a:srgbClr val="FF0000"/>
                </a:solidFill>
              </a:rPr>
              <a:t>che</a:t>
            </a:r>
            <a:r>
              <a:rPr lang="en-GB" altLang="it-IT" sz="1800" dirty="0">
                <a:solidFill>
                  <a:srgbClr val="FF0000"/>
                </a:solidFill>
              </a:rPr>
              <a:t> ha lo </a:t>
            </a:r>
            <a:r>
              <a:rPr lang="en-GB" altLang="it-IT" sz="1800" dirty="0" err="1">
                <a:solidFill>
                  <a:srgbClr val="FF0000"/>
                </a:solidFill>
              </a:rPr>
              <a:t>stesso</a:t>
            </a:r>
            <a:r>
              <a:rPr lang="en-GB" altLang="it-IT" sz="1800" dirty="0">
                <a:solidFill>
                  <a:srgbClr val="FF0000"/>
                </a:solidFill>
              </a:rPr>
              <a:t> </a:t>
            </a:r>
            <a:r>
              <a:rPr lang="en-GB" altLang="it-IT" sz="1800" dirty="0" err="1">
                <a:solidFill>
                  <a:srgbClr val="FF0000"/>
                </a:solidFill>
              </a:rPr>
              <a:t>nome</a:t>
            </a:r>
            <a:r>
              <a:rPr lang="en-GB" altLang="it-IT" sz="1800" dirty="0">
                <a:solidFill>
                  <a:srgbClr val="FF0000"/>
                </a:solidFill>
              </a:rPr>
              <a:t> </a:t>
            </a:r>
            <a:r>
              <a:rPr lang="en-GB" altLang="it-IT" sz="1800" dirty="0" err="1">
                <a:solidFill>
                  <a:srgbClr val="FF0000"/>
                </a:solidFill>
              </a:rPr>
              <a:t>della</a:t>
            </a:r>
            <a:r>
              <a:rPr lang="en-GB" altLang="it-IT" sz="1800" dirty="0">
                <a:solidFill>
                  <a:srgbClr val="FF0000"/>
                </a:solidFill>
              </a:rPr>
              <a:t> </a:t>
            </a:r>
            <a:r>
              <a:rPr lang="en-GB" altLang="it-IT" sz="1800" dirty="0" err="1">
                <a:solidFill>
                  <a:srgbClr val="FF0000"/>
                </a:solidFill>
              </a:rPr>
              <a:t>classe</a:t>
            </a:r>
            <a:r>
              <a:rPr lang="en-GB" altLang="it-IT" sz="1800" dirty="0">
                <a:solidFill>
                  <a:srgbClr val="FF0000"/>
                </a:solidFill>
              </a:rPr>
              <a:t> </a:t>
            </a:r>
            <a:r>
              <a:rPr lang="en-GB" altLang="it-IT" sz="1800" dirty="0"/>
              <a:t>e termina con </a:t>
            </a:r>
            <a:r>
              <a:rPr lang="en-GB" altLang="it-IT" sz="1800" dirty="0" err="1"/>
              <a:t>l’estensione</a:t>
            </a:r>
            <a:r>
              <a:rPr lang="en-GB" altLang="it-IT" sz="1800" dirty="0"/>
              <a:t> </a:t>
            </a:r>
            <a:r>
              <a:rPr lang="en-GB" altLang="it-IT" sz="1800" dirty="0">
                <a:solidFill>
                  <a:srgbClr val="FF0000"/>
                </a:solidFill>
              </a:rPr>
              <a:t>.java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altLang="it-IT" sz="1800" dirty="0">
              <a:latin typeface="Verdana" pitchFamily="34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169AF7C-20A0-7455-8BAC-ACBC14486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6" y="4509120"/>
            <a:ext cx="5534025" cy="120015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it-IT" altLang="it-IT" b="1">
                <a:solidFill>
                  <a:schemeClr val="tx1"/>
                </a:solidFill>
                <a:cs typeface="Times New Roman" pitchFamily="18" charset="0"/>
              </a:rPr>
              <a:t>public class</a:t>
            </a:r>
            <a:r>
              <a:rPr lang="it-IT" altLang="it-IT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it-IT" altLang="it-IT" err="1">
                <a:solidFill>
                  <a:schemeClr val="tx1"/>
                </a:solidFill>
                <a:cs typeface="Times New Roman" pitchFamily="18" charset="0"/>
              </a:rPr>
              <a:t>NomeClasse</a:t>
            </a:r>
            <a:r>
              <a:rPr lang="it-IT" altLang="it-IT">
                <a:solidFill>
                  <a:schemeClr val="tx1"/>
                </a:solidFill>
                <a:cs typeface="Times New Roman" pitchFamily="18" charset="0"/>
              </a:rPr>
              <a:t> { </a:t>
            </a:r>
          </a:p>
          <a:p>
            <a:pPr>
              <a:defRPr/>
            </a:pPr>
            <a:r>
              <a:rPr lang="it-IT" altLang="it-IT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it-IT" i="1"/>
              <a:t>dichiarazioni dei dati // attributi</a:t>
            </a:r>
          </a:p>
          <a:p>
            <a:pPr>
              <a:defRPr/>
            </a:pPr>
            <a:r>
              <a:rPr lang="it-IT" i="1"/>
              <a:t>   funzioni // metodi </a:t>
            </a:r>
            <a:endParaRPr lang="it-IT" altLang="it-IT">
              <a:solidFill>
                <a:schemeClr val="tx1"/>
              </a:solidFill>
              <a:cs typeface="Times New Roman" pitchFamily="18" charset="0"/>
            </a:endParaRPr>
          </a:p>
          <a:p>
            <a:pPr>
              <a:defRPr/>
            </a:pPr>
            <a:r>
              <a:rPr lang="it-IT" altLang="it-IT">
                <a:solidFill>
                  <a:schemeClr val="tx1"/>
                </a:solidFill>
                <a:cs typeface="Times New Roman" pitchFamily="18" charset="0"/>
              </a:rPr>
              <a:t>}</a:t>
            </a:r>
            <a:endParaRPr lang="en-GB" altLang="it-IT">
              <a:solidFill>
                <a:schemeClr val="tx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8EA337-54B0-6798-A332-536F029024C6}"/>
              </a:ext>
            </a:extLst>
          </p:cNvPr>
          <p:cNvSpPr txBox="1"/>
          <p:nvPr/>
        </p:nvSpPr>
        <p:spPr>
          <a:xfrm>
            <a:off x="3067301" y="5844341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File </a:t>
            </a:r>
            <a:r>
              <a:rPr lang="it-IT" err="1"/>
              <a:t>NomeClasse.java</a:t>
            </a:r>
            <a:endParaRPr lang="it-IT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3D6D41-1801-2CAA-3F5A-E8C6F6E1C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9088" y="144502"/>
            <a:ext cx="8824912" cy="584200"/>
          </a:xfrm>
        </p:spPr>
        <p:txBody>
          <a:bodyPr/>
          <a:lstStyle/>
          <a:p>
            <a:pPr eaLnBrk="1" hangingPunct="1"/>
            <a:r>
              <a:rPr lang="it-IT" altLang="it-IT" sz="3200"/>
              <a:t>Classi in Java e incapsulamento</a:t>
            </a:r>
            <a:endParaRPr lang="en-GB" altLang="it-IT" sz="32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793286F-15E4-F5CE-0535-47D519D0D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850539"/>
            <a:ext cx="7772400" cy="3632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it-IT" altLang="it-IT" sz="1800">
                <a:cs typeface="Times New Roman" panose="02020603050405020304" pitchFamily="18" charset="0"/>
              </a:rPr>
              <a:t>Una classe possiede, in generale, </a:t>
            </a:r>
            <a:r>
              <a:rPr lang="it-IT" altLang="it-IT" sz="1800" b="1">
                <a:solidFill>
                  <a:srgbClr val="FF0000"/>
                </a:solidFill>
                <a:cs typeface="Times New Roman" panose="02020603050405020304" pitchFamily="18" charset="0"/>
              </a:rPr>
              <a:t>membri pubblici e privati. 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1800" b="1">
                <a:cs typeface="Times New Roman" panose="02020603050405020304" pitchFamily="18" charset="0"/>
              </a:rPr>
              <a:t>I membri pubblici </a:t>
            </a:r>
            <a:r>
              <a:rPr lang="it-IT" altLang="it-IT" sz="1800">
                <a:cs typeface="Times New Roman" panose="02020603050405020304" pitchFamily="18" charset="0"/>
              </a:rPr>
              <a:t>sono tipicamente le operazioni (</a:t>
            </a:r>
            <a:r>
              <a:rPr lang="it-IT" altLang="it-IT" sz="1800" b="1" i="1">
                <a:cs typeface="Times New Roman" panose="02020603050405020304" pitchFamily="18" charset="0"/>
              </a:rPr>
              <a:t>metodi</a:t>
            </a:r>
            <a:r>
              <a:rPr lang="it-IT" altLang="it-IT" sz="1800">
                <a:cs typeface="Times New Roman" panose="02020603050405020304" pitchFamily="18" charset="0"/>
              </a:rPr>
              <a:t>) consentite ad un utilizzatore della classe. Esse sono</a:t>
            </a:r>
            <a:r>
              <a:rPr lang="it-IT" altLang="it-IT" sz="1800" i="1">
                <a:cs typeface="Times New Roman" panose="02020603050405020304" pitchFamily="18" charset="0"/>
              </a:rPr>
              <a:t> tutte e sole le</a:t>
            </a:r>
            <a:r>
              <a:rPr lang="it-IT" altLang="it-IT" sz="1800">
                <a:latin typeface="Monotype Corsiva" panose="03010101010201010101" pitchFamily="66" charset="0"/>
                <a:cs typeface="Times New Roman" panose="02020603050405020304" pitchFamily="18" charset="0"/>
              </a:rPr>
              <a:t> </a:t>
            </a:r>
            <a:r>
              <a:rPr lang="it-IT" altLang="it-IT" sz="1800">
                <a:cs typeface="Times New Roman" panose="02020603050405020304" pitchFamily="18" charset="0"/>
              </a:rPr>
              <a:t>operazioni che un utente può eseguire, in maniera esplicita od implicita, sugli oggetti. Ma se necessario e opportuno possono essere pubblici anche attributi il cui accesso si vuole consentire dall’esterno.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1800" b="1">
                <a:cs typeface="Times New Roman" panose="02020603050405020304" pitchFamily="18" charset="0"/>
              </a:rPr>
              <a:t>I membri privati </a:t>
            </a:r>
            <a:r>
              <a:rPr lang="it-IT" altLang="it-IT" sz="1800">
                <a:cs typeface="Times New Roman" panose="02020603050405020304" pitchFamily="18" charset="0"/>
              </a:rPr>
              <a:t>comprendono di solito le strutture dati (</a:t>
            </a:r>
            <a:r>
              <a:rPr lang="it-IT" altLang="it-IT" sz="1800" b="1">
                <a:cs typeface="Times New Roman" panose="02020603050405020304" pitchFamily="18" charset="0"/>
              </a:rPr>
              <a:t>variabili di istanza</a:t>
            </a:r>
            <a:r>
              <a:rPr lang="it-IT" altLang="it-IT" sz="1800">
                <a:cs typeface="Times New Roman" panose="02020603050405020304" pitchFamily="18" charset="0"/>
              </a:rPr>
              <a:t>) e le operazioni che si vogliono rendere inaccessibili dall'esterno (information </a:t>
            </a:r>
            <a:r>
              <a:rPr lang="it-IT" altLang="it-IT" sz="1800" err="1">
                <a:cs typeface="Times New Roman" panose="02020603050405020304" pitchFamily="18" charset="0"/>
              </a:rPr>
              <a:t>hiding</a:t>
            </a:r>
            <a:r>
              <a:rPr lang="it-IT" altLang="it-IT" sz="1800">
                <a:cs typeface="Times New Roman" panose="02020603050405020304" pitchFamily="18" charset="0"/>
              </a:rPr>
              <a:t>). </a:t>
            </a:r>
            <a:r>
              <a:rPr lang="it-IT" altLang="it-IT" sz="1800" i="1" u="sng">
                <a:cs typeface="Times New Roman" panose="02020603050405020304" pitchFamily="18" charset="0"/>
              </a:rPr>
              <a:t>Le variabili di istanza rappresentano lo stato degli oggetti.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1800">
                <a:cs typeface="Times New Roman" panose="02020603050405020304" pitchFamily="18" charset="0"/>
              </a:rPr>
              <a:t>Esempio: un tipo astratto Contatore in JAVA: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12F73F5-6E0C-561D-61F4-7BF3402FC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581" y="3933056"/>
            <a:ext cx="6192837" cy="270843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it-IT" altLang="it-IT" sz="1700" b="1">
                <a:solidFill>
                  <a:schemeClr val="tx1"/>
                </a:solidFill>
                <a:cs typeface="Times New Roman" pitchFamily="18" charset="0"/>
              </a:rPr>
              <a:t>public class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Contatore </a:t>
            </a: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{</a:t>
            </a:r>
          </a:p>
          <a:p>
            <a:pPr>
              <a:defRPr/>
            </a:pPr>
            <a:r>
              <a:rPr lang="it-IT" altLang="it-IT" sz="1700" b="1">
                <a:solidFill>
                  <a:schemeClr val="tx1"/>
                </a:solidFill>
                <a:cs typeface="Times New Roman" pitchFamily="18" charset="0"/>
              </a:rPr>
              <a:t>   private long </a:t>
            </a:r>
            <a:r>
              <a:rPr lang="it-IT" altLang="it-IT" sz="1700" err="1">
                <a:solidFill>
                  <a:schemeClr val="tx1"/>
                </a:solidFill>
                <a:cs typeface="Times New Roman" pitchFamily="18" charset="0"/>
              </a:rPr>
              <a:t>value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;    // variabile di istanza, valore corrente</a:t>
            </a: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it-IT" altLang="it-IT" sz="1700" b="1">
                <a:solidFill>
                  <a:schemeClr val="tx1"/>
                </a:solidFill>
                <a:cs typeface="Times New Roman" pitchFamily="18" charset="0"/>
              </a:rPr>
              <a:t>private long 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max;      // variabile di istanza, valore massimo</a:t>
            </a:r>
          </a:p>
          <a:p>
            <a:pPr>
              <a:defRPr/>
            </a:pPr>
            <a:endParaRPr lang="it-IT" altLang="it-IT" sz="1700">
              <a:solidFill>
                <a:schemeClr val="tx1"/>
              </a:solidFill>
              <a:cs typeface="Times New Roman" pitchFamily="18" charset="0"/>
            </a:endParaRP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  // operazione incremento</a:t>
            </a: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it-IT" altLang="it-IT" sz="1700" b="1">
                <a:solidFill>
                  <a:schemeClr val="tx1"/>
                </a:solidFill>
                <a:cs typeface="Times New Roman" pitchFamily="18" charset="0"/>
              </a:rPr>
              <a:t>public </a:t>
            </a:r>
            <a:r>
              <a:rPr lang="it-IT" altLang="it-IT" sz="1700" b="1" err="1">
                <a:solidFill>
                  <a:schemeClr val="tx1"/>
                </a:solidFill>
                <a:cs typeface="Times New Roman" pitchFamily="18" charset="0"/>
              </a:rPr>
              <a:t>void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Incrementa() {  // corpo del metodo }</a:t>
            </a:r>
            <a:endParaRPr lang="en-GB" altLang="it-IT" sz="17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  // operazione decremento</a:t>
            </a: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it-IT" altLang="it-IT" sz="1700" b="1">
                <a:solidFill>
                  <a:schemeClr val="tx1"/>
                </a:solidFill>
                <a:cs typeface="Times New Roman" pitchFamily="18" charset="0"/>
              </a:rPr>
              <a:t>public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it-IT" altLang="it-IT" sz="1700" b="1" err="1">
                <a:solidFill>
                  <a:schemeClr val="tx1"/>
                </a:solidFill>
                <a:cs typeface="Times New Roman" pitchFamily="18" charset="0"/>
              </a:rPr>
              <a:t>void</a:t>
            </a: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 Decrementa() {  // corpo del metodo }</a:t>
            </a:r>
          </a:p>
          <a:p>
            <a:pPr>
              <a:defRPr/>
            </a:pPr>
            <a:r>
              <a:rPr lang="it-IT" altLang="it-IT" sz="1700">
                <a:solidFill>
                  <a:schemeClr val="tx1"/>
                </a:solidFill>
                <a:cs typeface="Times New Roman" pitchFamily="18" charset="0"/>
              </a:rPr>
              <a:t>}</a:t>
            </a:r>
            <a:endParaRPr lang="en-GB" altLang="it-IT" sz="17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59886-6D8F-EF4D-EA63-FB7A00C6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87424"/>
            <a:ext cx="7543800" cy="1295400"/>
          </a:xfrm>
        </p:spPr>
        <p:txBody>
          <a:bodyPr/>
          <a:lstStyle/>
          <a:p>
            <a:r>
              <a:rPr lang="it-IT" altLang="it-IT" sz="3600"/>
              <a:t>Classi in Java e incapsulamento</a:t>
            </a:r>
            <a:endParaRPr lang="it-IT" sz="36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431860-EEC7-622A-F3DB-C1A8CAE08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dirty="0">
                <a:latin typeface="Arial" panose="020B0604020202020204" pitchFamily="34" charset="0"/>
              </a:rPr>
              <a:t>In generale in una classe ciò che è pubblico ne costituisce </a:t>
            </a:r>
            <a:r>
              <a:rPr lang="it-IT" dirty="0">
                <a:effectLst/>
                <a:latin typeface="Arial" panose="020B0604020202020204" pitchFamily="34" charset="0"/>
              </a:rPr>
              <a:t>l’interfaccia, accessibile a tutti</a:t>
            </a:r>
          </a:p>
          <a:p>
            <a:r>
              <a:rPr lang="it-IT" dirty="0">
                <a:effectLst/>
                <a:latin typeface="Arial" panose="020B0604020202020204" pitchFamily="34" charset="0"/>
              </a:rPr>
              <a:t>ciò che è privato ne costituisce l’implementazione che deve essere incapsulata e non accessibile</a:t>
            </a:r>
          </a:p>
          <a:p>
            <a:r>
              <a:rPr lang="it-IT" dirty="0">
                <a:effectLst/>
                <a:latin typeface="Arial" panose="020B0604020202020204" pitchFamily="34" charset="0"/>
              </a:rPr>
              <a:t>E’ possibile poi avere membri non definiti (né pubblici né privati)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0528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olo 1">
            <a:extLst>
              <a:ext uri="{FF2B5EF4-FFF2-40B4-BE49-F238E27FC236}">
                <a16:creationId xmlns:a16="http://schemas.microsoft.com/office/drawing/2014/main" id="{E1D1964E-E75B-E084-5EDD-FB570DC0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-171450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/>
              <a:t>UML</a:t>
            </a:r>
          </a:p>
        </p:txBody>
      </p:sp>
      <p:sp>
        <p:nvSpPr>
          <p:cNvPr id="10243" name="Segnaposto contenuto 2">
            <a:extLst>
              <a:ext uri="{FF2B5EF4-FFF2-40B4-BE49-F238E27FC236}">
                <a16:creationId xmlns:a16="http://schemas.microsoft.com/office/drawing/2014/main" id="{8396B619-DA9F-9C87-B974-132A9D8F2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4411662"/>
          </a:xfrm>
        </p:spPr>
        <p:txBody>
          <a:bodyPr/>
          <a:lstStyle/>
          <a:p>
            <a:pPr eaLnBrk="1" hangingPunct="1"/>
            <a:r>
              <a:rPr lang="it-IT" altLang="it-IT" sz="2400" b="1" i="1"/>
              <a:t>Unified Modeling Language </a:t>
            </a:r>
            <a:r>
              <a:rPr lang="it-IT" altLang="it-IT" sz="2400"/>
              <a:t>(UML) è uno dei linguaggi di rappresentazione grafica più utilizzati attualmente per la modellazione di sistemi orientati agli oggetti</a:t>
            </a:r>
          </a:p>
          <a:p>
            <a:pPr eaLnBrk="1" hangingPunct="1"/>
            <a:r>
              <a:rPr lang="it-IT" altLang="it-IT" sz="2400"/>
              <a:t>UML può essere utilizzato lungo tutte le fasi del ciclo di sviluppo del software, dalla specifica alla progettazione alla generazione (semi) automatica del codice</a:t>
            </a:r>
          </a:p>
          <a:p>
            <a:pPr eaLnBrk="1" hangingPunct="1"/>
            <a:r>
              <a:rPr lang="it-IT" altLang="it-IT" sz="2400"/>
              <a:t>UML è uno standard OMG, una delle sue caratteristiche più interessanti è </a:t>
            </a:r>
            <a:r>
              <a:rPr lang="it-IT" altLang="it-IT" sz="2400" i="1"/>
              <a:t>l’estensibilità e l’indipendenza da specifici approcci di progettazione ed analisi</a:t>
            </a:r>
          </a:p>
          <a:p>
            <a:pPr eaLnBrk="1" hangingPunct="1"/>
            <a:r>
              <a:rPr lang="it-IT" altLang="it-IT" sz="2400" i="1"/>
              <a:t>In questo corso utilizzeremo UML  per rappresentare le classi e le relazioni tra di esse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98F58EA1-7EAF-BD6F-4F49-3E828DBCE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-76200"/>
            <a:ext cx="8077200" cy="1143000"/>
          </a:xfrm>
        </p:spPr>
        <p:txBody>
          <a:bodyPr/>
          <a:lstStyle/>
          <a:p>
            <a:pPr eaLnBrk="1" hangingPunct="1"/>
            <a:r>
              <a:rPr lang="it-IT" altLang="it-IT"/>
              <a:t>Rappresentazione grafica</a:t>
            </a:r>
          </a:p>
        </p:txBody>
      </p:sp>
      <p:sp>
        <p:nvSpPr>
          <p:cNvPr id="1028" name="Text Box 24">
            <a:extLst>
              <a:ext uri="{FF2B5EF4-FFF2-40B4-BE49-F238E27FC236}">
                <a16:creationId xmlns:a16="http://schemas.microsoft.com/office/drawing/2014/main" id="{B359BBAA-47FF-657B-A7AD-DB8A80364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27150"/>
            <a:ext cx="8382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it-IT" sz="2400">
                <a:latin typeface="Verdana" panose="020B0604030504040204" pitchFamily="34" charset="0"/>
              </a:rPr>
              <a:t>La </a:t>
            </a:r>
            <a:r>
              <a:rPr lang="en-GB" altLang="it-IT" sz="2400" err="1">
                <a:latin typeface="Verdana" panose="020B0604030504040204" pitchFamily="34" charset="0"/>
              </a:rPr>
              <a:t>notazione</a:t>
            </a:r>
            <a:r>
              <a:rPr lang="en-GB" altLang="it-IT" sz="2400">
                <a:latin typeface="Verdana" panose="020B0604030504040204" pitchFamily="34" charset="0"/>
              </a:rPr>
              <a:t> UML per la </a:t>
            </a:r>
            <a:r>
              <a:rPr lang="en-GB" altLang="it-IT" sz="2400" err="1">
                <a:latin typeface="Verdana" panose="020B0604030504040204" pitchFamily="34" charset="0"/>
              </a:rPr>
              <a:t>rappresentazione</a:t>
            </a:r>
            <a:r>
              <a:rPr lang="en-GB" altLang="it-IT" sz="2400">
                <a:latin typeface="Verdana" panose="020B0604030504040204" pitchFamily="34" charset="0"/>
              </a:rPr>
              <a:t> di </a:t>
            </a:r>
            <a:r>
              <a:rPr lang="en-GB" altLang="it-IT" sz="2400" err="1">
                <a:latin typeface="Verdana" panose="020B0604030504040204" pitchFamily="34" charset="0"/>
              </a:rPr>
              <a:t>una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classe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è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una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i="1" err="1">
                <a:latin typeface="Verdana" panose="020B0604030504040204" pitchFamily="34" charset="0"/>
              </a:rPr>
              <a:t>metafora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nella</a:t>
            </a:r>
            <a:r>
              <a:rPr lang="en-GB" altLang="it-IT" sz="2400">
                <a:latin typeface="Verdana" panose="020B0604030504040204" pitchFamily="34" charset="0"/>
              </a:rPr>
              <a:t> quale </a:t>
            </a:r>
            <a:r>
              <a:rPr lang="en-GB" altLang="it-IT" sz="2400" err="1">
                <a:latin typeface="Verdana" panose="020B0604030504040204" pitchFamily="34" charset="0"/>
              </a:rPr>
              <a:t>sono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rappresentati</a:t>
            </a:r>
            <a:r>
              <a:rPr lang="en-GB" altLang="it-IT" sz="2400">
                <a:latin typeface="Verdana" panose="020B0604030504040204" pitchFamily="34" charset="0"/>
              </a:rPr>
              <a:t> in </a:t>
            </a:r>
            <a:r>
              <a:rPr lang="en-GB" altLang="it-IT" sz="2400" err="1">
                <a:latin typeface="Verdana" panose="020B0604030504040204" pitchFamily="34" charset="0"/>
              </a:rPr>
              <a:t>tre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sezioni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contigue</a:t>
            </a:r>
            <a:r>
              <a:rPr lang="en-GB" altLang="it-IT" sz="2400">
                <a:latin typeface="Verdana" panose="020B0604030504040204" pitchFamily="34" charset="0"/>
              </a:rPr>
              <a:t>: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GB" altLang="it-IT" sz="2400">
                <a:latin typeface="Verdana" panose="020B0604030504040204" pitchFamily="34" charset="0"/>
              </a:rPr>
              <a:t> il </a:t>
            </a:r>
            <a:r>
              <a:rPr lang="en-GB" altLang="it-IT" sz="2400" err="1">
                <a:latin typeface="Verdana" panose="020B0604030504040204" pitchFamily="34" charset="0"/>
              </a:rPr>
              <a:t>nome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della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Classe</a:t>
            </a:r>
            <a:endParaRPr lang="en-GB" altLang="it-IT" sz="2400">
              <a:latin typeface="Verdana" panose="020B0604030504040204" pitchFamily="34" charset="0"/>
            </a:endParaRPr>
          </a:p>
          <a:p>
            <a:pPr eaLnBrk="1" hangingPunct="1">
              <a:buFontTx/>
              <a:buBlip>
                <a:blip r:embed="rId2"/>
              </a:buBlip>
            </a:pPr>
            <a:r>
              <a:rPr lang="en-GB" altLang="it-IT" sz="2400">
                <a:latin typeface="Verdana" panose="020B0604030504040204" pitchFamily="34" charset="0"/>
              </a:rPr>
              <a:t> la </a:t>
            </a:r>
            <a:r>
              <a:rPr lang="en-GB" altLang="it-IT" sz="2400" err="1">
                <a:latin typeface="Verdana" panose="020B0604030504040204" pitchFamily="34" charset="0"/>
              </a:rPr>
              <a:t>struttura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dati</a:t>
            </a:r>
            <a:r>
              <a:rPr lang="en-GB" altLang="it-IT" sz="2400">
                <a:latin typeface="Verdana" panose="020B0604030504040204" pitchFamily="34" charset="0"/>
              </a:rPr>
              <a:t> (</a:t>
            </a:r>
            <a:r>
              <a:rPr lang="en-GB" altLang="it-IT" sz="2400" err="1">
                <a:latin typeface="Verdana" panose="020B0604030504040204" pitchFamily="34" charset="0"/>
              </a:rPr>
              <a:t>sequenza</a:t>
            </a:r>
            <a:r>
              <a:rPr lang="en-GB" altLang="it-IT" sz="2400">
                <a:latin typeface="Verdana" panose="020B0604030504040204" pitchFamily="34" charset="0"/>
              </a:rPr>
              <a:t> di </a:t>
            </a:r>
            <a:r>
              <a:rPr lang="en-GB" altLang="it-IT" sz="2400" i="1" err="1">
                <a:solidFill>
                  <a:srgbClr val="FF0000"/>
                </a:solidFill>
                <a:latin typeface="Verdana" panose="020B0604030504040204" pitchFamily="34" charset="0"/>
              </a:rPr>
              <a:t>variabili</a:t>
            </a:r>
            <a:r>
              <a:rPr lang="en-GB" altLang="it-IT" sz="2400" i="1">
                <a:solidFill>
                  <a:srgbClr val="FF0000"/>
                </a:solidFill>
                <a:latin typeface="Verdana" panose="020B0604030504040204" pitchFamily="34" charset="0"/>
              </a:rPr>
              <a:t> di </a:t>
            </a:r>
            <a:r>
              <a:rPr lang="en-GB" altLang="it-IT" sz="2400" i="1" err="1">
                <a:solidFill>
                  <a:srgbClr val="FF0000"/>
                </a:solidFill>
                <a:latin typeface="Verdana" panose="020B0604030504040204" pitchFamily="34" charset="0"/>
              </a:rPr>
              <a:t>istanza</a:t>
            </a:r>
            <a:r>
              <a:rPr lang="en-GB" altLang="it-IT" sz="2400">
                <a:latin typeface="Verdana" panose="020B0604030504040204" pitchFamily="34" charset="0"/>
              </a:rPr>
              <a:t>) 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GB" altLang="it-IT" sz="2400">
                <a:latin typeface="Verdana" panose="020B0604030504040204" pitchFamily="34" charset="0"/>
              </a:rPr>
              <a:t> le </a:t>
            </a:r>
            <a:r>
              <a:rPr lang="en-GB" altLang="it-IT" sz="2400" err="1">
                <a:latin typeface="Verdana" panose="020B0604030504040204" pitchFamily="34" charset="0"/>
              </a:rPr>
              <a:t>operazioni</a:t>
            </a:r>
            <a:r>
              <a:rPr lang="en-GB" altLang="it-IT" sz="2400">
                <a:latin typeface="Verdana" panose="020B0604030504040204" pitchFamily="34" charset="0"/>
              </a:rPr>
              <a:t>(</a:t>
            </a:r>
            <a:r>
              <a:rPr lang="en-GB" altLang="it-IT" sz="2400" i="1" err="1">
                <a:solidFill>
                  <a:srgbClr val="FF0000"/>
                </a:solidFill>
                <a:latin typeface="Verdana" panose="020B0604030504040204" pitchFamily="34" charset="0"/>
              </a:rPr>
              <a:t>metodi</a:t>
            </a:r>
            <a:r>
              <a:rPr lang="en-GB" altLang="it-IT" sz="2400" i="1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della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classe</a:t>
            </a:r>
            <a:r>
              <a:rPr lang="en-GB" altLang="it-IT" sz="2400">
                <a:latin typeface="Verdana" panose="020B0604030504040204" pitchFamily="34" charset="0"/>
              </a:rPr>
              <a:t>).</a:t>
            </a:r>
          </a:p>
        </p:txBody>
      </p:sp>
      <p:sp>
        <p:nvSpPr>
          <p:cNvPr id="1029" name="Rectangle 26">
            <a:extLst>
              <a:ext uri="{FF2B5EF4-FFF2-40B4-BE49-F238E27FC236}">
                <a16:creationId xmlns:a16="http://schemas.microsoft.com/office/drawing/2014/main" id="{1002E416-7583-8677-4CCA-0221E9564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graphicFrame>
        <p:nvGraphicFramePr>
          <p:cNvPr id="1026" name="Object 25">
            <a:extLst>
              <a:ext uri="{FF2B5EF4-FFF2-40B4-BE49-F238E27FC236}">
                <a16:creationId xmlns:a16="http://schemas.microsoft.com/office/drawing/2014/main" id="{E808B045-2305-6286-7A7E-26665EC23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942520"/>
              </p:ext>
            </p:extLst>
          </p:nvPr>
        </p:nvGraphicFramePr>
        <p:xfrm>
          <a:off x="885215" y="4339727"/>
          <a:ext cx="7103898" cy="23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3" imgW="6350000" imgH="2044700" progId="Word.Picture.8">
                  <p:embed/>
                </p:oleObj>
              </mc:Choice>
              <mc:Fallback>
                <p:oleObj name="Immagine" r:id="rId3" imgW="6350000" imgH="2044700" progId="Word.Picture.8">
                  <p:embed/>
                  <p:pic>
                    <p:nvPicPr>
                      <p:cNvPr id="1026" name="Object 25">
                        <a:extLst>
                          <a:ext uri="{FF2B5EF4-FFF2-40B4-BE49-F238E27FC236}">
                            <a16:creationId xmlns:a16="http://schemas.microsoft.com/office/drawing/2014/main" id="{E808B045-2305-6286-7A7E-26665EC23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215" y="4339727"/>
                        <a:ext cx="7103898" cy="230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olo 1">
            <a:extLst>
              <a:ext uri="{FF2B5EF4-FFF2-40B4-BE49-F238E27FC236}">
                <a16:creationId xmlns:a16="http://schemas.microsoft.com/office/drawing/2014/main" id="{B0AE6D15-77C7-2177-7691-726365A5C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315913"/>
            <a:ext cx="7543800" cy="1295401"/>
          </a:xfrm>
        </p:spPr>
        <p:txBody>
          <a:bodyPr/>
          <a:lstStyle/>
          <a:p>
            <a:r>
              <a:rPr lang="it-IT" altLang="it-IT" sz="3600"/>
              <a:t>Metafora per la classe Contatore</a:t>
            </a:r>
          </a:p>
        </p:txBody>
      </p:sp>
      <p:sp>
        <p:nvSpPr>
          <p:cNvPr id="2052" name="Segnaposto contenuto 2">
            <a:extLst>
              <a:ext uri="{FF2B5EF4-FFF2-40B4-BE49-F238E27FC236}">
                <a16:creationId xmlns:a16="http://schemas.microsoft.com/office/drawing/2014/main" id="{175EE367-09FC-234E-6E21-B76F2205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87463"/>
            <a:ext cx="7570787" cy="1636712"/>
          </a:xfrm>
        </p:spPr>
        <p:txBody>
          <a:bodyPr/>
          <a:lstStyle/>
          <a:p>
            <a:r>
              <a:rPr lang="it-IT" altLang="it-IT" sz="2400"/>
              <a:t>Il simbolo + accanto ai membri di una classe significa </a:t>
            </a:r>
            <a:r>
              <a:rPr lang="it-IT" altLang="it-IT" sz="2400" i="1"/>
              <a:t>public</a:t>
            </a:r>
          </a:p>
          <a:p>
            <a:r>
              <a:rPr lang="it-IT" altLang="it-IT" sz="2400"/>
              <a:t>Il simbolo - accanto ai membri di una classe significa </a:t>
            </a:r>
            <a:r>
              <a:rPr lang="it-IT" altLang="it-IT" sz="2400" i="1"/>
              <a:t>private</a:t>
            </a:r>
            <a:endParaRPr lang="it-IT" altLang="it-IT" i="1"/>
          </a:p>
          <a:p>
            <a:pPr>
              <a:buFont typeface="Wingdings" pitchFamily="2" charset="2"/>
              <a:buNone/>
            </a:pPr>
            <a:endParaRPr lang="it-IT" altLang="it-IT" i="1"/>
          </a:p>
        </p:txBody>
      </p:sp>
      <p:graphicFrame>
        <p:nvGraphicFramePr>
          <p:cNvPr id="2050" name="Object 25">
            <a:extLst>
              <a:ext uri="{FF2B5EF4-FFF2-40B4-BE49-F238E27FC236}">
                <a16:creationId xmlns:a16="http://schemas.microsoft.com/office/drawing/2014/main" id="{FA2EC7F7-7C70-73D8-58A7-6B42F279F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805273"/>
              </p:ext>
            </p:extLst>
          </p:nvPr>
        </p:nvGraphicFramePr>
        <p:xfrm>
          <a:off x="2151063" y="3587750"/>
          <a:ext cx="6761162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6350000" imgH="2044700" progId="Word.Picture.8">
                  <p:embed/>
                </p:oleObj>
              </mc:Choice>
              <mc:Fallback>
                <p:oleObj name="Immagine" r:id="rId2" imgW="6350000" imgH="2044700" progId="Word.Picture.8">
                  <p:embed/>
                  <p:pic>
                    <p:nvPicPr>
                      <p:cNvPr id="2050" name="Object 25">
                        <a:extLst>
                          <a:ext uri="{FF2B5EF4-FFF2-40B4-BE49-F238E27FC236}">
                            <a16:creationId xmlns:a16="http://schemas.microsoft.com/office/drawing/2014/main" id="{FA2EC7F7-7C70-73D8-58A7-6B42F279F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3587750"/>
                        <a:ext cx="6761162" cy="242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186CC5-1C61-3C56-990B-F51C9097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-243408"/>
            <a:ext cx="7543800" cy="1295400"/>
          </a:xfrm>
        </p:spPr>
        <p:txBody>
          <a:bodyPr/>
          <a:lstStyle/>
          <a:p>
            <a:r>
              <a:rPr lang="it-IT"/>
              <a:t>Running </a:t>
            </a:r>
            <a:r>
              <a:rPr lang="it-IT" err="1"/>
              <a:t>example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7868E2-4976-024A-1719-62AC230B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37" y="1223168"/>
            <a:ext cx="8229600" cy="5140053"/>
          </a:xfrm>
        </p:spPr>
        <p:txBody>
          <a:bodyPr>
            <a:normAutofit/>
          </a:bodyPr>
          <a:lstStyle/>
          <a:p>
            <a:r>
              <a:rPr lang="it-IT" dirty="0"/>
              <a:t>Utilizziamo la classe contatore per sviluppare un primo semplice esempio. L’implementazione della classe verrà estesa durante le lezioni.</a:t>
            </a:r>
            <a:endParaRPr lang="it-IT" i="1" dirty="0"/>
          </a:p>
          <a:p>
            <a:r>
              <a:rPr lang="it-IT" i="1" dirty="0"/>
              <a:t>Chiamiamo la </a:t>
            </a:r>
            <a:r>
              <a:rPr lang="it-IT" i="1" dirty="0">
                <a:solidFill>
                  <a:srgbClr val="FF0000"/>
                </a:solidFill>
              </a:rPr>
              <a:t>classe Counter </a:t>
            </a:r>
            <a:r>
              <a:rPr lang="it-IT" i="1" dirty="0"/>
              <a:t>e dotiamola di delle </a:t>
            </a:r>
            <a:r>
              <a:rPr lang="it-IT" i="1" dirty="0">
                <a:solidFill>
                  <a:srgbClr val="FF0000"/>
                </a:solidFill>
              </a:rPr>
              <a:t>due variabili di istanza private </a:t>
            </a:r>
            <a:r>
              <a:rPr lang="it-IT" i="1" dirty="0" err="1">
                <a:solidFill>
                  <a:srgbClr val="00B050"/>
                </a:solidFill>
              </a:rPr>
              <a:t>value</a:t>
            </a:r>
            <a:r>
              <a:rPr lang="it-IT" i="1" dirty="0">
                <a:solidFill>
                  <a:srgbClr val="00B050"/>
                </a:solidFill>
              </a:rPr>
              <a:t> e max</a:t>
            </a:r>
            <a:r>
              <a:rPr lang="it-IT" i="1" dirty="0"/>
              <a:t> e dei </a:t>
            </a:r>
            <a:r>
              <a:rPr lang="it-IT" i="1" dirty="0">
                <a:solidFill>
                  <a:srgbClr val="FF0000"/>
                </a:solidFill>
              </a:rPr>
              <a:t>due metodi pubblici </a:t>
            </a:r>
            <a:r>
              <a:rPr lang="it-IT" i="1" dirty="0"/>
              <a:t>per incrementare e decrementare il contatore come nella metafora UML.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850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93FFE-FF00-3A79-1D99-72B7BE03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171400"/>
            <a:ext cx="7543800" cy="1295400"/>
          </a:xfrm>
        </p:spPr>
        <p:txBody>
          <a:bodyPr/>
          <a:lstStyle/>
          <a:p>
            <a:r>
              <a:rPr lang="it-IT"/>
              <a:t>Classe Counter – versione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8A300E-1BB9-F6DA-6D27-D88A9D77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733" y="1859339"/>
            <a:ext cx="3754760" cy="4411662"/>
          </a:xfrm>
        </p:spPr>
        <p:txBody>
          <a:bodyPr/>
          <a:lstStyle/>
          <a:p>
            <a:r>
              <a:rPr lang="it-IT" sz="2400" dirty="0"/>
              <a:t>La classe Counter può essere utilizzata in quanto public</a:t>
            </a:r>
          </a:p>
          <a:p>
            <a:r>
              <a:rPr lang="it-IT" sz="2400" dirty="0"/>
              <a:t>Le variabili di istanza sono private e quindi non accessibili</a:t>
            </a:r>
          </a:p>
          <a:p>
            <a:r>
              <a:rPr lang="it-IT" sz="2400" dirty="0"/>
              <a:t>I metodi </a:t>
            </a:r>
            <a:r>
              <a:rPr lang="it-IT" sz="2400" i="1" dirty="0" err="1"/>
              <a:t>increment</a:t>
            </a:r>
            <a:r>
              <a:rPr lang="it-IT" sz="2400" dirty="0"/>
              <a:t> e </a:t>
            </a:r>
            <a:r>
              <a:rPr lang="it-IT" sz="2400" i="1" dirty="0" err="1"/>
              <a:t>decrement</a:t>
            </a:r>
            <a:r>
              <a:rPr lang="it-IT" sz="2400" i="1" dirty="0"/>
              <a:t> </a:t>
            </a:r>
            <a:r>
              <a:rPr lang="it-IT" sz="2400" dirty="0"/>
              <a:t>sono pubblici e quindi accessibili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8C747F-1563-9FC7-8446-3EE6BE221338}"/>
              </a:ext>
            </a:extLst>
          </p:cNvPr>
          <p:cNvSpPr txBox="1"/>
          <p:nvPr/>
        </p:nvSpPr>
        <p:spPr>
          <a:xfrm>
            <a:off x="375499" y="1859339"/>
            <a:ext cx="3865161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public class </a:t>
            </a:r>
            <a:r>
              <a:rPr lang="it-IT" dirty="0"/>
              <a:t>Counter {</a:t>
            </a:r>
          </a:p>
          <a:p>
            <a:r>
              <a:rPr lang="it-IT" dirty="0"/>
              <a:t>    </a:t>
            </a:r>
          </a:p>
          <a:p>
            <a:r>
              <a:rPr lang="it-IT" dirty="0">
                <a:solidFill>
                  <a:srgbClr val="FF0000"/>
                </a:solidFill>
              </a:rPr>
              <a:t>    private long </a:t>
            </a:r>
            <a:r>
              <a:rPr lang="it-IT" dirty="0" err="1"/>
              <a:t>value</a:t>
            </a:r>
            <a:r>
              <a:rPr lang="it-IT" dirty="0"/>
              <a:t>;</a:t>
            </a:r>
          </a:p>
          <a:p>
            <a:r>
              <a:rPr lang="it-IT" dirty="0">
                <a:solidFill>
                  <a:srgbClr val="FF0000"/>
                </a:solidFill>
              </a:rPr>
              <a:t>    private long </a:t>
            </a:r>
            <a:r>
              <a:rPr lang="it-IT" dirty="0"/>
              <a:t>max;</a:t>
            </a:r>
          </a:p>
          <a:p>
            <a:r>
              <a:rPr lang="it-IT" dirty="0"/>
              <a:t>    </a:t>
            </a:r>
          </a:p>
          <a:p>
            <a:r>
              <a:rPr lang="it-IT" dirty="0">
                <a:solidFill>
                  <a:srgbClr val="FF0000"/>
                </a:solidFill>
              </a:rPr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increment</a:t>
            </a:r>
            <a:r>
              <a:rPr lang="it-IT" dirty="0"/>
              <a:t>() {</a:t>
            </a:r>
            <a:r>
              <a:rPr lang="it-IT" dirty="0" err="1"/>
              <a:t>value</a:t>
            </a:r>
            <a:r>
              <a:rPr lang="it-IT" dirty="0"/>
              <a:t>++;}</a:t>
            </a:r>
          </a:p>
          <a:p>
            <a:r>
              <a:rPr lang="it-IT" dirty="0">
                <a:solidFill>
                  <a:srgbClr val="FF0000"/>
                </a:solidFill>
              </a:rPr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decrement</a:t>
            </a:r>
            <a:r>
              <a:rPr lang="it-IT" dirty="0"/>
              <a:t>() {</a:t>
            </a:r>
            <a:r>
              <a:rPr lang="it-IT" dirty="0" err="1"/>
              <a:t>value</a:t>
            </a:r>
            <a:r>
              <a:rPr lang="it-IT" dirty="0"/>
              <a:t>--;}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9BED8A0-2696-A24B-6301-1DCAACC9E7D9}"/>
              </a:ext>
            </a:extLst>
          </p:cNvPr>
          <p:cNvSpPr txBox="1"/>
          <p:nvPr/>
        </p:nvSpPr>
        <p:spPr>
          <a:xfrm>
            <a:off x="1099195" y="5373216"/>
            <a:ext cx="206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File: </a:t>
            </a:r>
            <a:r>
              <a:rPr lang="it-IT" b="1" err="1"/>
              <a:t>Counter.java</a:t>
            </a:r>
            <a:endParaRPr lang="it-IT" b="1"/>
          </a:p>
        </p:txBody>
      </p:sp>
    </p:spTree>
    <p:extLst>
      <p:ext uri="{BB962C8B-B14F-4D97-AF65-F5344CB8AC3E}">
        <p14:creationId xmlns:p14="http://schemas.microsoft.com/office/powerpoint/2010/main" val="14820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BDC49-C816-D074-FCF4-A30502BD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Classe di prova – versione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4F787F-F8F8-1973-4646-DEDCFB43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719263"/>
            <a:ext cx="4114800" cy="4411662"/>
          </a:xfrm>
        </p:spPr>
        <p:txBody>
          <a:bodyPr/>
          <a:lstStyle/>
          <a:p>
            <a:r>
              <a:rPr lang="it-IT" sz="2000"/>
              <a:t>Per provare la classe Counter è necessario che vengano istanziati oggetti della classe e che un metodo </a:t>
            </a:r>
            <a:r>
              <a:rPr lang="it-IT" sz="2000" err="1"/>
              <a:t>main</a:t>
            </a:r>
            <a:r>
              <a:rPr lang="it-IT" sz="2000"/>
              <a:t> sia presente </a:t>
            </a:r>
            <a:r>
              <a:rPr lang="it-IT" sz="2000" i="1">
                <a:latin typeface="Helvetica" pitchFamily="2" charset="0"/>
              </a:rPr>
              <a:t>in modo che l</a:t>
            </a:r>
            <a:r>
              <a:rPr lang="it-IT" sz="2000" i="1">
                <a:effectLst/>
                <a:latin typeface="Helvetica" pitchFamily="2" charset="0"/>
              </a:rPr>
              <a:t>a </a:t>
            </a:r>
            <a:r>
              <a:rPr lang="it-IT" sz="2000" i="1" err="1">
                <a:effectLst/>
                <a:latin typeface="Helvetica" pitchFamily="2" charset="0"/>
              </a:rPr>
              <a:t>virtual</a:t>
            </a:r>
            <a:r>
              <a:rPr lang="it-IT" sz="2000" i="1">
                <a:effectLst/>
                <a:latin typeface="Helvetica" pitchFamily="2" charset="0"/>
              </a:rPr>
              <a:t> machine possa eseguire</a:t>
            </a:r>
            <a:r>
              <a:rPr lang="it-IT" sz="2000" i="1">
                <a:latin typeface="Helvetica" pitchFamily="2" charset="0"/>
              </a:rPr>
              <a:t> </a:t>
            </a:r>
            <a:r>
              <a:rPr lang="it-IT" sz="2000" i="1">
                <a:effectLst/>
                <a:latin typeface="Helvetica" pitchFamily="2" charset="0"/>
              </a:rPr>
              <a:t>l’applicazione (la JVM invoca automaticamente solo il</a:t>
            </a:r>
            <a:r>
              <a:rPr lang="it-IT" sz="2000">
                <a:latin typeface="Helvetica" pitchFamily="2" charset="0"/>
              </a:rPr>
              <a:t> </a:t>
            </a:r>
            <a:r>
              <a:rPr lang="it-IT" sz="2000" i="1">
                <a:effectLst/>
                <a:latin typeface="Helvetica" pitchFamily="2" charset="0"/>
              </a:rPr>
              <a:t>metodo </a:t>
            </a:r>
            <a:r>
              <a:rPr lang="it-IT" sz="2000" i="1" err="1">
                <a:effectLst/>
                <a:latin typeface="Helvetica" pitchFamily="2" charset="0"/>
              </a:rPr>
              <a:t>main</a:t>
            </a:r>
            <a:r>
              <a:rPr lang="it-IT" sz="2000" i="1">
                <a:effectLst/>
                <a:latin typeface="Helvetica" pitchFamily="2" charset="0"/>
              </a:rPr>
              <a:t>)</a:t>
            </a:r>
          </a:p>
          <a:p>
            <a:r>
              <a:rPr lang="it-IT" sz="2000" i="1">
                <a:effectLst/>
                <a:latin typeface="Helvetica" pitchFamily="2" charset="0"/>
              </a:rPr>
              <a:t>Ogni classe che contiene un metodo </a:t>
            </a:r>
            <a:r>
              <a:rPr lang="it-IT" sz="2000" i="1" err="1">
                <a:effectLst/>
                <a:latin typeface="Helvetica" pitchFamily="2" charset="0"/>
              </a:rPr>
              <a:t>main</a:t>
            </a:r>
            <a:r>
              <a:rPr lang="it-IT" sz="2000" i="1">
                <a:latin typeface="Helvetica" pitchFamily="2" charset="0"/>
              </a:rPr>
              <a:t> è </a:t>
            </a:r>
            <a:r>
              <a:rPr lang="it-IT" sz="2000" i="1">
                <a:effectLst/>
                <a:latin typeface="Helvetica" pitchFamily="2" charset="0"/>
              </a:rPr>
              <a:t>un’applicazione Java, la classe Counter non contiene un metodo </a:t>
            </a:r>
            <a:r>
              <a:rPr lang="it-IT" sz="2000" i="1" err="1">
                <a:effectLst/>
                <a:latin typeface="Helvetica" pitchFamily="2" charset="0"/>
              </a:rPr>
              <a:t>main</a:t>
            </a:r>
            <a:r>
              <a:rPr lang="it-IT" sz="2000" i="1">
                <a:effectLst/>
                <a:latin typeface="Helvetica" pitchFamily="2" charset="0"/>
              </a:rPr>
              <a:t> e quindi da sola non costituisce una applicazione Java</a:t>
            </a:r>
            <a:endParaRPr lang="it-IT" sz="2000">
              <a:effectLst/>
              <a:latin typeface="Helvetica" pitchFamily="2" charset="0"/>
            </a:endParaRPr>
          </a:p>
          <a:p>
            <a:endParaRPr lang="it-IT" sz="2000">
              <a:effectLst/>
              <a:latin typeface="Helvetica" pitchFamily="2" charset="0"/>
            </a:endParaRPr>
          </a:p>
          <a:p>
            <a:endParaRPr lang="it-IT" sz="20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5F4E895-2488-CB91-A342-DCBF32BCB458}"/>
              </a:ext>
            </a:extLst>
          </p:cNvPr>
          <p:cNvSpPr txBox="1"/>
          <p:nvPr/>
        </p:nvSpPr>
        <p:spPr>
          <a:xfrm>
            <a:off x="334943" y="1844824"/>
            <a:ext cx="4416594" cy="2862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dirty="0"/>
          </a:p>
          <a:p>
            <a:r>
              <a:rPr lang="it-IT" b="1" dirty="0">
                <a:solidFill>
                  <a:srgbClr val="FF0000"/>
                </a:solidFill>
              </a:rPr>
              <a:t>public class </a:t>
            </a:r>
            <a:r>
              <a:rPr lang="it-IT" dirty="0" err="1"/>
              <a:t>RunningExamples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b="1" dirty="0">
                <a:solidFill>
                  <a:srgbClr val="FF0000"/>
                </a:solidFill>
              </a:rPr>
              <a:t>    public </a:t>
            </a:r>
            <a:r>
              <a:rPr lang="it-IT" b="1" dirty="0" err="1">
                <a:solidFill>
                  <a:srgbClr val="FF0000"/>
                </a:solidFill>
              </a:rPr>
              <a:t>static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</a:t>
            </a:r>
          </a:p>
          <a:p>
            <a:r>
              <a:rPr lang="it-IT" dirty="0"/>
              <a:t>        Counter c = new Counter();</a:t>
            </a:r>
          </a:p>
          <a:p>
            <a:r>
              <a:rPr lang="it-IT" dirty="0"/>
              <a:t>        </a:t>
            </a:r>
            <a:r>
              <a:rPr lang="it-IT" dirty="0" err="1"/>
              <a:t>c.increment</a:t>
            </a:r>
            <a:r>
              <a:rPr lang="it-IT" dirty="0"/>
              <a:t>();</a:t>
            </a:r>
          </a:p>
          <a:p>
            <a:r>
              <a:rPr lang="it-IT" dirty="0"/>
              <a:t>        </a:t>
            </a:r>
            <a:r>
              <a:rPr lang="it-IT" dirty="0" err="1"/>
              <a:t>c.decrement</a:t>
            </a:r>
            <a:r>
              <a:rPr lang="it-IT" dirty="0"/>
              <a:t>();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4A0E30-CE0E-6A73-2DEB-C2F536AD664A}"/>
              </a:ext>
            </a:extLst>
          </p:cNvPr>
          <p:cNvSpPr txBox="1"/>
          <p:nvPr/>
        </p:nvSpPr>
        <p:spPr>
          <a:xfrm>
            <a:off x="1120557" y="5503664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File: </a:t>
            </a:r>
            <a:r>
              <a:rPr lang="it-IT" err="1"/>
              <a:t>RunningExamples.java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132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6644F1-CF4C-00AA-DB30-D9DB910D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56" y="-531440"/>
            <a:ext cx="7543800" cy="1295400"/>
          </a:xfrm>
        </p:spPr>
        <p:txBody>
          <a:bodyPr/>
          <a:lstStyle/>
          <a:p>
            <a:r>
              <a:rPr lang="it-IT"/>
              <a:t>Classe di prova – versione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F304A1-4B50-05F1-D35A-6281106BD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270" y="925557"/>
            <a:ext cx="4558209" cy="5224722"/>
          </a:xfrm>
        </p:spPr>
        <p:txBody>
          <a:bodyPr>
            <a:normAutofit fontScale="92500" lnSpcReduction="10000"/>
          </a:bodyPr>
          <a:lstStyle/>
          <a:p>
            <a:r>
              <a:rPr lang="it-IT" sz="1800" dirty="0"/>
              <a:t>Il </a:t>
            </a:r>
            <a:r>
              <a:rPr lang="it-IT" sz="1800" dirty="0" err="1"/>
              <a:t>main</a:t>
            </a:r>
            <a:r>
              <a:rPr lang="it-IT" sz="1800" dirty="0"/>
              <a:t> è sempre un metodo di          una classe (in questo caso della   classe </a:t>
            </a:r>
            <a:r>
              <a:rPr lang="it-IT" sz="1800" dirty="0" err="1"/>
              <a:t>RunningExamples</a:t>
            </a:r>
            <a:r>
              <a:rPr lang="it-IT" sz="1800" dirty="0"/>
              <a:t>)</a:t>
            </a:r>
          </a:p>
          <a:p>
            <a:r>
              <a:rPr lang="it-IT" sz="1800" dirty="0"/>
              <a:t>Quindi il file sorgente si chiama </a:t>
            </a:r>
            <a:r>
              <a:rPr lang="it-IT" sz="1800" dirty="0" err="1"/>
              <a:t>RunningExamples.java</a:t>
            </a:r>
            <a:endParaRPr lang="it-IT" sz="1800" dirty="0"/>
          </a:p>
          <a:p>
            <a:r>
              <a:rPr lang="it-IT" sz="1800" dirty="0"/>
              <a:t>La classe </a:t>
            </a:r>
            <a:r>
              <a:rPr lang="it-IT" sz="1800" dirty="0" err="1"/>
              <a:t>RunningExample</a:t>
            </a:r>
            <a:r>
              <a:rPr lang="it-IT" sz="1800" dirty="0"/>
              <a:t> è pubblica ed </a:t>
            </a:r>
            <a:r>
              <a:rPr lang="it-IT" sz="1800" i="1" u="sng" dirty="0"/>
              <a:t>è stata inserita nella stessa cartella (package) in cui si trova la classe Counter</a:t>
            </a:r>
            <a:r>
              <a:rPr lang="it-IT" sz="1800" dirty="0"/>
              <a:t>, in questo modo la classe </a:t>
            </a:r>
            <a:r>
              <a:rPr lang="it-IT" sz="1800" dirty="0" err="1"/>
              <a:t>RunningExamples</a:t>
            </a:r>
            <a:r>
              <a:rPr lang="it-IT" sz="1800" dirty="0"/>
              <a:t> può utilizzare senza problemi la classe Counter ed essere a sua volta utilizzata da altre classi che aggiungeremo allo stesso percorso (package).</a:t>
            </a:r>
          </a:p>
          <a:p>
            <a:r>
              <a:rPr lang="it-IT" sz="1800" b="1" dirty="0"/>
              <a:t>Il metodo </a:t>
            </a:r>
            <a:r>
              <a:rPr lang="it-IT" sz="1800" b="1" dirty="0" err="1"/>
              <a:t>main</a:t>
            </a:r>
            <a:r>
              <a:rPr lang="it-IT" sz="1800" b="1" dirty="0"/>
              <a:t> è dichiarato </a:t>
            </a:r>
            <a:r>
              <a:rPr lang="it-IT" sz="1800" dirty="0"/>
              <a:t>pubblico (ovviamente) ed è dichiarato </a:t>
            </a:r>
            <a:r>
              <a:rPr lang="it-IT" sz="1800" b="1" dirty="0" err="1"/>
              <a:t>static</a:t>
            </a:r>
            <a:r>
              <a:rPr lang="it-IT" sz="1800" dirty="0"/>
              <a:t>, questo significa che </a:t>
            </a:r>
            <a:r>
              <a:rPr lang="it-IT" sz="1800" i="1" u="sng" dirty="0"/>
              <a:t>può essere eseguito anche se non è stato istanziato nessun oggetto della classe alla quale appartiene </a:t>
            </a:r>
            <a:r>
              <a:rPr lang="it-IT" sz="1800" dirty="0"/>
              <a:t>(</a:t>
            </a:r>
            <a:r>
              <a:rPr lang="it-IT" sz="1800" dirty="0" err="1"/>
              <a:t>RunningExamples</a:t>
            </a:r>
            <a:r>
              <a:rPr lang="it-IT" sz="1800" dirty="0"/>
              <a:t>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DED6CF-A911-41E9-F5AD-6AA19EC43667}"/>
              </a:ext>
            </a:extLst>
          </p:cNvPr>
          <p:cNvSpPr txBox="1"/>
          <p:nvPr/>
        </p:nvSpPr>
        <p:spPr>
          <a:xfrm>
            <a:off x="466456" y="1052736"/>
            <a:ext cx="3822958" cy="30469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it-IT" sz="1600" dirty="0"/>
          </a:p>
          <a:p>
            <a:endParaRPr lang="it-IT" sz="1600" dirty="0"/>
          </a:p>
          <a:p>
            <a:r>
              <a:rPr lang="it-IT" sz="1600" b="1" dirty="0">
                <a:solidFill>
                  <a:srgbClr val="FF0000"/>
                </a:solidFill>
              </a:rPr>
              <a:t>public class </a:t>
            </a:r>
            <a:r>
              <a:rPr lang="it-IT" sz="1600" dirty="0" err="1"/>
              <a:t>RunningExamples</a:t>
            </a:r>
            <a:r>
              <a:rPr lang="it-IT" sz="1600" dirty="0"/>
              <a:t> {</a:t>
            </a:r>
          </a:p>
          <a:p>
            <a:endParaRPr lang="it-IT" sz="1600" dirty="0"/>
          </a:p>
          <a:p>
            <a:r>
              <a:rPr lang="it-IT" sz="1600" b="1" dirty="0">
                <a:solidFill>
                  <a:srgbClr val="FF0000"/>
                </a:solidFill>
              </a:rPr>
              <a:t>    public </a:t>
            </a:r>
            <a:r>
              <a:rPr lang="it-IT" sz="1600" b="1" dirty="0" err="1">
                <a:solidFill>
                  <a:srgbClr val="FF0000"/>
                </a:solidFill>
              </a:rPr>
              <a:t>static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dirty="0" err="1"/>
              <a:t>void</a:t>
            </a:r>
            <a:r>
              <a:rPr lang="it-IT" sz="1600" dirty="0"/>
              <a:t> </a:t>
            </a:r>
            <a:r>
              <a:rPr lang="it-IT" sz="1600" b="1" dirty="0" err="1"/>
              <a:t>main</a:t>
            </a:r>
            <a:r>
              <a:rPr lang="it-IT" sz="1600" dirty="0"/>
              <a:t>(</a:t>
            </a:r>
            <a:r>
              <a:rPr lang="it-IT" sz="1600" dirty="0" err="1"/>
              <a:t>String</a:t>
            </a:r>
            <a:r>
              <a:rPr lang="it-IT" sz="1600" dirty="0"/>
              <a:t>[] </a:t>
            </a:r>
            <a:r>
              <a:rPr lang="it-IT" sz="1600" dirty="0" err="1"/>
              <a:t>args</a:t>
            </a:r>
            <a:r>
              <a:rPr lang="it-IT" sz="1600" dirty="0"/>
              <a:t>) {</a:t>
            </a:r>
          </a:p>
          <a:p>
            <a:r>
              <a:rPr lang="it-IT" sz="1600" dirty="0"/>
              <a:t>    </a:t>
            </a:r>
          </a:p>
          <a:p>
            <a:r>
              <a:rPr lang="it-IT" sz="1600" dirty="0"/>
              <a:t>        Counter c = </a:t>
            </a:r>
            <a:r>
              <a:rPr lang="it-IT" sz="1600" b="1" dirty="0">
                <a:solidFill>
                  <a:srgbClr val="00B050"/>
                </a:solidFill>
              </a:rPr>
              <a:t>new</a:t>
            </a:r>
            <a:r>
              <a:rPr lang="it-IT" sz="1600" dirty="0"/>
              <a:t> Counter();</a:t>
            </a:r>
          </a:p>
          <a:p>
            <a:r>
              <a:rPr lang="it-IT" sz="1600" dirty="0"/>
              <a:t>        </a:t>
            </a:r>
            <a:r>
              <a:rPr lang="it-IT" sz="1600" b="1" dirty="0" err="1">
                <a:solidFill>
                  <a:srgbClr val="00B0F0"/>
                </a:solidFill>
              </a:rPr>
              <a:t>c.increment</a:t>
            </a:r>
            <a:r>
              <a:rPr lang="it-IT" sz="1600" b="1" dirty="0">
                <a:solidFill>
                  <a:srgbClr val="00B0F0"/>
                </a:solidFill>
              </a:rPr>
              <a:t>();</a:t>
            </a:r>
          </a:p>
          <a:p>
            <a:r>
              <a:rPr lang="it-IT" sz="1600" b="1" dirty="0">
                <a:solidFill>
                  <a:srgbClr val="00B0F0"/>
                </a:solidFill>
              </a:rPr>
              <a:t>        </a:t>
            </a:r>
            <a:r>
              <a:rPr lang="it-IT" sz="1600" b="1" dirty="0" err="1">
                <a:solidFill>
                  <a:srgbClr val="00B0F0"/>
                </a:solidFill>
              </a:rPr>
              <a:t>c.decrement</a:t>
            </a:r>
            <a:r>
              <a:rPr lang="it-IT" sz="1600" b="1" dirty="0">
                <a:solidFill>
                  <a:srgbClr val="00B0F0"/>
                </a:solidFill>
              </a:rPr>
              <a:t>();</a:t>
            </a:r>
          </a:p>
          <a:p>
            <a:r>
              <a:rPr lang="it-IT" sz="1600" dirty="0"/>
              <a:t>    }</a:t>
            </a:r>
          </a:p>
          <a:p>
            <a:r>
              <a:rPr lang="it-IT" sz="1600" dirty="0"/>
              <a:t>}</a:t>
            </a:r>
          </a:p>
        </p:txBody>
      </p:sp>
      <p:sp>
        <p:nvSpPr>
          <p:cNvPr id="5" name="Fumetto 3 4">
            <a:extLst>
              <a:ext uri="{FF2B5EF4-FFF2-40B4-BE49-F238E27FC236}">
                <a16:creationId xmlns:a16="http://schemas.microsoft.com/office/drawing/2014/main" id="{FF5B2207-9CFC-9DEC-FEC1-3B55DF76D431}"/>
              </a:ext>
            </a:extLst>
          </p:cNvPr>
          <p:cNvSpPr/>
          <p:nvPr/>
        </p:nvSpPr>
        <p:spPr bwMode="auto">
          <a:xfrm>
            <a:off x="1707793" y="5085184"/>
            <a:ext cx="2820591" cy="1341656"/>
          </a:xfrm>
          <a:prstGeom prst="wedgeEllipseCallout">
            <a:avLst>
              <a:gd name="adj1" fmla="val -18532"/>
              <a:gd name="adj2" fmla="val -180413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L’istruzione new Counter()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400" err="1"/>
              <a:t>instanzia</a:t>
            </a:r>
            <a:r>
              <a:rPr lang="it-IT" sz="1400"/>
              <a:t> un oggetto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400"/>
              <a:t>della classe Counter</a:t>
            </a:r>
            <a:endParaRPr kumimoji="0" lang="it-IT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11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76D2-B0D6-32C2-1279-76DB09B3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FDE409-6F68-D9C8-8E55-60B681DC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56" y="-531440"/>
            <a:ext cx="7543800" cy="1295400"/>
          </a:xfrm>
        </p:spPr>
        <p:txBody>
          <a:bodyPr/>
          <a:lstStyle/>
          <a:p>
            <a:r>
              <a:rPr lang="it-IT"/>
              <a:t>Classe di prova – versione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4E563B-E301-13FE-25FC-71182EBA7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270" y="925556"/>
            <a:ext cx="4558209" cy="5349983"/>
          </a:xfrm>
        </p:spPr>
        <p:txBody>
          <a:bodyPr>
            <a:normAutofit lnSpcReduction="10000"/>
          </a:bodyPr>
          <a:lstStyle/>
          <a:p>
            <a:r>
              <a:rPr lang="it-IT" sz="1800" dirty="0"/>
              <a:t>Il </a:t>
            </a:r>
            <a:r>
              <a:rPr lang="it-IT" sz="1800" dirty="0" err="1"/>
              <a:t>main</a:t>
            </a:r>
            <a:r>
              <a:rPr lang="it-IT" sz="1800" dirty="0"/>
              <a:t> è sempre un metodo di          una classe (in questo caso della   classe </a:t>
            </a:r>
            <a:r>
              <a:rPr lang="it-IT" sz="1800" dirty="0" err="1"/>
              <a:t>RunningExamples</a:t>
            </a:r>
            <a:r>
              <a:rPr lang="it-IT" sz="1800" dirty="0"/>
              <a:t>)</a:t>
            </a:r>
          </a:p>
          <a:p>
            <a:r>
              <a:rPr lang="it-IT" sz="1800" dirty="0"/>
              <a:t>Quindi il file sorgente si chiama </a:t>
            </a:r>
            <a:r>
              <a:rPr lang="it-IT" sz="1800" dirty="0" err="1"/>
              <a:t>RunningExamples.java</a:t>
            </a:r>
            <a:endParaRPr lang="it-IT" sz="1800" dirty="0"/>
          </a:p>
          <a:p>
            <a:r>
              <a:rPr lang="it-IT" sz="1800" dirty="0"/>
              <a:t>La classe </a:t>
            </a:r>
            <a:r>
              <a:rPr lang="it-IT" sz="1800" dirty="0" err="1"/>
              <a:t>RunningExample</a:t>
            </a:r>
            <a:r>
              <a:rPr lang="it-IT" sz="1800" dirty="0"/>
              <a:t> è pubblica ed </a:t>
            </a:r>
            <a:r>
              <a:rPr lang="it-IT" sz="1800" i="1" u="sng" dirty="0"/>
              <a:t>è stata inserita nella stesso cartella (package) in cui si trova la classe Counter</a:t>
            </a:r>
            <a:r>
              <a:rPr lang="it-IT" sz="1800" dirty="0"/>
              <a:t>, in questo modo la classe </a:t>
            </a:r>
            <a:r>
              <a:rPr lang="it-IT" sz="1800" dirty="0" err="1"/>
              <a:t>RunningExamples</a:t>
            </a:r>
            <a:r>
              <a:rPr lang="it-IT" sz="1800" dirty="0"/>
              <a:t> può utilizzare senza problemi la classe Counter ed essere a sua volta utilizzata da altre classi che aggiungeremo al percorso (package).</a:t>
            </a:r>
          </a:p>
          <a:p>
            <a:r>
              <a:rPr lang="it-IT" sz="1800" b="1" dirty="0"/>
              <a:t>Il metodo </a:t>
            </a:r>
            <a:r>
              <a:rPr lang="it-IT" sz="1800" b="1" dirty="0" err="1"/>
              <a:t>main</a:t>
            </a:r>
            <a:r>
              <a:rPr lang="it-IT" sz="1800" b="1" dirty="0"/>
              <a:t> è dichiarato </a:t>
            </a:r>
            <a:r>
              <a:rPr lang="it-IT" sz="1800" dirty="0"/>
              <a:t>pubblico (ovviamente) ed è dichiarato </a:t>
            </a:r>
            <a:r>
              <a:rPr lang="it-IT" sz="1800" b="1" dirty="0" err="1"/>
              <a:t>static</a:t>
            </a:r>
            <a:r>
              <a:rPr lang="it-IT" sz="1800" dirty="0"/>
              <a:t>, questo significa che </a:t>
            </a:r>
            <a:r>
              <a:rPr lang="it-IT" sz="1800" i="1" u="sng" dirty="0"/>
              <a:t>può essere eseguito anche se non è stato istanziato nessun oggetto della classe alla quale appartiene </a:t>
            </a:r>
            <a:r>
              <a:rPr lang="it-IT" sz="1800" dirty="0"/>
              <a:t>(</a:t>
            </a:r>
            <a:r>
              <a:rPr lang="it-IT" sz="1800" dirty="0" err="1"/>
              <a:t>RunningExamples</a:t>
            </a:r>
            <a:r>
              <a:rPr lang="it-IT" sz="1800" dirty="0"/>
              <a:t>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659C54-8FE3-5D6A-6D98-D113C6458D16}"/>
              </a:ext>
            </a:extLst>
          </p:cNvPr>
          <p:cNvSpPr txBox="1"/>
          <p:nvPr/>
        </p:nvSpPr>
        <p:spPr>
          <a:xfrm>
            <a:off x="466456" y="1052736"/>
            <a:ext cx="3822958" cy="28007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it-IT" sz="1600" dirty="0"/>
          </a:p>
          <a:p>
            <a:r>
              <a:rPr lang="it-IT" sz="1600" b="1" dirty="0">
                <a:solidFill>
                  <a:srgbClr val="FF0000"/>
                </a:solidFill>
              </a:rPr>
              <a:t>public class </a:t>
            </a:r>
            <a:r>
              <a:rPr lang="it-IT" sz="1600" dirty="0" err="1"/>
              <a:t>RunningExamples</a:t>
            </a:r>
            <a:r>
              <a:rPr lang="it-IT" sz="1600" dirty="0"/>
              <a:t> {</a:t>
            </a:r>
          </a:p>
          <a:p>
            <a:endParaRPr lang="it-IT" sz="1600" dirty="0"/>
          </a:p>
          <a:p>
            <a:r>
              <a:rPr lang="it-IT" sz="1600" b="1" dirty="0">
                <a:solidFill>
                  <a:srgbClr val="FF0000"/>
                </a:solidFill>
              </a:rPr>
              <a:t>    public </a:t>
            </a:r>
            <a:r>
              <a:rPr lang="it-IT" sz="1600" b="1" dirty="0" err="1">
                <a:solidFill>
                  <a:srgbClr val="FF0000"/>
                </a:solidFill>
              </a:rPr>
              <a:t>static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dirty="0" err="1"/>
              <a:t>void</a:t>
            </a:r>
            <a:r>
              <a:rPr lang="it-IT" sz="1600" dirty="0"/>
              <a:t> </a:t>
            </a:r>
            <a:r>
              <a:rPr lang="it-IT" sz="1600" b="1" dirty="0" err="1"/>
              <a:t>main</a:t>
            </a:r>
            <a:r>
              <a:rPr lang="it-IT" sz="1600" dirty="0"/>
              <a:t>(</a:t>
            </a:r>
            <a:r>
              <a:rPr lang="it-IT" sz="1600" dirty="0" err="1"/>
              <a:t>String</a:t>
            </a:r>
            <a:r>
              <a:rPr lang="it-IT" sz="1600" dirty="0"/>
              <a:t>[] </a:t>
            </a:r>
            <a:r>
              <a:rPr lang="it-IT" sz="1600" dirty="0" err="1"/>
              <a:t>args</a:t>
            </a:r>
            <a:r>
              <a:rPr lang="it-IT" sz="1600" dirty="0"/>
              <a:t>) {</a:t>
            </a:r>
          </a:p>
          <a:p>
            <a:r>
              <a:rPr lang="it-IT" sz="1600" dirty="0"/>
              <a:t>    </a:t>
            </a:r>
          </a:p>
          <a:p>
            <a:r>
              <a:rPr lang="it-IT" sz="1600" dirty="0"/>
              <a:t>        Counter c = </a:t>
            </a:r>
            <a:r>
              <a:rPr lang="it-IT" sz="1600" b="1" dirty="0">
                <a:solidFill>
                  <a:srgbClr val="00B050"/>
                </a:solidFill>
              </a:rPr>
              <a:t>new</a:t>
            </a:r>
            <a:r>
              <a:rPr lang="it-IT" sz="1600" dirty="0"/>
              <a:t> Counter();</a:t>
            </a:r>
          </a:p>
          <a:p>
            <a:r>
              <a:rPr lang="it-IT" sz="1600" dirty="0"/>
              <a:t>        </a:t>
            </a:r>
            <a:r>
              <a:rPr lang="it-IT" sz="1600" b="1" dirty="0" err="1">
                <a:solidFill>
                  <a:srgbClr val="00B0F0"/>
                </a:solidFill>
              </a:rPr>
              <a:t>c.increment</a:t>
            </a:r>
            <a:r>
              <a:rPr lang="it-IT" sz="1600" b="1" dirty="0">
                <a:solidFill>
                  <a:srgbClr val="00B0F0"/>
                </a:solidFill>
              </a:rPr>
              <a:t>();</a:t>
            </a:r>
          </a:p>
          <a:p>
            <a:r>
              <a:rPr lang="it-IT" sz="1600" b="1" dirty="0">
                <a:solidFill>
                  <a:srgbClr val="00B0F0"/>
                </a:solidFill>
              </a:rPr>
              <a:t>        </a:t>
            </a:r>
            <a:r>
              <a:rPr lang="it-IT" sz="1600" b="1" dirty="0" err="1">
                <a:solidFill>
                  <a:srgbClr val="00B0F0"/>
                </a:solidFill>
              </a:rPr>
              <a:t>c.decrement</a:t>
            </a:r>
            <a:r>
              <a:rPr lang="it-IT" sz="1600" b="1" dirty="0">
                <a:solidFill>
                  <a:srgbClr val="00B0F0"/>
                </a:solidFill>
              </a:rPr>
              <a:t>();</a:t>
            </a:r>
          </a:p>
          <a:p>
            <a:r>
              <a:rPr lang="it-IT" sz="1600" dirty="0"/>
              <a:t>    }</a:t>
            </a:r>
          </a:p>
          <a:p>
            <a:r>
              <a:rPr lang="it-IT" sz="1600" dirty="0"/>
              <a:t>}</a:t>
            </a:r>
          </a:p>
        </p:txBody>
      </p:sp>
      <p:sp>
        <p:nvSpPr>
          <p:cNvPr id="5" name="Fumetto 3 4">
            <a:extLst>
              <a:ext uri="{FF2B5EF4-FFF2-40B4-BE49-F238E27FC236}">
                <a16:creationId xmlns:a16="http://schemas.microsoft.com/office/drawing/2014/main" id="{74D43B8C-6694-7C21-FD7C-3CC3BDA49F2A}"/>
              </a:ext>
            </a:extLst>
          </p:cNvPr>
          <p:cNvSpPr/>
          <p:nvPr/>
        </p:nvSpPr>
        <p:spPr bwMode="auto">
          <a:xfrm>
            <a:off x="1101469" y="5337219"/>
            <a:ext cx="3239630" cy="1038701"/>
          </a:xfrm>
          <a:prstGeom prst="wedgeEllipseCallout">
            <a:avLst>
              <a:gd name="adj1" fmla="val -7363"/>
              <a:gd name="adj2" fmla="val -21284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I metodi vengono </a:t>
            </a:r>
            <a:r>
              <a:rPr lang="it-IT" sz="1400" dirty="0"/>
              <a:t>c</a:t>
            </a:r>
            <a:r>
              <a: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hiamati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400" dirty="0"/>
              <a:t>su un oggetto della classe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400" dirty="0"/>
              <a:t>u</a:t>
            </a:r>
            <a:r>
              <a: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tilizzando la notazione .</a:t>
            </a:r>
          </a:p>
        </p:txBody>
      </p:sp>
    </p:spTree>
    <p:extLst>
      <p:ext uri="{BB962C8B-B14F-4D97-AF65-F5344CB8AC3E}">
        <p14:creationId xmlns:p14="http://schemas.microsoft.com/office/powerpoint/2010/main" val="3675231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87052-BE03-78EA-521F-70F936FC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459432"/>
            <a:ext cx="7543800" cy="1295400"/>
          </a:xfrm>
        </p:spPr>
        <p:txBody>
          <a:bodyPr/>
          <a:lstStyle/>
          <a:p>
            <a:r>
              <a:rPr lang="it-IT"/>
              <a:t>Osservazione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DD5FA0-282C-6172-B8B8-BEE4D595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464496"/>
          </a:xfrm>
        </p:spPr>
        <p:txBody>
          <a:bodyPr/>
          <a:lstStyle/>
          <a:p>
            <a:r>
              <a:rPr lang="it-IT" sz="2800"/>
              <a:t>La classe Counter nella versione attuale in realtà è…inutile! </a:t>
            </a:r>
          </a:p>
          <a:p>
            <a:r>
              <a:rPr lang="it-IT" sz="2800"/>
              <a:t>Non abbiamo modo di specificare lo stato iniziale degli oggetti che istanziamo. Quanto vale </a:t>
            </a:r>
            <a:r>
              <a:rPr lang="it-IT" sz="2800" i="1"/>
              <a:t>max</a:t>
            </a:r>
            <a:r>
              <a:rPr lang="it-IT" sz="2800"/>
              <a:t>? Quanto vale inizialmente </a:t>
            </a:r>
            <a:r>
              <a:rPr lang="it-IT" sz="2800" i="1" err="1"/>
              <a:t>value</a:t>
            </a:r>
            <a:r>
              <a:rPr lang="it-IT" sz="2800"/>
              <a:t>? Come facciamo ad assicurarci che </a:t>
            </a:r>
            <a:r>
              <a:rPr lang="it-IT" sz="2800" i="1" err="1"/>
              <a:t>value</a:t>
            </a:r>
            <a:r>
              <a:rPr lang="it-IT" sz="2800"/>
              <a:t> non superi il valore </a:t>
            </a:r>
            <a:r>
              <a:rPr lang="it-IT" sz="2800" i="1"/>
              <a:t>max</a:t>
            </a:r>
            <a:r>
              <a:rPr lang="it-IT" sz="2800"/>
              <a:t>? Non abbiamo neanche modo di sapere quanto vale il contatore in un certo istante visto che le variabili di istanza sono private e non possiamo accedervi.</a:t>
            </a:r>
          </a:p>
          <a:p>
            <a:r>
              <a:rPr lang="it-IT" sz="2800"/>
              <a:t>Quindi è necessario approfondire ulteriormente… </a:t>
            </a:r>
          </a:p>
        </p:txBody>
      </p:sp>
    </p:spTree>
    <p:extLst>
      <p:ext uri="{BB962C8B-B14F-4D97-AF65-F5344CB8AC3E}">
        <p14:creationId xmlns:p14="http://schemas.microsoft.com/office/powerpoint/2010/main" val="268872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9F3E31D-5882-9BD0-6334-1F83965B0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709" y="-315416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/>
              <a:t>Ciclo di vita di un oggetto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9EDCC82-209E-F577-7458-E03904FC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24" y="1479953"/>
            <a:ext cx="8589640" cy="5374183"/>
          </a:xfrm>
        </p:spPr>
        <p:txBody>
          <a:bodyPr/>
          <a:lstStyle/>
          <a:p>
            <a:r>
              <a:rPr lang="it-IT" sz="2400"/>
              <a:t>Una classe specifica solo la "struttura" condivisa da tutti gli oggetti di quel tipo e le operazioni che possono essere effettuate su di essi, ma gli oggetti esistono in seguito ad una operazione di istanziazione che li crea e li alloca in memoria. Il ciclo di vita di un oggetto in Java comprende le seguenti "fasi":</a:t>
            </a:r>
          </a:p>
          <a:p>
            <a:endParaRPr lang="it-IT" sz="2400"/>
          </a:p>
          <a:p>
            <a:endParaRPr lang="it-IT" sz="2400"/>
          </a:p>
          <a:p>
            <a:endParaRPr lang="it-IT" sz="2400"/>
          </a:p>
          <a:p>
            <a:endParaRPr lang="it-IT" sz="2400"/>
          </a:p>
          <a:p>
            <a:r>
              <a:rPr lang="it-IT" sz="2400"/>
              <a:t>Come vedremo non tutto è a carico del programmatore… ma qualcosa si!</a:t>
            </a:r>
          </a:p>
        </p:txBody>
      </p:sp>
      <p:sp>
        <p:nvSpPr>
          <p:cNvPr id="21507" name="Text Box 5">
            <a:extLst>
              <a:ext uri="{FF2B5EF4-FFF2-40B4-BE49-F238E27FC236}">
                <a16:creationId xmlns:a16="http://schemas.microsoft.com/office/drawing/2014/main" id="{6B75B7A4-85D2-B5C5-5C02-6CF2EA526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789040"/>
            <a:ext cx="407996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FontTx/>
              <a:buBlip>
                <a:blip r:embed="rId2"/>
              </a:buBlip>
            </a:pP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creazione</a:t>
            </a:r>
            <a:endParaRPr lang="en-GB" altLang="it-IT" sz="2000">
              <a:latin typeface="Verdana" panose="020B0604030504040204" pitchFamily="34" charset="0"/>
            </a:endParaRPr>
          </a:p>
          <a:p>
            <a:pPr algn="just" eaLnBrk="1" hangingPunct="1">
              <a:buFontTx/>
              <a:buBlip>
                <a:blip r:embed="rId2"/>
              </a:buBlip>
            </a:pP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inizializzazione</a:t>
            </a:r>
            <a:endParaRPr lang="en-GB" altLang="it-IT" sz="2000">
              <a:latin typeface="Verdana" panose="020B0604030504040204" pitchFamily="34" charset="0"/>
            </a:endParaRPr>
          </a:p>
          <a:p>
            <a:pPr algn="just" eaLnBrk="1" hangingPunct="1">
              <a:buFontTx/>
              <a:buBlip>
                <a:blip r:embed="rId2"/>
              </a:buBlip>
            </a:pP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definizione</a:t>
            </a:r>
            <a:r>
              <a:rPr lang="en-GB" altLang="it-IT" sz="2000">
                <a:latin typeface="Verdana" panose="020B0604030504040204" pitchFamily="34" charset="0"/>
              </a:rPr>
              <a:t> di un </a:t>
            </a:r>
            <a:r>
              <a:rPr lang="en-GB" altLang="it-IT" sz="2000" err="1">
                <a:latin typeface="Verdana" panose="020B0604030504040204" pitchFamily="34" charset="0"/>
              </a:rPr>
              <a:t>riferimento</a:t>
            </a:r>
            <a:endParaRPr lang="en-GB" altLang="it-IT" sz="2000">
              <a:latin typeface="Verdana" panose="020B0604030504040204" pitchFamily="34" charset="0"/>
            </a:endParaRPr>
          </a:p>
          <a:p>
            <a:pPr algn="just" eaLnBrk="1" hangingPunct="1">
              <a:buFontTx/>
              <a:buBlip>
                <a:blip r:embed="rId2"/>
              </a:buBlip>
            </a:pP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utilizzo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</a:p>
          <a:p>
            <a:pPr algn="just" eaLnBrk="1" hangingPunct="1">
              <a:buFontTx/>
              <a:buBlip>
                <a:blip r:embed="rId2"/>
              </a:buBlip>
            </a:pP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distruzione</a:t>
            </a:r>
            <a:endParaRPr lang="en-GB" altLang="it-IT" sz="2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436A86-3783-DC5D-C7D5-A8213FEE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/>
              <a:t>Costruttori (1/6)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0CE6A1-CF95-79F3-04CD-3D537AD3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26" y="1223169"/>
            <a:ext cx="8229600" cy="4411662"/>
          </a:xfrm>
        </p:spPr>
        <p:txBody>
          <a:bodyPr/>
          <a:lstStyle/>
          <a:p>
            <a:r>
              <a:rPr lang="it-IT" sz="2400"/>
              <a:t>Un oggetto viene creato utilizzando l’istruzione </a:t>
            </a:r>
            <a:r>
              <a:rPr lang="it-IT" sz="2400" b="1"/>
              <a:t>new e la chiamata ad un metodo speciale detto costruttore che serve ad eseguire l’inizializzazione dell’oggetto</a:t>
            </a:r>
          </a:p>
          <a:p>
            <a:r>
              <a:rPr lang="it-IT" sz="2400"/>
              <a:t>La chiamata al costruttore è indicata dal nome della classe seguita dalle parentesi, ad esempio:</a:t>
            </a:r>
          </a:p>
          <a:p>
            <a:pPr marL="0" indent="0" algn="ctr">
              <a:buNone/>
            </a:pPr>
            <a:r>
              <a:rPr lang="it-IT" sz="2400">
                <a:solidFill>
                  <a:srgbClr val="FF0000"/>
                </a:solidFill>
              </a:rPr>
              <a:t>new Counter()</a:t>
            </a:r>
          </a:p>
          <a:p>
            <a:r>
              <a:rPr lang="it-IT" sz="2400"/>
              <a:t>Se la classe non fornisce un costruttore, viene chiamato un </a:t>
            </a:r>
            <a:r>
              <a:rPr lang="it-IT" sz="2400" b="1" i="1"/>
              <a:t>costruttore di default fornito dal compilatore, </a:t>
            </a:r>
            <a:r>
              <a:rPr lang="it-IT" sz="2400" i="1"/>
              <a:t>come avviene nell’esempio d’uso della prima versione della classe Counter.</a:t>
            </a:r>
          </a:p>
          <a:p>
            <a:r>
              <a:rPr lang="it-IT" sz="2400" i="1"/>
              <a:t>E’ opportuno che ogni classe preveda almeno un costruttore per inizializzare opportunamente lo stato degli oggetti all’atto della loro creazione</a:t>
            </a:r>
          </a:p>
          <a:p>
            <a:endParaRPr lang="it-IT" b="1" i="1"/>
          </a:p>
          <a:p>
            <a:endParaRPr lang="it-IT" b="1"/>
          </a:p>
        </p:txBody>
      </p:sp>
    </p:spTree>
    <p:extLst>
      <p:ext uri="{BB962C8B-B14F-4D97-AF65-F5344CB8AC3E}">
        <p14:creationId xmlns:p14="http://schemas.microsoft.com/office/powerpoint/2010/main" val="82103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DA3B05-C34C-60FE-52B4-75EA89EB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463065"/>
            <a:ext cx="7543800" cy="1295400"/>
          </a:xfrm>
        </p:spPr>
        <p:txBody>
          <a:bodyPr/>
          <a:lstStyle/>
          <a:p>
            <a:r>
              <a:rPr lang="it-IT"/>
              <a:t>Costruttori (2/6)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070669-1440-AE1F-40D1-F0B67AB2F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4411662"/>
          </a:xfrm>
        </p:spPr>
        <p:txBody>
          <a:bodyPr/>
          <a:lstStyle/>
          <a:p>
            <a:pPr eaLnBrk="1" hangingPunct="1"/>
            <a:r>
              <a:rPr lang="it-IT" altLang="it-IT"/>
              <a:t>Un </a:t>
            </a:r>
            <a:r>
              <a:rPr lang="it-IT" altLang="it-IT" i="1">
                <a:solidFill>
                  <a:schemeClr val="accent2"/>
                </a:solidFill>
              </a:rPr>
              <a:t>costruttore</a:t>
            </a:r>
            <a:r>
              <a:rPr lang="it-IT" altLang="it-IT"/>
              <a:t> è un metodo:</a:t>
            </a:r>
          </a:p>
          <a:p>
            <a:pPr lvl="1" eaLnBrk="1" hangingPunct="1"/>
            <a:r>
              <a:rPr lang="it-IT" altLang="it-IT"/>
              <a:t>che ha lo stesso nome della classe</a:t>
            </a:r>
          </a:p>
          <a:p>
            <a:pPr lvl="1" eaLnBrk="1" hangingPunct="1"/>
            <a:r>
              <a:rPr lang="it-IT" altLang="it-IT"/>
              <a:t>non restituisce alcun risultato (neanche </a:t>
            </a:r>
            <a:r>
              <a:rPr lang="it-IT" altLang="it-IT" b="1" err="1">
                <a:latin typeface="Courier New" panose="02070309020205020404" pitchFamily="49" charset="0"/>
              </a:rPr>
              <a:t>void</a:t>
            </a:r>
            <a:r>
              <a:rPr lang="it-IT" altLang="it-IT"/>
              <a:t>)</a:t>
            </a:r>
          </a:p>
          <a:p>
            <a:pPr marL="344487" lvl="1" indent="0" eaLnBrk="1" hangingPunct="1">
              <a:buNone/>
            </a:pPr>
            <a:endParaRPr lang="it-IT"/>
          </a:p>
          <a:p>
            <a:pPr lvl="1" eaLnBrk="1" hangingPunct="1"/>
            <a:endParaRPr lang="it-IT"/>
          </a:p>
          <a:p>
            <a:pPr lvl="1" eaLnBrk="1" hangingPunct="1"/>
            <a:endParaRPr lang="it-IT"/>
          </a:p>
          <a:p>
            <a:pPr marL="344487" lvl="1" indent="0" eaLnBrk="1" hangingPunct="1">
              <a:buNone/>
            </a:pPr>
            <a:endParaRPr lang="it-IT"/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8CDA469D-24C0-75C6-B779-99A526666C14}"/>
              </a:ext>
            </a:extLst>
          </p:cNvPr>
          <p:cNvGrpSpPr/>
          <p:nvPr/>
        </p:nvGrpSpPr>
        <p:grpSpPr>
          <a:xfrm>
            <a:off x="1725960" y="3103744"/>
            <a:ext cx="6141368" cy="2629512"/>
            <a:chOff x="2339752" y="3429000"/>
            <a:chExt cx="5304881" cy="1872208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40BE63E3-2162-60ED-E379-4911AB49570F}"/>
                </a:ext>
              </a:extLst>
            </p:cNvPr>
            <p:cNvSpPr txBox="1"/>
            <p:nvPr/>
          </p:nvSpPr>
          <p:spPr>
            <a:xfrm>
              <a:off x="2339752" y="4100879"/>
              <a:ext cx="2659702" cy="120032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it-IT"/>
                <a:t>public Counter(long m) {</a:t>
              </a:r>
            </a:p>
            <a:p>
              <a:r>
                <a:rPr lang="it-IT"/>
                <a:t>   max=m; </a:t>
              </a:r>
            </a:p>
            <a:p>
              <a:r>
                <a:rPr lang="it-IT"/>
                <a:t>   </a:t>
              </a:r>
              <a:r>
                <a:rPr lang="it-IT" err="1"/>
                <a:t>value</a:t>
              </a:r>
              <a:r>
                <a:rPr lang="it-IT"/>
                <a:t>=0;</a:t>
              </a:r>
            </a:p>
            <a:p>
              <a:r>
                <a:rPr lang="it-IT"/>
                <a:t>}</a:t>
              </a:r>
            </a:p>
          </p:txBody>
        </p:sp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307F9B16-24B4-4148-D795-4915E9AAD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8724" y="3429000"/>
              <a:ext cx="13843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b="1" i="1">
                  <a:solidFill>
                    <a:srgbClr val="663300"/>
                  </a:solidFill>
                  <a:latin typeface="Times New Roman" panose="02020603050405020304" pitchFamily="18" charset="0"/>
                </a:rPr>
                <a:t>il costruttore</a:t>
              </a:r>
              <a:endParaRPr lang="it-IT" altLang="it-IT" sz="1700" b="1">
                <a:solidFill>
                  <a:srgbClr val="6633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B0E1FEC4-B6E6-4069-FCE5-127807E768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143" y="3598862"/>
              <a:ext cx="2179343" cy="502016"/>
            </a:xfrm>
            <a:prstGeom prst="line">
              <a:avLst/>
            </a:prstGeom>
            <a:noFill/>
            <a:ln w="28575">
              <a:solidFill>
                <a:srgbClr val="66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AAAD0FEF-5CB0-85FB-6727-9E1CFF0C7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2000" y="4509120"/>
              <a:ext cx="1008112" cy="216024"/>
            </a:xfrm>
            <a:prstGeom prst="line">
              <a:avLst/>
            </a:prstGeom>
            <a:noFill/>
            <a:ln w="28575">
              <a:solidFill>
                <a:srgbClr val="66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FBE11B46-91E9-01C4-AA2D-DFC6A7071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8724" y="4530724"/>
              <a:ext cx="19159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b="1" i="1">
                  <a:solidFill>
                    <a:srgbClr val="663300"/>
                  </a:solidFill>
                  <a:latin typeface="Times New Roman" panose="02020603050405020304" pitchFamily="18" charset="0"/>
                </a:rPr>
                <a:t>lista dei parametri</a:t>
              </a:r>
              <a:endParaRPr lang="it-IT" altLang="it-IT" sz="1700" b="1">
                <a:solidFill>
                  <a:srgbClr val="663300"/>
                </a:solidFill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34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DCFA34-216C-52F0-216C-9768CDE0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68" y="-243408"/>
            <a:ext cx="7543800" cy="1295400"/>
          </a:xfrm>
        </p:spPr>
        <p:txBody>
          <a:bodyPr/>
          <a:lstStyle/>
          <a:p>
            <a:r>
              <a:rPr lang="it-IT"/>
              <a:t>Costruttori (3/6)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A9F0B1-91C4-18CB-9922-A4732A38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87" y="1556792"/>
            <a:ext cx="8229600" cy="4411662"/>
          </a:xfrm>
        </p:spPr>
        <p:txBody>
          <a:bodyPr/>
          <a:lstStyle/>
          <a:p>
            <a:pPr lvl="1" eaLnBrk="1" hangingPunct="1"/>
            <a:r>
              <a:rPr lang="it-IT" sz="2400"/>
              <a:t>Una classe può avere più costruttori. I costruttori possono essere:</a:t>
            </a:r>
          </a:p>
          <a:p>
            <a:pPr lvl="2" eaLnBrk="1" hangingPunct="1"/>
            <a:r>
              <a:rPr lang="it-IT" sz="2000"/>
              <a:t>senza argomenti (la lista dei parametri è vuota)</a:t>
            </a:r>
          </a:p>
          <a:p>
            <a:pPr lvl="2" eaLnBrk="1" hangingPunct="1"/>
            <a:r>
              <a:rPr lang="it-IT" sz="2000"/>
              <a:t>con argomenti (uno o più parametri)</a:t>
            </a:r>
          </a:p>
          <a:p>
            <a:pPr lvl="2" eaLnBrk="1" hangingPunct="1"/>
            <a:r>
              <a:rPr lang="it-IT" sz="2000"/>
              <a:t>di copia (per inizializzare un oggetto con lo stato di un altro oggetto già esistente), in java un caso particolare di costruttore con argomenti</a:t>
            </a:r>
          </a:p>
          <a:p>
            <a:pPr lvl="1" eaLnBrk="1" hangingPunct="1"/>
            <a:r>
              <a:rPr lang="it-IT" sz="2400"/>
              <a:t>I costruttori (se più di uno) devono essere </a:t>
            </a:r>
            <a:r>
              <a:rPr lang="it-IT" sz="2400" b="1"/>
              <a:t>distinguibili per </a:t>
            </a:r>
            <a:r>
              <a:rPr lang="it-IT" sz="2400" b="1" err="1"/>
              <a:t>overloading</a:t>
            </a:r>
            <a:r>
              <a:rPr lang="it-IT" sz="2400" b="1"/>
              <a:t> </a:t>
            </a:r>
          </a:p>
          <a:p>
            <a:pPr lvl="1" eaLnBrk="1" hangingPunct="1"/>
            <a:r>
              <a:rPr lang="it-IT" sz="2400"/>
              <a:t>Sovraccaricare i costruttori consente di inizializzare gli oggetti di una classe in modi diversi</a:t>
            </a:r>
          </a:p>
          <a:p>
            <a:pPr marL="0" indent="0">
              <a:buNone/>
            </a:pPr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2794267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B4A64-FA5D-770E-52FC-0275C91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5" y="-490785"/>
            <a:ext cx="7543800" cy="1295400"/>
          </a:xfrm>
        </p:spPr>
        <p:txBody>
          <a:bodyPr/>
          <a:lstStyle/>
          <a:p>
            <a:r>
              <a:rPr lang="it-IT"/>
              <a:t>Costruttori (4/6)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ACB32A-512E-8BAC-CAF8-5433C07C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640129" cy="1248084"/>
          </a:xfrm>
        </p:spPr>
        <p:txBody>
          <a:bodyPr/>
          <a:lstStyle/>
          <a:p>
            <a:r>
              <a:rPr lang="it-IT" sz="1800" b="1" dirty="0"/>
              <a:t>Attenzione: </a:t>
            </a:r>
            <a:r>
              <a:rPr lang="it-IT" sz="1800" dirty="0"/>
              <a:t>nel caso in cui venga esplicitamente definito almeno un costruttore, il compilatore non è più in grado di utilizzare il costruttore di default!!! Quindi è necessario fornire il costruttore senza argomenti</a:t>
            </a:r>
            <a:endParaRPr lang="it-IT" sz="1800" b="1" dirty="0">
              <a:cs typeface="Arial"/>
            </a:endParaRP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40745B87-CEFF-28C2-6F4E-2373A8F25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32" y="2300819"/>
            <a:ext cx="3467100" cy="2324100"/>
          </a:xfrm>
          <a:prstGeom prst="rect">
            <a:avLst/>
          </a:prstGeom>
        </p:spPr>
      </p:pic>
      <p:pic>
        <p:nvPicPr>
          <p:cNvPr id="9" name="Immagine 8" descr="Immagine che contiene testo, Carattere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7AB5969-3333-B8B4-E48A-8F8197CAF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954" y="2300819"/>
            <a:ext cx="4165600" cy="1397000"/>
          </a:xfrm>
          <a:prstGeom prst="rect">
            <a:avLst/>
          </a:prstGeom>
        </p:spPr>
      </p:pic>
      <p:pic>
        <p:nvPicPr>
          <p:cNvPr id="12" name="Immagine 11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F6B1CF44-EA64-282A-9FB6-CA5ED4CE3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017" y="4533899"/>
            <a:ext cx="7127951" cy="228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1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A92DC4-90B3-0B83-9273-CC2715DB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315416"/>
            <a:ext cx="7543800" cy="1295400"/>
          </a:xfrm>
        </p:spPr>
        <p:txBody>
          <a:bodyPr/>
          <a:lstStyle/>
          <a:p>
            <a:r>
              <a:rPr lang="it-IT"/>
              <a:t>Costruttore di copia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D0193C-5298-EFC4-0863-F7A47AF3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917" y="1124744"/>
            <a:ext cx="8229600" cy="4411662"/>
          </a:xfrm>
        </p:spPr>
        <p:txBody>
          <a:bodyPr/>
          <a:lstStyle/>
          <a:p>
            <a:r>
              <a:rPr lang="it-IT" sz="1800"/>
              <a:t>Il costruttore senza argomenti è un metodo senza parametri</a:t>
            </a:r>
          </a:p>
          <a:p>
            <a:r>
              <a:rPr lang="it-IT" sz="1800"/>
              <a:t>I costruttori con argomenti possono essere più di uno, hanno uno o più parametri, è importante che siano distinguibili per numero e tipo dei parametri a tempo di compilazione</a:t>
            </a:r>
          </a:p>
          <a:p>
            <a:r>
              <a:rPr lang="it-IT" sz="1800" b="1" i="1"/>
              <a:t>Il costruttore di copia è un costruttore con argomenti che ha come unico parametro in ingresso un riferimento ad un oggetto già esistente della stessa classe, il cui stato verrà copiato nel nuovo oggetto</a:t>
            </a:r>
          </a:p>
          <a:p>
            <a:endParaRPr lang="it-IT" sz="24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B2BF927-7594-7272-0246-E9F1690D6DD3}"/>
              </a:ext>
            </a:extLst>
          </p:cNvPr>
          <p:cNvSpPr txBox="1"/>
          <p:nvPr/>
        </p:nvSpPr>
        <p:spPr>
          <a:xfrm>
            <a:off x="879780" y="3645024"/>
            <a:ext cx="301877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/>
              <a:t>public Counter(Counter C) {</a:t>
            </a:r>
          </a:p>
          <a:p>
            <a:r>
              <a:rPr lang="it-IT"/>
              <a:t>max=</a:t>
            </a:r>
            <a:r>
              <a:rPr lang="it-IT" err="1"/>
              <a:t>C.max</a:t>
            </a:r>
            <a:r>
              <a:rPr lang="it-IT"/>
              <a:t>; </a:t>
            </a:r>
          </a:p>
          <a:p>
            <a:r>
              <a:rPr lang="it-IT" err="1"/>
              <a:t>value</a:t>
            </a:r>
            <a:r>
              <a:rPr lang="it-IT"/>
              <a:t>=</a:t>
            </a:r>
            <a:r>
              <a:rPr lang="it-IT" err="1"/>
              <a:t>C.value</a:t>
            </a:r>
            <a:r>
              <a:rPr lang="it-IT"/>
              <a:t>;</a:t>
            </a:r>
          </a:p>
          <a:p>
            <a:r>
              <a:rPr lang="it-IT"/>
              <a:t>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741DED0-2331-A8FF-79DE-F93A42024A02}"/>
              </a:ext>
            </a:extLst>
          </p:cNvPr>
          <p:cNvSpPr txBox="1"/>
          <p:nvPr/>
        </p:nvSpPr>
        <p:spPr>
          <a:xfrm>
            <a:off x="4401418" y="3668172"/>
            <a:ext cx="3102131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/>
              <a:t>Counter c = new Counter(4);</a:t>
            </a:r>
          </a:p>
          <a:p>
            <a:r>
              <a:rPr lang="it-IT"/>
              <a:t>Counter d = new Counter(c);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43418AE-B55C-1CCA-0780-C0C906197404}"/>
              </a:ext>
            </a:extLst>
          </p:cNvPr>
          <p:cNvCxnSpPr/>
          <p:nvPr/>
        </p:nvCxnSpPr>
        <p:spPr bwMode="auto">
          <a:xfrm>
            <a:off x="6300192" y="4361005"/>
            <a:ext cx="0" cy="5040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DF748F4-5524-485E-085B-850991106F9B}"/>
              </a:ext>
            </a:extLst>
          </p:cNvPr>
          <p:cNvCxnSpPr/>
          <p:nvPr/>
        </p:nvCxnSpPr>
        <p:spPr bwMode="auto">
          <a:xfrm>
            <a:off x="2382943" y="4955489"/>
            <a:ext cx="0" cy="5040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B8EF7CA-834C-184C-CEF7-64699FAD274F}"/>
              </a:ext>
            </a:extLst>
          </p:cNvPr>
          <p:cNvSpPr txBox="1"/>
          <p:nvPr/>
        </p:nvSpPr>
        <p:spPr>
          <a:xfrm>
            <a:off x="29272" y="5445224"/>
            <a:ext cx="4686744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FF0000"/>
                </a:solidFill>
              </a:rPr>
              <a:t>Implementazione del costruttore di copia.</a:t>
            </a:r>
          </a:p>
          <a:p>
            <a:r>
              <a:rPr lang="it-IT" sz="1400" u="sng"/>
              <a:t>Osservazione 1: </a:t>
            </a:r>
            <a:r>
              <a:rPr lang="it-IT" sz="1400"/>
              <a:t>C è un riferimento (passato per valore)!</a:t>
            </a:r>
          </a:p>
          <a:p>
            <a:r>
              <a:rPr lang="it-IT" sz="1400" u="sng"/>
              <a:t>Osservazione 2: </a:t>
            </a:r>
            <a:r>
              <a:rPr lang="it-IT" sz="1400"/>
              <a:t>Un metodo può accedere direttamente</a:t>
            </a:r>
            <a:br>
              <a:rPr lang="it-IT" sz="1400"/>
            </a:br>
            <a:r>
              <a:rPr lang="it-IT" sz="1400"/>
              <a:t>agli attributi di un oggetto della sua classe, </a:t>
            </a:r>
          </a:p>
          <a:p>
            <a:r>
              <a:rPr lang="it-IT" sz="1400"/>
              <a:t>perciò è possibile scrivere </a:t>
            </a:r>
            <a:r>
              <a:rPr lang="it-IT" sz="1400" err="1"/>
              <a:t>C.max</a:t>
            </a:r>
            <a:r>
              <a:rPr lang="it-IT" sz="1400"/>
              <a:t> e </a:t>
            </a:r>
            <a:r>
              <a:rPr lang="it-IT" sz="1400" err="1"/>
              <a:t>C.value</a:t>
            </a:r>
            <a:endParaRPr lang="it-IT" sz="14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A4953EC-4241-CEE6-C15A-E76CAB009643}"/>
              </a:ext>
            </a:extLst>
          </p:cNvPr>
          <p:cNvSpPr txBox="1"/>
          <p:nvPr/>
        </p:nvSpPr>
        <p:spPr>
          <a:xfrm>
            <a:off x="5076063" y="4865061"/>
            <a:ext cx="388841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FF0000"/>
                </a:solidFill>
              </a:rPr>
              <a:t>Creazione e inizializzazione di oggetti </a:t>
            </a:r>
            <a:r>
              <a:rPr lang="it-IT" sz="1400"/>
              <a:t>attraverso:</a:t>
            </a:r>
          </a:p>
          <a:p>
            <a:r>
              <a:rPr lang="it-IT" sz="1400"/>
              <a:t>- un costruttore con un parametro di tipo long</a:t>
            </a:r>
          </a:p>
          <a:p>
            <a:r>
              <a:rPr lang="it-IT" sz="1400"/>
              <a:t>  il costruttore di copia</a:t>
            </a:r>
          </a:p>
          <a:p>
            <a:r>
              <a:rPr lang="it-IT" sz="1400"/>
              <a:t>Osservazione: c e d sono riferimenti che "puntano" agli oggetti. </a:t>
            </a:r>
          </a:p>
        </p:txBody>
      </p:sp>
    </p:spTree>
    <p:extLst>
      <p:ext uri="{BB962C8B-B14F-4D97-AF65-F5344CB8AC3E}">
        <p14:creationId xmlns:p14="http://schemas.microsoft.com/office/powerpoint/2010/main" val="2108595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0FCA3-32DD-1F10-F35B-C27DBC2D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51" y="-134553"/>
            <a:ext cx="7543800" cy="1295400"/>
          </a:xfrm>
        </p:spPr>
        <p:txBody>
          <a:bodyPr/>
          <a:lstStyle/>
          <a:p>
            <a:r>
              <a:rPr lang="it-IT" sz="3200"/>
              <a:t>Classe Counter e classe di prova – versione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EFE096-9338-0488-84D5-1D86757AF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51" y="5485381"/>
            <a:ext cx="8213812" cy="936105"/>
          </a:xfrm>
        </p:spPr>
        <p:txBody>
          <a:bodyPr/>
          <a:lstStyle/>
          <a:p>
            <a:r>
              <a:rPr lang="it-IT" sz="1800"/>
              <a:t>Ora possiamo </a:t>
            </a:r>
            <a:r>
              <a:rPr lang="it-IT" sz="1800" b="1"/>
              <a:t>creare</a:t>
            </a:r>
            <a:r>
              <a:rPr lang="it-IT" sz="1800"/>
              <a:t> e i</a:t>
            </a:r>
            <a:r>
              <a:rPr lang="it-IT" sz="1800" b="1"/>
              <a:t>nizializzare</a:t>
            </a:r>
            <a:r>
              <a:rPr lang="it-IT" sz="1800"/>
              <a:t> gli oggetti, </a:t>
            </a:r>
            <a:r>
              <a:rPr lang="it-IT" sz="1800" b="1"/>
              <a:t>definire i riferimenti </a:t>
            </a:r>
            <a:r>
              <a:rPr lang="it-IT" sz="1800"/>
              <a:t>agli oggetti creati e </a:t>
            </a:r>
            <a:r>
              <a:rPr lang="it-IT" sz="1800" b="1"/>
              <a:t>utilizzarli</a:t>
            </a:r>
            <a:r>
              <a:rPr lang="it-IT" sz="1800"/>
              <a:t> incrementando e decrementando il valore dei contatori, ma ancora non riusciamo a sapere quanto valgono i contatori e a controllare che non sforino il valore max.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CCF77F-ACFC-B6BA-48AA-071B5C2F4EC3}"/>
              </a:ext>
            </a:extLst>
          </p:cNvPr>
          <p:cNvSpPr txBox="1"/>
          <p:nvPr/>
        </p:nvSpPr>
        <p:spPr>
          <a:xfrm>
            <a:off x="382651" y="1340768"/>
            <a:ext cx="4889480" cy="37548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sz="1400" dirty="0"/>
          </a:p>
          <a:p>
            <a:r>
              <a:rPr lang="it-IT" sz="1400" dirty="0"/>
              <a:t>public class Counter {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private long </a:t>
            </a:r>
            <a:r>
              <a:rPr lang="it-IT" sz="1400" dirty="0" err="1"/>
              <a:t>value</a:t>
            </a:r>
            <a:r>
              <a:rPr lang="it-IT" sz="1400" dirty="0"/>
              <a:t>;</a:t>
            </a:r>
          </a:p>
          <a:p>
            <a:r>
              <a:rPr lang="it-IT" sz="1400" dirty="0"/>
              <a:t>    private long max;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//costruttore senza argomenti</a:t>
            </a:r>
          </a:p>
          <a:p>
            <a:r>
              <a:rPr lang="it-IT" sz="1400" dirty="0"/>
              <a:t>    public Counter() {max=10;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//costruttore con argomenti</a:t>
            </a:r>
          </a:p>
          <a:p>
            <a:r>
              <a:rPr lang="it-IT" sz="1400" dirty="0"/>
              <a:t>    public Counter(long m) {max=m;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//costruttore di copia</a:t>
            </a:r>
          </a:p>
          <a:p>
            <a:r>
              <a:rPr lang="it-IT" sz="1400" dirty="0"/>
              <a:t>    public Counter(Counter C) {max=</a:t>
            </a:r>
            <a:r>
              <a:rPr lang="it-IT" sz="1400" dirty="0" err="1"/>
              <a:t>C.max</a:t>
            </a:r>
            <a:r>
              <a:rPr lang="it-IT" sz="1400" dirty="0"/>
              <a:t>; </a:t>
            </a:r>
            <a:r>
              <a:rPr lang="it-IT" sz="1400" dirty="0" err="1"/>
              <a:t>value</a:t>
            </a:r>
            <a:r>
              <a:rPr lang="it-IT" sz="1400" dirty="0"/>
              <a:t>=</a:t>
            </a:r>
            <a:r>
              <a:rPr lang="it-IT" sz="1400" dirty="0" err="1"/>
              <a:t>C.value</a:t>
            </a:r>
            <a:r>
              <a:rPr lang="it-IT" sz="1400" dirty="0"/>
              <a:t>;}</a:t>
            </a:r>
          </a:p>
          <a:p>
            <a:endParaRPr lang="it-IT" sz="1400" dirty="0"/>
          </a:p>
          <a:p>
            <a:r>
              <a:rPr lang="it-IT" sz="1400" dirty="0"/>
              <a:t>    // metodi per la gestione del contatore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increment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++;}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decrement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--;}</a:t>
            </a:r>
          </a:p>
          <a:p>
            <a:r>
              <a:rPr lang="it-IT" sz="1400" dirty="0"/>
              <a:t>   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A07C2B-E307-31F7-CAAE-9D3555F5F005}"/>
              </a:ext>
            </a:extLst>
          </p:cNvPr>
          <p:cNvSpPr txBox="1"/>
          <p:nvPr/>
        </p:nvSpPr>
        <p:spPr>
          <a:xfrm>
            <a:off x="5433555" y="1340768"/>
            <a:ext cx="3328155" cy="31085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sz="1400" dirty="0"/>
          </a:p>
          <a:p>
            <a:r>
              <a:rPr lang="it-IT" sz="1400" dirty="0"/>
              <a:t>public class </a:t>
            </a:r>
            <a:r>
              <a:rPr lang="it-IT" sz="1400" dirty="0" err="1"/>
              <a:t>RunningExamples</a:t>
            </a:r>
            <a:r>
              <a:rPr lang="it-IT" sz="1400" dirty="0"/>
              <a:t> {</a:t>
            </a:r>
          </a:p>
          <a:p>
            <a:endParaRPr lang="it-IT" sz="1400" dirty="0"/>
          </a:p>
          <a:p>
            <a:r>
              <a:rPr lang="it-IT" sz="1400" dirty="0"/>
              <a:t>    public </a:t>
            </a:r>
            <a:r>
              <a:rPr lang="it-IT" sz="1400" dirty="0" err="1"/>
              <a:t>static</a:t>
            </a:r>
            <a:r>
              <a:rPr lang="it-IT" sz="1400" dirty="0"/>
              <a:t>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main</a:t>
            </a: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[] </a:t>
            </a:r>
            <a:r>
              <a:rPr lang="it-IT" sz="1400" dirty="0" err="1"/>
              <a:t>args</a:t>
            </a:r>
            <a:r>
              <a:rPr lang="it-IT" sz="1400" dirty="0"/>
              <a:t>) {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    Counter b = new Counter();</a:t>
            </a:r>
          </a:p>
          <a:p>
            <a:r>
              <a:rPr lang="it-IT" sz="1400" dirty="0"/>
              <a:t>        Counter c = new Counter(4);</a:t>
            </a:r>
          </a:p>
          <a:p>
            <a:r>
              <a:rPr lang="it-IT" sz="1400" dirty="0"/>
              <a:t>        Counter d = new Counter(c);</a:t>
            </a:r>
          </a:p>
          <a:p>
            <a:r>
              <a:rPr lang="it-IT" sz="14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c.increment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c.decrement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}</a:t>
            </a:r>
          </a:p>
          <a:p>
            <a:r>
              <a:rPr lang="it-IT" sz="1400" dirty="0"/>
              <a:t>}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252083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B95C0-1FD5-0ABF-231D-98FE64E0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02" y="-387424"/>
            <a:ext cx="7543800" cy="1295400"/>
          </a:xfrm>
        </p:spPr>
        <p:txBody>
          <a:bodyPr/>
          <a:lstStyle/>
          <a:p>
            <a:r>
              <a:rPr lang="it-IT"/>
              <a:t>I metodi </a:t>
            </a:r>
            <a:r>
              <a:rPr lang="it-IT" err="1"/>
              <a:t>get</a:t>
            </a:r>
            <a:r>
              <a:rPr lang="it-IT"/>
              <a:t> e set (1/2)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CD3746-CA01-7BC8-0BB0-21870101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2776"/>
            <a:ext cx="8229600" cy="4411662"/>
          </a:xfrm>
        </p:spPr>
        <p:txBody>
          <a:bodyPr/>
          <a:lstStyle/>
          <a:p>
            <a:r>
              <a:rPr lang="it-IT"/>
              <a:t>Chi utilizza gli oggetti di una classe può dover accedere allo stato dell’oggetto in lettura o in scrittura</a:t>
            </a:r>
          </a:p>
          <a:p>
            <a:r>
              <a:rPr lang="it-IT"/>
              <a:t>Le classi perciò forniscono spesso dei metodi pubblici che consentono di ottenere il valore delle variabili di istanza private (</a:t>
            </a:r>
            <a:r>
              <a:rPr lang="it-IT">
                <a:solidFill>
                  <a:srgbClr val="FF0000"/>
                </a:solidFill>
              </a:rPr>
              <a:t>metodi </a:t>
            </a:r>
            <a:r>
              <a:rPr lang="it-IT" err="1">
                <a:solidFill>
                  <a:srgbClr val="FF0000"/>
                </a:solidFill>
              </a:rPr>
              <a:t>get</a:t>
            </a:r>
            <a:r>
              <a:rPr lang="it-IT"/>
              <a:t>) o di modificarne il valore (</a:t>
            </a:r>
            <a:r>
              <a:rPr lang="it-IT">
                <a:solidFill>
                  <a:srgbClr val="FF0000"/>
                </a:solidFill>
              </a:rPr>
              <a:t>metodi set</a:t>
            </a:r>
            <a:r>
              <a:rPr lang="it-IT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7120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F90B5C-ECDB-AA20-A256-06D8E536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7543800" cy="1295400"/>
          </a:xfrm>
        </p:spPr>
        <p:txBody>
          <a:bodyPr/>
          <a:lstStyle/>
          <a:p>
            <a:r>
              <a:rPr lang="it-IT"/>
              <a:t>I metodi </a:t>
            </a:r>
            <a:r>
              <a:rPr lang="it-IT" err="1"/>
              <a:t>get</a:t>
            </a:r>
            <a:r>
              <a:rPr lang="it-IT"/>
              <a:t> e set (2/2)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9CE062-BCA9-04B4-3CB5-FC9EBB2AC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44" y="1700808"/>
            <a:ext cx="8229600" cy="4411662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it-IT" altLang="it-IT" sz="2600">
                <a:cs typeface="Times New Roman" panose="02020603050405020304" pitchFamily="18" charset="0"/>
              </a:rPr>
              <a:t>Accesso in lettura delle variabili di istanza (acquisizione dello stato dell’oggetto)</a:t>
            </a:r>
          </a:p>
          <a:p>
            <a:pPr lvl="1" algn="just">
              <a:lnSpc>
                <a:spcPct val="90000"/>
              </a:lnSpc>
            </a:pPr>
            <a:r>
              <a:rPr lang="it-IT" altLang="it-IT" sz="2200">
                <a:cs typeface="Times New Roman" panose="02020603050405020304" pitchFamily="18" charset="0"/>
              </a:rPr>
              <a:t>Consentono di accedere al valore corrente dell’oggetto </a:t>
            </a:r>
          </a:p>
          <a:p>
            <a:pPr lvl="1" algn="just">
              <a:lnSpc>
                <a:spcPct val="90000"/>
              </a:lnSpc>
            </a:pPr>
            <a:r>
              <a:rPr lang="it-IT" altLang="it-IT" sz="2200">
                <a:cs typeface="Times New Roman" panose="02020603050405020304" pitchFamily="18" charset="0"/>
              </a:rPr>
              <a:t>Funzioni “</a:t>
            </a:r>
            <a:r>
              <a:rPr lang="it-IT" altLang="it-IT" sz="2200" err="1">
                <a:cs typeface="Times New Roman" panose="02020603050405020304" pitchFamily="18" charset="0"/>
              </a:rPr>
              <a:t>get</a:t>
            </a:r>
            <a:r>
              <a:rPr lang="it-IT" altLang="it-IT" sz="2200">
                <a:cs typeface="Times New Roman" panose="02020603050405020304" pitchFamily="18" charset="0"/>
              </a:rPr>
              <a:t>()”:  </a:t>
            </a:r>
            <a:r>
              <a:rPr lang="it-IT" altLang="it-IT" sz="2200">
                <a:solidFill>
                  <a:srgbClr val="FF0000"/>
                </a:solidFill>
                <a:cs typeface="Times New Roman" panose="02020603050405020304" pitchFamily="18" charset="0"/>
              </a:rPr>
              <a:t>public </a:t>
            </a:r>
            <a:r>
              <a:rPr lang="it-IT" altLang="it-IT" sz="2000" b="1">
                <a:solidFill>
                  <a:srgbClr val="FF0000"/>
                </a:solidFill>
                <a:cs typeface="Times New Roman" panose="02020603050405020304" pitchFamily="18" charset="0"/>
              </a:rPr>
              <a:t>T </a:t>
            </a:r>
            <a:r>
              <a:rPr lang="it-IT" altLang="it-IT" sz="2000" b="1" err="1">
                <a:solidFill>
                  <a:srgbClr val="FF0000"/>
                </a:solidFill>
                <a:cs typeface="Times New Roman" panose="02020603050405020304" pitchFamily="18" charset="0"/>
              </a:rPr>
              <a:t>getVI</a:t>
            </a:r>
            <a:r>
              <a:rPr lang="it-IT" altLang="it-IT" sz="2000" b="1">
                <a:solidFill>
                  <a:srgbClr val="FF0000"/>
                </a:solidFill>
                <a:cs typeface="Times New Roman" panose="02020603050405020304" pitchFamily="18" charset="0"/>
              </a:rPr>
              <a:t>() </a:t>
            </a:r>
            <a:r>
              <a:rPr lang="en-GB" altLang="it-IT" sz="2000" b="1">
                <a:solidFill>
                  <a:srgbClr val="FF0000"/>
                </a:solidFill>
                <a:latin typeface="Times" pitchFamily="2" charset="0"/>
                <a:cs typeface="Times New Roman" panose="02020603050405020304" pitchFamily="18" charset="0"/>
              </a:rPr>
              <a:t>{ return VI;}</a:t>
            </a:r>
          </a:p>
          <a:p>
            <a:pPr marL="344487" lvl="1" indent="0" algn="just">
              <a:lnSpc>
                <a:spcPct val="90000"/>
              </a:lnSpc>
              <a:buNone/>
            </a:pPr>
            <a:endParaRPr lang="en-GB" altLang="it-IT" sz="2000" b="1">
              <a:solidFill>
                <a:srgbClr val="FF0000"/>
              </a:solidFill>
              <a:latin typeface="Times" pitchFamily="2" charset="0"/>
              <a:cs typeface="Times New Roman" panose="02020603050405020304" pitchFamily="18" charset="0"/>
            </a:endParaRPr>
          </a:p>
          <a:p>
            <a:pPr marL="344487" lvl="1" indent="0" algn="just">
              <a:lnSpc>
                <a:spcPct val="90000"/>
              </a:lnSpc>
              <a:buNone/>
            </a:pPr>
            <a:endParaRPr lang="en-GB" altLang="it-IT" sz="2000" b="1">
              <a:solidFill>
                <a:srgbClr val="FF0000"/>
              </a:solidFill>
              <a:latin typeface="Times" pitchFamily="2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it-IT" altLang="it-IT" sz="2600">
                <a:cs typeface="Times New Roman" panose="02020603050405020304" pitchFamily="18" charset="0"/>
              </a:rPr>
              <a:t>Accesso in scrittura dei valori delle variabili  di istanza (posizionamento dello stato dell'oggetto)</a:t>
            </a:r>
          </a:p>
          <a:p>
            <a:pPr lvl="1" algn="just">
              <a:lnSpc>
                <a:spcPct val="90000"/>
              </a:lnSpc>
            </a:pPr>
            <a:r>
              <a:rPr lang="it-IT" altLang="it-IT" sz="2200">
                <a:cs typeface="Times New Roman" panose="02020603050405020304" pitchFamily="18" charset="0"/>
              </a:rPr>
              <a:t>Consentono di modificare lo stato dell’oggetto</a:t>
            </a:r>
          </a:p>
          <a:p>
            <a:pPr lvl="1" algn="just">
              <a:lnSpc>
                <a:spcPct val="90000"/>
              </a:lnSpc>
            </a:pPr>
            <a:r>
              <a:rPr lang="it-IT" altLang="it-IT" sz="2200">
                <a:cs typeface="Times New Roman" panose="02020603050405020304" pitchFamily="18" charset="0"/>
              </a:rPr>
              <a:t>Funzioni “set(T)”: </a:t>
            </a:r>
            <a:r>
              <a:rPr lang="it-IT" altLang="it-IT" sz="2200">
                <a:solidFill>
                  <a:srgbClr val="FF0000"/>
                </a:solidFill>
                <a:cs typeface="Times New Roman" panose="02020603050405020304" pitchFamily="18" charset="0"/>
              </a:rPr>
              <a:t>public </a:t>
            </a:r>
            <a:r>
              <a:rPr lang="it-IT" altLang="it-IT" sz="2000" b="1" err="1">
                <a:solidFill>
                  <a:srgbClr val="FF0000"/>
                </a:solidFill>
                <a:cs typeface="Times New Roman" panose="02020603050405020304" pitchFamily="18" charset="0"/>
              </a:rPr>
              <a:t>void</a:t>
            </a:r>
            <a:r>
              <a:rPr lang="it-IT" altLang="it-IT" sz="20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it-IT" altLang="it-IT" sz="2000" b="1" err="1">
                <a:solidFill>
                  <a:srgbClr val="FF0000"/>
                </a:solidFill>
                <a:cs typeface="Times New Roman" panose="02020603050405020304" pitchFamily="18" charset="0"/>
              </a:rPr>
              <a:t>setVI</a:t>
            </a:r>
            <a:r>
              <a:rPr lang="it-IT" altLang="it-IT" sz="2000" b="1">
                <a:solidFill>
                  <a:srgbClr val="FF0000"/>
                </a:solidFill>
                <a:cs typeface="Times New Roman" panose="02020603050405020304" pitchFamily="18" charset="0"/>
              </a:rPr>
              <a:t>(T </a:t>
            </a:r>
            <a:r>
              <a:rPr lang="it-IT" altLang="it-IT" sz="2000" b="1" err="1">
                <a:solidFill>
                  <a:srgbClr val="FF0000"/>
                </a:solidFill>
                <a:cs typeface="Times New Roman" panose="02020603050405020304" pitchFamily="18" charset="0"/>
              </a:rPr>
              <a:t>value</a:t>
            </a:r>
            <a:r>
              <a:rPr lang="it-IT" altLang="it-IT" sz="2000" b="1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  <a:r>
              <a:rPr lang="en-GB" altLang="it-IT" sz="2000" b="1">
                <a:solidFill>
                  <a:srgbClr val="FF0000"/>
                </a:solidFill>
                <a:latin typeface="Times" pitchFamily="2" charset="0"/>
                <a:cs typeface="Times New Roman" panose="02020603050405020304" pitchFamily="18" charset="0"/>
              </a:rPr>
              <a:t>{ VI=value;}</a:t>
            </a:r>
          </a:p>
          <a:p>
            <a:pPr marL="344487" lvl="1" indent="0" algn="just">
              <a:lnSpc>
                <a:spcPct val="90000"/>
              </a:lnSpc>
              <a:buNone/>
            </a:pPr>
            <a:endParaRPr lang="en-GB" altLang="it-IT" sz="2000" b="1">
              <a:solidFill>
                <a:srgbClr val="FF0000"/>
              </a:solidFill>
              <a:latin typeface="Times" pitchFamily="2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5882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C3BF64-87F8-192E-967E-D7AC0D2B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531440"/>
            <a:ext cx="7543800" cy="1295400"/>
          </a:xfrm>
        </p:spPr>
        <p:txBody>
          <a:bodyPr/>
          <a:lstStyle/>
          <a:p>
            <a:r>
              <a:rPr lang="it-IT"/>
              <a:t>Classe Counter – versione 3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783718-A5DD-1118-2D00-2F25AFC6B82A}"/>
              </a:ext>
            </a:extLst>
          </p:cNvPr>
          <p:cNvSpPr txBox="1"/>
          <p:nvPr/>
        </p:nvSpPr>
        <p:spPr>
          <a:xfrm>
            <a:off x="270942" y="1052736"/>
            <a:ext cx="4889480" cy="52629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sz="1400" dirty="0"/>
          </a:p>
          <a:p>
            <a:r>
              <a:rPr lang="it-IT" sz="1400" dirty="0"/>
              <a:t>public class Counter {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private long </a:t>
            </a:r>
            <a:r>
              <a:rPr lang="it-IT" sz="1400" dirty="0" err="1"/>
              <a:t>value</a:t>
            </a:r>
            <a:r>
              <a:rPr lang="it-IT" sz="1400" dirty="0"/>
              <a:t>;</a:t>
            </a:r>
          </a:p>
          <a:p>
            <a:r>
              <a:rPr lang="it-IT" sz="1400" dirty="0"/>
              <a:t>    private long max;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//costruttore senza argomenti</a:t>
            </a:r>
          </a:p>
          <a:p>
            <a:r>
              <a:rPr lang="it-IT" sz="1400" dirty="0"/>
              <a:t>    public Counter() {max=10;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/>
              <a:t>    //costruttore con argomenti</a:t>
            </a:r>
          </a:p>
          <a:p>
            <a:r>
              <a:rPr lang="it-IT" sz="1400" dirty="0"/>
              <a:t>    public Counter(long m) {max=m;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/>
              <a:t>    //costruttore di copia</a:t>
            </a:r>
          </a:p>
          <a:p>
            <a:r>
              <a:rPr lang="it-IT" sz="1400" dirty="0"/>
              <a:t>    public Counter(Counter C) {max=</a:t>
            </a:r>
            <a:r>
              <a:rPr lang="it-IT" sz="1400" dirty="0" err="1"/>
              <a:t>C.max</a:t>
            </a:r>
            <a:r>
              <a:rPr lang="it-IT" sz="1400" dirty="0"/>
              <a:t>; </a:t>
            </a:r>
            <a:r>
              <a:rPr lang="it-IT" sz="1400" dirty="0" err="1"/>
              <a:t>value</a:t>
            </a:r>
            <a:r>
              <a:rPr lang="it-IT" sz="1400" dirty="0"/>
              <a:t>=</a:t>
            </a:r>
            <a:r>
              <a:rPr lang="it-IT" sz="1400" dirty="0" err="1"/>
              <a:t>C.value</a:t>
            </a:r>
            <a:r>
              <a:rPr lang="it-IT" sz="1400" dirty="0"/>
              <a:t>;}</a:t>
            </a:r>
          </a:p>
          <a:p>
            <a:r>
              <a:rPr lang="it-IT" sz="1400" dirty="0"/>
              <a:t>    </a:t>
            </a:r>
            <a:r>
              <a:rPr lang="it-IT" sz="1400" dirty="0">
                <a:solidFill>
                  <a:srgbClr val="00B0F0"/>
                </a:solidFill>
              </a:rPr>
              <a:t>// getter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public long </a:t>
            </a:r>
            <a:r>
              <a:rPr lang="it-IT" sz="1400" dirty="0" err="1">
                <a:solidFill>
                  <a:srgbClr val="00B0F0"/>
                </a:solidFill>
              </a:rPr>
              <a:t>get_value</a:t>
            </a:r>
            <a:r>
              <a:rPr lang="it-IT" sz="1400" dirty="0">
                <a:solidFill>
                  <a:srgbClr val="00B0F0"/>
                </a:solidFill>
              </a:rPr>
              <a:t>() {</a:t>
            </a:r>
            <a:r>
              <a:rPr lang="it-IT" sz="1400" dirty="0" err="1">
                <a:solidFill>
                  <a:srgbClr val="00B0F0"/>
                </a:solidFill>
              </a:rPr>
              <a:t>return</a:t>
            </a:r>
            <a:r>
              <a:rPr lang="it-IT" sz="1400" dirty="0">
                <a:solidFill>
                  <a:srgbClr val="00B0F0"/>
                </a:solidFill>
              </a:rPr>
              <a:t> </a:t>
            </a:r>
            <a:r>
              <a:rPr lang="it-IT" sz="1400" dirty="0" err="1">
                <a:solidFill>
                  <a:srgbClr val="00B0F0"/>
                </a:solidFill>
              </a:rPr>
              <a:t>value</a:t>
            </a:r>
            <a:r>
              <a:rPr lang="it-IT" sz="1400" dirty="0">
                <a:solidFill>
                  <a:srgbClr val="00B0F0"/>
                </a:solidFill>
              </a:rPr>
              <a:t>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public long </a:t>
            </a:r>
            <a:r>
              <a:rPr lang="it-IT" sz="1400" dirty="0" err="1">
                <a:solidFill>
                  <a:srgbClr val="00B0F0"/>
                </a:solidFill>
              </a:rPr>
              <a:t>get_max</a:t>
            </a:r>
            <a:r>
              <a:rPr lang="it-IT" sz="1400" dirty="0">
                <a:solidFill>
                  <a:srgbClr val="00B0F0"/>
                </a:solidFill>
              </a:rPr>
              <a:t>() {</a:t>
            </a:r>
            <a:r>
              <a:rPr lang="it-IT" sz="1400" dirty="0" err="1">
                <a:solidFill>
                  <a:srgbClr val="00B0F0"/>
                </a:solidFill>
              </a:rPr>
              <a:t>return</a:t>
            </a:r>
            <a:r>
              <a:rPr lang="it-IT" sz="1400" dirty="0">
                <a:solidFill>
                  <a:srgbClr val="00B0F0"/>
                </a:solidFill>
              </a:rPr>
              <a:t> max;}</a:t>
            </a:r>
          </a:p>
          <a:p>
            <a:r>
              <a:rPr lang="it-IT" sz="1400" dirty="0"/>
              <a:t>    </a:t>
            </a:r>
            <a:r>
              <a:rPr lang="it-IT" sz="1400" dirty="0">
                <a:solidFill>
                  <a:srgbClr val="00B050"/>
                </a:solidFill>
              </a:rPr>
              <a:t>// setter</a:t>
            </a:r>
          </a:p>
          <a:p>
            <a:r>
              <a:rPr lang="it-IT" sz="1400" dirty="0">
                <a:solidFill>
                  <a:srgbClr val="00B050"/>
                </a:solidFill>
              </a:rPr>
              <a:t>    public </a:t>
            </a:r>
            <a:r>
              <a:rPr lang="it-IT" sz="1400" dirty="0" err="1">
                <a:solidFill>
                  <a:srgbClr val="00B050"/>
                </a:solidFill>
              </a:rPr>
              <a:t>void</a:t>
            </a:r>
            <a:r>
              <a:rPr lang="it-IT" sz="1400" dirty="0">
                <a:solidFill>
                  <a:srgbClr val="00B050"/>
                </a:solidFill>
              </a:rPr>
              <a:t> </a:t>
            </a:r>
            <a:r>
              <a:rPr lang="it-IT" sz="1400" dirty="0" err="1">
                <a:solidFill>
                  <a:srgbClr val="00B050"/>
                </a:solidFill>
              </a:rPr>
              <a:t>set_max</a:t>
            </a:r>
            <a:r>
              <a:rPr lang="it-IT" sz="1400" dirty="0">
                <a:solidFill>
                  <a:srgbClr val="00B050"/>
                </a:solidFill>
              </a:rPr>
              <a:t>(long m) {max=m;}</a:t>
            </a:r>
          </a:p>
          <a:p>
            <a:r>
              <a:rPr lang="it-IT" sz="1400" dirty="0"/>
              <a:t>    // metodi per la gestione del contatore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increment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++;}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decrement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--;}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boolean</a:t>
            </a:r>
            <a:r>
              <a:rPr lang="it-IT" sz="1400" dirty="0"/>
              <a:t> </a:t>
            </a:r>
            <a:r>
              <a:rPr lang="it-IT" sz="1400" dirty="0" err="1"/>
              <a:t>ovf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(value+1)&gt;=max;}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boolean</a:t>
            </a:r>
            <a:r>
              <a:rPr lang="it-IT" sz="1400" dirty="0"/>
              <a:t> </a:t>
            </a:r>
            <a:r>
              <a:rPr lang="it-IT" sz="1400" dirty="0" err="1"/>
              <a:t>unf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(value-1)&lt;0;}</a:t>
            </a:r>
          </a:p>
          <a:p>
            <a:r>
              <a:rPr lang="it-IT" sz="1400" dirty="0"/>
              <a:t>}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442638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20C64D-A399-B630-4B14-1B5DE137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459432"/>
            <a:ext cx="7543800" cy="1295400"/>
          </a:xfrm>
        </p:spPr>
        <p:txBody>
          <a:bodyPr/>
          <a:lstStyle/>
          <a:p>
            <a:r>
              <a:rPr lang="it-IT" sz="4000"/>
              <a:t>Classe di prova – versione 3</a:t>
            </a: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A94DEC-F421-15A0-FE83-248F53188613}"/>
              </a:ext>
            </a:extLst>
          </p:cNvPr>
          <p:cNvSpPr txBox="1"/>
          <p:nvPr/>
        </p:nvSpPr>
        <p:spPr>
          <a:xfrm>
            <a:off x="408293" y="1196752"/>
            <a:ext cx="7976864" cy="5047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sz="800" dirty="0"/>
          </a:p>
          <a:p>
            <a:r>
              <a:rPr lang="it-IT" sz="1400" dirty="0"/>
              <a:t>public class </a:t>
            </a:r>
            <a:r>
              <a:rPr lang="it-IT" sz="1400" dirty="0" err="1"/>
              <a:t>RunningExamples</a:t>
            </a:r>
            <a:r>
              <a:rPr lang="it-IT" sz="1400" dirty="0"/>
              <a:t> {</a:t>
            </a:r>
          </a:p>
          <a:p>
            <a:endParaRPr lang="it-IT" sz="800" dirty="0"/>
          </a:p>
          <a:p>
            <a:r>
              <a:rPr lang="it-IT" sz="1400" dirty="0"/>
              <a:t>    public </a:t>
            </a:r>
            <a:r>
              <a:rPr lang="it-IT" sz="1400" dirty="0" err="1"/>
              <a:t>static</a:t>
            </a:r>
            <a:r>
              <a:rPr lang="it-IT" sz="1400" dirty="0"/>
              <a:t>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main</a:t>
            </a: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[] </a:t>
            </a:r>
            <a:r>
              <a:rPr lang="it-IT" sz="1400" dirty="0" err="1"/>
              <a:t>args</a:t>
            </a:r>
            <a:r>
              <a:rPr lang="it-IT" sz="1400" dirty="0"/>
              <a:t>) {</a:t>
            </a:r>
          </a:p>
          <a:p>
            <a:r>
              <a:rPr lang="it-IT" sz="800" dirty="0"/>
              <a:t>    </a:t>
            </a:r>
          </a:p>
          <a:p>
            <a:r>
              <a:rPr lang="it-IT" sz="1400" dirty="0"/>
              <a:t>        Counter b = new Counter();</a:t>
            </a:r>
          </a:p>
          <a:p>
            <a:r>
              <a:rPr lang="it-IT" sz="1400" dirty="0"/>
              <a:t>        Counter c = new Counter(4);</a:t>
            </a:r>
          </a:p>
          <a:p>
            <a:r>
              <a:rPr lang="it-IT" sz="1400" dirty="0"/>
              <a:t>        Counter d = new Counter(c);</a:t>
            </a:r>
          </a:p>
          <a:p>
            <a:r>
              <a:rPr lang="it-IT" sz="8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b: " + </a:t>
            </a:r>
            <a:r>
              <a:rPr lang="it-IT" sz="1400" dirty="0" err="1">
                <a:solidFill>
                  <a:srgbClr val="00B0F0"/>
                </a:solidFill>
              </a:rPr>
              <a:t>b.get_value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c: " + </a:t>
            </a:r>
            <a:r>
              <a:rPr lang="it-IT" sz="1400" dirty="0" err="1">
                <a:solidFill>
                  <a:srgbClr val="00B0F0"/>
                </a:solidFill>
              </a:rPr>
              <a:t>c.get_value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d: " + </a:t>
            </a:r>
            <a:r>
              <a:rPr lang="it-IT" sz="1400" dirty="0" err="1">
                <a:solidFill>
                  <a:srgbClr val="00B0F0"/>
                </a:solidFill>
              </a:rPr>
              <a:t>d.get_value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b: " + </a:t>
            </a:r>
            <a:r>
              <a:rPr lang="it-IT" sz="1400" dirty="0" err="1">
                <a:solidFill>
                  <a:srgbClr val="00B0F0"/>
                </a:solidFill>
              </a:rPr>
              <a:t>b.get_max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c: " + </a:t>
            </a:r>
            <a:r>
              <a:rPr lang="it-IT" sz="1400" dirty="0" err="1">
                <a:solidFill>
                  <a:srgbClr val="00B0F0"/>
                </a:solidFill>
              </a:rPr>
              <a:t>c.get_max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d: " + </a:t>
            </a:r>
            <a:r>
              <a:rPr lang="it-IT" sz="1400" dirty="0" err="1">
                <a:solidFill>
                  <a:srgbClr val="00B0F0"/>
                </a:solidFill>
              </a:rPr>
              <a:t>d.get_max</a:t>
            </a:r>
            <a:r>
              <a:rPr lang="it-IT" sz="1400" dirty="0">
                <a:solidFill>
                  <a:srgbClr val="00B0F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8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c.increment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 dopo l'incremento: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8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c.decrement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 dopo il decremento: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800" dirty="0"/>
              <a:t>       </a:t>
            </a:r>
          </a:p>
          <a:p>
            <a:r>
              <a:rPr lang="it-IT" sz="1400" dirty="0">
                <a:solidFill>
                  <a:srgbClr val="00B050"/>
                </a:solidFill>
              </a:rPr>
              <a:t>        </a:t>
            </a:r>
            <a:r>
              <a:rPr lang="it-IT" sz="1400" dirty="0" err="1">
                <a:solidFill>
                  <a:srgbClr val="00B050"/>
                </a:solidFill>
              </a:rPr>
              <a:t>d.set_max</a:t>
            </a:r>
            <a:r>
              <a:rPr lang="it-IT" sz="1400" dirty="0">
                <a:solidFill>
                  <a:srgbClr val="00B050"/>
                </a:solidFill>
              </a:rPr>
              <a:t>(20);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della soglia massima di d: " + </a:t>
            </a:r>
            <a:r>
              <a:rPr lang="it-IT" sz="1400" dirty="0" err="1"/>
              <a:t>d.get_max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}</a:t>
            </a:r>
          </a:p>
          <a:p>
            <a:r>
              <a:rPr lang="it-IT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1243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1B237-D64A-118D-1A07-587C531B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346283"/>
            <a:ext cx="7543800" cy="1295400"/>
          </a:xfrm>
        </p:spPr>
        <p:txBody>
          <a:bodyPr/>
          <a:lstStyle/>
          <a:p>
            <a:r>
              <a:rPr lang="it-IT"/>
              <a:t>Classe Counter – versione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BA578C-1CEA-2F32-1A13-F2CB2E804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104" y="1658124"/>
            <a:ext cx="3322712" cy="4411662"/>
          </a:xfrm>
        </p:spPr>
        <p:txBody>
          <a:bodyPr/>
          <a:lstStyle/>
          <a:p>
            <a:r>
              <a:rPr lang="it-IT" sz="1600"/>
              <a:t>Possiamo introdurre ora dei metodi che controllino che le operazioni di incremento e decremento possano essere eseguite in sicurezza, in modo che il valore del contatore non superi mai il valore di soglia corrente e che non diventi mai minore di zero.</a:t>
            </a:r>
          </a:p>
          <a:p>
            <a:r>
              <a:rPr lang="it-IT" sz="1600"/>
              <a:t>Questi metodi </a:t>
            </a:r>
            <a:r>
              <a:rPr lang="it-IT" sz="1600">
                <a:solidFill>
                  <a:srgbClr val="FF0000"/>
                </a:solidFill>
              </a:rPr>
              <a:t>verificano</a:t>
            </a:r>
            <a:r>
              <a:rPr lang="it-IT" sz="1600"/>
              <a:t> cioè </a:t>
            </a:r>
            <a:r>
              <a:rPr lang="it-IT" sz="1600">
                <a:solidFill>
                  <a:srgbClr val="FF0000"/>
                </a:solidFill>
              </a:rPr>
              <a:t>le pre-condizioni </a:t>
            </a:r>
            <a:r>
              <a:rPr lang="it-IT" sz="1600"/>
              <a:t>per le operazioni sul contatore e </a:t>
            </a:r>
            <a:r>
              <a:rPr lang="it-IT" sz="1600">
                <a:solidFill>
                  <a:srgbClr val="FF0000"/>
                </a:solidFill>
              </a:rPr>
              <a:t>sono "predicati" </a:t>
            </a:r>
            <a:r>
              <a:rPr lang="it-IT" sz="1600"/>
              <a:t>sullo stato degli oggetti, </a:t>
            </a:r>
            <a:r>
              <a:rPr lang="it-IT" sz="1600">
                <a:solidFill>
                  <a:srgbClr val="FF0000"/>
                </a:solidFill>
              </a:rPr>
              <a:t>tornano cioè un valore booleano e possono essere utilizzati nei passi condizionali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21E2C1-10D3-96BC-BB4A-CB6350C810F4}"/>
              </a:ext>
            </a:extLst>
          </p:cNvPr>
          <p:cNvSpPr txBox="1"/>
          <p:nvPr/>
        </p:nvSpPr>
        <p:spPr>
          <a:xfrm>
            <a:off x="447891" y="1124744"/>
            <a:ext cx="4889480" cy="50475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public class Counter {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private long </a:t>
            </a:r>
            <a:r>
              <a:rPr lang="it-IT" sz="1400" dirty="0" err="1"/>
              <a:t>value</a:t>
            </a:r>
            <a:r>
              <a:rPr lang="it-IT" sz="1400" dirty="0"/>
              <a:t>;</a:t>
            </a:r>
          </a:p>
          <a:p>
            <a:r>
              <a:rPr lang="it-IT" sz="1400" dirty="0"/>
              <a:t>    private long max;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//costruttore senza argomenti</a:t>
            </a:r>
          </a:p>
          <a:p>
            <a:r>
              <a:rPr lang="it-IT" sz="1400" dirty="0"/>
              <a:t>    public Counter() {max=10;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/>
              <a:t>    //costruttore con argomenti</a:t>
            </a:r>
          </a:p>
          <a:p>
            <a:r>
              <a:rPr lang="it-IT" sz="1400" dirty="0"/>
              <a:t>    public Counter(long m) {max=m; </a:t>
            </a:r>
            <a:r>
              <a:rPr lang="it-IT" sz="1400" dirty="0" err="1"/>
              <a:t>value</a:t>
            </a:r>
            <a:r>
              <a:rPr lang="it-IT" sz="1400" dirty="0"/>
              <a:t>=0;}</a:t>
            </a:r>
          </a:p>
          <a:p>
            <a:r>
              <a:rPr lang="it-IT" sz="1400" dirty="0"/>
              <a:t>    //costruttore di copia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public Counter(Counter C) {max=</a:t>
            </a:r>
            <a:r>
              <a:rPr lang="it-IT" sz="1400" dirty="0" err="1">
                <a:solidFill>
                  <a:schemeClr val="tx1"/>
                </a:solidFill>
              </a:rPr>
              <a:t>C.max</a:t>
            </a:r>
            <a:r>
              <a:rPr lang="it-IT" sz="1400" dirty="0">
                <a:solidFill>
                  <a:schemeClr val="tx1"/>
                </a:solidFill>
              </a:rPr>
              <a:t>; </a:t>
            </a:r>
            <a:r>
              <a:rPr lang="it-IT" sz="1400" dirty="0" err="1">
                <a:solidFill>
                  <a:schemeClr val="tx1"/>
                </a:solidFill>
              </a:rPr>
              <a:t>value</a:t>
            </a:r>
            <a:r>
              <a:rPr lang="it-IT" sz="1400" dirty="0">
                <a:solidFill>
                  <a:schemeClr val="tx1"/>
                </a:solidFill>
              </a:rPr>
              <a:t>=</a:t>
            </a:r>
            <a:r>
              <a:rPr lang="it-IT" sz="1400" dirty="0" err="1">
                <a:solidFill>
                  <a:schemeClr val="tx1"/>
                </a:solidFill>
              </a:rPr>
              <a:t>C.value</a:t>
            </a:r>
            <a:r>
              <a:rPr lang="it-IT" sz="1400" dirty="0">
                <a:solidFill>
                  <a:schemeClr val="tx1"/>
                </a:solidFill>
              </a:rPr>
              <a:t>;}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// getter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public long </a:t>
            </a:r>
            <a:r>
              <a:rPr lang="it-IT" sz="1400" dirty="0" err="1">
                <a:solidFill>
                  <a:schemeClr val="tx1"/>
                </a:solidFill>
              </a:rPr>
              <a:t>get_value</a:t>
            </a:r>
            <a:r>
              <a:rPr lang="it-IT" sz="1400" dirty="0">
                <a:solidFill>
                  <a:schemeClr val="tx1"/>
                </a:solidFill>
              </a:rPr>
              <a:t>() {</a:t>
            </a:r>
            <a:r>
              <a:rPr lang="it-IT" sz="1400" dirty="0" err="1">
                <a:solidFill>
                  <a:schemeClr val="tx1"/>
                </a:solidFill>
              </a:rPr>
              <a:t>return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value</a:t>
            </a:r>
            <a:r>
              <a:rPr lang="it-IT" sz="1400" dirty="0">
                <a:solidFill>
                  <a:schemeClr val="tx1"/>
                </a:solidFill>
              </a:rPr>
              <a:t>;}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public long </a:t>
            </a:r>
            <a:r>
              <a:rPr lang="it-IT" sz="1400" dirty="0" err="1">
                <a:solidFill>
                  <a:schemeClr val="tx1"/>
                </a:solidFill>
              </a:rPr>
              <a:t>get_max</a:t>
            </a:r>
            <a:r>
              <a:rPr lang="it-IT" sz="1400" dirty="0">
                <a:solidFill>
                  <a:schemeClr val="tx1"/>
                </a:solidFill>
              </a:rPr>
              <a:t>() {</a:t>
            </a:r>
            <a:r>
              <a:rPr lang="it-IT" sz="1400" dirty="0" err="1">
                <a:solidFill>
                  <a:schemeClr val="tx1"/>
                </a:solidFill>
              </a:rPr>
              <a:t>return</a:t>
            </a:r>
            <a:r>
              <a:rPr lang="it-IT" sz="1400" dirty="0">
                <a:solidFill>
                  <a:schemeClr val="tx1"/>
                </a:solidFill>
              </a:rPr>
              <a:t> max;}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// setter</a:t>
            </a:r>
          </a:p>
          <a:p>
            <a:r>
              <a:rPr lang="it-IT" sz="1400" dirty="0">
                <a:solidFill>
                  <a:schemeClr val="tx1"/>
                </a:solidFill>
              </a:rPr>
              <a:t>    public </a:t>
            </a:r>
            <a:r>
              <a:rPr lang="it-IT" sz="1400" dirty="0" err="1">
                <a:solidFill>
                  <a:schemeClr val="tx1"/>
                </a:solidFill>
              </a:rPr>
              <a:t>void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set_max</a:t>
            </a:r>
            <a:r>
              <a:rPr lang="it-IT" sz="1400" dirty="0">
                <a:solidFill>
                  <a:schemeClr val="tx1"/>
                </a:solidFill>
              </a:rPr>
              <a:t>(long m) {max=m;}</a:t>
            </a:r>
          </a:p>
          <a:p>
            <a:r>
              <a:rPr lang="it-IT" sz="1400" dirty="0"/>
              <a:t>    // metodi per la gestione del contatore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increment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++;}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decrement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--;}</a:t>
            </a:r>
          </a:p>
          <a:p>
            <a:r>
              <a:rPr lang="it-IT" sz="1400" dirty="0"/>
              <a:t>   //predicati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public </a:t>
            </a:r>
            <a:r>
              <a:rPr lang="it-IT" sz="1400" dirty="0" err="1">
                <a:solidFill>
                  <a:srgbClr val="00B0F0"/>
                </a:solidFill>
              </a:rPr>
              <a:t>boolean</a:t>
            </a:r>
            <a:r>
              <a:rPr lang="it-IT" sz="1400" dirty="0">
                <a:solidFill>
                  <a:srgbClr val="00B0F0"/>
                </a:solidFill>
              </a:rPr>
              <a:t> </a:t>
            </a:r>
            <a:r>
              <a:rPr lang="it-IT" sz="1400" dirty="0" err="1">
                <a:solidFill>
                  <a:srgbClr val="00B0F0"/>
                </a:solidFill>
              </a:rPr>
              <a:t>ovf</a:t>
            </a:r>
            <a:r>
              <a:rPr lang="it-IT" sz="1400" dirty="0">
                <a:solidFill>
                  <a:srgbClr val="00B0F0"/>
                </a:solidFill>
              </a:rPr>
              <a:t>() {</a:t>
            </a:r>
            <a:r>
              <a:rPr lang="it-IT" sz="1400" dirty="0" err="1">
                <a:solidFill>
                  <a:srgbClr val="00B0F0"/>
                </a:solidFill>
              </a:rPr>
              <a:t>return</a:t>
            </a:r>
            <a:r>
              <a:rPr lang="it-IT" sz="1400" dirty="0">
                <a:solidFill>
                  <a:srgbClr val="00B0F0"/>
                </a:solidFill>
              </a:rPr>
              <a:t> (value+1)&gt;=max;}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public </a:t>
            </a:r>
            <a:r>
              <a:rPr lang="it-IT" sz="1400" dirty="0" err="1">
                <a:solidFill>
                  <a:srgbClr val="00B0F0"/>
                </a:solidFill>
              </a:rPr>
              <a:t>boolean</a:t>
            </a:r>
            <a:r>
              <a:rPr lang="it-IT" sz="1400" dirty="0">
                <a:solidFill>
                  <a:srgbClr val="00B0F0"/>
                </a:solidFill>
              </a:rPr>
              <a:t> </a:t>
            </a:r>
            <a:r>
              <a:rPr lang="it-IT" sz="1400" dirty="0" err="1">
                <a:solidFill>
                  <a:srgbClr val="00B0F0"/>
                </a:solidFill>
              </a:rPr>
              <a:t>unf</a:t>
            </a:r>
            <a:r>
              <a:rPr lang="it-IT" sz="1400" dirty="0">
                <a:solidFill>
                  <a:srgbClr val="00B0F0"/>
                </a:solidFill>
              </a:rPr>
              <a:t>() {</a:t>
            </a:r>
            <a:r>
              <a:rPr lang="it-IT" sz="1400" dirty="0" err="1">
                <a:solidFill>
                  <a:srgbClr val="00B0F0"/>
                </a:solidFill>
              </a:rPr>
              <a:t>return</a:t>
            </a:r>
            <a:r>
              <a:rPr lang="it-IT" sz="1400" dirty="0">
                <a:solidFill>
                  <a:srgbClr val="00B0F0"/>
                </a:solidFill>
              </a:rPr>
              <a:t> (value-1)&lt;0;}</a:t>
            </a:r>
          </a:p>
          <a:p>
            <a:r>
              <a:rPr lang="it-IT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506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6F367-A279-C630-9A77-42BE4D8B6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502" y="-764450"/>
            <a:ext cx="7543800" cy="1295400"/>
          </a:xfrm>
        </p:spPr>
        <p:txBody>
          <a:bodyPr/>
          <a:lstStyle/>
          <a:p>
            <a:r>
              <a:rPr lang="it-IT" sz="2800"/>
              <a:t>Classe di prova – versione 4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285C8B-427A-27C8-5A8F-EAABA6C85387}"/>
              </a:ext>
            </a:extLst>
          </p:cNvPr>
          <p:cNvSpPr txBox="1"/>
          <p:nvPr/>
        </p:nvSpPr>
        <p:spPr>
          <a:xfrm>
            <a:off x="179512" y="530950"/>
            <a:ext cx="7051930" cy="63094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it-IT" sz="800" dirty="0"/>
          </a:p>
          <a:p>
            <a:r>
              <a:rPr lang="it-IT" sz="1200" dirty="0"/>
              <a:t>public class </a:t>
            </a:r>
            <a:r>
              <a:rPr lang="it-IT" sz="1200" dirty="0" err="1"/>
              <a:t>RunningExamples</a:t>
            </a:r>
            <a:r>
              <a:rPr lang="it-IT" sz="1200" dirty="0"/>
              <a:t> {</a:t>
            </a:r>
          </a:p>
          <a:p>
            <a:r>
              <a:rPr lang="it-IT" sz="1200" dirty="0"/>
              <a:t>    public </a:t>
            </a:r>
            <a:r>
              <a:rPr lang="it-IT" sz="1200" dirty="0" err="1"/>
              <a:t>static</a:t>
            </a:r>
            <a:r>
              <a:rPr lang="it-IT" sz="1200" dirty="0"/>
              <a:t> </a:t>
            </a:r>
            <a:r>
              <a:rPr lang="it-IT" sz="1200" dirty="0" err="1"/>
              <a:t>void</a:t>
            </a:r>
            <a:r>
              <a:rPr lang="it-IT" sz="1200" dirty="0"/>
              <a:t> </a:t>
            </a:r>
            <a:r>
              <a:rPr lang="it-IT" sz="1200" dirty="0" err="1"/>
              <a:t>main</a:t>
            </a:r>
            <a:r>
              <a:rPr lang="it-IT" sz="1200" dirty="0"/>
              <a:t>(</a:t>
            </a:r>
            <a:r>
              <a:rPr lang="it-IT" sz="1200" dirty="0" err="1"/>
              <a:t>String</a:t>
            </a:r>
            <a:r>
              <a:rPr lang="it-IT" sz="1200" dirty="0"/>
              <a:t>[] </a:t>
            </a:r>
            <a:r>
              <a:rPr lang="it-IT" sz="1200" dirty="0" err="1"/>
              <a:t>args</a:t>
            </a:r>
            <a:r>
              <a:rPr lang="it-IT" sz="1200" dirty="0"/>
              <a:t>) {</a:t>
            </a:r>
          </a:p>
          <a:p>
            <a:r>
              <a:rPr lang="it-IT" sz="1200" dirty="0"/>
              <a:t>        Counter b = new Counter();</a:t>
            </a:r>
          </a:p>
          <a:p>
            <a:r>
              <a:rPr lang="it-IT" sz="1200" dirty="0"/>
              <a:t>        Counter c = new Counter(4);</a:t>
            </a:r>
          </a:p>
          <a:p>
            <a:r>
              <a:rPr lang="it-IT" sz="1200" dirty="0"/>
              <a:t>        Counter d = new Counter(c);</a:t>
            </a:r>
          </a:p>
          <a:p>
            <a:r>
              <a:rPr lang="it-IT" sz="800" dirty="0"/>
              <a:t>     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b: " + </a:t>
            </a:r>
            <a:r>
              <a:rPr lang="it-IT" sz="1200" dirty="0" err="1"/>
              <a:t>b.get_value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c: " + </a:t>
            </a:r>
            <a:r>
              <a:rPr lang="it-IT" sz="1200" dirty="0" err="1"/>
              <a:t>c.get_value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d: " + </a:t>
            </a:r>
            <a:r>
              <a:rPr lang="it-IT" sz="1200" dirty="0" err="1"/>
              <a:t>d.get_value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("soglia corrente del contatore b: " + </a:t>
            </a:r>
            <a:r>
              <a:rPr lang="it-IT" sz="1200" dirty="0" err="1"/>
              <a:t>b.get_max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("soglia corrente del contatore c: " + </a:t>
            </a:r>
            <a:r>
              <a:rPr lang="it-IT" sz="1200" dirty="0" err="1"/>
              <a:t>c.get_max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("soglia corrente del contatore d: " + </a:t>
            </a:r>
            <a:r>
              <a:rPr lang="it-IT" sz="1200" dirty="0" err="1"/>
              <a:t>d.get_max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800" dirty="0"/>
              <a:t>        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</a:t>
            </a:r>
            <a:r>
              <a:rPr lang="it-IT" sz="1200" dirty="0" err="1">
                <a:solidFill>
                  <a:srgbClr val="00B0F0"/>
                </a:solidFill>
              </a:rPr>
              <a:t>if</a:t>
            </a:r>
            <a:r>
              <a:rPr lang="it-IT" sz="1200" dirty="0">
                <a:solidFill>
                  <a:srgbClr val="00B0F0"/>
                </a:solidFill>
              </a:rPr>
              <a:t>(!</a:t>
            </a:r>
            <a:r>
              <a:rPr lang="it-IT" sz="1200" dirty="0" err="1">
                <a:solidFill>
                  <a:srgbClr val="00B0F0"/>
                </a:solidFill>
              </a:rPr>
              <a:t>c.ovf</a:t>
            </a:r>
            <a:r>
              <a:rPr lang="it-IT" sz="1200" dirty="0">
                <a:solidFill>
                  <a:srgbClr val="00B0F0"/>
                </a:solidFill>
              </a:rPr>
              <a:t>()) {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c.increment</a:t>
            </a:r>
            <a:r>
              <a:rPr lang="it-IT" sz="1200" dirty="0"/>
              <a:t>();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c dopo l'incremento: " + </a:t>
            </a:r>
            <a:r>
              <a:rPr lang="it-IT" sz="1200" dirty="0" err="1"/>
              <a:t>c.get_value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    }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else </a:t>
            </a:r>
            <a:r>
              <a:rPr lang="it-IT" sz="1200" dirty="0" err="1"/>
              <a:t>System.out.print</a:t>
            </a:r>
            <a:r>
              <a:rPr lang="it-IT" sz="1200" dirty="0"/>
              <a:t>("pre-condizione non verificata, impossibile incrementare c! 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</a:t>
            </a:r>
            <a:r>
              <a:rPr lang="it-IT" sz="1200" dirty="0" err="1">
                <a:solidFill>
                  <a:srgbClr val="00B0F0"/>
                </a:solidFill>
              </a:rPr>
              <a:t>if</a:t>
            </a:r>
            <a:r>
              <a:rPr lang="it-IT" sz="1200" dirty="0">
                <a:solidFill>
                  <a:srgbClr val="00B0F0"/>
                </a:solidFill>
              </a:rPr>
              <a:t>(!</a:t>
            </a:r>
            <a:r>
              <a:rPr lang="it-IT" sz="1200" dirty="0" err="1">
                <a:solidFill>
                  <a:srgbClr val="00B0F0"/>
                </a:solidFill>
              </a:rPr>
              <a:t>c.unf</a:t>
            </a:r>
            <a:r>
              <a:rPr lang="it-IT" sz="1200" dirty="0">
                <a:solidFill>
                  <a:srgbClr val="00B0F0"/>
                </a:solidFill>
              </a:rPr>
              <a:t>()){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c.decrement</a:t>
            </a:r>
            <a:r>
              <a:rPr lang="it-IT" sz="1200" dirty="0"/>
              <a:t>();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c dopo il decremento: " + </a:t>
            </a:r>
            <a:r>
              <a:rPr lang="it-IT" sz="1200" dirty="0" err="1"/>
              <a:t>c.get_value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    }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    else </a:t>
            </a:r>
            <a:r>
              <a:rPr lang="it-IT" sz="1200" dirty="0" err="1"/>
              <a:t>System.out.print</a:t>
            </a:r>
            <a:r>
              <a:rPr lang="it-IT" sz="1200" dirty="0"/>
              <a:t>("pre-condizione non verificata, impossibile decrementare c! 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</a:t>
            </a:r>
            <a:r>
              <a:rPr lang="it-IT" sz="1200" dirty="0" err="1">
                <a:solidFill>
                  <a:srgbClr val="00B0F0"/>
                </a:solidFill>
              </a:rPr>
              <a:t>if</a:t>
            </a:r>
            <a:r>
              <a:rPr lang="it-IT" sz="1200" dirty="0">
                <a:solidFill>
                  <a:srgbClr val="00B0F0"/>
                </a:solidFill>
              </a:rPr>
              <a:t>(!</a:t>
            </a:r>
            <a:r>
              <a:rPr lang="it-IT" sz="1200" dirty="0" err="1">
                <a:solidFill>
                  <a:srgbClr val="00B0F0"/>
                </a:solidFill>
              </a:rPr>
              <a:t>c.unf</a:t>
            </a:r>
            <a:r>
              <a:rPr lang="it-IT" sz="1200" dirty="0">
                <a:solidFill>
                  <a:srgbClr val="00B0F0"/>
                </a:solidFill>
              </a:rPr>
              <a:t>()){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c.decrement</a:t>
            </a:r>
            <a:r>
              <a:rPr lang="it-IT" sz="1200" dirty="0"/>
              <a:t>();</a:t>
            </a:r>
          </a:p>
          <a:p>
            <a:r>
              <a:rPr lang="it-IT" sz="1200" dirty="0"/>
              <a:t>    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 contatore c dopo il decremento: " + </a:t>
            </a:r>
            <a:r>
              <a:rPr lang="it-IT" sz="1200" dirty="0" err="1"/>
              <a:t>c.get_value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        }</a:t>
            </a:r>
          </a:p>
          <a:p>
            <a:r>
              <a:rPr lang="it-IT" sz="1200" dirty="0">
                <a:solidFill>
                  <a:srgbClr val="00B0F0"/>
                </a:solidFill>
              </a:rPr>
              <a:t>        else </a:t>
            </a:r>
            <a:r>
              <a:rPr lang="it-IT" sz="1200" dirty="0" err="1"/>
              <a:t>System.out.print</a:t>
            </a:r>
            <a:r>
              <a:rPr lang="it-IT" sz="1200" dirty="0"/>
              <a:t>("pre-condizione non verificata, impossibile decrementare c! 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800" dirty="0"/>
              <a:t>  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d.set_max</a:t>
            </a:r>
            <a:r>
              <a:rPr lang="it-IT" sz="1200" dirty="0"/>
              <a:t>(20);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System.out.print</a:t>
            </a:r>
            <a:r>
              <a:rPr lang="it-IT" sz="1200" dirty="0"/>
              <a:t>("valore corrente della soglia massima di d: " + </a:t>
            </a:r>
            <a:r>
              <a:rPr lang="it-IT" sz="1200" dirty="0" err="1"/>
              <a:t>d.get_max</a:t>
            </a:r>
            <a:r>
              <a:rPr lang="it-IT" sz="1200" dirty="0"/>
              <a:t>() + "\</a:t>
            </a:r>
            <a:r>
              <a:rPr lang="it-IT" sz="1200" dirty="0" err="1"/>
              <a:t>n</a:t>
            </a:r>
            <a:r>
              <a:rPr lang="it-IT" sz="1200" dirty="0"/>
              <a:t>");</a:t>
            </a:r>
          </a:p>
          <a:p>
            <a:r>
              <a:rPr lang="it-IT" sz="1200" dirty="0"/>
              <a:t>    }</a:t>
            </a:r>
          </a:p>
          <a:p>
            <a:r>
              <a:rPr lang="it-IT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8668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C3735E-B4BE-B9DD-B0AC-8439A64A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Distruzione degli oggetti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7DC80A-C548-4197-289B-067610165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Il ciclo di vita di un </a:t>
            </a:r>
            <a:r>
              <a:rPr lang="it-IT" b="1"/>
              <a:t>oggetto</a:t>
            </a:r>
            <a:r>
              <a:rPr lang="it-IT"/>
              <a:t> in Java termina quando non c’è più alcun riferimento valido all’oggetto</a:t>
            </a:r>
          </a:p>
          <a:p>
            <a:r>
              <a:rPr lang="it-IT"/>
              <a:t>Un oggetto "orfano" viene deallocato in modo da ottimizzare l’uso della memoria</a:t>
            </a:r>
          </a:p>
          <a:p>
            <a:r>
              <a:rPr lang="it-IT"/>
              <a:t>La </a:t>
            </a:r>
            <a:r>
              <a:rPr lang="it-IT" err="1"/>
              <a:t>deallocazione</a:t>
            </a:r>
            <a:r>
              <a:rPr lang="it-IT"/>
              <a:t> avviene automaticamente ad opera del </a:t>
            </a:r>
            <a:r>
              <a:rPr lang="it-IT" err="1"/>
              <a:t>garbage</a:t>
            </a:r>
            <a:r>
              <a:rPr lang="it-IT"/>
              <a:t> </a:t>
            </a:r>
            <a:r>
              <a:rPr lang="it-IT" err="1"/>
              <a:t>collector</a:t>
            </a:r>
            <a:r>
              <a:rPr lang="it-IT"/>
              <a:t>, quindi la distruzione degli oggetti non è responsabilità del programmatore</a:t>
            </a:r>
          </a:p>
        </p:txBody>
      </p:sp>
    </p:spTree>
    <p:extLst>
      <p:ext uri="{BB962C8B-B14F-4D97-AF65-F5344CB8AC3E}">
        <p14:creationId xmlns:p14="http://schemas.microsoft.com/office/powerpoint/2010/main" val="738583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1E08B25-20BD-88A8-880B-973DC6638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257174"/>
            <a:ext cx="8077200" cy="1143001"/>
          </a:xfrm>
        </p:spPr>
        <p:txBody>
          <a:bodyPr/>
          <a:lstStyle/>
          <a:p>
            <a:pPr eaLnBrk="1" hangingPunct="1"/>
            <a:r>
              <a:rPr lang="it-IT" altLang="it-IT"/>
              <a:t>In sintesi: </a:t>
            </a:r>
            <a:br>
              <a:rPr lang="it-IT" altLang="it-IT"/>
            </a:br>
            <a:r>
              <a:rPr lang="it-IT" altLang="it-IT"/>
              <a:t>Ruoli di una classe</a:t>
            </a: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E59F45C8-C6B9-6F1B-BD50-025A4253C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40" name="Text Box 6">
            <a:extLst>
              <a:ext uri="{FF2B5EF4-FFF2-40B4-BE49-F238E27FC236}">
                <a16:creationId xmlns:a16="http://schemas.microsoft.com/office/drawing/2014/main" id="{EEC7D66E-EADB-1E56-C667-2DF663E2A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42131"/>
            <a:ext cx="871366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it-IT" sz="2400">
                <a:latin typeface="+mn-lt"/>
              </a:rPr>
              <a:t>Una </a:t>
            </a:r>
            <a:r>
              <a:rPr lang="en-GB" altLang="it-IT" sz="2400" err="1">
                <a:latin typeface="+mn-lt"/>
              </a:rPr>
              <a:t>Classe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può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giocare</a:t>
            </a:r>
            <a:r>
              <a:rPr lang="en-GB" altLang="it-IT" sz="2400">
                <a:latin typeface="+mn-lt"/>
              </a:rPr>
              <a:t> un </a:t>
            </a:r>
            <a:r>
              <a:rPr lang="en-GB" altLang="it-IT" sz="2400" err="1">
                <a:latin typeface="+mn-lt"/>
              </a:rPr>
              <a:t>duplice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ruolo</a:t>
            </a:r>
            <a:r>
              <a:rPr lang="en-GB" altLang="it-IT" sz="2400">
                <a:latin typeface="+mn-lt"/>
              </a:rPr>
              <a:t>:</a:t>
            </a:r>
          </a:p>
          <a:p>
            <a:pPr eaLnBrk="1" hangingPunct="1"/>
            <a:r>
              <a:rPr lang="en-GB" altLang="it-IT" sz="2400" err="1">
                <a:solidFill>
                  <a:srgbClr val="FF3300"/>
                </a:solidFill>
                <a:latin typeface="+mn-lt"/>
              </a:rPr>
              <a:t>Ruolo</a:t>
            </a:r>
            <a:r>
              <a:rPr lang="en-GB" altLang="it-IT" sz="2400">
                <a:solidFill>
                  <a:srgbClr val="FF3300"/>
                </a:solidFill>
                <a:latin typeface="+mn-lt"/>
              </a:rPr>
              <a:t> "</a:t>
            </a:r>
            <a:r>
              <a:rPr lang="en-GB" altLang="it-IT" sz="2400" err="1">
                <a:solidFill>
                  <a:srgbClr val="FF3300"/>
                </a:solidFill>
                <a:latin typeface="+mn-lt"/>
              </a:rPr>
              <a:t>Utente</a:t>
            </a:r>
            <a:r>
              <a:rPr lang="en-GB" altLang="it-IT" sz="2400">
                <a:solidFill>
                  <a:srgbClr val="FF3300"/>
                </a:solidFill>
                <a:latin typeface="+mn-lt"/>
              </a:rPr>
              <a:t>" o "</a:t>
            </a:r>
            <a:r>
              <a:rPr lang="en-GB" altLang="it-IT" sz="2400" err="1">
                <a:solidFill>
                  <a:srgbClr val="FF3300"/>
                </a:solidFill>
                <a:latin typeface="+mn-lt"/>
              </a:rPr>
              <a:t>Cliente</a:t>
            </a:r>
            <a:r>
              <a:rPr lang="en-GB" altLang="it-IT" sz="2400">
                <a:solidFill>
                  <a:srgbClr val="FF3300"/>
                </a:solidFill>
                <a:latin typeface="+mn-lt"/>
              </a:rPr>
              <a:t>"</a:t>
            </a:r>
            <a:r>
              <a:rPr lang="en-GB" altLang="it-IT" sz="2400">
                <a:latin typeface="+mn-lt"/>
              </a:rPr>
              <a:t> </a:t>
            </a:r>
          </a:p>
          <a:p>
            <a:pPr eaLnBrk="1" hangingPunct="1"/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cioè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può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utilizzare</a:t>
            </a:r>
            <a:r>
              <a:rPr lang="en-GB" altLang="it-IT" sz="2400">
                <a:latin typeface="+mn-lt"/>
              </a:rPr>
              <a:t> le </a:t>
            </a:r>
            <a:r>
              <a:rPr lang="en-GB" altLang="it-IT" sz="2400" err="1">
                <a:latin typeface="+mn-lt"/>
              </a:rPr>
              <a:t>risorse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messe</a:t>
            </a:r>
            <a:r>
              <a:rPr lang="en-GB" altLang="it-IT" sz="2400">
                <a:latin typeface="+mn-lt"/>
              </a:rPr>
              <a:t> a </a:t>
            </a:r>
            <a:r>
              <a:rPr lang="en-GB" altLang="it-IT" sz="2400" err="1">
                <a:latin typeface="+mn-lt"/>
              </a:rPr>
              <a:t>disposizione</a:t>
            </a:r>
            <a:r>
              <a:rPr lang="en-GB" altLang="it-IT" sz="2400">
                <a:latin typeface="+mn-lt"/>
              </a:rPr>
              <a:t> da </a:t>
            </a:r>
            <a:r>
              <a:rPr lang="en-GB" altLang="it-IT" sz="2400" err="1">
                <a:latin typeface="+mn-lt"/>
              </a:rPr>
              <a:t>altre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Classi</a:t>
            </a:r>
            <a:r>
              <a:rPr lang="en-GB" altLang="it-IT" sz="2400">
                <a:latin typeface="+mn-lt"/>
              </a:rPr>
              <a:t>.</a:t>
            </a:r>
          </a:p>
          <a:p>
            <a:pPr eaLnBrk="1" hangingPunct="1"/>
            <a:r>
              <a:rPr lang="en-GB" altLang="it-IT" sz="2400" err="1">
                <a:solidFill>
                  <a:srgbClr val="FF3300"/>
                </a:solidFill>
                <a:latin typeface="+mn-lt"/>
              </a:rPr>
              <a:t>Ruolo</a:t>
            </a:r>
            <a:r>
              <a:rPr lang="en-GB" altLang="it-IT" sz="2400">
                <a:solidFill>
                  <a:srgbClr val="FF3300"/>
                </a:solidFill>
                <a:latin typeface="+mn-lt"/>
              </a:rPr>
              <a:t> "Servente"</a:t>
            </a:r>
            <a:r>
              <a:rPr lang="en-GB" altLang="it-IT" sz="2400">
                <a:latin typeface="+mn-lt"/>
              </a:rPr>
              <a:t> </a:t>
            </a:r>
          </a:p>
          <a:p>
            <a:pPr eaLnBrk="1" hangingPunct="1"/>
            <a:r>
              <a:rPr lang="en-GB" altLang="it-IT" sz="2400" err="1">
                <a:latin typeface="+mn-lt"/>
              </a:rPr>
              <a:t>cioè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essere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usata</a:t>
            </a:r>
            <a:r>
              <a:rPr lang="en-GB" altLang="it-IT" sz="2400">
                <a:latin typeface="+mn-lt"/>
              </a:rPr>
              <a:t> da </a:t>
            </a:r>
            <a:r>
              <a:rPr lang="en-GB" altLang="it-IT" sz="2400" err="1">
                <a:latin typeface="+mn-lt"/>
              </a:rPr>
              <a:t>altre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Classi</a:t>
            </a:r>
            <a:r>
              <a:rPr lang="en-GB" altLang="it-IT" sz="2400">
                <a:latin typeface="+mn-lt"/>
              </a:rPr>
              <a:t> o da un </a:t>
            </a:r>
            <a:r>
              <a:rPr lang="en-GB" altLang="it-IT" sz="2400" err="1">
                <a:latin typeface="+mn-lt"/>
              </a:rPr>
              <a:t>Programma</a:t>
            </a:r>
            <a:r>
              <a:rPr lang="en-GB" altLang="it-IT" sz="2400">
                <a:latin typeface="+mn-lt"/>
              </a:rPr>
              <a:t> </a:t>
            </a:r>
            <a:r>
              <a:rPr lang="en-GB" altLang="it-IT" sz="2400" err="1">
                <a:latin typeface="+mn-lt"/>
              </a:rPr>
              <a:t>Utente</a:t>
            </a:r>
            <a:r>
              <a:rPr lang="en-GB" altLang="it-IT" sz="2400">
                <a:latin typeface="+mn-lt"/>
              </a:rPr>
              <a:t>.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F385355D-D350-5272-D138-DCAD614CCFE9}"/>
              </a:ext>
            </a:extLst>
          </p:cNvPr>
          <p:cNvGrpSpPr>
            <a:grpSpLocks/>
          </p:cNvGrpSpPr>
          <p:nvPr/>
        </p:nvGrpSpPr>
        <p:grpSpPr bwMode="auto">
          <a:xfrm>
            <a:off x="1766888" y="3933825"/>
            <a:ext cx="1524000" cy="1524000"/>
            <a:chOff x="864" y="2592"/>
            <a:chExt cx="960" cy="960"/>
          </a:xfrm>
        </p:grpSpPr>
        <p:sp>
          <p:nvSpPr>
            <p:cNvPr id="6157" name="Rectangle 7">
              <a:extLst>
                <a:ext uri="{FF2B5EF4-FFF2-40B4-BE49-F238E27FC236}">
                  <a16:creationId xmlns:a16="http://schemas.microsoft.com/office/drawing/2014/main" id="{C749C960-9006-9647-DA26-753EC6855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960" cy="96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it-IT" altLang="it-IT" sz="2400">
                <a:latin typeface="Times New Roman" pitchFamily="18" charset="0"/>
              </a:endParaRPr>
            </a:p>
          </p:txBody>
        </p:sp>
        <p:sp>
          <p:nvSpPr>
            <p:cNvPr id="14350" name="Line 8">
              <a:extLst>
                <a:ext uri="{FF2B5EF4-FFF2-40B4-BE49-F238E27FC236}">
                  <a16:creationId xmlns:a16="http://schemas.microsoft.com/office/drawing/2014/main" id="{941E9653-C108-21F9-09D4-C5A2E3F8D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97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14351" name="WordArt 9">
              <a:extLst>
                <a:ext uri="{FF2B5EF4-FFF2-40B4-BE49-F238E27FC236}">
                  <a16:creationId xmlns:a16="http://schemas.microsoft.com/office/drawing/2014/main" id="{0EA83B59-D173-51E1-9501-E0C7C25A38F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00" y="2640"/>
              <a:ext cx="19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it-IT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C</a:t>
              </a:r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0CDB6FB9-095A-5F03-A1D5-9B32AE39874F}"/>
              </a:ext>
            </a:extLst>
          </p:cNvPr>
          <p:cNvGrpSpPr>
            <a:grpSpLocks/>
          </p:cNvGrpSpPr>
          <p:nvPr/>
        </p:nvGrpSpPr>
        <p:grpSpPr bwMode="auto">
          <a:xfrm>
            <a:off x="5424488" y="3933825"/>
            <a:ext cx="1524000" cy="1524000"/>
            <a:chOff x="3168" y="2592"/>
            <a:chExt cx="960" cy="960"/>
          </a:xfrm>
        </p:grpSpPr>
        <p:sp>
          <p:nvSpPr>
            <p:cNvPr id="6154" name="Rectangle 10">
              <a:extLst>
                <a:ext uri="{FF2B5EF4-FFF2-40B4-BE49-F238E27FC236}">
                  <a16:creationId xmlns:a16="http://schemas.microsoft.com/office/drawing/2014/main" id="{7F0C497F-DDE8-61BB-EE3F-49E0B0108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592"/>
              <a:ext cx="960" cy="96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it-IT" altLang="it-IT" sz="2400">
                <a:latin typeface="Times New Roman" pitchFamily="18" charset="0"/>
              </a:endParaRPr>
            </a:p>
          </p:txBody>
        </p:sp>
        <p:sp>
          <p:nvSpPr>
            <p:cNvPr id="14347" name="Line 11">
              <a:extLst>
                <a:ext uri="{FF2B5EF4-FFF2-40B4-BE49-F238E27FC236}">
                  <a16:creationId xmlns:a16="http://schemas.microsoft.com/office/drawing/2014/main" id="{87DAD08A-E0D0-948C-BD50-5FC35D408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7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14348" name="WordArt 12">
              <a:extLst>
                <a:ext uri="{FF2B5EF4-FFF2-40B4-BE49-F238E27FC236}">
                  <a16:creationId xmlns:a16="http://schemas.microsoft.com/office/drawing/2014/main" id="{986AE4CA-37C5-C9A4-B541-E703FB0E8A6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504" y="2640"/>
              <a:ext cx="19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it-IT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S</a:t>
              </a:r>
            </a:p>
          </p:txBody>
        </p:sp>
      </p:grpSp>
      <p:sp>
        <p:nvSpPr>
          <p:cNvPr id="14344" name="Line 13">
            <a:extLst>
              <a:ext uri="{FF2B5EF4-FFF2-40B4-BE49-F238E27FC236}">
                <a16:creationId xmlns:a16="http://schemas.microsoft.com/office/drawing/2014/main" id="{33B1C32F-E20D-1C45-1D80-25313D0D5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7088" y="4467225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14345" name="Text Box 14">
            <a:extLst>
              <a:ext uri="{FF2B5EF4-FFF2-40B4-BE49-F238E27FC236}">
                <a16:creationId xmlns:a16="http://schemas.microsoft.com/office/drawing/2014/main" id="{912CCC60-1414-FD81-6E77-D6C59A239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688" y="4559300"/>
            <a:ext cx="1349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it-IT" sz="1600">
                <a:latin typeface="Verdana" panose="020B0604030504040204" pitchFamily="34" charset="0"/>
              </a:rPr>
              <a:t>&lt;&lt; use &gt;&gt;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5308FA8-8D04-023E-A429-958494FC7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2287" y="270812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it-IT" sz="3200">
                <a:cs typeface="Times New Roman" panose="02020603050405020304" pitchFamily="18" charset="0"/>
              </a:rPr>
              <a:t>In sintesi: uso di una classe da parte di un modulo (classe) utente</a:t>
            </a:r>
            <a:r>
              <a:rPr lang="en-GB" altLang="it-IT" sz="3200"/>
              <a:t> (1/2)</a:t>
            </a:r>
          </a:p>
        </p:txBody>
      </p:sp>
      <p:sp>
        <p:nvSpPr>
          <p:cNvPr id="91140" name="Text Box 4">
            <a:extLst>
              <a:ext uri="{FF2B5EF4-FFF2-40B4-BE49-F238E27FC236}">
                <a16:creationId xmlns:a16="http://schemas.microsoft.com/office/drawing/2014/main" id="{032975F1-1B5A-367F-D17E-353C20EE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00213"/>
            <a:ext cx="8169275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it-IT" sz="2400" err="1">
                <a:latin typeface="Verdana" panose="020B0604030504040204" pitchFamily="34" charset="0"/>
              </a:rPr>
              <a:t>Affinché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una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classe</a:t>
            </a:r>
            <a:r>
              <a:rPr lang="en-GB" altLang="it-IT" sz="2400">
                <a:latin typeface="Verdana" panose="020B0604030504040204" pitchFamily="34" charset="0"/>
              </a:rPr>
              <a:t> (C)  </a:t>
            </a:r>
            <a:r>
              <a:rPr lang="en-GB" altLang="it-IT" sz="2400" err="1">
                <a:latin typeface="Verdana" panose="020B0604030504040204" pitchFamily="34" charset="0"/>
              </a:rPr>
              <a:t>possa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utilizzare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un’altra</a:t>
            </a:r>
            <a:r>
              <a:rPr lang="en-GB" altLang="it-IT" sz="2400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classe</a:t>
            </a:r>
            <a:r>
              <a:rPr lang="en-GB" altLang="it-IT" sz="2400">
                <a:latin typeface="Verdana" panose="020B0604030504040204" pitchFamily="34" charset="0"/>
              </a:rPr>
              <a:t> (S) </a:t>
            </a:r>
            <a:r>
              <a:rPr lang="en-GB" altLang="it-IT" sz="2400" i="1">
                <a:latin typeface="Verdana" panose="020B0604030504040204" pitchFamily="34" charset="0"/>
              </a:rPr>
              <a:t>in </a:t>
            </a:r>
            <a:r>
              <a:rPr lang="en-GB" altLang="it-IT" sz="2400" i="1" err="1">
                <a:latin typeface="Verdana" panose="020B0604030504040204" pitchFamily="34" charset="0"/>
              </a:rPr>
              <a:t>generale</a:t>
            </a:r>
            <a:r>
              <a:rPr lang="en-GB" altLang="it-IT" sz="2400" i="1">
                <a:latin typeface="Verdana" panose="020B0604030504040204" pitchFamily="34" charset="0"/>
              </a:rPr>
              <a:t> </a:t>
            </a:r>
            <a:r>
              <a:rPr lang="en-GB" altLang="it-IT" sz="2400" err="1">
                <a:latin typeface="Verdana" panose="020B0604030504040204" pitchFamily="34" charset="0"/>
              </a:rPr>
              <a:t>deve</a:t>
            </a:r>
            <a:r>
              <a:rPr lang="en-GB" altLang="it-IT" sz="2400">
                <a:latin typeface="Verdana" panose="020B0604030504040204" pitchFamily="34" charset="0"/>
              </a:rPr>
              <a:t>:</a:t>
            </a:r>
          </a:p>
          <a:p>
            <a:pPr eaLnBrk="1" hangingPunct="1"/>
            <a:endParaRPr lang="en-GB" altLang="it-IT" sz="2400">
              <a:latin typeface="Verdana" panose="020B0604030504040204" pitchFamily="34" charset="0"/>
            </a:endParaRPr>
          </a:p>
          <a:p>
            <a:pPr lvl="1" eaLnBrk="1" hangingPunct="1">
              <a:buFontTx/>
              <a:buBlip>
                <a:blip r:embed="rId2"/>
              </a:buBlip>
            </a:pPr>
            <a:r>
              <a:rPr lang="en-GB" altLang="it-IT" sz="2000" b="1" err="1">
                <a:latin typeface="Verdana" panose="020B0604030504040204" pitchFamily="34" charset="0"/>
              </a:rPr>
              <a:t>i</a:t>
            </a:r>
            <a:r>
              <a:rPr lang="en-GB" altLang="it-IT" sz="2000" b="1" u="sng" err="1">
                <a:latin typeface="Verdana" panose="020B0604030504040204" pitchFamily="34" charset="0"/>
              </a:rPr>
              <a:t>mportare</a:t>
            </a:r>
            <a:r>
              <a:rPr lang="en-GB" altLang="it-IT" sz="2000">
                <a:latin typeface="Verdana" panose="020B0604030504040204" pitchFamily="34" charset="0"/>
              </a:rPr>
              <a:t> il </a:t>
            </a:r>
            <a:r>
              <a:rPr lang="en-GB" altLang="it-IT" sz="2000" err="1">
                <a:latin typeface="Verdana" panose="020B0604030504040204" pitchFamily="34" charset="0"/>
              </a:rPr>
              <a:t>nome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della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classe</a:t>
            </a:r>
            <a:r>
              <a:rPr lang="en-GB" altLang="it-IT" sz="2000">
                <a:latin typeface="Verdana" panose="020B0604030504040204" pitchFamily="34" charset="0"/>
              </a:rPr>
              <a:t> S se </a:t>
            </a:r>
            <a:r>
              <a:rPr lang="en-GB" altLang="it-IT" sz="2000" err="1">
                <a:latin typeface="Verdana" panose="020B0604030504040204" pitchFamily="34" charset="0"/>
              </a:rPr>
              <a:t>necessario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</a:p>
          <a:p>
            <a:pPr lvl="1" eaLnBrk="1" hangingPunct="1">
              <a:buFontTx/>
              <a:buBlip>
                <a:blip r:embed="rId2"/>
              </a:buBlip>
            </a:pPr>
            <a:r>
              <a:rPr lang="en-GB" altLang="it-IT" sz="2000" u="sng" err="1">
                <a:latin typeface="Verdana" panose="020B0604030504040204" pitchFamily="34" charset="0"/>
              </a:rPr>
              <a:t>dichiarare</a:t>
            </a:r>
            <a:r>
              <a:rPr lang="en-GB" altLang="it-IT" sz="2000">
                <a:latin typeface="Verdana" panose="020B0604030504040204" pitchFamily="34" charset="0"/>
              </a:rPr>
              <a:t> (</a:t>
            </a:r>
            <a:r>
              <a:rPr lang="en-GB" altLang="it-IT" sz="2000" err="1">
                <a:latin typeface="Verdana" panose="020B0604030504040204" pitchFamily="34" charset="0"/>
              </a:rPr>
              <a:t>almeno</a:t>
            </a:r>
            <a:r>
              <a:rPr lang="en-GB" altLang="it-IT" sz="2000">
                <a:latin typeface="Verdana" panose="020B0604030504040204" pitchFamily="34" charset="0"/>
              </a:rPr>
              <a:t>) un </a:t>
            </a:r>
            <a:r>
              <a:rPr lang="en-GB" altLang="it-IT" sz="2000" err="1">
                <a:latin typeface="Verdana" panose="020B0604030504040204" pitchFamily="34" charset="0"/>
              </a:rPr>
              <a:t>riferimento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alla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classe</a:t>
            </a:r>
            <a:r>
              <a:rPr lang="en-GB" altLang="it-IT" sz="2000">
                <a:latin typeface="Verdana" panose="020B0604030504040204" pitchFamily="34" charset="0"/>
              </a:rPr>
              <a:t> S</a:t>
            </a:r>
          </a:p>
          <a:p>
            <a:pPr lvl="1" eaLnBrk="1" hangingPunct="1">
              <a:buFontTx/>
              <a:buBlip>
                <a:blip r:embed="rId2"/>
              </a:buBlip>
            </a:pPr>
            <a:r>
              <a:rPr lang="en-GB" altLang="it-IT" sz="2000" u="sng" err="1">
                <a:latin typeface="Verdana" panose="020B0604030504040204" pitchFamily="34" charset="0"/>
              </a:rPr>
              <a:t>creare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una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istanza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della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classe</a:t>
            </a:r>
            <a:r>
              <a:rPr lang="en-GB" altLang="it-IT" sz="2000">
                <a:latin typeface="Verdana" panose="020B0604030504040204" pitchFamily="34" charset="0"/>
              </a:rPr>
              <a:t> S</a:t>
            </a:r>
          </a:p>
          <a:p>
            <a:pPr lvl="1" eaLnBrk="1" hangingPunct="1">
              <a:buFontTx/>
              <a:buBlip>
                <a:blip r:embed="rId2"/>
              </a:buBlip>
            </a:pPr>
            <a:r>
              <a:rPr lang="en-GB" altLang="it-IT" sz="2000" u="sng" err="1">
                <a:latin typeface="Verdana" panose="020B0604030504040204" pitchFamily="34" charset="0"/>
              </a:rPr>
              <a:t>inizializzare</a:t>
            </a:r>
            <a:r>
              <a:rPr lang="en-GB" altLang="it-IT" sz="2000">
                <a:latin typeface="Verdana" panose="020B0604030504040204" pitchFamily="34" charset="0"/>
              </a:rPr>
              <a:t> il </a:t>
            </a:r>
            <a:r>
              <a:rPr lang="en-GB" altLang="it-IT" sz="2000" err="1">
                <a:latin typeface="Verdana" panose="020B0604030504040204" pitchFamily="34" charset="0"/>
              </a:rPr>
              <a:t>riferimento</a:t>
            </a:r>
            <a:r>
              <a:rPr lang="en-GB" altLang="it-IT" sz="2000">
                <a:latin typeface="Verdana" panose="020B0604030504040204" pitchFamily="34" charset="0"/>
              </a:rPr>
              <a:t> in modo </a:t>
            </a:r>
            <a:r>
              <a:rPr lang="en-GB" altLang="it-IT" sz="2000" err="1">
                <a:latin typeface="Verdana" panose="020B0604030504040204" pitchFamily="34" charset="0"/>
              </a:rPr>
              <a:t>che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punti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all’istanza</a:t>
            </a:r>
            <a:r>
              <a:rPr lang="en-GB" altLang="it-IT" sz="2000">
                <a:latin typeface="Verdana" panose="020B0604030504040204" pitchFamily="34" charset="0"/>
              </a:rPr>
              <a:t> </a:t>
            </a:r>
            <a:r>
              <a:rPr lang="en-GB" altLang="it-IT" sz="2000" err="1">
                <a:latin typeface="Verdana" panose="020B0604030504040204" pitchFamily="34" charset="0"/>
              </a:rPr>
              <a:t>creata</a:t>
            </a:r>
            <a:endParaRPr lang="en-GB" altLang="it-IT" sz="2000">
              <a:latin typeface="Verdana" panose="020B0604030504040204" pitchFamily="34" charset="0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310D3083-866D-9332-25C0-B784DFE8D238}"/>
              </a:ext>
            </a:extLst>
          </p:cNvPr>
          <p:cNvGrpSpPr/>
          <p:nvPr/>
        </p:nvGrpSpPr>
        <p:grpSpPr>
          <a:xfrm>
            <a:off x="2267744" y="4871386"/>
            <a:ext cx="4680520" cy="1149902"/>
            <a:chOff x="1763688" y="4471987"/>
            <a:chExt cx="4343400" cy="685800"/>
          </a:xfrm>
        </p:grpSpPr>
        <p:sp>
          <p:nvSpPr>
            <p:cNvPr id="13316" name="Rectangle 5">
              <a:extLst>
                <a:ext uri="{FF2B5EF4-FFF2-40B4-BE49-F238E27FC236}">
                  <a16:creationId xmlns:a16="http://schemas.microsoft.com/office/drawing/2014/main" id="{AD155717-CEB1-E1CA-AD46-32DDF71D5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688" y="4471987"/>
              <a:ext cx="1295400" cy="6858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GB" altLang="it-IT" sz="1400" err="1">
                  <a:latin typeface="Times New Roman" pitchFamily="18" charset="0"/>
                </a:rPr>
                <a:t>Classe</a:t>
              </a:r>
              <a:r>
                <a:rPr lang="en-GB" altLang="it-IT" sz="1400">
                  <a:latin typeface="Times New Roman" pitchFamily="18" charset="0"/>
                </a:rPr>
                <a:t> S</a:t>
              </a:r>
            </a:p>
          </p:txBody>
        </p:sp>
        <p:sp>
          <p:nvSpPr>
            <p:cNvPr id="13317" name="Rectangle 7">
              <a:extLst>
                <a:ext uri="{FF2B5EF4-FFF2-40B4-BE49-F238E27FC236}">
                  <a16:creationId xmlns:a16="http://schemas.microsoft.com/office/drawing/2014/main" id="{CE8D79BB-E0EB-244A-C1C5-1243CF7D9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688" y="4471987"/>
              <a:ext cx="1600200" cy="6858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GB" altLang="it-IT" sz="1400" err="1">
                  <a:latin typeface="Times New Roman" pitchFamily="18" charset="0"/>
                </a:rPr>
                <a:t>Classe</a:t>
              </a:r>
              <a:r>
                <a:rPr lang="en-GB" altLang="it-IT" sz="1400">
                  <a:latin typeface="Times New Roman" pitchFamily="18" charset="0"/>
                </a:rPr>
                <a:t> C</a:t>
              </a:r>
            </a:p>
          </p:txBody>
        </p:sp>
        <p:sp>
          <p:nvSpPr>
            <p:cNvPr id="15367" name="Text Box 9">
              <a:extLst>
                <a:ext uri="{FF2B5EF4-FFF2-40B4-BE49-F238E27FC236}">
                  <a16:creationId xmlns:a16="http://schemas.microsoft.com/office/drawing/2014/main" id="{FD1F55FB-84AA-D1D6-5D2D-80961D984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246" y="4630640"/>
              <a:ext cx="171426" cy="183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it-IT" sz="1400">
                <a:latin typeface="Verdana" panose="020B0604030504040204" pitchFamily="34" charset="0"/>
              </a:endParaRPr>
            </a:p>
          </p:txBody>
        </p:sp>
        <p:sp>
          <p:nvSpPr>
            <p:cNvPr id="15368" name="Line 10">
              <a:extLst>
                <a:ext uri="{FF2B5EF4-FFF2-40B4-BE49-F238E27FC236}">
                  <a16:creationId xmlns:a16="http://schemas.microsoft.com/office/drawing/2014/main" id="{0811AA3F-7375-0C3C-26F4-759278F13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088" y="4852987"/>
              <a:ext cx="1295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t-IT" sz="1400"/>
            </a:p>
          </p:txBody>
        </p:sp>
      </p:grpSp>
      <p:sp>
        <p:nvSpPr>
          <p:cNvPr id="3" name="Text Box 14">
            <a:extLst>
              <a:ext uri="{FF2B5EF4-FFF2-40B4-BE49-F238E27FC236}">
                <a16:creationId xmlns:a16="http://schemas.microsoft.com/office/drawing/2014/main" id="{7C72CD0E-C0F8-2247-9FAD-3FE74A55A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260" y="5160235"/>
            <a:ext cx="1349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it-IT" sz="1600">
                <a:latin typeface="Verdana" panose="020B0604030504040204" pitchFamily="34" charset="0"/>
              </a:rPr>
              <a:t>&lt;&lt; use &gt;&gt;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E3F47-DCC7-8B14-C840-54872A0F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sz="3200">
                <a:cs typeface="Times New Roman" panose="02020603050405020304" pitchFamily="18" charset="0"/>
              </a:rPr>
              <a:t>In sintesi: uso di una classe da parte di un modulo (classe) utente</a:t>
            </a:r>
            <a:r>
              <a:rPr lang="en-GB" altLang="it-IT" sz="3200"/>
              <a:t> (2/2)</a:t>
            </a:r>
            <a:endParaRPr lang="it-IT" sz="32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AA9654-58E5-73D8-9B90-0ABCC7455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96" y="1517062"/>
            <a:ext cx="8229600" cy="4411662"/>
          </a:xfrm>
        </p:spPr>
        <p:txBody>
          <a:bodyPr/>
          <a:lstStyle/>
          <a:p>
            <a:r>
              <a:rPr lang="it-IT" sz="2800" dirty="0"/>
              <a:t>Nel caso del nostro primo esempio:</a:t>
            </a:r>
          </a:p>
          <a:p>
            <a:pPr lvl="1"/>
            <a:r>
              <a:rPr lang="it-IT" sz="2000" dirty="0" err="1"/>
              <a:t>RunningExamples</a:t>
            </a:r>
            <a:r>
              <a:rPr lang="it-IT" sz="2000" dirty="0"/>
              <a:t> gioca il ruolo della classe utente</a:t>
            </a:r>
          </a:p>
          <a:p>
            <a:pPr lvl="1"/>
            <a:r>
              <a:rPr lang="it-IT" sz="2000" dirty="0"/>
              <a:t>Counter gioca il ruolo della classe servente</a:t>
            </a:r>
          </a:p>
          <a:p>
            <a:pPr lvl="1"/>
            <a:r>
              <a:rPr lang="it-IT" sz="2000" dirty="0"/>
              <a:t>Non è stato necessario utilizzare esplicitamente la dichiarazione import perché entrambe le classi si trovano nella stessa cartella (package)</a:t>
            </a:r>
          </a:p>
          <a:p>
            <a:pPr lvl="1"/>
            <a:r>
              <a:rPr lang="it-IT" sz="2000" dirty="0"/>
              <a:t>La classe utente ha creato 3 diverse istanze (oggetti) della classe Counter e tre riferimenti (</a:t>
            </a:r>
            <a:r>
              <a:rPr lang="it-IT" sz="2000" dirty="0" err="1"/>
              <a:t>b,c,d</a:t>
            </a:r>
            <a:r>
              <a:rPr lang="it-IT" sz="2000" dirty="0"/>
              <a:t>), uno per ciascun oggetto creato inizializzandoli perché puntassero agli oggetti 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FF4D5F0-1470-0BEC-894C-A6706D1EB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4924810"/>
            <a:ext cx="1524000" cy="152400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it-IT" altLang="it-IT" sz="2400">
              <a:latin typeface="Times New Roman" pitchFamily="18" charset="0"/>
            </a:endParaRP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2A629037-B821-1C44-C8AF-6023092CB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696" y="553441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7" name="WordArt 9">
            <a:extLst>
              <a:ext uri="{FF2B5EF4-FFF2-40B4-BE49-F238E27FC236}">
                <a16:creationId xmlns:a16="http://schemas.microsoft.com/office/drawing/2014/main" id="{FC64742E-D1CC-DBE8-BF66-8CE91E367A6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69096" y="5001010"/>
            <a:ext cx="255488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it-IT" sz="3600" kern="10">
              <a:ln w="19050">
                <a:solidFill>
                  <a:srgbClr val="99CCFF"/>
                </a:solidFill>
                <a:round/>
                <a:headEnd/>
                <a:tailE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8" name="Group 17">
            <a:extLst>
              <a:ext uri="{FF2B5EF4-FFF2-40B4-BE49-F238E27FC236}">
                <a16:creationId xmlns:a16="http://schemas.microsoft.com/office/drawing/2014/main" id="{D443347A-630A-613E-4203-504791986D5E}"/>
              </a:ext>
            </a:extLst>
          </p:cNvPr>
          <p:cNvGrpSpPr>
            <a:grpSpLocks/>
          </p:cNvGrpSpPr>
          <p:nvPr/>
        </p:nvGrpSpPr>
        <p:grpSpPr bwMode="auto">
          <a:xfrm>
            <a:off x="5493296" y="4924810"/>
            <a:ext cx="1524000" cy="1524000"/>
            <a:chOff x="3168" y="2592"/>
            <a:chExt cx="960" cy="960"/>
          </a:xfrm>
        </p:grpSpPr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8F0D8FFB-D8D8-C64D-6BE3-E0258A3A0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592"/>
              <a:ext cx="960" cy="96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it-IT" altLang="it-IT" sz="2400">
                <a:latin typeface="Times New Roman" pitchFamily="18" charset="0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96833367-8FBF-A87E-AC84-B79420CB5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7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t-IT"/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40F4FF9A-2323-FE2B-3A2A-064C8F4B58A2}"/>
              </a:ext>
            </a:extLst>
          </p:cNvPr>
          <p:cNvGrpSpPr>
            <a:grpSpLocks/>
          </p:cNvGrpSpPr>
          <p:nvPr/>
        </p:nvGrpSpPr>
        <p:grpSpPr bwMode="auto">
          <a:xfrm>
            <a:off x="3435896" y="5458210"/>
            <a:ext cx="2057400" cy="428625"/>
            <a:chOff x="1872" y="2928"/>
            <a:chExt cx="1296" cy="270"/>
          </a:xfrm>
        </p:grpSpPr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7F7601ED-8840-9442-629C-5F434AB58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28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BA63741-C0D3-4E52-628A-526D7C47A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986"/>
              <a:ext cx="8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it-IT" sz="1600">
                  <a:latin typeface="Verdana" panose="020B0604030504040204" pitchFamily="34" charset="0"/>
                </a:rPr>
                <a:t>&lt;&lt; use &gt;&gt;</a:t>
              </a:r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198BC9E-B8E1-47A4-A54F-E1668D5F44D1}"/>
              </a:ext>
            </a:extLst>
          </p:cNvPr>
          <p:cNvSpPr txBox="1"/>
          <p:nvPr/>
        </p:nvSpPr>
        <p:spPr>
          <a:xfrm>
            <a:off x="1792497" y="5064937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00" b="1" err="1"/>
              <a:t>RunningExamples</a:t>
            </a:r>
            <a:endParaRPr lang="it-IT" sz="1300" b="1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626DDF0-02EC-B188-4F00-4BFDA94BC611}"/>
              </a:ext>
            </a:extLst>
          </p:cNvPr>
          <p:cNvSpPr txBox="1"/>
          <p:nvPr/>
        </p:nvSpPr>
        <p:spPr>
          <a:xfrm>
            <a:off x="5842362" y="5064937"/>
            <a:ext cx="8258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00" b="1"/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33341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585652E-81C3-0FDA-B64D-5EC2033C3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8701" y="260648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it-IT"/>
              <a:t>In sintesi: </a:t>
            </a:r>
            <a:br>
              <a:rPr lang="it-IT" altLang="it-IT"/>
            </a:br>
            <a:r>
              <a:rPr lang="it-IT" altLang="it-IT"/>
              <a:t>caratteristiche di una classe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ABDD061-967B-A497-3DD6-4CDE65A38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701" y="1676400"/>
            <a:ext cx="7993062" cy="5181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it-IT" altLang="it-IT" sz="2400"/>
              <a:t>La classe consente di definire un nuovo tipo di dato, crearne uno o più esemplari (oggetti), inizializzarli ed applicare loro i metodi di elaborazione disponibili.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2400"/>
              <a:t>La struttura dati  e gli algoritmi sono tenuti nascosti all'interno del modulo che implementa la classe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2400"/>
              <a:t>Lo stato dell'oggetto, cioè i valori correnti delle variabili di istanza che lo costituiscono, è incapsulato ed evolve unicamente in relazione ai metodi applicati all’oggetto.</a:t>
            </a:r>
          </a:p>
          <a:p>
            <a:pPr algn="just"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FF0000"/>
                </a:solidFill>
              </a:rPr>
              <a:t>L’interfaccia (pubblica) della classe è un «contratto» </a:t>
            </a:r>
            <a:r>
              <a:rPr lang="it-IT" altLang="it-IT" sz="2400"/>
              <a:t>stipulato con l’utente, pertanto deve essere: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it-IT" altLang="it-IT" sz="2000">
                <a:solidFill>
                  <a:srgbClr val="FF0000"/>
                </a:solidFill>
              </a:rPr>
              <a:t>Stabile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it-IT" altLang="it-IT" sz="2000">
                <a:solidFill>
                  <a:srgbClr val="FF0000"/>
                </a:solidFill>
              </a:rPr>
              <a:t>Minimale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it-IT" altLang="it-IT" sz="2000">
                <a:solidFill>
                  <a:srgbClr val="FF0000"/>
                </a:solidFill>
              </a:rPr>
              <a:t>Completa</a:t>
            </a:r>
          </a:p>
          <a:p>
            <a:pPr algn="just" eaLnBrk="1" hangingPunct="1">
              <a:lnSpc>
                <a:spcPct val="90000"/>
              </a:lnSpc>
            </a:pPr>
            <a:endParaRPr lang="it-IT" altLang="it-IT" sz="26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66B7A-964A-22D9-3F60-14C2BA85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257ED9-A276-B3B5-4F0A-6FB635530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Programmare in Java: §3</a:t>
            </a:r>
          </a:p>
          <a:p>
            <a:r>
              <a:rPr lang="it-IT" dirty="0" err="1"/>
              <a:t>Savitch</a:t>
            </a:r>
            <a:r>
              <a:rPr lang="it-IT"/>
              <a:t>: §8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9621375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1CC2E8-10A3-4446-BF62-CF93D0274870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1235E66-3B06-42B1-9EFB-C5B5C285D1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30CDEA-87A7-4D45-BCDA-C6F0E1D425D3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603</TotalTime>
  <Words>3851</Words>
  <Application>Microsoft Macintosh PowerPoint</Application>
  <PresentationFormat>Presentazione su schermo (4:3)</PresentationFormat>
  <Paragraphs>395</Paragraphs>
  <Slides>34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6" baseType="lpstr">
      <vt:lpstr>Arial</vt:lpstr>
      <vt:lpstr>Calibri</vt:lpstr>
      <vt:lpstr>Courier New</vt:lpstr>
      <vt:lpstr>Helvetica</vt:lpstr>
      <vt:lpstr>Impact</vt:lpstr>
      <vt:lpstr>Monotype Corsiva</vt:lpstr>
      <vt:lpstr>Times</vt:lpstr>
      <vt:lpstr>Times New Roman</vt:lpstr>
      <vt:lpstr>Verdana</vt:lpstr>
      <vt:lpstr>Wingdings</vt:lpstr>
      <vt:lpstr>Rete</vt:lpstr>
      <vt:lpstr>Immagine</vt:lpstr>
      <vt:lpstr>  Corso di Programmazione</vt:lpstr>
      <vt:lpstr>Classi e oggetti</vt:lpstr>
      <vt:lpstr>L’istanziazione degli oggetti</vt:lpstr>
      <vt:lpstr>Dichiarazione di classe in Java</vt:lpstr>
      <vt:lpstr>Classi in Java e incapsulamento</vt:lpstr>
      <vt:lpstr>Classi in Java e incapsulamento</vt:lpstr>
      <vt:lpstr>UML</vt:lpstr>
      <vt:lpstr>Rappresentazione grafica</vt:lpstr>
      <vt:lpstr>Metafora per la classe Contatore</vt:lpstr>
      <vt:lpstr>Running example</vt:lpstr>
      <vt:lpstr>Classe Counter – versione 1</vt:lpstr>
      <vt:lpstr>Classe di prova – versione 1</vt:lpstr>
      <vt:lpstr>Classe di prova – versione 1</vt:lpstr>
      <vt:lpstr>Classe di prova – versione 1</vt:lpstr>
      <vt:lpstr>Osservazione</vt:lpstr>
      <vt:lpstr>Ciclo di vita di un oggetto</vt:lpstr>
      <vt:lpstr>Costruttori (1/6)</vt:lpstr>
      <vt:lpstr>Costruttori (2/6)</vt:lpstr>
      <vt:lpstr>Costruttori (3/6)</vt:lpstr>
      <vt:lpstr>Costruttori (4/6)</vt:lpstr>
      <vt:lpstr>Costruttore di copia</vt:lpstr>
      <vt:lpstr>Classe Counter e classe di prova – versione 2</vt:lpstr>
      <vt:lpstr>I metodi get e set (1/2)</vt:lpstr>
      <vt:lpstr>I metodi get e set (2/2)</vt:lpstr>
      <vt:lpstr>Classe Counter – versione 3</vt:lpstr>
      <vt:lpstr>Classe di prova – versione 3</vt:lpstr>
      <vt:lpstr>Classe Counter – versione 4</vt:lpstr>
      <vt:lpstr>Classe di prova – versione 4</vt:lpstr>
      <vt:lpstr>Distruzione degli oggetti</vt:lpstr>
      <vt:lpstr>In sintesi:  Ruoli di una classe</vt:lpstr>
      <vt:lpstr>In sintesi: uso di una classe da parte di un modulo (classe) utente (1/2)</vt:lpstr>
      <vt:lpstr>In sintesi: uso di una classe da parte di un modulo (classe) utente (2/2)</vt:lpstr>
      <vt:lpstr>In sintesi:  caratteristiche di una classe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DOMENICO AMALFITANO</cp:lastModifiedBy>
  <cp:revision>8</cp:revision>
  <cp:lastPrinted>1999-11-19T14:12:44Z</cp:lastPrinted>
  <dcterms:created xsi:type="dcterms:W3CDTF">1999-10-30T10:20:48Z</dcterms:created>
  <dcterms:modified xsi:type="dcterms:W3CDTF">2025-03-19T07:44:36Z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