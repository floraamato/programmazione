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4"/>
  </p:sldMasterIdLst>
  <p:notesMasterIdLst>
    <p:notesMasterId r:id="rId28"/>
  </p:notesMasterIdLst>
  <p:handoutMasterIdLst>
    <p:handoutMasterId r:id="rId29"/>
  </p:handoutMasterIdLst>
  <p:sldIdLst>
    <p:sldId id="265" r:id="rId5"/>
    <p:sldId id="411" r:id="rId6"/>
    <p:sldId id="440" r:id="rId7"/>
    <p:sldId id="413" r:id="rId8"/>
    <p:sldId id="414" r:id="rId9"/>
    <p:sldId id="421" r:id="rId10"/>
    <p:sldId id="415" r:id="rId11"/>
    <p:sldId id="417" r:id="rId12"/>
    <p:sldId id="441" r:id="rId13"/>
    <p:sldId id="442" r:id="rId14"/>
    <p:sldId id="425" r:id="rId15"/>
    <p:sldId id="443" r:id="rId16"/>
    <p:sldId id="402" r:id="rId17"/>
    <p:sldId id="403" r:id="rId18"/>
    <p:sldId id="418" r:id="rId19"/>
    <p:sldId id="419" r:id="rId20"/>
    <p:sldId id="446" r:id="rId21"/>
    <p:sldId id="447" r:id="rId22"/>
    <p:sldId id="448" r:id="rId23"/>
    <p:sldId id="449" r:id="rId24"/>
    <p:sldId id="450" r:id="rId25"/>
    <p:sldId id="451" r:id="rId26"/>
    <p:sldId id="395" r:id="rId27"/>
  </p:sldIdLst>
  <p:sldSz cx="9144000" cy="6858000" type="screen4x3"/>
  <p:notesSz cx="7102475" cy="102330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Valeria Vittorini" initials="VV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C7A600-B5F2-4450-B7AA-1FA5DD910251}" v="1" dt="2025-03-26T04:05:17.4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05"/>
  </p:normalViewPr>
  <p:slideViewPr>
    <p:cSldViewPr snapToGrid="0">
      <p:cViewPr varScale="1">
        <p:scale>
          <a:sx n="103" d="100"/>
          <a:sy n="103" d="100"/>
        </p:scale>
        <p:origin x="48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ENICO AMALFITANO" userId="S::domenico.amalfitano@unina.it::fb6cf861-3113-480d-b8cc-6c34b43a24f9" providerId="AD" clId="Web-{29DEF423-3653-48D1-ADE3-8066A8F0C47A}"/>
    <pc:docChg chg="modSld">
      <pc:chgData name="DOMENICO AMALFITANO" userId="S::domenico.amalfitano@unina.it::fb6cf861-3113-480d-b8cc-6c34b43a24f9" providerId="AD" clId="Web-{29DEF423-3653-48D1-ADE3-8066A8F0C47A}" dt="2024-02-08T12:20:09.841" v="37" actId="1076"/>
      <pc:docMkLst>
        <pc:docMk/>
      </pc:docMkLst>
      <pc:sldChg chg="delSp modSp">
        <pc:chgData name="DOMENICO AMALFITANO" userId="S::domenico.amalfitano@unina.it::fb6cf861-3113-480d-b8cc-6c34b43a24f9" providerId="AD" clId="Web-{29DEF423-3653-48D1-ADE3-8066A8F0C47A}" dt="2024-02-08T12:12:32.792" v="33"/>
        <pc:sldMkLst>
          <pc:docMk/>
          <pc:sldMk cId="0" sldId="408"/>
        </pc:sldMkLst>
        <pc:spChg chg="mod">
          <ac:chgData name="DOMENICO AMALFITANO" userId="S::domenico.amalfitano@unina.it::fb6cf861-3113-480d-b8cc-6c34b43a24f9" providerId="AD" clId="Web-{29DEF423-3653-48D1-ADE3-8066A8F0C47A}" dt="2024-02-08T12:12:32.792" v="33"/>
          <ac:spMkLst>
            <pc:docMk/>
            <pc:sldMk cId="0" sldId="408"/>
            <ac:spMk id="2" creationId="{E64D058B-DF52-8C8E-F84F-56AC816598CC}"/>
          </ac:spMkLst>
        </pc:spChg>
        <pc:spChg chg="del">
          <ac:chgData name="DOMENICO AMALFITANO" userId="S::domenico.amalfitano@unina.it::fb6cf861-3113-480d-b8cc-6c34b43a24f9" providerId="AD" clId="Web-{29DEF423-3653-48D1-ADE3-8066A8F0C47A}" dt="2024-02-08T12:11:49.869" v="30"/>
          <ac:spMkLst>
            <pc:docMk/>
            <pc:sldMk cId="0" sldId="408"/>
            <ac:spMk id="3" creationId="{0708DC2F-EBAD-6620-52BA-1BBB0CE7BDAF}"/>
          </ac:spMkLst>
        </pc:spChg>
        <pc:spChg chg="del">
          <ac:chgData name="DOMENICO AMALFITANO" userId="S::domenico.amalfitano@unina.it::fb6cf861-3113-480d-b8cc-6c34b43a24f9" providerId="AD" clId="Web-{29DEF423-3653-48D1-ADE3-8066A8F0C47A}" dt="2024-02-08T12:11:51.947" v="31"/>
          <ac:spMkLst>
            <pc:docMk/>
            <pc:sldMk cId="0" sldId="408"/>
            <ac:spMk id="4" creationId="{9C0B9EC8-6E44-310E-F1F1-65EA57D88D0C}"/>
          </ac:spMkLst>
        </pc:spChg>
        <pc:spChg chg="mod">
          <ac:chgData name="DOMENICO AMALFITANO" userId="S::domenico.amalfitano@unina.it::fb6cf861-3113-480d-b8cc-6c34b43a24f9" providerId="AD" clId="Web-{29DEF423-3653-48D1-ADE3-8066A8F0C47A}" dt="2024-02-08T12:11:17.961" v="17" actId="1076"/>
          <ac:spMkLst>
            <pc:docMk/>
            <pc:sldMk cId="0" sldId="408"/>
            <ac:spMk id="16393" creationId="{21BC955B-E533-4452-9329-1C2B1F09C5A3}"/>
          </ac:spMkLst>
        </pc:spChg>
        <pc:spChg chg="mod">
          <ac:chgData name="DOMENICO AMALFITANO" userId="S::domenico.amalfitano@unina.it::fb6cf861-3113-480d-b8cc-6c34b43a24f9" providerId="AD" clId="Web-{29DEF423-3653-48D1-ADE3-8066A8F0C47A}" dt="2024-02-08T12:11:05.086" v="15" actId="20577"/>
          <ac:spMkLst>
            <pc:docMk/>
            <pc:sldMk cId="0" sldId="408"/>
            <ac:spMk id="16394" creationId="{938EF796-1601-42C5-9712-FAE39972D2F1}"/>
          </ac:spMkLst>
        </pc:spChg>
        <pc:spChg chg="mod">
          <ac:chgData name="DOMENICO AMALFITANO" userId="S::domenico.amalfitano@unina.it::fb6cf861-3113-480d-b8cc-6c34b43a24f9" providerId="AD" clId="Web-{29DEF423-3653-48D1-ADE3-8066A8F0C47A}" dt="2024-02-08T12:11:32.024" v="28" actId="14100"/>
          <ac:spMkLst>
            <pc:docMk/>
            <pc:sldMk cId="0" sldId="408"/>
            <ac:spMk id="16395" creationId="{8C58D3DC-7C06-4070-AAA9-3DF693B3862B}"/>
          </ac:spMkLst>
        </pc:spChg>
        <pc:spChg chg="mod">
          <ac:chgData name="DOMENICO AMALFITANO" userId="S::domenico.amalfitano@unina.it::fb6cf861-3113-480d-b8cc-6c34b43a24f9" providerId="AD" clId="Web-{29DEF423-3653-48D1-ADE3-8066A8F0C47A}" dt="2024-02-08T12:11:25.758" v="26" actId="20577"/>
          <ac:spMkLst>
            <pc:docMk/>
            <pc:sldMk cId="0" sldId="408"/>
            <ac:spMk id="16396" creationId="{A81710A1-FF68-4556-AB0D-084BB0C6A5E0}"/>
          </ac:spMkLst>
        </pc:spChg>
      </pc:sldChg>
      <pc:sldChg chg="delSp modSp">
        <pc:chgData name="DOMENICO AMALFITANO" userId="S::domenico.amalfitano@unina.it::fb6cf861-3113-480d-b8cc-6c34b43a24f9" providerId="AD" clId="Web-{29DEF423-3653-48D1-ADE3-8066A8F0C47A}" dt="2024-02-08T12:20:09.841" v="37" actId="1076"/>
        <pc:sldMkLst>
          <pc:docMk/>
          <pc:sldMk cId="0" sldId="438"/>
        </pc:sldMkLst>
        <pc:grpChg chg="mod">
          <ac:chgData name="DOMENICO AMALFITANO" userId="S::domenico.amalfitano@unina.it::fb6cf861-3113-480d-b8cc-6c34b43a24f9" providerId="AD" clId="Web-{29DEF423-3653-48D1-ADE3-8066A8F0C47A}" dt="2024-02-08T12:20:09.841" v="37" actId="1076"/>
          <ac:grpSpMkLst>
            <pc:docMk/>
            <pc:sldMk cId="0" sldId="438"/>
            <ac:grpSpMk id="24710" creationId="{172B4A0B-4D2B-D25B-1DE9-90CBB6C23755}"/>
          </ac:grpSpMkLst>
        </pc:grpChg>
        <pc:cxnChg chg="del mod">
          <ac:chgData name="DOMENICO AMALFITANO" userId="S::domenico.amalfitano@unina.it::fb6cf861-3113-480d-b8cc-6c34b43a24f9" providerId="AD" clId="Web-{29DEF423-3653-48D1-ADE3-8066A8F0C47A}" dt="2024-02-08T12:19:03.463" v="35"/>
          <ac:cxnSpMkLst>
            <pc:docMk/>
            <pc:sldMk cId="0" sldId="438"/>
            <ac:cxnSpMk id="24691" creationId="{3CA5850C-4F76-DE56-1129-64D1BFE99A77}"/>
          </ac:cxnSpMkLst>
        </pc:cxnChg>
        <pc:cxnChg chg="del">
          <ac:chgData name="DOMENICO AMALFITANO" userId="S::domenico.amalfitano@unina.it::fb6cf861-3113-480d-b8cc-6c34b43a24f9" providerId="AD" clId="Web-{29DEF423-3653-48D1-ADE3-8066A8F0C47A}" dt="2024-02-08T12:18:59.541" v="34"/>
          <ac:cxnSpMkLst>
            <pc:docMk/>
            <pc:sldMk cId="0" sldId="438"/>
            <ac:cxnSpMk id="24696" creationId="{E33952A3-0F24-FC4E-4739-DBFD91064CB6}"/>
          </ac:cxnSpMkLst>
        </pc:cxnChg>
      </pc:sldChg>
    </pc:docChg>
  </pc:docChgLst>
  <pc:docChgLst>
    <pc:chgData name="DOMENICO AMALFITANO" userId="S::domenico.amalfitano@unina.it::fb6cf861-3113-480d-b8cc-6c34b43a24f9" providerId="AD" clId="Web-{92C7A600-B5F2-4450-B7AA-1FA5DD910251}"/>
    <pc:docChg chg="modSld">
      <pc:chgData name="DOMENICO AMALFITANO" userId="S::domenico.amalfitano@unina.it::fb6cf861-3113-480d-b8cc-6c34b43a24f9" providerId="AD" clId="Web-{92C7A600-B5F2-4450-B7AA-1FA5DD910251}" dt="2025-03-26T04:05:17.409" v="0" actId="20577"/>
      <pc:docMkLst>
        <pc:docMk/>
      </pc:docMkLst>
      <pc:sldChg chg="modSp">
        <pc:chgData name="DOMENICO AMALFITANO" userId="S::domenico.amalfitano@unina.it::fb6cf861-3113-480d-b8cc-6c34b43a24f9" providerId="AD" clId="Web-{92C7A600-B5F2-4450-B7AA-1FA5DD910251}" dt="2025-03-26T04:05:17.409" v="0" actId="20577"/>
        <pc:sldMkLst>
          <pc:docMk/>
          <pc:sldMk cId="0" sldId="395"/>
        </pc:sldMkLst>
        <pc:spChg chg="mod">
          <ac:chgData name="DOMENICO AMALFITANO" userId="S::domenico.amalfitano@unina.it::fb6cf861-3113-480d-b8cc-6c34b43a24f9" providerId="AD" clId="Web-{92C7A600-B5F2-4450-B7AA-1FA5DD910251}" dt="2025-03-26T04:05:17.409" v="0" actId="20577"/>
          <ac:spMkLst>
            <pc:docMk/>
            <pc:sldMk cId="0" sldId="395"/>
            <ac:spMk id="30723" creationId="{B1F16C10-2E1E-496F-ADE7-AF55024DC4CA}"/>
          </ac:spMkLst>
        </pc:spChg>
      </pc:sldChg>
    </pc:docChg>
  </pc:docChgLst>
  <pc:docChgLst>
    <pc:chgData name="VALERIA VITTORINI" userId="8c590808-2c0b-4c77-aa35-c80ef3354ea7" providerId="ADAL" clId="{EC8DB0DE-580A-1B42-8D2C-8E051BFAEE80}"/>
    <pc:docChg chg="modSld">
      <pc:chgData name="VALERIA VITTORINI" userId="8c590808-2c0b-4c77-aa35-c80ef3354ea7" providerId="ADAL" clId="{EC8DB0DE-580A-1B42-8D2C-8E051BFAEE80}" dt="2024-02-08T12:21:24.943" v="66" actId="20577"/>
      <pc:docMkLst>
        <pc:docMk/>
      </pc:docMkLst>
      <pc:sldChg chg="modSp mod">
        <pc:chgData name="VALERIA VITTORINI" userId="8c590808-2c0b-4c77-aa35-c80ef3354ea7" providerId="ADAL" clId="{EC8DB0DE-580A-1B42-8D2C-8E051BFAEE80}" dt="2024-02-08T12:12:09.729" v="0" actId="1076"/>
        <pc:sldMkLst>
          <pc:docMk/>
          <pc:sldMk cId="0" sldId="408"/>
        </pc:sldMkLst>
        <pc:spChg chg="mod">
          <ac:chgData name="VALERIA VITTORINI" userId="8c590808-2c0b-4c77-aa35-c80ef3354ea7" providerId="ADAL" clId="{EC8DB0DE-580A-1B42-8D2C-8E051BFAEE80}" dt="2024-02-08T12:12:09.729" v="0" actId="1076"/>
          <ac:spMkLst>
            <pc:docMk/>
            <pc:sldMk cId="0" sldId="408"/>
            <ac:spMk id="2" creationId="{E64D058B-DF52-8C8E-F84F-56AC816598CC}"/>
          </ac:spMkLst>
        </pc:spChg>
      </pc:sldChg>
      <pc:sldChg chg="modSp mod">
        <pc:chgData name="VALERIA VITTORINI" userId="8c590808-2c0b-4c77-aa35-c80ef3354ea7" providerId="ADAL" clId="{EC8DB0DE-580A-1B42-8D2C-8E051BFAEE80}" dt="2024-02-08T12:21:24.943" v="66" actId="20577"/>
        <pc:sldMkLst>
          <pc:docMk/>
          <pc:sldMk cId="1496585741" sldId="444"/>
        </pc:sldMkLst>
        <pc:spChg chg="mod">
          <ac:chgData name="VALERIA VITTORINI" userId="8c590808-2c0b-4c77-aa35-c80ef3354ea7" providerId="ADAL" clId="{EC8DB0DE-580A-1B42-8D2C-8E051BFAEE80}" dt="2024-02-08T12:21:24.943" v="66" actId="20577"/>
          <ac:spMkLst>
            <pc:docMk/>
            <pc:sldMk cId="1496585741" sldId="444"/>
            <ac:spMk id="3" creationId="{E045AEA7-F034-14AD-8709-566DE429F0B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6506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17" tIns="47859" rIns="95717" bIns="47859" numCol="1" anchor="t" anchorCtr="0" compatLnSpc="1">
            <a:prstTxWarp prst="textNoShape">
              <a:avLst/>
            </a:prstTxWarp>
          </a:bodyPr>
          <a:lstStyle>
            <a:lvl1pPr defTabSz="957263" eaLnBrk="0" hangingPunct="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5969" y="1"/>
            <a:ext cx="3076506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17" tIns="47859" rIns="95717" bIns="47859" numCol="1" anchor="t" anchorCtr="0" compatLnSpc="1">
            <a:prstTxWarp prst="textNoShape">
              <a:avLst/>
            </a:prstTxWarp>
          </a:bodyPr>
          <a:lstStyle>
            <a:lvl1pPr algn="r" defTabSz="957263" eaLnBrk="0" hangingPunct="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051"/>
            <a:ext cx="3076506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17" tIns="47859" rIns="95717" bIns="47859" numCol="1" anchor="b" anchorCtr="0" compatLnSpc="1">
            <a:prstTxWarp prst="textNoShape">
              <a:avLst/>
            </a:prstTxWarp>
          </a:bodyPr>
          <a:lstStyle>
            <a:lvl1pPr defTabSz="957263" eaLnBrk="0" hangingPunct="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5969" y="9722051"/>
            <a:ext cx="3076506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17" tIns="47859" rIns="95717" bIns="47859" numCol="1" anchor="b" anchorCtr="0" compatLnSpc="1">
            <a:prstTxWarp prst="textNoShape">
              <a:avLst/>
            </a:prstTxWarp>
          </a:bodyPr>
          <a:lstStyle>
            <a:lvl1pPr algn="r" defTabSz="957263" eaLnBrk="0" hangingPunct="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403C0C8-0061-42C1-8524-EB82CFC4799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01112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886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6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557" y="4861026"/>
            <a:ext cx="5681363" cy="460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 noProof="0"/>
              <a:t>Fare clic per modificare gli stili del testo dello schema</a:t>
            </a:r>
          </a:p>
          <a:p>
            <a:pPr lvl="1"/>
            <a:r>
              <a:rPr lang="en-US" altLang="it-IT" noProof="0"/>
              <a:t>Secondo livello</a:t>
            </a:r>
          </a:p>
          <a:p>
            <a:pPr lvl="2"/>
            <a:r>
              <a:rPr lang="en-US" altLang="it-IT" noProof="0"/>
              <a:t>Terzo livello</a:t>
            </a:r>
          </a:p>
          <a:p>
            <a:pPr lvl="3"/>
            <a:r>
              <a:rPr lang="en-US" altLang="it-IT" noProof="0"/>
              <a:t>Quarto livello</a:t>
            </a:r>
          </a:p>
          <a:p>
            <a:pPr lvl="4"/>
            <a:r>
              <a:rPr lang="en-US" altLang="it-IT" noProof="0"/>
              <a:t>Quinto livello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886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209BE9F5-3609-48F0-83E3-B2872F7685E3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0286380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3A92D85-8CAA-49AF-BE8D-CEECBCD97772}" type="slidenum">
              <a:rPr lang="en-US" altLang="it-IT">
                <a:latin typeface="Times New Roman" pitchFamily="18" charset="0"/>
              </a:rPr>
              <a:pPr/>
              <a:t>1</a:t>
            </a:fld>
            <a:endParaRPr lang="en-US" altLang="it-IT">
              <a:latin typeface="Times New Roman" pitchFamily="18" charset="0"/>
            </a:endParaRPr>
          </a:p>
        </p:txBody>
      </p:sp>
      <p:sp>
        <p:nvSpPr>
          <p:cNvPr id="14339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it-IT" sz="1200"/>
              <a:t>Università di Napoli Federico II - Facoltà di Ingegneria - Corso di Laurea in Ingegneria Informatica</a:t>
            </a:r>
          </a:p>
        </p:txBody>
      </p:sp>
      <p:sp>
        <p:nvSpPr>
          <p:cNvPr id="143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en-US" altLang="en-US" noProof="0"/>
              <a:t>Fare clic per modificare lo stile del titolo</a:t>
            </a:r>
          </a:p>
        </p:txBody>
      </p:sp>
      <p:sp>
        <p:nvSpPr>
          <p:cNvPr id="532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pPr lvl="0"/>
            <a:r>
              <a:rPr lang="en-US" altLang="en-US" noProof="0"/>
              <a:t>Fare clic per modificare lo stile del sottotitolo dello schema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4E7AFB5-455C-419D-AAFA-0B8A32C857AB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6648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9C08E2-0169-42DE-B892-70834E87F94F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9395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B53847-9830-4013-A07B-971E8E321896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6958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CEE601-FCB3-4932-AFFD-A799D3418905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1206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C626E4-EC48-4B1C-80DA-1DFCE8788A82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6358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9304BF-06DC-40BB-9918-DC6FC9C5E284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9144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300890-5112-4E86-9511-8F3264E2DEBA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9087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3930E9-7BE6-41BA-ACFA-941877A77238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4584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F93036-599F-432D-AC9E-976448B072B5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5494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75AF2A-9BF0-4841-AEC9-91AE5879A5CC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6281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6E8D1C-5C11-4984-8168-0D1F42A4D820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251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lo stile del titolo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gli stili del testo dello schema</a:t>
            </a:r>
          </a:p>
          <a:p>
            <a:pPr lvl="1"/>
            <a:r>
              <a:rPr lang="en-US" altLang="en-US"/>
              <a:t>Secondo livello</a:t>
            </a:r>
          </a:p>
          <a:p>
            <a:pPr lvl="2"/>
            <a:r>
              <a:rPr lang="en-US" altLang="en-US"/>
              <a:t>Terzo livello</a:t>
            </a:r>
          </a:p>
          <a:p>
            <a:pPr lvl="3"/>
            <a:r>
              <a:rPr lang="en-US" altLang="en-US"/>
              <a:t>Quarto livello</a:t>
            </a:r>
          </a:p>
          <a:p>
            <a:pPr lvl="4"/>
            <a:r>
              <a:rPr lang="en-US" altLang="en-US"/>
              <a:t>Quinto livello</a:t>
            </a:r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smtClean="0"/>
            </a:lvl1pPr>
          </a:lstStyle>
          <a:p>
            <a:pPr>
              <a:defRPr/>
            </a:pPr>
            <a:fld id="{E37AB3EC-1783-44E6-BCBE-BFEF15426CA0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4829" y="1563216"/>
            <a:ext cx="7235825" cy="1152525"/>
          </a:xfrm>
        </p:spPr>
        <p:txBody>
          <a:bodyPr/>
          <a:lstStyle/>
          <a:p>
            <a:pPr algn="ctr" eaLnBrk="1" hangingPunct="1"/>
            <a:br>
              <a:rPr lang="en-US" altLang="it-IT" sz="4000" dirty="0">
                <a:latin typeface="Times New Roman" pitchFamily="18" charset="0"/>
              </a:rPr>
            </a:br>
            <a:r>
              <a:rPr lang="en-US" altLang="it-IT" sz="4000" dirty="0">
                <a:latin typeface="Times New Roman" pitchFamily="18" charset="0"/>
              </a:rPr>
              <a:t> Corso di </a:t>
            </a:r>
            <a:r>
              <a:rPr lang="en-US" altLang="it-IT" sz="4000" dirty="0" err="1">
                <a:latin typeface="Times New Roman" pitchFamily="18" charset="0"/>
              </a:rPr>
              <a:t>Programmazione</a:t>
            </a:r>
            <a:endParaRPr lang="en-US" altLang="it-IT" sz="4000" b="0" i="1" dirty="0">
              <a:latin typeface="Times New Roman" pitchFamily="18" charset="0"/>
            </a:endParaRP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it-IT" sz="3600" b="1" i="1" dirty="0" err="1">
                <a:latin typeface="Times New Roman" pitchFamily="18" charset="0"/>
              </a:rPr>
              <a:t>Metodi</a:t>
            </a:r>
            <a:r>
              <a:rPr lang="en-US" altLang="it-IT" sz="3600" b="1" i="1" dirty="0">
                <a:latin typeface="Times New Roman" pitchFamily="18" charset="0"/>
              </a:rPr>
              <a:t>, Overloading</a:t>
            </a:r>
          </a:p>
          <a:p>
            <a:pPr eaLnBrk="1" hangingPunct="1"/>
            <a:endParaRPr lang="en-US" altLang="it-IT" sz="4100" b="1" i="1" dirty="0">
              <a:latin typeface="Times New Roman" pitchFamily="18" charset="0"/>
            </a:endParaRPr>
          </a:p>
          <a:p>
            <a:pPr eaLnBrk="1" hangingPunct="1"/>
            <a:endParaRPr lang="en-US" altLang="it-IT" sz="4100" b="1" i="1" dirty="0">
              <a:latin typeface="Times New Roman" pitchFamily="18" charset="0"/>
            </a:endParaRPr>
          </a:p>
        </p:txBody>
      </p:sp>
      <p:sp>
        <p:nvSpPr>
          <p:cNvPr id="3077" name="Text Box 6"/>
          <p:cNvSpPr txBox="1">
            <a:spLocks noChangeArrowheads="1"/>
          </p:cNvSpPr>
          <p:nvPr/>
        </p:nvSpPr>
        <p:spPr bwMode="auto">
          <a:xfrm>
            <a:off x="539750" y="260350"/>
            <a:ext cx="67195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it-IT" altLang="it-IT" sz="1200"/>
              <a:t>Università di Napoli Federico II - </a:t>
            </a:r>
            <a:r>
              <a:rPr lang="en-GB" altLang="it-IT" sz="1200"/>
              <a:t>Dip. di </a:t>
            </a:r>
            <a:r>
              <a:rPr lang="en-GB" altLang="it-IT" sz="1200" err="1"/>
              <a:t>Ingegneria</a:t>
            </a:r>
            <a:r>
              <a:rPr lang="en-GB" altLang="it-IT" sz="1200"/>
              <a:t> </a:t>
            </a:r>
            <a:r>
              <a:rPr lang="en-GB" altLang="it-IT" sz="1200" err="1"/>
              <a:t>Elettrica</a:t>
            </a:r>
            <a:r>
              <a:rPr lang="en-GB" altLang="it-IT" sz="1200"/>
              <a:t> e </a:t>
            </a:r>
            <a:r>
              <a:rPr lang="en-GB" altLang="it-IT" sz="1200" err="1"/>
              <a:t>delle</a:t>
            </a:r>
            <a:r>
              <a:rPr lang="en-GB" altLang="it-IT" sz="1200"/>
              <a:t> </a:t>
            </a:r>
            <a:r>
              <a:rPr lang="en-GB" altLang="it-IT" sz="1200" err="1"/>
              <a:t>Tecnologie</a:t>
            </a:r>
            <a:r>
              <a:rPr lang="en-GB" altLang="it-IT" sz="1200"/>
              <a:t> </a:t>
            </a:r>
            <a:r>
              <a:rPr lang="en-GB" altLang="it-IT" sz="1200" err="1"/>
              <a:t>dell’Informazione</a:t>
            </a:r>
            <a:r>
              <a:rPr lang="en-GB" altLang="it-IT" sz="1200"/>
              <a:t> </a:t>
            </a:r>
          </a:p>
          <a:p>
            <a:pPr eaLnBrk="1" hangingPunct="1"/>
            <a:r>
              <a:rPr lang="it-IT" altLang="it-IT" sz="1200"/>
              <a:t>Corso di Laurea in Ingegneria Informatica</a:t>
            </a:r>
            <a:endParaRPr lang="en-US" altLang="it-IT" sz="120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194" y="373448"/>
            <a:ext cx="846916" cy="895311"/>
          </a:xfrm>
          <a:prstGeom prst="rect">
            <a:avLst/>
          </a:prstGeom>
        </p:spPr>
      </p:pic>
      <p:pic>
        <p:nvPicPr>
          <p:cNvPr id="1026" name="Picture 2" descr="Java, logo, logos icon - Free download on Iconfinder">
            <a:extLst>
              <a:ext uri="{FF2B5EF4-FFF2-40B4-BE49-F238E27FC236}">
                <a16:creationId xmlns:a16="http://schemas.microsoft.com/office/drawing/2014/main" id="{8F51CA07-A1A5-AA38-5BB4-4B67B1526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014466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C0739EC-6351-4E33-8553-DC1EEDD3EF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-315416"/>
            <a:ext cx="7543800" cy="1295400"/>
          </a:xfrm>
        </p:spPr>
        <p:txBody>
          <a:bodyPr/>
          <a:lstStyle/>
          <a:p>
            <a:r>
              <a:rPr lang="en-GB" altLang="en-US" err="1"/>
              <a:t>Sottoprogrammi</a:t>
            </a:r>
            <a:r>
              <a:rPr lang="en-GB" altLang="en-US"/>
              <a:t> in JAVA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EF070C5-B964-4D78-86F2-2C47D47D5A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0768"/>
            <a:ext cx="8229600" cy="4411662"/>
          </a:xfrm>
        </p:spPr>
        <p:txBody>
          <a:bodyPr/>
          <a:lstStyle/>
          <a:p>
            <a:r>
              <a:rPr lang="en-GB" altLang="en-US" sz="2400" dirty="0" err="1"/>
              <a:t>L’astrazione</a:t>
            </a:r>
            <a:r>
              <a:rPr lang="en-GB" altLang="en-US" sz="2400" dirty="0"/>
              <a:t> di </a:t>
            </a:r>
            <a:r>
              <a:rPr lang="en-GB" altLang="en-US" sz="2400" i="1" dirty="0" err="1"/>
              <a:t>funzione</a:t>
            </a:r>
            <a:r>
              <a:rPr lang="en-GB" altLang="en-US" sz="2400" i="1" dirty="0"/>
              <a:t> </a:t>
            </a:r>
            <a:r>
              <a:rPr lang="en-GB" altLang="en-US" sz="2400" dirty="0" err="1"/>
              <a:t>è</a:t>
            </a:r>
            <a:r>
              <a:rPr lang="en-GB" altLang="en-US" sz="2400" dirty="0"/>
              <a:t> </a:t>
            </a:r>
            <a:r>
              <a:rPr lang="en-GB" altLang="en-US" sz="2400" dirty="0" err="1"/>
              <a:t>presente</a:t>
            </a:r>
            <a:r>
              <a:rPr lang="en-GB" altLang="en-US" sz="2400" dirty="0"/>
              <a:t> in tutti </a:t>
            </a:r>
            <a:r>
              <a:rPr lang="en-GB" altLang="en-US" sz="2400" dirty="0" err="1"/>
              <a:t>i</a:t>
            </a:r>
            <a:r>
              <a:rPr lang="en-GB" altLang="en-US" sz="2400" dirty="0"/>
              <a:t> </a:t>
            </a:r>
            <a:r>
              <a:rPr lang="en-GB" altLang="en-US" sz="2400" dirty="0" err="1"/>
              <a:t>linguaggi</a:t>
            </a:r>
            <a:r>
              <a:rPr lang="en-GB" altLang="en-US" sz="2400" dirty="0"/>
              <a:t> di </a:t>
            </a:r>
            <a:r>
              <a:rPr lang="en-GB" altLang="en-US" sz="2400" dirty="0" err="1"/>
              <a:t>programmazione</a:t>
            </a:r>
            <a:r>
              <a:rPr lang="en-GB" altLang="en-US" sz="2400" dirty="0"/>
              <a:t> di alto </a:t>
            </a:r>
            <a:r>
              <a:rPr lang="en-GB" altLang="en-US" sz="2400" dirty="0" err="1"/>
              <a:t>livello</a:t>
            </a:r>
            <a:r>
              <a:rPr lang="en-GB" altLang="en-US" sz="2400" dirty="0"/>
              <a:t>.</a:t>
            </a:r>
          </a:p>
          <a:p>
            <a:r>
              <a:rPr lang="en-GB" altLang="en-US" sz="2400" dirty="0"/>
              <a:t>In JAVA </a:t>
            </a:r>
            <a:r>
              <a:rPr lang="en-GB" altLang="en-US" sz="2400" dirty="0" err="1"/>
              <a:t>i</a:t>
            </a:r>
            <a:r>
              <a:rPr lang="en-GB" altLang="en-US" sz="2400" dirty="0"/>
              <a:t> </a:t>
            </a:r>
            <a:r>
              <a:rPr lang="en-GB" altLang="en-US" sz="2400" dirty="0" err="1"/>
              <a:t>sottoprogrammi</a:t>
            </a:r>
            <a:r>
              <a:rPr lang="en-GB" altLang="en-US" sz="2400" dirty="0"/>
              <a:t> </a:t>
            </a:r>
            <a:r>
              <a:rPr lang="en-GB" altLang="en-US" sz="2400" dirty="0" err="1"/>
              <a:t>vengono</a:t>
            </a:r>
            <a:r>
              <a:rPr lang="en-GB" altLang="en-US" sz="2400" dirty="0"/>
              <a:t> </a:t>
            </a:r>
            <a:r>
              <a:rPr lang="en-GB" altLang="en-US" sz="2400" dirty="0" err="1"/>
              <a:t>chiamati</a:t>
            </a:r>
            <a:r>
              <a:rPr lang="en-GB" altLang="en-US" sz="2400" dirty="0"/>
              <a:t> </a:t>
            </a:r>
            <a:r>
              <a:rPr lang="en-GB" altLang="en-US" sz="2400" b="1" dirty="0">
                <a:solidFill>
                  <a:srgbClr val="FF0000"/>
                </a:solidFill>
              </a:rPr>
              <a:t>METODI</a:t>
            </a:r>
          </a:p>
          <a:p>
            <a:r>
              <a:rPr lang="en-GB" altLang="en-US" sz="2400" dirty="0"/>
              <a:t>JAVA (come C/C++) non introduce </a:t>
            </a:r>
            <a:r>
              <a:rPr lang="en-GB" altLang="en-US" sz="2400" dirty="0" err="1"/>
              <a:t>esplicitamente</a:t>
            </a:r>
            <a:r>
              <a:rPr lang="en-GB" altLang="en-US" sz="2400" dirty="0"/>
              <a:t> le procedure. I </a:t>
            </a:r>
            <a:r>
              <a:rPr lang="en-GB" altLang="en-US" sz="2400" dirty="0" err="1"/>
              <a:t>metodi</a:t>
            </a:r>
            <a:r>
              <a:rPr lang="en-GB" altLang="en-US" sz="2400" dirty="0"/>
              <a:t> </a:t>
            </a:r>
            <a:r>
              <a:rPr lang="en-GB" altLang="en-US" sz="2400" dirty="0" err="1"/>
              <a:t>sono</a:t>
            </a:r>
            <a:r>
              <a:rPr lang="en-GB" altLang="en-US" sz="2400" dirty="0"/>
              <a:t> </a:t>
            </a:r>
            <a:r>
              <a:rPr lang="en-GB" altLang="en-US" sz="2400" dirty="0" err="1"/>
              <a:t>esclusivamente</a:t>
            </a:r>
            <a:r>
              <a:rPr lang="en-GB" altLang="en-US" sz="2400" dirty="0"/>
              <a:t> </a:t>
            </a:r>
            <a:r>
              <a:rPr lang="en-GB" altLang="en-US" sz="2400" dirty="0" err="1"/>
              <a:t>funzioni</a:t>
            </a:r>
            <a:endParaRPr lang="en-GB" altLang="en-US" sz="2400" dirty="0"/>
          </a:p>
          <a:p>
            <a:r>
              <a:rPr lang="en-GB" altLang="en-US" sz="2400" dirty="0"/>
              <a:t>Le procedure </a:t>
            </a:r>
            <a:r>
              <a:rPr lang="en-GB" altLang="en-US" sz="2400" dirty="0" err="1"/>
              <a:t>vengono</a:t>
            </a:r>
            <a:r>
              <a:rPr lang="en-GB" altLang="en-US" sz="2400" dirty="0"/>
              <a:t> </a:t>
            </a:r>
            <a:r>
              <a:rPr lang="en-GB" altLang="en-US" sz="2400" i="1" dirty="0"/>
              <a:t>emulate </a:t>
            </a:r>
            <a:r>
              <a:rPr lang="en-GB" altLang="en-US" sz="2400" dirty="0" err="1"/>
              <a:t>mediante</a:t>
            </a:r>
            <a:r>
              <a:rPr lang="en-GB" altLang="en-US" sz="2400" dirty="0"/>
              <a:t> le </a:t>
            </a:r>
            <a:r>
              <a:rPr lang="en-GB" altLang="en-US" sz="2400" dirty="0" err="1"/>
              <a:t>funzioni</a:t>
            </a:r>
            <a:r>
              <a:rPr lang="en-GB" altLang="en-US" sz="2400" dirty="0"/>
              <a:t> </a:t>
            </a:r>
            <a:r>
              <a:rPr lang="en-GB" altLang="en-US" sz="2400" dirty="0" err="1"/>
              <a:t>utilizzando</a:t>
            </a:r>
            <a:r>
              <a:rPr lang="en-GB" altLang="en-US" sz="2400" dirty="0"/>
              <a:t> il </a:t>
            </a:r>
            <a:r>
              <a:rPr lang="en-GB" altLang="en-US" sz="2400" dirty="0" err="1"/>
              <a:t>tipo</a:t>
            </a:r>
            <a:r>
              <a:rPr lang="en-GB" altLang="en-US" sz="2400" dirty="0"/>
              <a:t> </a:t>
            </a:r>
            <a:r>
              <a:rPr lang="en-GB" altLang="en-US" sz="2400" dirty="0">
                <a:solidFill>
                  <a:srgbClr val="FF0000"/>
                </a:solidFill>
              </a:rPr>
              <a:t>void</a:t>
            </a:r>
            <a:r>
              <a:rPr lang="en-GB" altLang="en-US" sz="2400" dirty="0"/>
              <a:t> come </a:t>
            </a:r>
            <a:r>
              <a:rPr lang="en-GB" altLang="en-US" sz="2400" dirty="0" err="1"/>
              <a:t>tipo</a:t>
            </a:r>
            <a:r>
              <a:rPr lang="en-GB" altLang="en-US" sz="2400" dirty="0"/>
              <a:t> di </a:t>
            </a:r>
            <a:r>
              <a:rPr lang="en-GB" altLang="en-US" sz="2400" dirty="0" err="1"/>
              <a:t>ritorno</a:t>
            </a:r>
            <a:r>
              <a:rPr lang="en-GB" altLang="en-US" sz="24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AAE679-7521-F76A-057E-6737B48D8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039" y="-315416"/>
            <a:ext cx="7543800" cy="1295400"/>
          </a:xfrm>
        </p:spPr>
        <p:txBody>
          <a:bodyPr/>
          <a:lstStyle/>
          <a:p>
            <a:r>
              <a:rPr lang="it-IT"/>
              <a:t>Dichiarazione di metodo (1/5)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24029F-98FD-551C-C62A-1F86166ED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340768"/>
            <a:ext cx="8229600" cy="4411662"/>
          </a:xfrm>
        </p:spPr>
        <p:txBody>
          <a:bodyPr/>
          <a:lstStyle/>
          <a:p>
            <a:r>
              <a:rPr lang="it-IT" sz="2800"/>
              <a:t>In JAVA i metodi sono sempre dichiarati all’interno di una classe e sono generalmente chiamati su specifici oggetti di tale classe. Questi metodi sono noti come </a:t>
            </a:r>
            <a:r>
              <a:rPr lang="it-IT" sz="2800">
                <a:solidFill>
                  <a:srgbClr val="FF0000"/>
                </a:solidFill>
              </a:rPr>
              <a:t>metodi di istanza.</a:t>
            </a:r>
          </a:p>
          <a:p>
            <a:r>
              <a:rPr lang="it-IT" sz="2800"/>
              <a:t>E’ però anche possibile eseguire attività che non dipendono da un oggetto specifico</a:t>
            </a:r>
          </a:p>
          <a:p>
            <a:r>
              <a:rPr lang="it-IT" sz="2800"/>
              <a:t>Questi metodi sono noti come </a:t>
            </a:r>
            <a:r>
              <a:rPr lang="it-IT" sz="2800">
                <a:solidFill>
                  <a:srgbClr val="FF0000"/>
                </a:solidFill>
              </a:rPr>
              <a:t>metodi statici </a:t>
            </a:r>
            <a:r>
              <a:rPr lang="it-IT" sz="2800"/>
              <a:t>o </a:t>
            </a:r>
            <a:r>
              <a:rPr lang="it-IT" sz="2800">
                <a:solidFill>
                  <a:srgbClr val="FF0000"/>
                </a:solidFill>
              </a:rPr>
              <a:t>metodi di classe </a:t>
            </a:r>
            <a:r>
              <a:rPr lang="it-IT" sz="2800"/>
              <a:t>e implementano funzionalità che non dipendono da informazioni contenute all’interno di un oggetto</a:t>
            </a:r>
          </a:p>
        </p:txBody>
      </p:sp>
    </p:spTree>
    <p:extLst>
      <p:ext uri="{BB962C8B-B14F-4D97-AF65-F5344CB8AC3E}">
        <p14:creationId xmlns:p14="http://schemas.microsoft.com/office/powerpoint/2010/main" val="481310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78F33A8-0060-46D7-BCAC-9FAB64AB3D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4452" y="260648"/>
            <a:ext cx="8716962" cy="742950"/>
          </a:xfrm>
        </p:spPr>
        <p:txBody>
          <a:bodyPr/>
          <a:lstStyle/>
          <a:p>
            <a:r>
              <a:rPr lang="it-IT" altLang="en-US" sz="4000">
                <a:cs typeface="Times New Roman" panose="02020603050405020304" pitchFamily="18" charset="0"/>
              </a:rPr>
              <a:t>Dichiarazione di metodo (2/5)</a:t>
            </a:r>
          </a:p>
        </p:txBody>
      </p:sp>
      <p:sp>
        <p:nvSpPr>
          <p:cNvPr id="21507" name="Rectangle 6">
            <a:extLst>
              <a:ext uri="{FF2B5EF4-FFF2-40B4-BE49-F238E27FC236}">
                <a16:creationId xmlns:a16="http://schemas.microsoft.com/office/drawing/2014/main" id="{27D6A135-14C8-4785-B5C5-ADA9B10F86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8693" y="1412776"/>
            <a:ext cx="8229600" cy="518457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altLang="en-US" sz="2000" b="1"/>
              <a:t>Una dichiarazione di metodo è costituita da una </a:t>
            </a:r>
            <a:r>
              <a:rPr lang="it-IT" altLang="en-US" sz="2000" b="1" i="1"/>
              <a:t>intestazione </a:t>
            </a:r>
            <a:r>
              <a:rPr lang="it-IT" altLang="en-US" sz="2000" b="1"/>
              <a:t>e da un </a:t>
            </a:r>
            <a:r>
              <a:rPr lang="it-IT" altLang="en-US" sz="2000" b="1" i="1"/>
              <a:t>blocco </a:t>
            </a:r>
            <a:r>
              <a:rPr lang="it-IT" altLang="en-US" sz="2000" b="1"/>
              <a:t>o </a:t>
            </a:r>
            <a:r>
              <a:rPr lang="it-IT" altLang="en-US" sz="2000" b="1" i="1"/>
              <a:t>corpo. L’intestazione può essere preceduta da un modificatore. </a:t>
            </a:r>
          </a:p>
          <a:p>
            <a:pPr marL="0" indent="0" algn="l">
              <a:buNone/>
            </a:pPr>
            <a:r>
              <a:rPr lang="it-IT" sz="2000" b="1" i="1"/>
              <a:t>    </a:t>
            </a:r>
            <a:r>
              <a:rPr lang="it-IT" sz="1600" b="1" i="1"/>
              <a:t>I modificatori descrivono proprietà del metodo: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600" b="1" i="1"/>
              <a:t>visibilità    (private, </a:t>
            </a:r>
            <a:r>
              <a:rPr lang="it-IT" sz="1600" b="1" i="1" err="1"/>
              <a:t>protected</a:t>
            </a:r>
            <a:r>
              <a:rPr lang="it-IT" sz="1600" b="1" i="1"/>
              <a:t>, public),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600" b="1" i="1"/>
              <a:t>modificabilità    (</a:t>
            </a:r>
            <a:r>
              <a:rPr lang="it-IT" sz="1600" b="1" i="1" err="1"/>
              <a:t>final</a:t>
            </a:r>
            <a:r>
              <a:rPr lang="it-IT" sz="1600" b="1" i="1"/>
              <a:t>),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600" b="1" i="1"/>
              <a:t>appartenenza ad una classe o alle istanze (</a:t>
            </a:r>
            <a:r>
              <a:rPr lang="it-IT" sz="1600" b="1" i="1" err="1"/>
              <a:t>static</a:t>
            </a:r>
            <a:r>
              <a:rPr lang="it-IT" sz="1600" b="1" i="1"/>
              <a:t>).</a:t>
            </a:r>
            <a:endParaRPr lang="it-IT" altLang="en-US" sz="1600" b="1" i="1"/>
          </a:p>
          <a:p>
            <a:pPr>
              <a:lnSpc>
                <a:spcPct val="90000"/>
              </a:lnSpc>
            </a:pPr>
            <a:endParaRPr lang="it-IT" altLang="en-US" sz="2000" b="1"/>
          </a:p>
          <a:p>
            <a:pPr>
              <a:lnSpc>
                <a:spcPct val="90000"/>
              </a:lnSpc>
            </a:pPr>
            <a:r>
              <a:rPr lang="it-IT" altLang="en-US" sz="2000" b="1"/>
              <a:t>L’intestazione specifica nell’ordine:</a:t>
            </a:r>
          </a:p>
          <a:p>
            <a:pPr lvl="1">
              <a:lnSpc>
                <a:spcPct val="90000"/>
              </a:lnSpc>
            </a:pPr>
            <a:r>
              <a:rPr lang="it-IT" altLang="en-US" sz="2000" b="1">
                <a:solidFill>
                  <a:srgbClr val="FF0000"/>
                </a:solidFill>
              </a:rPr>
              <a:t>Tipo del risultato</a:t>
            </a:r>
            <a:r>
              <a:rPr lang="it-IT" altLang="en-US" sz="2000" b="1"/>
              <a:t> </a:t>
            </a:r>
            <a:r>
              <a:rPr lang="it-IT" altLang="en-US" sz="2000"/>
              <a:t>(</a:t>
            </a:r>
            <a:r>
              <a:rPr lang="it-IT" altLang="en-US" sz="2000" b="1" err="1">
                <a:solidFill>
                  <a:srgbClr val="00CC00"/>
                </a:solidFill>
              </a:rPr>
              <a:t>void</a:t>
            </a:r>
            <a:r>
              <a:rPr lang="it-IT" altLang="en-US" sz="2000" b="1">
                <a:solidFill>
                  <a:srgbClr val="00CC00"/>
                </a:solidFill>
              </a:rPr>
              <a:t> </a:t>
            </a:r>
            <a:r>
              <a:rPr lang="it-IT" altLang="en-US" sz="2000">
                <a:solidFill>
                  <a:srgbClr val="00CC00"/>
                </a:solidFill>
              </a:rPr>
              <a:t>se non c’è risultato</a:t>
            </a:r>
            <a:r>
              <a:rPr lang="it-IT" altLang="en-US" sz="2000"/>
              <a:t>; corrisponde alla </a:t>
            </a:r>
            <a:r>
              <a:rPr lang="it-IT" altLang="en-US" sz="2000" i="1">
                <a:solidFill>
                  <a:srgbClr val="00CC00"/>
                </a:solidFill>
              </a:rPr>
              <a:t>procedura</a:t>
            </a:r>
            <a:r>
              <a:rPr lang="it-IT" altLang="en-US" sz="2000" i="1"/>
              <a:t> </a:t>
            </a:r>
            <a:r>
              <a:rPr lang="it-IT" altLang="en-US" sz="2000"/>
              <a:t>di altri linguaggi)</a:t>
            </a:r>
          </a:p>
          <a:p>
            <a:pPr lvl="1">
              <a:lnSpc>
                <a:spcPct val="90000"/>
              </a:lnSpc>
            </a:pPr>
            <a:r>
              <a:rPr lang="it-IT" altLang="en-US" sz="2000" b="1">
                <a:solidFill>
                  <a:srgbClr val="FF0000"/>
                </a:solidFill>
              </a:rPr>
              <a:t>Nome del metodo</a:t>
            </a:r>
          </a:p>
          <a:p>
            <a:pPr lvl="1">
              <a:lnSpc>
                <a:spcPct val="90000"/>
              </a:lnSpc>
            </a:pPr>
            <a:r>
              <a:rPr lang="it-IT" altLang="en-US" sz="2000">
                <a:solidFill>
                  <a:srgbClr val="FF0000"/>
                </a:solidFill>
              </a:rPr>
              <a:t>Lista dei </a:t>
            </a:r>
            <a:r>
              <a:rPr lang="it-IT" altLang="en-US" sz="2000" b="1">
                <a:solidFill>
                  <a:srgbClr val="FF0000"/>
                </a:solidFill>
              </a:rPr>
              <a:t>parametri formali</a:t>
            </a:r>
          </a:p>
          <a:p>
            <a:pPr lvl="2">
              <a:lnSpc>
                <a:spcPct val="90000"/>
              </a:lnSpc>
            </a:pPr>
            <a:r>
              <a:rPr lang="it-IT" altLang="en-US" sz="1800" b="1"/>
              <a:t>() </a:t>
            </a:r>
            <a:r>
              <a:rPr lang="it-IT" altLang="en-US" sz="1800"/>
              <a:t>se la lista è vuota (non ci sono parametri)</a:t>
            </a:r>
          </a:p>
          <a:p>
            <a:pPr lvl="2">
              <a:lnSpc>
                <a:spcPct val="90000"/>
              </a:lnSpc>
            </a:pPr>
            <a:r>
              <a:rPr lang="it-IT" altLang="en-US" sz="1800"/>
              <a:t>una sequenza di </a:t>
            </a:r>
            <a:r>
              <a:rPr lang="it-IT" altLang="en-US" sz="1800">
                <a:solidFill>
                  <a:srgbClr val="FF0000"/>
                </a:solidFill>
              </a:rPr>
              <a:t>dichiarazioni di parametri tra le parentesi</a:t>
            </a:r>
            <a:r>
              <a:rPr lang="it-IT" altLang="en-US" sz="1800"/>
              <a:t>, se la lista non è vuota</a:t>
            </a:r>
          </a:p>
          <a:p>
            <a:pPr marL="0" indent="0">
              <a:lnSpc>
                <a:spcPct val="90000"/>
              </a:lnSpc>
              <a:buNone/>
            </a:pPr>
            <a:endParaRPr lang="en-GB" altLang="en-US" sz="2400"/>
          </a:p>
          <a:p>
            <a:pPr marL="0" indent="0">
              <a:lnSpc>
                <a:spcPct val="90000"/>
              </a:lnSpc>
              <a:buNone/>
            </a:pPr>
            <a:endParaRPr lang="en-GB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DD9249F-03D6-4294-8A34-F7CA99A974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-387424"/>
            <a:ext cx="7543800" cy="1295400"/>
          </a:xfrm>
        </p:spPr>
        <p:txBody>
          <a:bodyPr/>
          <a:lstStyle/>
          <a:p>
            <a:r>
              <a:rPr lang="en-GB" altLang="en-US" err="1"/>
              <a:t>Dichiarazione</a:t>
            </a:r>
            <a:r>
              <a:rPr lang="en-GB" altLang="en-US"/>
              <a:t> di </a:t>
            </a:r>
            <a:r>
              <a:rPr lang="en-GB" altLang="en-US" err="1"/>
              <a:t>metodo</a:t>
            </a:r>
            <a:r>
              <a:rPr lang="en-GB" altLang="en-US"/>
              <a:t> (3/5)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CDE4CE8-C381-4B2D-85FB-7FFD4D4EA3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it-IT" altLang="en-US" sz="2800" b="1"/>
              <a:t>Il corpo della funzione è costituito da un blocco:</a:t>
            </a:r>
          </a:p>
          <a:p>
            <a:pPr lvl="1">
              <a:lnSpc>
                <a:spcPct val="90000"/>
              </a:lnSpc>
            </a:pPr>
            <a:r>
              <a:rPr lang="it-IT" altLang="en-US" sz="2400"/>
              <a:t>Delimitato da parentesi graffe </a:t>
            </a:r>
            <a:r>
              <a:rPr lang="it-IT" altLang="en-US" sz="2400" b="1"/>
              <a:t>{ }</a:t>
            </a:r>
          </a:p>
          <a:p>
            <a:pPr lvl="1">
              <a:lnSpc>
                <a:spcPct val="90000"/>
              </a:lnSpc>
            </a:pPr>
            <a:r>
              <a:rPr lang="it-IT" altLang="en-US" sz="2400"/>
              <a:t>Dichiarazione di variabili locali al blocco di funzione</a:t>
            </a:r>
          </a:p>
          <a:p>
            <a:pPr lvl="1">
              <a:lnSpc>
                <a:spcPct val="90000"/>
              </a:lnSpc>
            </a:pPr>
            <a:r>
              <a:rPr lang="it-IT" altLang="en-US" sz="2400"/>
              <a:t>Lista di istruzioni</a:t>
            </a:r>
          </a:p>
          <a:p>
            <a:pPr lvl="1">
              <a:lnSpc>
                <a:spcPct val="90000"/>
              </a:lnSpc>
            </a:pPr>
            <a:r>
              <a:rPr lang="it-IT" altLang="en-US" sz="2400"/>
              <a:t>Parola chiave </a:t>
            </a:r>
            <a:r>
              <a:rPr lang="it-IT" altLang="en-US" sz="2400" b="1" err="1"/>
              <a:t>return</a:t>
            </a:r>
            <a:r>
              <a:rPr lang="it-IT" altLang="en-US" sz="2400" b="1"/>
              <a:t> (&lt;espressione&gt;) </a:t>
            </a:r>
            <a:r>
              <a:rPr lang="it-IT" altLang="en-US" sz="2400"/>
              <a:t>se la funzione ritorna un risultato</a:t>
            </a:r>
          </a:p>
          <a:p>
            <a:pPr>
              <a:lnSpc>
                <a:spcPct val="90000"/>
              </a:lnSpc>
            </a:pPr>
            <a:r>
              <a:rPr lang="it-IT" altLang="en-US" sz="2800" b="1"/>
              <a:t>&lt;espressione&gt; </a:t>
            </a:r>
            <a:r>
              <a:rPr lang="it-IT" altLang="en-US" sz="2800"/>
              <a:t>deve essere del </a:t>
            </a:r>
            <a:r>
              <a:rPr lang="it-IT" altLang="en-US" sz="2800" b="1"/>
              <a:t>tipo </a:t>
            </a:r>
            <a:r>
              <a:rPr lang="it-IT" altLang="en-US" sz="2800"/>
              <a:t>specificato nell’intestazione del metodo, viene omessa se il metodo non ritorna un risultato (cioè emula una procedura)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en-US" sz="2800"/>
          </a:p>
          <a:p>
            <a:pPr>
              <a:lnSpc>
                <a:spcPct val="90000"/>
              </a:lnSpc>
            </a:pPr>
            <a:endParaRPr lang="en-GB" altLang="en-US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egnaposto contenuto 2">
            <a:extLst>
              <a:ext uri="{FF2B5EF4-FFF2-40B4-BE49-F238E27FC236}">
                <a16:creationId xmlns:a16="http://schemas.microsoft.com/office/drawing/2014/main" id="{9DB6B30C-6903-4A21-83EE-465A84D72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484784"/>
            <a:ext cx="8229600" cy="4411662"/>
          </a:xfrm>
        </p:spPr>
        <p:txBody>
          <a:bodyPr/>
          <a:lstStyle/>
          <a:p>
            <a:r>
              <a:rPr lang="it-IT" altLang="en-US" sz="2400"/>
              <a:t>Le variabili definite all’interno di un blocco </a:t>
            </a:r>
            <a:r>
              <a:rPr lang="it-IT" altLang="en-US" sz="2400" i="1">
                <a:solidFill>
                  <a:srgbClr val="0070C0"/>
                </a:solidFill>
              </a:rPr>
              <a:t>sono create e esistono solo all’interno del blocco, quindi sono visibili e possono essere utilizzate solo all’interno del blocco e vengono deallocate quando si esce dal blocco</a:t>
            </a:r>
          </a:p>
          <a:p>
            <a:r>
              <a:rPr lang="it-IT" altLang="en-US" sz="2400"/>
              <a:t>Sono pertanto </a:t>
            </a:r>
            <a:r>
              <a:rPr lang="it-IT" altLang="en-US" sz="2400">
                <a:solidFill>
                  <a:srgbClr val="FF0000"/>
                </a:solidFill>
              </a:rPr>
              <a:t>variabili locali</a:t>
            </a:r>
          </a:p>
          <a:p>
            <a:r>
              <a:rPr lang="it-IT" altLang="en-US" sz="2400"/>
              <a:t>Le variabili definite all’interno di un metodo pertanto sono variabili locali al blocco in cui sono state definite</a:t>
            </a:r>
          </a:p>
          <a:p>
            <a:r>
              <a:rPr lang="it-IT" altLang="en-US" sz="2400"/>
              <a:t>Anche i parametri specificati nella lista dei parametri formali sono a tutti gli effetti locali al metodo ed è un errore di sintassi ridefinire un parametro come variabile locale del metodo 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BC1BDCDF-461C-4103-A5A7-94C10FA36F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6845" y="-243408"/>
            <a:ext cx="7543800" cy="1295400"/>
          </a:xfrm>
        </p:spPr>
        <p:txBody>
          <a:bodyPr/>
          <a:lstStyle/>
          <a:p>
            <a:r>
              <a:rPr lang="it-IT" altLang="en-US" sz="4000">
                <a:cs typeface="Times New Roman" panose="02020603050405020304" pitchFamily="18" charset="0"/>
              </a:rPr>
              <a:t>Dichiarazione di metodo (4/5)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2A4043D-5AFF-477F-8EE4-5BD0CD2452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-286851"/>
            <a:ext cx="8229600" cy="1143000"/>
          </a:xfrm>
        </p:spPr>
        <p:txBody>
          <a:bodyPr/>
          <a:lstStyle/>
          <a:p>
            <a:r>
              <a:rPr lang="it-IT" altLang="en-US" sz="3600">
                <a:cs typeface="Times New Roman" panose="02020603050405020304" pitchFamily="18" charset="0"/>
              </a:rPr>
              <a:t>Dichiarazione di metodo (5/5)</a:t>
            </a:r>
            <a:endParaRPr lang="en-GB" altLang="en-US"/>
          </a:p>
        </p:txBody>
      </p:sp>
      <p:sp>
        <p:nvSpPr>
          <p:cNvPr id="24579" name="Text Box 5">
            <a:extLst>
              <a:ext uri="{FF2B5EF4-FFF2-40B4-BE49-F238E27FC236}">
                <a16:creationId xmlns:a16="http://schemas.microsoft.com/office/drawing/2014/main" id="{EF531F97-06A8-4C94-82C9-23E5D99D4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058" y="1107966"/>
            <a:ext cx="8532555" cy="1631216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3300"/>
            </a:solidFill>
            <a:miter lim="800000"/>
            <a:headEnd type="none" w="sm" len="sm"/>
            <a:tailEnd type="none" w="lg" len="med"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t-IT" altLang="en-US" sz="1600" b="1">
                <a:solidFill>
                  <a:srgbClr val="FF0000"/>
                </a:solidFill>
                <a:latin typeface="Courier" pitchFamily="2" charset="0"/>
              </a:rPr>
              <a:t>&lt;</a:t>
            </a:r>
            <a:r>
              <a:rPr lang="it-IT" sz="1600" b="1">
                <a:solidFill>
                  <a:srgbClr val="FF0000"/>
                </a:solidFill>
                <a:latin typeface="Courier" pitchFamily="2" charset="0"/>
              </a:rPr>
              <a:t> modificatori&gt; </a:t>
            </a:r>
            <a:r>
              <a:rPr lang="it-IT" sz="1600" b="1">
                <a:latin typeface="Courier" pitchFamily="2" charset="0"/>
              </a:rPr>
              <a:t>&lt;tipo restituito&gt; &lt;nome&gt; (&lt;</a:t>
            </a:r>
            <a:r>
              <a:rPr lang="it-IT" sz="1600" b="1" err="1">
                <a:latin typeface="Courier" pitchFamily="2" charset="0"/>
              </a:rPr>
              <a:t>lista_parametri_formali</a:t>
            </a:r>
            <a:r>
              <a:rPr lang="it-IT" sz="1600" b="1">
                <a:latin typeface="Courier" pitchFamily="2" charset="0"/>
              </a:rPr>
              <a:t>&gt;)</a:t>
            </a:r>
          </a:p>
          <a:p>
            <a:r>
              <a:rPr lang="it-IT" altLang="en-US" sz="1600" b="1">
                <a:solidFill>
                  <a:srgbClr val="00B0F0"/>
                </a:solidFill>
                <a:latin typeface="Courier" pitchFamily="2" charset="0"/>
              </a:rPr>
              <a:t> </a:t>
            </a:r>
            <a:r>
              <a:rPr lang="it-IT" altLang="en-US" sz="1600" b="1">
                <a:latin typeface="Courier" pitchFamily="2" charset="0"/>
              </a:rPr>
              <a:t>{</a:t>
            </a:r>
          </a:p>
          <a:p>
            <a:r>
              <a:rPr lang="it-IT" altLang="en-US" sz="1600" b="1">
                <a:latin typeface="Courier" pitchFamily="2" charset="0"/>
              </a:rPr>
              <a:t> </a:t>
            </a:r>
            <a:r>
              <a:rPr lang="it-IT" altLang="en-US" sz="1600" b="1">
                <a:solidFill>
                  <a:srgbClr val="000000"/>
                </a:solidFill>
                <a:latin typeface="Courier" pitchFamily="2" charset="0"/>
              </a:rPr>
              <a:t>&lt;sezione dichiarativa&gt;</a:t>
            </a:r>
          </a:p>
          <a:p>
            <a:r>
              <a:rPr lang="it-IT" altLang="en-US" sz="1600" b="1">
                <a:latin typeface="Courier" pitchFamily="2" charset="0"/>
              </a:rPr>
              <a:t> </a:t>
            </a:r>
            <a:r>
              <a:rPr lang="it-IT" altLang="en-US" sz="1600" b="1">
                <a:solidFill>
                  <a:srgbClr val="0000FF"/>
                </a:solidFill>
                <a:latin typeface="Courier" pitchFamily="2" charset="0"/>
              </a:rPr>
              <a:t>&lt;sezione esecutiva&gt;</a:t>
            </a:r>
          </a:p>
          <a:p>
            <a:r>
              <a:rPr lang="it-IT" altLang="en-US" sz="1600" b="1">
                <a:latin typeface="Courier" pitchFamily="2" charset="0"/>
              </a:rPr>
              <a:t> </a:t>
            </a:r>
            <a:r>
              <a:rPr lang="it-IT" altLang="en-US" sz="1600" b="1">
                <a:solidFill>
                  <a:schemeClr val="hlink"/>
                </a:solidFill>
                <a:latin typeface="Courier" pitchFamily="2" charset="0"/>
              </a:rPr>
              <a:t> </a:t>
            </a:r>
            <a:r>
              <a:rPr lang="it-IT" altLang="en-US" sz="1600" b="1" err="1">
                <a:solidFill>
                  <a:schemeClr val="hlink"/>
                </a:solidFill>
                <a:latin typeface="Courier" pitchFamily="2" charset="0"/>
              </a:rPr>
              <a:t>return</a:t>
            </a:r>
            <a:r>
              <a:rPr lang="it-IT" altLang="en-US" sz="1600" b="1">
                <a:latin typeface="Courier" pitchFamily="2" charset="0"/>
              </a:rPr>
              <a:t> &lt;valore calcolato&gt;;</a:t>
            </a:r>
          </a:p>
          <a:p>
            <a:r>
              <a:rPr lang="it-IT" altLang="en-US" sz="1600" b="1">
                <a:latin typeface="Courier" pitchFamily="2" charset="0"/>
              </a:rPr>
              <a:t>}</a:t>
            </a:r>
          </a:p>
        </p:txBody>
      </p:sp>
      <p:sp>
        <p:nvSpPr>
          <p:cNvPr id="24580" name="Text Box 6">
            <a:extLst>
              <a:ext uri="{FF2B5EF4-FFF2-40B4-BE49-F238E27FC236}">
                <a16:creationId xmlns:a16="http://schemas.microsoft.com/office/drawing/2014/main" id="{D28C2F96-DDC4-4BDB-B872-8A8DA6938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605" y="3429000"/>
            <a:ext cx="6381524" cy="243143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00"/>
            </a:solidFill>
            <a:miter lim="800000"/>
            <a:headEnd type="none" w="sm" len="sm"/>
            <a:tailEnd type="none" w="lg" len="med"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it-IT" altLang="en-US" sz="2000" b="1" dirty="0">
              <a:solidFill>
                <a:srgbClr val="FF3300"/>
              </a:solidFill>
            </a:endParaRPr>
          </a:p>
          <a:p>
            <a:r>
              <a:rPr lang="it-IT" altLang="en-US" sz="1600" b="1" dirty="0">
                <a:latin typeface="Courier" pitchFamily="2" charset="0"/>
              </a:rPr>
              <a:t>public class </a:t>
            </a:r>
            <a:r>
              <a:rPr lang="it-IT" altLang="en-US" sz="1600" b="1" dirty="0">
                <a:solidFill>
                  <a:srgbClr val="00B050"/>
                </a:solidFill>
                <a:latin typeface="Courier" pitchFamily="2" charset="0"/>
              </a:rPr>
              <a:t>Es3Somma</a:t>
            </a:r>
            <a:r>
              <a:rPr lang="it-IT" altLang="en-US" sz="1600" b="1" dirty="0">
                <a:solidFill>
                  <a:srgbClr val="00B0F0"/>
                </a:solidFill>
                <a:latin typeface="Courier" pitchFamily="2" charset="0"/>
              </a:rPr>
              <a:t> </a:t>
            </a:r>
            <a:r>
              <a:rPr lang="it-IT" altLang="en-US" sz="1600" b="1" dirty="0">
                <a:latin typeface="Courier" pitchFamily="2" charset="0"/>
              </a:rPr>
              <a:t>{</a:t>
            </a:r>
          </a:p>
          <a:p>
            <a:endParaRPr lang="it-IT" altLang="en-US" sz="1600" b="1" dirty="0">
              <a:solidFill>
                <a:srgbClr val="FF3300"/>
              </a:solidFill>
              <a:latin typeface="Courier" pitchFamily="2" charset="0"/>
            </a:endParaRPr>
          </a:p>
          <a:p>
            <a:r>
              <a:rPr lang="it-IT" altLang="en-US" sz="1600" b="1" dirty="0">
                <a:latin typeface="Courier" pitchFamily="2" charset="0"/>
              </a:rPr>
              <a:t>public </a:t>
            </a:r>
            <a:r>
              <a:rPr lang="it-IT" altLang="en-US" sz="1600" b="1" dirty="0" err="1">
                <a:latin typeface="Courier" pitchFamily="2" charset="0"/>
              </a:rPr>
              <a:t>static</a:t>
            </a:r>
            <a:r>
              <a:rPr lang="it-IT" altLang="en-US" sz="1600" b="1" dirty="0">
                <a:latin typeface="Courier" pitchFamily="2" charset="0"/>
              </a:rPr>
              <a:t> </a:t>
            </a:r>
            <a:r>
              <a:rPr lang="it-IT" altLang="en-US" sz="1600" b="1" dirty="0">
                <a:solidFill>
                  <a:srgbClr val="FF0000"/>
                </a:solidFill>
                <a:latin typeface="Courier" pitchFamily="2" charset="0"/>
              </a:rPr>
              <a:t>double Somma(double a, double b) {</a:t>
            </a:r>
          </a:p>
          <a:p>
            <a:r>
              <a:rPr lang="it-IT" altLang="en-US" sz="1600" b="1" dirty="0">
                <a:solidFill>
                  <a:srgbClr val="FF0000"/>
                </a:solidFill>
                <a:latin typeface="Courier" pitchFamily="2" charset="0"/>
              </a:rPr>
              <a:t>        double c;</a:t>
            </a:r>
          </a:p>
          <a:p>
            <a:r>
              <a:rPr lang="it-IT" altLang="en-US" sz="1600" b="1" dirty="0">
                <a:solidFill>
                  <a:srgbClr val="FF0000"/>
                </a:solidFill>
                <a:latin typeface="Courier" pitchFamily="2" charset="0"/>
              </a:rPr>
              <a:t>        c=</a:t>
            </a:r>
            <a:r>
              <a:rPr lang="it-IT" altLang="en-US" sz="1600" b="1" dirty="0" err="1">
                <a:solidFill>
                  <a:srgbClr val="FF0000"/>
                </a:solidFill>
                <a:latin typeface="Courier" pitchFamily="2" charset="0"/>
              </a:rPr>
              <a:t>a+b</a:t>
            </a:r>
            <a:r>
              <a:rPr lang="it-IT" altLang="en-US" sz="1600" b="1" dirty="0">
                <a:solidFill>
                  <a:srgbClr val="FF0000"/>
                </a:solidFill>
                <a:latin typeface="Courier" pitchFamily="2" charset="0"/>
              </a:rPr>
              <a:t>;</a:t>
            </a:r>
          </a:p>
          <a:p>
            <a:r>
              <a:rPr lang="it-IT" altLang="en-US" sz="1600" b="1" dirty="0">
                <a:solidFill>
                  <a:srgbClr val="FF0000"/>
                </a:solidFill>
                <a:latin typeface="Courier" pitchFamily="2" charset="0"/>
              </a:rPr>
              <a:t>        </a:t>
            </a:r>
            <a:r>
              <a:rPr lang="it-IT" altLang="en-US" sz="1600" b="1" dirty="0" err="1">
                <a:solidFill>
                  <a:srgbClr val="FF0000"/>
                </a:solidFill>
                <a:latin typeface="Courier" pitchFamily="2" charset="0"/>
              </a:rPr>
              <a:t>return</a:t>
            </a:r>
            <a:r>
              <a:rPr lang="it-IT" altLang="en-US" sz="1600" b="1" dirty="0">
                <a:solidFill>
                  <a:srgbClr val="FF0000"/>
                </a:solidFill>
                <a:latin typeface="Courier" pitchFamily="2" charset="0"/>
              </a:rPr>
              <a:t> c; </a:t>
            </a:r>
          </a:p>
          <a:p>
            <a:r>
              <a:rPr lang="it-IT" altLang="en-US" sz="1600" b="1" dirty="0">
                <a:solidFill>
                  <a:srgbClr val="FF0000"/>
                </a:solidFill>
                <a:latin typeface="Courier" pitchFamily="2" charset="0"/>
              </a:rPr>
              <a:t>    }</a:t>
            </a:r>
          </a:p>
          <a:p>
            <a:r>
              <a:rPr lang="it-IT" altLang="en-US" sz="1600" b="1" dirty="0">
                <a:latin typeface="Courier" pitchFamily="2" charset="0"/>
              </a:rPr>
              <a:t>}</a:t>
            </a:r>
            <a:endParaRPr lang="it-IT" altLang="en-US" sz="2000" b="1" dirty="0">
              <a:latin typeface="Courier" pitchFamily="2" charset="0"/>
            </a:endParaRP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8EFD629D-192C-19B7-7A72-E41BCE65023D}"/>
              </a:ext>
            </a:extLst>
          </p:cNvPr>
          <p:cNvGrpSpPr/>
          <p:nvPr/>
        </p:nvGrpSpPr>
        <p:grpSpPr>
          <a:xfrm>
            <a:off x="7007667" y="2608469"/>
            <a:ext cx="2016125" cy="1081088"/>
            <a:chOff x="7301483" y="2715722"/>
            <a:chExt cx="2016125" cy="1081088"/>
          </a:xfrm>
        </p:grpSpPr>
        <p:sp>
          <p:nvSpPr>
            <p:cNvPr id="24581" name="AutoShape 7">
              <a:extLst>
                <a:ext uri="{FF2B5EF4-FFF2-40B4-BE49-F238E27FC236}">
                  <a16:creationId xmlns:a16="http://schemas.microsoft.com/office/drawing/2014/main" id="{55F9943B-ECCF-445B-8BB8-D92C7DAC8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1483" y="2715722"/>
              <a:ext cx="2016125" cy="1081088"/>
            </a:xfrm>
            <a:prstGeom prst="wedgeEllipseCallout">
              <a:avLst>
                <a:gd name="adj1" fmla="val -147549"/>
                <a:gd name="adj2" fmla="val -16049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endParaRPr lang="it-IT" altLang="en-US"/>
            </a:p>
          </p:txBody>
        </p:sp>
        <p:sp>
          <p:nvSpPr>
            <p:cNvPr id="24582" name="Text Box 8">
              <a:extLst>
                <a:ext uri="{FF2B5EF4-FFF2-40B4-BE49-F238E27FC236}">
                  <a16:creationId xmlns:a16="http://schemas.microsoft.com/office/drawing/2014/main" id="{D549580E-E963-442F-A88D-ECEF05F84D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2296" y="3025008"/>
              <a:ext cx="16510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2000" b="1" err="1">
                  <a:latin typeface="+mn-lt"/>
                </a:rPr>
                <a:t>intestazione</a:t>
              </a:r>
              <a:endParaRPr lang="en-GB" altLang="en-US" sz="2000" b="1">
                <a:latin typeface="+mn-lt"/>
              </a:endParaRPr>
            </a:p>
          </p:txBody>
        </p:sp>
      </p:grpSp>
      <p:grpSp>
        <p:nvGrpSpPr>
          <p:cNvPr id="5" name="Gruppo 4">
            <a:extLst>
              <a:ext uri="{FF2B5EF4-FFF2-40B4-BE49-F238E27FC236}">
                <a16:creationId xmlns:a16="http://schemas.microsoft.com/office/drawing/2014/main" id="{4DC7F69E-2CAB-6C8E-A831-317A4D88D8AC}"/>
              </a:ext>
            </a:extLst>
          </p:cNvPr>
          <p:cNvGrpSpPr/>
          <p:nvPr/>
        </p:nvGrpSpPr>
        <p:grpSpPr>
          <a:xfrm>
            <a:off x="5133586" y="2706167"/>
            <a:ext cx="2016125" cy="1081088"/>
            <a:chOff x="5216103" y="3093316"/>
            <a:chExt cx="2016125" cy="1081088"/>
          </a:xfrm>
        </p:grpSpPr>
        <p:sp>
          <p:nvSpPr>
            <p:cNvPr id="24583" name="AutoShape 9">
              <a:extLst>
                <a:ext uri="{FF2B5EF4-FFF2-40B4-BE49-F238E27FC236}">
                  <a16:creationId xmlns:a16="http://schemas.microsoft.com/office/drawing/2014/main" id="{AB809C8B-7A15-4669-8241-98F4E325F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6103" y="3093316"/>
              <a:ext cx="2016125" cy="1081088"/>
            </a:xfrm>
            <a:prstGeom prst="wedgeEllipseCallout">
              <a:avLst>
                <a:gd name="adj1" fmla="val -132170"/>
                <a:gd name="adj2" fmla="val -12531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endParaRPr lang="it-IT" altLang="en-US"/>
            </a:p>
          </p:txBody>
        </p:sp>
        <p:sp>
          <p:nvSpPr>
            <p:cNvPr id="24584" name="Text Box 10">
              <a:extLst>
                <a:ext uri="{FF2B5EF4-FFF2-40B4-BE49-F238E27FC236}">
                  <a16:creationId xmlns:a16="http://schemas.microsoft.com/office/drawing/2014/main" id="{46CE50FC-8661-469A-B654-793839C53D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8407" y="3432882"/>
              <a:ext cx="89058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2000" b="1" err="1">
                  <a:latin typeface="+mn-lt"/>
                </a:rPr>
                <a:t>corpo</a:t>
              </a:r>
              <a:endParaRPr lang="en-GB" altLang="en-US" sz="2000" b="1">
                <a:latin typeface="+mn-lt"/>
              </a:endParaRPr>
            </a:p>
          </p:txBody>
        </p:sp>
      </p:grpSp>
      <p:sp>
        <p:nvSpPr>
          <p:cNvPr id="24585" name="AutoShape 11">
            <a:extLst>
              <a:ext uri="{FF2B5EF4-FFF2-40B4-BE49-F238E27FC236}">
                <a16:creationId xmlns:a16="http://schemas.microsoft.com/office/drawing/2014/main" id="{F3F27ACE-3511-4602-874B-60DA812D9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7667" y="4331619"/>
            <a:ext cx="2016125" cy="1081087"/>
          </a:xfrm>
          <a:prstGeom prst="wedgeEllipseCallout">
            <a:avLst>
              <a:gd name="adj1" fmla="val -90787"/>
              <a:gd name="adj2" fmla="val -5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it-IT" altLang="en-US"/>
          </a:p>
        </p:txBody>
      </p:sp>
      <p:sp>
        <p:nvSpPr>
          <p:cNvPr id="24586" name="Text Box 12">
            <a:extLst>
              <a:ext uri="{FF2B5EF4-FFF2-40B4-BE49-F238E27FC236}">
                <a16:creationId xmlns:a16="http://schemas.microsoft.com/office/drawing/2014/main" id="{18CFB8A0-D8B2-41A0-9C24-58574C05F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8699" y="4576203"/>
            <a:ext cx="1214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2000" b="1" err="1">
                <a:latin typeface="+mn-lt"/>
              </a:rPr>
              <a:t>esempio</a:t>
            </a:r>
            <a:endParaRPr lang="en-GB" altLang="en-US" sz="2000" b="1">
              <a:latin typeface="+mn-lt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FCCDFCB-FF08-E540-0D8F-DE3C44141216}"/>
              </a:ext>
            </a:extLst>
          </p:cNvPr>
          <p:cNvSpPr txBox="1"/>
          <p:nvPr/>
        </p:nvSpPr>
        <p:spPr>
          <a:xfrm>
            <a:off x="6253701" y="6225013"/>
            <a:ext cx="2441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File </a:t>
            </a:r>
            <a:r>
              <a:rPr lang="it-IT" altLang="en-US" sz="1800" b="1">
                <a:solidFill>
                  <a:srgbClr val="00B050"/>
                </a:solidFill>
              </a:rPr>
              <a:t>Es3Somma</a:t>
            </a:r>
            <a:r>
              <a:rPr lang="it-IT" altLang="en-US" sz="1800" b="1"/>
              <a:t>.java</a:t>
            </a:r>
            <a:r>
              <a:rPr lang="it-IT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5BECEB0-4988-492B-848D-55E8F8235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err="1"/>
              <a:t>Chiamata</a:t>
            </a:r>
            <a:r>
              <a:rPr lang="en-GB" altLang="en-US"/>
              <a:t> di </a:t>
            </a:r>
            <a:r>
              <a:rPr lang="en-GB" altLang="en-US" err="1"/>
              <a:t>metodo</a:t>
            </a:r>
            <a:r>
              <a:rPr lang="en-GB" altLang="en-US"/>
              <a:t> (1/3)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7C70CEE-CE6D-45BA-8D77-C35E0D3593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it-IT" altLang="en-US" sz="2400"/>
              <a:t>In generale l’istruzione di chiamata a sottoprogramma è una istruzione semplice;</a:t>
            </a:r>
          </a:p>
          <a:p>
            <a:pPr>
              <a:lnSpc>
                <a:spcPct val="90000"/>
              </a:lnSpc>
            </a:pPr>
            <a:r>
              <a:rPr lang="it-IT" altLang="en-US" sz="2400"/>
              <a:t>Una chiamata di metodo in JAVA è costituita dal </a:t>
            </a:r>
            <a:r>
              <a:rPr lang="it-IT" altLang="en-US" sz="2400">
                <a:solidFill>
                  <a:srgbClr val="FF0000"/>
                </a:solidFill>
              </a:rPr>
              <a:t>nome del metodo e dalla lista dei parametri effettivi (argomenti) tra parentesi tonde:</a:t>
            </a:r>
          </a:p>
          <a:p>
            <a:pPr>
              <a:lnSpc>
                <a:spcPct val="90000"/>
              </a:lnSpc>
            </a:pPr>
            <a:r>
              <a:rPr lang="it-IT" altLang="en-US" sz="2400"/>
              <a:t>Due casi:</a:t>
            </a:r>
          </a:p>
          <a:p>
            <a:pPr lvl="1">
              <a:lnSpc>
                <a:spcPct val="90000"/>
              </a:lnSpc>
            </a:pPr>
            <a:r>
              <a:rPr lang="it-IT" altLang="en-US" sz="2000"/>
              <a:t>metodi </a:t>
            </a:r>
            <a:r>
              <a:rPr lang="it-IT" altLang="en-US" sz="2000" i="1" err="1"/>
              <a:t>void</a:t>
            </a:r>
            <a:r>
              <a:rPr lang="it-IT" altLang="en-US" sz="2000" i="1"/>
              <a:t>: quando l’esecuzione del metodo viene completata il controllo ritorna al metodo chiamante</a:t>
            </a:r>
            <a:endParaRPr lang="it-IT" altLang="en-US" sz="2000"/>
          </a:p>
          <a:p>
            <a:pPr lvl="1">
              <a:lnSpc>
                <a:spcPct val="90000"/>
              </a:lnSpc>
            </a:pPr>
            <a:r>
              <a:rPr lang="it-IT" altLang="en-US" sz="2000"/>
              <a:t>metodi che ritornano un valore: la chiamata di metodo va considerata come </a:t>
            </a:r>
            <a:r>
              <a:rPr lang="it-IT" altLang="en-US" sz="2000" i="1">
                <a:solidFill>
                  <a:srgbClr val="FF0000"/>
                </a:solidFill>
              </a:rPr>
              <a:t>un’espressione del tipo specificato dal metodo cioè il metodo ritorna un risultato al metodo chiamante (oltre al controllo)</a:t>
            </a:r>
            <a:endParaRPr lang="it-IT" altLang="en-US" sz="2400" i="1">
              <a:solidFill>
                <a:srgbClr val="FFFF00"/>
              </a:solidFill>
            </a:endParaRPr>
          </a:p>
          <a:p>
            <a:pPr>
              <a:lnSpc>
                <a:spcPct val="90000"/>
              </a:lnSpc>
            </a:pPr>
            <a:endParaRPr lang="en-GB" alt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D53CC632-7F69-7E6A-6E03-7F2B2B6BC1BF}"/>
              </a:ext>
            </a:extLst>
          </p:cNvPr>
          <p:cNvSpPr txBox="1"/>
          <p:nvPr/>
        </p:nvSpPr>
        <p:spPr>
          <a:xfrm>
            <a:off x="564670" y="388977"/>
            <a:ext cx="7776864" cy="53553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b="1" dirty="0">
                <a:solidFill>
                  <a:schemeClr val="tx1"/>
                </a:solidFill>
              </a:rPr>
              <a:t>// TEST del metodo Somma</a:t>
            </a:r>
          </a:p>
          <a:p>
            <a:r>
              <a:rPr lang="it-IT" dirty="0"/>
              <a:t>import </a:t>
            </a:r>
            <a:r>
              <a:rPr lang="it-IT" dirty="0" err="1"/>
              <a:t>java.util.Scanner</a:t>
            </a:r>
            <a:r>
              <a:rPr lang="it-IT" dirty="0"/>
              <a:t>;</a:t>
            </a:r>
          </a:p>
          <a:p>
            <a:endParaRPr lang="it-IT" dirty="0"/>
          </a:p>
          <a:p>
            <a:r>
              <a:rPr lang="it-IT" dirty="0"/>
              <a:t>public class </a:t>
            </a:r>
            <a:r>
              <a:rPr lang="it-IT" dirty="0">
                <a:solidFill>
                  <a:srgbClr val="00B050"/>
                </a:solidFill>
              </a:rPr>
              <a:t>Es3SommaTest</a:t>
            </a:r>
            <a:r>
              <a:rPr lang="it-IT" dirty="0"/>
              <a:t> {</a:t>
            </a:r>
          </a:p>
          <a:p>
            <a:r>
              <a:rPr lang="it-IT" dirty="0"/>
              <a:t>    </a:t>
            </a:r>
          </a:p>
          <a:p>
            <a:r>
              <a:rPr lang="it-IT" dirty="0"/>
              <a:t>    public </a:t>
            </a:r>
            <a:r>
              <a:rPr lang="it-IT" dirty="0" err="1"/>
              <a:t>static</a:t>
            </a:r>
            <a:r>
              <a:rPr lang="it-IT" dirty="0"/>
              <a:t> </a:t>
            </a:r>
            <a:r>
              <a:rPr lang="it-IT" dirty="0" err="1"/>
              <a:t>void</a:t>
            </a:r>
            <a:r>
              <a:rPr lang="it-IT" dirty="0"/>
              <a:t> </a:t>
            </a:r>
            <a:r>
              <a:rPr lang="it-IT" b="1" dirty="0" err="1"/>
              <a:t>main</a:t>
            </a:r>
            <a:r>
              <a:rPr lang="it-IT" dirty="0"/>
              <a:t>(</a:t>
            </a:r>
            <a:r>
              <a:rPr lang="it-IT" dirty="0" err="1"/>
              <a:t>String</a:t>
            </a:r>
            <a:r>
              <a:rPr lang="it-IT" dirty="0"/>
              <a:t> </a:t>
            </a:r>
            <a:r>
              <a:rPr lang="it-IT" dirty="0" err="1"/>
              <a:t>args</a:t>
            </a:r>
            <a:r>
              <a:rPr lang="it-IT" dirty="0"/>
              <a:t>[]){</a:t>
            </a:r>
          </a:p>
          <a:p>
            <a:endParaRPr lang="it-IT" dirty="0"/>
          </a:p>
          <a:p>
            <a:r>
              <a:rPr lang="it-IT" dirty="0"/>
              <a:t>         Scanner input = new Scanner (</a:t>
            </a:r>
            <a:r>
              <a:rPr lang="it-IT" dirty="0" err="1"/>
              <a:t>System.in</a:t>
            </a:r>
            <a:r>
              <a:rPr lang="it-IT" dirty="0"/>
              <a:t>); </a:t>
            </a:r>
          </a:p>
          <a:p>
            <a:endParaRPr lang="it-IT" dirty="0"/>
          </a:p>
          <a:p>
            <a:r>
              <a:rPr lang="it-IT" dirty="0"/>
              <a:t>        // Ingresso guidato di due numeri reali</a:t>
            </a:r>
          </a:p>
          <a:p>
            <a:r>
              <a:rPr lang="it-IT" dirty="0"/>
              <a:t>        </a:t>
            </a:r>
            <a:r>
              <a:rPr lang="it-IT" dirty="0" err="1"/>
              <a:t>System.out.print</a:t>
            </a:r>
            <a:r>
              <a:rPr lang="it-IT" dirty="0"/>
              <a:t>("Inserisci due numeri reali: ");</a:t>
            </a:r>
          </a:p>
          <a:p>
            <a:r>
              <a:rPr lang="it-IT" dirty="0"/>
              <a:t>        double op1 = </a:t>
            </a:r>
            <a:r>
              <a:rPr lang="it-IT" dirty="0" err="1"/>
              <a:t>input.nextDouble</a:t>
            </a:r>
            <a:r>
              <a:rPr lang="it-IT" dirty="0"/>
              <a:t>();</a:t>
            </a:r>
          </a:p>
          <a:p>
            <a:r>
              <a:rPr lang="it-IT" dirty="0"/>
              <a:t>        double op2 = </a:t>
            </a:r>
            <a:r>
              <a:rPr lang="it-IT" dirty="0" err="1"/>
              <a:t>input.nextDouble</a:t>
            </a:r>
            <a:r>
              <a:rPr lang="it-IT" dirty="0"/>
              <a:t>();</a:t>
            </a:r>
          </a:p>
          <a:p>
            <a:r>
              <a:rPr lang="it-IT" dirty="0"/>
              <a:t>       </a:t>
            </a:r>
          </a:p>
          <a:p>
            <a:r>
              <a:rPr lang="it-IT" dirty="0"/>
              <a:t>        // calcola la somma usando il metodo statico</a:t>
            </a:r>
          </a:p>
          <a:p>
            <a:r>
              <a:rPr lang="it-IT" dirty="0"/>
              <a:t>        </a:t>
            </a:r>
            <a:r>
              <a:rPr lang="it-IT" dirty="0">
                <a:solidFill>
                  <a:srgbClr val="FF0000"/>
                </a:solidFill>
              </a:rPr>
              <a:t>double </a:t>
            </a:r>
            <a:r>
              <a:rPr lang="it-IT" dirty="0" err="1">
                <a:solidFill>
                  <a:srgbClr val="FF0000"/>
                </a:solidFill>
              </a:rPr>
              <a:t>ris</a:t>
            </a:r>
            <a:r>
              <a:rPr lang="it-IT" dirty="0">
                <a:solidFill>
                  <a:srgbClr val="FF0000"/>
                </a:solidFill>
              </a:rPr>
              <a:t> = Es3Somma.Somma(op1, op2);</a:t>
            </a:r>
          </a:p>
          <a:p>
            <a:r>
              <a:rPr lang="it-IT" dirty="0"/>
              <a:t>        </a:t>
            </a:r>
            <a:r>
              <a:rPr lang="it-IT" dirty="0" err="1"/>
              <a:t>System.out.println</a:t>
            </a:r>
            <a:r>
              <a:rPr lang="it-IT" dirty="0"/>
              <a:t>("La somma </a:t>
            </a:r>
            <a:r>
              <a:rPr lang="it-IT" dirty="0" err="1"/>
              <a:t>e'</a:t>
            </a:r>
            <a:r>
              <a:rPr lang="it-IT" dirty="0"/>
              <a:t>: " + </a:t>
            </a:r>
            <a:r>
              <a:rPr lang="it-IT" dirty="0" err="1"/>
              <a:t>ris</a:t>
            </a:r>
            <a:r>
              <a:rPr lang="it-IT" dirty="0"/>
              <a:t>);</a:t>
            </a:r>
          </a:p>
          <a:p>
            <a:r>
              <a:rPr lang="it-IT" dirty="0"/>
              <a:t>    }</a:t>
            </a:r>
          </a:p>
          <a:p>
            <a:r>
              <a:rPr lang="it-IT" dirty="0"/>
              <a:t>}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98040D4-3B92-A80D-9308-4B241581AD30}"/>
              </a:ext>
            </a:extLst>
          </p:cNvPr>
          <p:cNvSpPr txBox="1"/>
          <p:nvPr/>
        </p:nvSpPr>
        <p:spPr>
          <a:xfrm>
            <a:off x="971600" y="6021288"/>
            <a:ext cx="2788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File: </a:t>
            </a:r>
            <a:r>
              <a:rPr lang="it-IT">
                <a:solidFill>
                  <a:srgbClr val="00B050"/>
                </a:solidFill>
              </a:rPr>
              <a:t>Es3SommaTest</a:t>
            </a:r>
            <a:r>
              <a:rPr lang="it-IT"/>
              <a:t>.java</a:t>
            </a:r>
          </a:p>
        </p:txBody>
      </p:sp>
      <p:sp>
        <p:nvSpPr>
          <p:cNvPr id="6" name="AutoShape 11">
            <a:extLst>
              <a:ext uri="{FF2B5EF4-FFF2-40B4-BE49-F238E27FC236}">
                <a16:creationId xmlns:a16="http://schemas.microsoft.com/office/drawing/2014/main" id="{9B28B33E-62E0-C61A-6A20-77380B227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8184" y="4296124"/>
            <a:ext cx="2016125" cy="1081087"/>
          </a:xfrm>
          <a:prstGeom prst="wedgeEllipseCallout">
            <a:avLst>
              <a:gd name="adj1" fmla="val -90787"/>
              <a:gd name="adj2" fmla="val -5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it-IT" altLang="en-US"/>
              <a:t>Chiamata del metodo</a:t>
            </a:r>
          </a:p>
        </p:txBody>
      </p:sp>
    </p:spTree>
    <p:extLst>
      <p:ext uri="{BB962C8B-B14F-4D97-AF65-F5344CB8AC3E}">
        <p14:creationId xmlns:p14="http://schemas.microsoft.com/office/powerpoint/2010/main" val="18588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B3E8DCCB-F35F-E052-28D8-7D7ED993C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315416"/>
            <a:ext cx="7543800" cy="1295400"/>
          </a:xfrm>
        </p:spPr>
        <p:txBody>
          <a:bodyPr/>
          <a:lstStyle/>
          <a:p>
            <a:r>
              <a:rPr lang="en-GB" altLang="en-US" err="1"/>
              <a:t>Chiamata</a:t>
            </a:r>
            <a:r>
              <a:rPr lang="en-GB" altLang="en-US"/>
              <a:t> di </a:t>
            </a:r>
            <a:r>
              <a:rPr lang="en-GB" altLang="en-US" err="1"/>
              <a:t>metodo</a:t>
            </a:r>
            <a:r>
              <a:rPr lang="en-GB" altLang="en-US"/>
              <a:t> (3/3)</a:t>
            </a:r>
            <a:endParaRPr lang="it-IT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77BAB9A-1E18-7235-0AF2-9DFA0194D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03" y="1223169"/>
            <a:ext cx="7718548" cy="5634831"/>
          </a:xfrm>
        </p:spPr>
        <p:txBody>
          <a:bodyPr/>
          <a:lstStyle/>
          <a:p>
            <a:r>
              <a:rPr lang="it-IT" sz="2400" dirty="0"/>
              <a:t>Esistono tre diversi modi in JAVA per invocare un metodo:</a:t>
            </a:r>
          </a:p>
          <a:p>
            <a:pPr marL="644525" lvl="2" indent="0">
              <a:buNone/>
            </a:pPr>
            <a:r>
              <a:rPr lang="it-IT" sz="2000" dirty="0"/>
              <a:t>1. Applicare il metodo su un oggetto della sua classe usando l’operatore punto (ricordate, ad esempio, </a:t>
            </a:r>
            <a:r>
              <a:rPr lang="it-IT" sz="2000" dirty="0" err="1"/>
              <a:t>cin.getline</a:t>
            </a:r>
            <a:r>
              <a:rPr lang="it-IT" sz="2000" dirty="0"/>
              <a:t>(…))</a:t>
            </a:r>
          </a:p>
          <a:p>
            <a:pPr marL="644525" lvl="2" indent="0">
              <a:buNone/>
            </a:pPr>
            <a:r>
              <a:rPr lang="it-IT" sz="2000" dirty="0"/>
              <a:t>2. Usare l’operatore punto sul nome di una classe per chiamare un metodo </a:t>
            </a:r>
            <a:r>
              <a:rPr lang="it-IT" sz="2000" dirty="0" err="1"/>
              <a:t>static</a:t>
            </a:r>
            <a:r>
              <a:rPr lang="it-IT" sz="2000" dirty="0"/>
              <a:t> della classe (come nell’esempio precedente: </a:t>
            </a:r>
            <a:r>
              <a:rPr lang="it-IT" sz="2000" dirty="0">
                <a:solidFill>
                  <a:srgbClr val="FF0000"/>
                </a:solidFill>
              </a:rPr>
              <a:t>Es3Somma.Somma(op1, op2);</a:t>
            </a:r>
            <a:r>
              <a:rPr lang="it-IT" sz="2000" dirty="0"/>
              <a:t>)</a:t>
            </a:r>
          </a:p>
          <a:p>
            <a:pPr marL="644525" lvl="2" indent="0">
              <a:buNone/>
            </a:pPr>
            <a:r>
              <a:rPr lang="it-IT" sz="2000" dirty="0"/>
              <a:t>3. Usare il nome del metodo da solo per chiamare un altro metodo </a:t>
            </a:r>
            <a:r>
              <a:rPr lang="it-IT" sz="2000" i="1" u="sng" dirty="0"/>
              <a:t>della stessa classe </a:t>
            </a:r>
            <a:r>
              <a:rPr lang="it-IT" sz="2000" dirty="0"/>
              <a:t>(come nella programmazione procedurale)</a:t>
            </a:r>
          </a:p>
          <a:p>
            <a:pPr marL="644525" lvl="2" indent="0">
              <a:buNone/>
            </a:pPr>
            <a:endParaRPr lang="it-IT" sz="1400" dirty="0"/>
          </a:p>
          <a:p>
            <a:r>
              <a:rPr lang="it-IT" sz="2400" dirty="0"/>
              <a:t>NOTA IMPORTANTE! </a:t>
            </a:r>
          </a:p>
          <a:p>
            <a:pPr marL="349250" lvl="1" indent="0">
              <a:buNone/>
            </a:pPr>
            <a:r>
              <a:rPr lang="it-IT" sz="2000" dirty="0"/>
              <a:t>Un metodo </a:t>
            </a:r>
            <a:r>
              <a:rPr lang="it-IT" sz="2000" dirty="0" err="1"/>
              <a:t>static</a:t>
            </a:r>
            <a:r>
              <a:rPr lang="it-IT" sz="2000" dirty="0"/>
              <a:t> può chiamare «direttamente» altri metodi </a:t>
            </a:r>
            <a:r>
              <a:rPr lang="it-IT" sz="2000" dirty="0" err="1"/>
              <a:t>static</a:t>
            </a:r>
            <a:r>
              <a:rPr lang="it-IT" sz="2000" dirty="0"/>
              <a:t> della sua stessa classe, per chiamare metodi  statici di un’altra classe deve essere usato il modo 2. Può ovviamente chiamare metodi non statici applicati ad un oggetto.</a:t>
            </a:r>
          </a:p>
        </p:txBody>
      </p:sp>
    </p:spTree>
    <p:extLst>
      <p:ext uri="{BB962C8B-B14F-4D97-AF65-F5344CB8AC3E}">
        <p14:creationId xmlns:p14="http://schemas.microsoft.com/office/powerpoint/2010/main" val="1411234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4C81A07-BC40-4491-A5C0-6EB7317086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-243408"/>
            <a:ext cx="8674100" cy="1143000"/>
          </a:xfrm>
        </p:spPr>
        <p:txBody>
          <a:bodyPr/>
          <a:lstStyle/>
          <a:p>
            <a:r>
              <a:rPr lang="it-IT" altLang="en-US" sz="3600">
                <a:cs typeface="Times New Roman" panose="02020603050405020304" pitchFamily="18" charset="0"/>
              </a:rPr>
              <a:t>Modalità di scambio dei parametri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02BF4B3-7F73-4ACF-B51B-75EC3D4860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4" y="1143000"/>
            <a:ext cx="7267575" cy="4572000"/>
          </a:xfrm>
        </p:spPr>
        <p:txBody>
          <a:bodyPr/>
          <a:lstStyle/>
          <a:p>
            <a:pPr algn="just"/>
            <a:r>
              <a:rPr lang="it-IT" altLang="en-US" sz="2000">
                <a:cs typeface="Times New Roman" panose="02020603050405020304" pitchFamily="18" charset="0"/>
              </a:rPr>
              <a:t>In molti linguaggi di programmazione sono possibili due modalità di passaggio dei parametri:</a:t>
            </a:r>
          </a:p>
          <a:p>
            <a:pPr lvl="1" algn="just"/>
            <a:r>
              <a:rPr lang="it-IT" altLang="en-US" sz="2000">
                <a:cs typeface="Times New Roman" panose="02020603050405020304" pitchFamily="18" charset="0"/>
              </a:rPr>
              <a:t>Per valore </a:t>
            </a:r>
          </a:p>
          <a:p>
            <a:pPr lvl="1" algn="just"/>
            <a:r>
              <a:rPr lang="it-IT" altLang="en-US" sz="2000">
                <a:cs typeface="Times New Roman" panose="02020603050405020304" pitchFamily="18" charset="0"/>
              </a:rPr>
              <a:t>Per riferimento</a:t>
            </a:r>
          </a:p>
          <a:p>
            <a:pPr algn="just"/>
            <a:r>
              <a:rPr lang="it-IT" altLang="en-US" sz="2000">
                <a:cs typeface="Times New Roman" panose="02020603050405020304" pitchFamily="18" charset="0"/>
              </a:rPr>
              <a:t>Quando un argomento viene passato per valore, una COPIA di tale valore viene passata al sottoprogramma il quale lavora esclusivamente su di essa, i cambiamenti apportati alla copia non hanno effetto sulla corrispondente variabile nel chiamante</a:t>
            </a:r>
          </a:p>
          <a:p>
            <a:pPr algn="just"/>
            <a:r>
              <a:rPr lang="it-IT" altLang="en-US" sz="2000">
                <a:cs typeface="Times New Roman" panose="02020603050405020304" pitchFamily="18" charset="0"/>
              </a:rPr>
              <a:t>Quando un argomento viene passato per riferimento, il sottoprogramma accede direttamente alla variabile corrispondente nel chiamante e qualunque modifica effettuata dal sottoprogramma provoca la modifica del valore della variabile nel chiamante. E’ più efficiente perché evita la copia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AC8F64-4184-8E10-7397-34BC06A42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640"/>
            <a:ext cx="7543800" cy="1295400"/>
          </a:xfrm>
        </p:spPr>
        <p:txBody>
          <a:bodyPr/>
          <a:lstStyle/>
          <a:p>
            <a:r>
              <a:rPr lang="it-IT" altLang="en-US" sz="4000">
                <a:cs typeface="Times New Roman" panose="02020603050405020304" pitchFamily="18" charset="0"/>
              </a:rPr>
              <a:t>Modalità di scambio dei parametri in JAVA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8D112B4-8302-78A5-32C5-1AD5443F2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/>
              <a:t>JAVA non consente la scelta tra scambio per valore e scambio per riferimento</a:t>
            </a:r>
          </a:p>
          <a:p>
            <a:r>
              <a:rPr lang="it-IT" sz="2400" dirty="0">
                <a:solidFill>
                  <a:srgbClr val="FF0000"/>
                </a:solidFill>
              </a:rPr>
              <a:t>Tutti i parametri di scambio in un metodo sono sempre passati per VALORE</a:t>
            </a:r>
          </a:p>
          <a:p>
            <a:r>
              <a:rPr lang="it-IT" sz="2400" dirty="0"/>
              <a:t>Una chiamata ad un metodo può passare infatti o copie di valori di tipo primitivo (ad esempio </a:t>
            </a:r>
            <a:r>
              <a:rPr lang="it-IT" sz="2400" dirty="0" err="1"/>
              <a:t>int</a:t>
            </a:r>
            <a:r>
              <a:rPr lang="it-IT" sz="2400" dirty="0"/>
              <a:t>, double...) o copie di valori di RIFERIMENTI a oggetti e array.</a:t>
            </a:r>
          </a:p>
          <a:p>
            <a:r>
              <a:rPr lang="it-IT" sz="2400" dirty="0"/>
              <a:t>L’oggetto riferito può essere modificato usando i metodi pubblici della sua classe attraverso il riferimento</a:t>
            </a:r>
          </a:p>
        </p:txBody>
      </p:sp>
    </p:spTree>
    <p:extLst>
      <p:ext uri="{BB962C8B-B14F-4D97-AF65-F5344CB8AC3E}">
        <p14:creationId xmlns:p14="http://schemas.microsoft.com/office/powerpoint/2010/main" val="753734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A67929A-BF65-441D-8C1D-2726919B6A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4026"/>
            <a:ext cx="8229600" cy="455612"/>
          </a:xfrm>
        </p:spPr>
        <p:txBody>
          <a:bodyPr/>
          <a:lstStyle/>
          <a:p>
            <a:r>
              <a:rPr lang="it-IT" altLang="en-US"/>
              <a:t>Scambio per valore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AB63007-2CCC-432C-AFAA-F989E76B7D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7513" y="1104901"/>
            <a:ext cx="7848600" cy="5029200"/>
          </a:xfrm>
        </p:spPr>
        <p:txBody>
          <a:bodyPr/>
          <a:lstStyle/>
          <a:p>
            <a:r>
              <a:rPr lang="it-IT" altLang="en-US" sz="2000"/>
              <a:t>Il </a:t>
            </a:r>
            <a:r>
              <a:rPr lang="it-IT" altLang="en-US" sz="2000" i="1">
                <a:solidFill>
                  <a:srgbClr val="FF0000"/>
                </a:solidFill>
              </a:rPr>
              <a:t>passaggio per valore</a:t>
            </a:r>
            <a:r>
              <a:rPr lang="it-IT" altLang="en-US" sz="2000">
                <a:solidFill>
                  <a:srgbClr val="FF0000"/>
                </a:solidFill>
              </a:rPr>
              <a:t> </a:t>
            </a:r>
            <a:r>
              <a:rPr lang="it-IT" altLang="en-US" sz="2000"/>
              <a:t>di un argomento viene realizzato copiando il valore del parametro effettivo nel corrispondente parametro formale</a:t>
            </a:r>
          </a:p>
          <a:p>
            <a:r>
              <a:rPr lang="it-IT" altLang="en-US" sz="2000"/>
              <a:t>Se la il sottoprogramma chiamato modifica un parametro passato per valore, </a:t>
            </a:r>
            <a:r>
              <a:rPr lang="it-IT" altLang="en-US" sz="2000" i="1">
                <a:solidFill>
                  <a:srgbClr val="FF0000"/>
                </a:solidFill>
              </a:rPr>
              <a:t>il chiamante non potrà vedere queste modifiche</a:t>
            </a:r>
            <a:r>
              <a:rPr lang="it-IT" altLang="en-US" sz="2000"/>
              <a:t>. Si tratta quindi di un passaggio unidirezionale </a:t>
            </a:r>
          </a:p>
          <a:p>
            <a:pPr>
              <a:buFont typeface="Wingdings" panose="05000000000000000000" pitchFamily="2" charset="2"/>
              <a:buNone/>
            </a:pPr>
            <a:endParaRPr lang="it-IT" altLang="en-US" sz="2400"/>
          </a:p>
          <a:p>
            <a:pPr>
              <a:buFont typeface="Wingdings" panose="05000000000000000000" pitchFamily="2" charset="2"/>
              <a:buNone/>
            </a:pPr>
            <a:endParaRPr lang="it-IT" altLang="en-US" sz="2400"/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3D383DEB-016B-4630-BBC6-C12F19164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7" y="3402396"/>
            <a:ext cx="6624736" cy="147732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it-IT" altLang="en-US" b="1" dirty="0">
                <a:latin typeface="Courier New" panose="02070309020205020404" pitchFamily="49" charset="0"/>
              </a:rPr>
              <a:t>public </a:t>
            </a:r>
            <a:r>
              <a:rPr lang="it-IT" altLang="en-US" b="1" dirty="0" err="1">
                <a:latin typeface="Courier New" panose="02070309020205020404" pitchFamily="49" charset="0"/>
              </a:rPr>
              <a:t>static</a:t>
            </a:r>
            <a:r>
              <a:rPr lang="it-IT" altLang="en-US" b="1" dirty="0">
                <a:latin typeface="Courier New" panose="02070309020205020404" pitchFamily="49" charset="0"/>
              </a:rPr>
              <a:t> </a:t>
            </a:r>
            <a:r>
              <a:rPr lang="it-IT" altLang="en-US" b="1" dirty="0" err="1">
                <a:latin typeface="Courier New" panose="02070309020205020404" pitchFamily="49" charset="0"/>
              </a:rPr>
              <a:t>void</a:t>
            </a:r>
            <a:r>
              <a:rPr lang="it-IT" altLang="en-US" b="1" dirty="0">
                <a:latin typeface="Courier New" panose="02070309020205020404" pitchFamily="49" charset="0"/>
              </a:rPr>
              <a:t> </a:t>
            </a:r>
            <a:r>
              <a:rPr lang="it-IT" altLang="en-US" b="1" dirty="0" err="1">
                <a:latin typeface="Courier New" panose="02070309020205020404" pitchFamily="49" charset="0"/>
              </a:rPr>
              <a:t>PerValore</a:t>
            </a:r>
            <a:r>
              <a:rPr lang="it-IT" altLang="en-US" b="1" dirty="0">
                <a:latin typeface="Courier New" panose="02070309020205020404" pitchFamily="49" charset="0"/>
              </a:rPr>
              <a:t>(</a:t>
            </a:r>
            <a:r>
              <a:rPr lang="it-IT" altLang="en-US" b="1" dirty="0" err="1">
                <a:latin typeface="Courier New" panose="02070309020205020404" pitchFamily="49" charset="0"/>
              </a:rPr>
              <a:t>int</a:t>
            </a:r>
            <a:r>
              <a:rPr lang="it-IT" altLang="en-US" b="1" dirty="0">
                <a:latin typeface="Courier New" panose="02070309020205020404" pitchFamily="49" charset="0"/>
              </a:rPr>
              <a:t> i) { </a:t>
            </a:r>
          </a:p>
          <a:p>
            <a:r>
              <a:rPr lang="it-IT" altLang="en-US" b="1" dirty="0">
                <a:latin typeface="Courier New" panose="02070309020205020404" pitchFamily="49" charset="0"/>
              </a:rPr>
              <a:t>    </a:t>
            </a:r>
            <a:r>
              <a:rPr lang="it-IT" altLang="en-US" b="1" dirty="0" err="1">
                <a:latin typeface="Courier New" panose="02070309020205020404" pitchFamily="49" charset="0"/>
              </a:rPr>
              <a:t>System.out.println</a:t>
            </a:r>
            <a:r>
              <a:rPr lang="it-IT" altLang="en-US" b="1" dirty="0">
                <a:latin typeface="Courier New" panose="02070309020205020404" pitchFamily="49" charset="0"/>
              </a:rPr>
              <a:t>("i vale " + i); </a:t>
            </a:r>
          </a:p>
          <a:p>
            <a:r>
              <a:rPr lang="it-IT" altLang="en-US" b="1" dirty="0">
                <a:latin typeface="Courier New" panose="02070309020205020404" pitchFamily="49" charset="0"/>
              </a:rPr>
              <a:t>    i = 0;     </a:t>
            </a:r>
          </a:p>
          <a:p>
            <a:r>
              <a:rPr lang="it-IT" altLang="en-US" b="1" dirty="0">
                <a:latin typeface="Courier New" panose="02070309020205020404" pitchFamily="49" charset="0"/>
              </a:rPr>
              <a:t>    </a:t>
            </a:r>
            <a:r>
              <a:rPr lang="it-IT" altLang="en-US" b="1" dirty="0" err="1">
                <a:latin typeface="Courier New" panose="02070309020205020404" pitchFamily="49" charset="0"/>
              </a:rPr>
              <a:t>System.out.println</a:t>
            </a:r>
            <a:r>
              <a:rPr lang="it-IT" altLang="en-US" b="1" dirty="0">
                <a:latin typeface="Courier New" panose="02070309020205020404" pitchFamily="49" charset="0"/>
              </a:rPr>
              <a:t>("adesso i vale " + i);</a:t>
            </a:r>
          </a:p>
          <a:p>
            <a:r>
              <a:rPr lang="it-IT" altLang="en-US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BB04ACE-65B6-1FB2-302C-5AC2BBE220A4}"/>
              </a:ext>
            </a:extLst>
          </p:cNvPr>
          <p:cNvSpPr txBox="1"/>
          <p:nvPr/>
        </p:nvSpPr>
        <p:spPr>
          <a:xfrm>
            <a:off x="35496" y="4929548"/>
            <a:ext cx="8869736" cy="175432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>
                <a:latin typeface="Courier" pitchFamily="2" charset="0"/>
              </a:rPr>
              <a:t>public </a:t>
            </a:r>
            <a:r>
              <a:rPr lang="it-IT" dirty="0" err="1">
                <a:latin typeface="Courier" pitchFamily="2" charset="0"/>
              </a:rPr>
              <a:t>static</a:t>
            </a:r>
            <a:r>
              <a:rPr lang="it-IT" dirty="0">
                <a:latin typeface="Courier" pitchFamily="2" charset="0"/>
              </a:rPr>
              <a:t> </a:t>
            </a:r>
            <a:r>
              <a:rPr lang="it-IT" dirty="0" err="1">
                <a:latin typeface="Courier" pitchFamily="2" charset="0"/>
              </a:rPr>
              <a:t>void</a:t>
            </a:r>
            <a:r>
              <a:rPr lang="it-IT" dirty="0">
                <a:latin typeface="Courier" pitchFamily="2" charset="0"/>
              </a:rPr>
              <a:t> </a:t>
            </a:r>
            <a:r>
              <a:rPr lang="it-IT" dirty="0" err="1">
                <a:latin typeface="Courier" pitchFamily="2" charset="0"/>
              </a:rPr>
              <a:t>main</a:t>
            </a:r>
            <a:r>
              <a:rPr lang="it-IT" dirty="0">
                <a:latin typeface="Courier" pitchFamily="2" charset="0"/>
              </a:rPr>
              <a:t>(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[] </a:t>
            </a:r>
            <a:r>
              <a:rPr lang="it-IT" dirty="0" err="1">
                <a:latin typeface="Courier" pitchFamily="2" charset="0"/>
              </a:rPr>
              <a:t>args</a:t>
            </a:r>
            <a:r>
              <a:rPr lang="it-IT" dirty="0">
                <a:latin typeface="Courier" pitchFamily="2" charset="0"/>
              </a:rPr>
              <a:t>) {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int</a:t>
            </a:r>
            <a:r>
              <a:rPr lang="it-IT" dirty="0">
                <a:latin typeface="Courier" pitchFamily="2" charset="0"/>
              </a:rPr>
              <a:t> </a:t>
            </a:r>
            <a:r>
              <a:rPr lang="it-IT" dirty="0" err="1">
                <a:latin typeface="Courier" pitchFamily="2" charset="0"/>
              </a:rPr>
              <a:t>n</a:t>
            </a:r>
            <a:r>
              <a:rPr lang="it-IT" dirty="0">
                <a:latin typeface="Courier" pitchFamily="2" charset="0"/>
              </a:rPr>
              <a:t> = 30;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System.out.println</a:t>
            </a:r>
            <a:r>
              <a:rPr lang="it-IT" dirty="0">
                <a:latin typeface="Courier" pitchFamily="2" charset="0"/>
              </a:rPr>
              <a:t>("</a:t>
            </a:r>
            <a:r>
              <a:rPr lang="it-IT" dirty="0" err="1">
                <a:latin typeface="Courier" pitchFamily="2" charset="0"/>
              </a:rPr>
              <a:t>n</a:t>
            </a:r>
            <a:r>
              <a:rPr lang="it-IT" dirty="0">
                <a:latin typeface="Courier" pitchFamily="2" charset="0"/>
              </a:rPr>
              <a:t> vale " + </a:t>
            </a:r>
            <a:r>
              <a:rPr lang="it-IT" dirty="0" err="1">
                <a:latin typeface="Courier" pitchFamily="2" charset="0"/>
              </a:rPr>
              <a:t>n</a:t>
            </a:r>
            <a:r>
              <a:rPr lang="it-IT" dirty="0">
                <a:latin typeface="Courier" pitchFamily="2" charset="0"/>
              </a:rPr>
              <a:t>); // Stampa 30 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PerValore</a:t>
            </a:r>
            <a:r>
              <a:rPr lang="it-IT" dirty="0">
                <a:latin typeface="Courier" pitchFamily="2" charset="0"/>
              </a:rPr>
              <a:t>(</a:t>
            </a:r>
            <a:r>
              <a:rPr lang="it-IT" dirty="0" err="1">
                <a:latin typeface="Courier" pitchFamily="2" charset="0"/>
              </a:rPr>
              <a:t>n</a:t>
            </a:r>
            <a:r>
              <a:rPr lang="it-IT" dirty="0">
                <a:latin typeface="Courier" pitchFamily="2" charset="0"/>
              </a:rPr>
              <a:t>); 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System.out.println</a:t>
            </a:r>
            <a:r>
              <a:rPr lang="it-IT" dirty="0">
                <a:latin typeface="Courier" pitchFamily="2" charset="0"/>
              </a:rPr>
              <a:t>("</a:t>
            </a:r>
            <a:r>
              <a:rPr lang="it-IT" dirty="0" err="1">
                <a:latin typeface="Courier" pitchFamily="2" charset="0"/>
              </a:rPr>
              <a:t>n</a:t>
            </a:r>
            <a:r>
              <a:rPr lang="it-IT" dirty="0">
                <a:latin typeface="Courier" pitchFamily="2" charset="0"/>
              </a:rPr>
              <a:t> vale ancora " + </a:t>
            </a:r>
            <a:r>
              <a:rPr lang="it-IT" dirty="0" err="1">
                <a:latin typeface="Courier" pitchFamily="2" charset="0"/>
              </a:rPr>
              <a:t>n</a:t>
            </a:r>
            <a:r>
              <a:rPr lang="it-IT" dirty="0">
                <a:latin typeface="Courier" pitchFamily="2" charset="0"/>
              </a:rPr>
              <a:t>); // Stampa 30 </a:t>
            </a:r>
          </a:p>
          <a:p>
            <a:r>
              <a:rPr lang="it-IT" dirty="0">
                <a:latin typeface="Courier" pitchFamily="2" charset="0"/>
              </a:rPr>
              <a:t>    }</a:t>
            </a:r>
          </a:p>
        </p:txBody>
      </p:sp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B3EBCB6-29F4-4B54-B6D6-5B327C4F94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04664"/>
            <a:ext cx="8229600" cy="455613"/>
          </a:xfrm>
        </p:spPr>
        <p:txBody>
          <a:bodyPr/>
          <a:lstStyle/>
          <a:p>
            <a:r>
              <a:rPr lang="it-IT" altLang="en-US" sz="2400"/>
              <a:t>Uso dei riferimenti come parametri di scambio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89F1B2B9-595D-4E2C-A053-C9C78C1D7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512" y="917508"/>
            <a:ext cx="7848600" cy="27432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it-IT" altLang="en-US" sz="1600" dirty="0">
                <a:solidFill>
                  <a:srgbClr val="FF0000"/>
                </a:solidFill>
              </a:rPr>
              <a:t>In Java non esistono i record e gli array sono oggetti</a:t>
            </a:r>
            <a:r>
              <a:rPr lang="it-IT" altLang="en-US" sz="1600" dirty="0"/>
              <a:t>. Tutti gli oggetti sono riferiti attraverso </a:t>
            </a:r>
            <a:r>
              <a:rPr lang="it-IT" altLang="en-US" sz="1600" i="1" dirty="0"/>
              <a:t>riferimenti che si comportano come puntatori agli oggetti la cui gestione non è a carico del programmatore.</a:t>
            </a:r>
          </a:p>
          <a:p>
            <a:pPr>
              <a:spcBef>
                <a:spcPct val="0"/>
              </a:spcBef>
            </a:pPr>
            <a:r>
              <a:rPr lang="it-IT" altLang="en-US" sz="1600" i="1" dirty="0"/>
              <a:t>I riferimenti sono a loro volta scambiati per valore, ma consentono di modificare l’oggetto a cui puntano all’interno del sottoprogramma.</a:t>
            </a:r>
            <a:endParaRPr lang="it-IT" altLang="en-US" sz="1600" dirty="0"/>
          </a:p>
          <a:p>
            <a:pPr>
              <a:spcBef>
                <a:spcPct val="0"/>
              </a:spcBef>
            </a:pPr>
            <a:r>
              <a:rPr lang="it-IT" altLang="en-US" sz="1600" dirty="0"/>
              <a:t>Se il sottoprogramma modifica un oggetto attraverso un riferimento, </a:t>
            </a:r>
            <a:r>
              <a:rPr lang="it-IT" altLang="en-US" sz="1600" i="1" dirty="0">
                <a:solidFill>
                  <a:srgbClr val="FF0000"/>
                </a:solidFill>
              </a:rPr>
              <a:t>la modifica sarà visibile anche alla funzione chiamante</a:t>
            </a:r>
            <a:r>
              <a:rPr lang="it-IT" altLang="en-US" sz="1600" dirty="0">
                <a:solidFill>
                  <a:srgbClr val="FF0000"/>
                </a:solidFill>
              </a:rPr>
              <a:t>. </a:t>
            </a:r>
            <a:r>
              <a:rPr lang="it-IT" altLang="en-US" sz="1600" dirty="0"/>
              <a:t>Il passaggio è quindi potenzialmente bidirezionale (rispetto all’oggetto riferito).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it-IT" altLang="en-US" sz="24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3F0034D-885D-BFE5-AB1B-5CCD9042239A}"/>
              </a:ext>
            </a:extLst>
          </p:cNvPr>
          <p:cNvSpPr txBox="1"/>
          <p:nvPr/>
        </p:nvSpPr>
        <p:spPr>
          <a:xfrm>
            <a:off x="179512" y="3234410"/>
            <a:ext cx="8460432" cy="13234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1600" dirty="0">
                <a:latin typeface="Courier" pitchFamily="2" charset="0"/>
              </a:rPr>
              <a:t>public </a:t>
            </a:r>
            <a:r>
              <a:rPr lang="it-IT" sz="1600" dirty="0" err="1">
                <a:latin typeface="Courier" pitchFamily="2" charset="0"/>
              </a:rPr>
              <a:t>static</a:t>
            </a:r>
            <a:r>
              <a:rPr lang="it-IT" sz="1600" dirty="0">
                <a:latin typeface="Courier" pitchFamily="2" charset="0"/>
              </a:rPr>
              <a:t> </a:t>
            </a:r>
            <a:r>
              <a:rPr lang="it-IT" sz="1600" dirty="0" err="1">
                <a:latin typeface="Courier" pitchFamily="2" charset="0"/>
              </a:rPr>
              <a:t>void</a:t>
            </a:r>
            <a:r>
              <a:rPr lang="it-IT" sz="1600" dirty="0">
                <a:latin typeface="Courier" pitchFamily="2" charset="0"/>
              </a:rPr>
              <a:t> </a:t>
            </a:r>
            <a:r>
              <a:rPr lang="it-IT" sz="1600" dirty="0" err="1">
                <a:latin typeface="Courier" pitchFamily="2" charset="0"/>
              </a:rPr>
              <a:t>PerRiferimento</a:t>
            </a:r>
            <a:r>
              <a:rPr lang="it-IT" sz="1600" dirty="0">
                <a:latin typeface="Courier" pitchFamily="2" charset="0"/>
              </a:rPr>
              <a:t>(</a:t>
            </a:r>
            <a:r>
              <a:rPr lang="it-IT" sz="1600" dirty="0" err="1">
                <a:latin typeface="Courier" pitchFamily="2" charset="0"/>
              </a:rPr>
              <a:t>int</a:t>
            </a:r>
            <a:r>
              <a:rPr lang="it-IT" sz="1600" dirty="0">
                <a:latin typeface="Courier" pitchFamily="2" charset="0"/>
              </a:rPr>
              <a:t>[] a) { </a:t>
            </a:r>
          </a:p>
          <a:p>
            <a:r>
              <a:rPr lang="it-IT" sz="1600" dirty="0">
                <a:latin typeface="Courier" pitchFamily="2" charset="0"/>
              </a:rPr>
              <a:t>        </a:t>
            </a:r>
            <a:r>
              <a:rPr lang="it-IT" sz="1600" dirty="0" err="1">
                <a:latin typeface="Courier" pitchFamily="2" charset="0"/>
              </a:rPr>
              <a:t>System.out.println</a:t>
            </a:r>
            <a:r>
              <a:rPr lang="it-IT" sz="1600" dirty="0">
                <a:latin typeface="Courier" pitchFamily="2" charset="0"/>
              </a:rPr>
              <a:t>("a[0] vale " + a[0]);  </a:t>
            </a:r>
          </a:p>
          <a:p>
            <a:r>
              <a:rPr lang="it-IT" sz="1600" dirty="0">
                <a:latin typeface="Courier" pitchFamily="2" charset="0"/>
              </a:rPr>
              <a:t>        a[0] = 0;</a:t>
            </a:r>
          </a:p>
          <a:p>
            <a:r>
              <a:rPr lang="it-IT" sz="1600" dirty="0">
                <a:latin typeface="Courier" pitchFamily="2" charset="0"/>
              </a:rPr>
              <a:t>        </a:t>
            </a:r>
            <a:r>
              <a:rPr lang="it-IT" sz="1600" dirty="0" err="1">
                <a:latin typeface="Courier" pitchFamily="2" charset="0"/>
              </a:rPr>
              <a:t>System.out.println</a:t>
            </a:r>
            <a:r>
              <a:rPr lang="it-IT" sz="1600" dirty="0">
                <a:latin typeface="Courier" pitchFamily="2" charset="0"/>
              </a:rPr>
              <a:t>("adesso a[0] vale "  + a[0]); </a:t>
            </a:r>
          </a:p>
          <a:p>
            <a:r>
              <a:rPr lang="it-IT" sz="1600" dirty="0">
                <a:latin typeface="Courier" pitchFamily="2" charset="0"/>
              </a:rPr>
              <a:t>    }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5636E71-1C73-9F62-F0CB-4FCA9AA2C12A}"/>
              </a:ext>
            </a:extLst>
          </p:cNvPr>
          <p:cNvSpPr txBox="1"/>
          <p:nvPr/>
        </p:nvSpPr>
        <p:spPr>
          <a:xfrm>
            <a:off x="18510" y="4852898"/>
            <a:ext cx="9017986" cy="16004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1400" dirty="0">
                <a:latin typeface="Courier" pitchFamily="2" charset="0"/>
              </a:rPr>
              <a:t>public </a:t>
            </a:r>
            <a:r>
              <a:rPr lang="it-IT" sz="1400" dirty="0" err="1">
                <a:latin typeface="Courier" pitchFamily="2" charset="0"/>
              </a:rPr>
              <a:t>static</a:t>
            </a:r>
            <a:r>
              <a:rPr lang="it-IT" sz="1400" dirty="0">
                <a:latin typeface="Courier" pitchFamily="2" charset="0"/>
              </a:rPr>
              <a:t> </a:t>
            </a:r>
            <a:r>
              <a:rPr lang="it-IT" sz="1400" dirty="0" err="1">
                <a:latin typeface="Courier" pitchFamily="2" charset="0"/>
              </a:rPr>
              <a:t>void</a:t>
            </a:r>
            <a:r>
              <a:rPr lang="it-IT" sz="1400" dirty="0">
                <a:latin typeface="Courier" pitchFamily="2" charset="0"/>
              </a:rPr>
              <a:t> </a:t>
            </a:r>
            <a:r>
              <a:rPr lang="it-IT" sz="1400" dirty="0" err="1">
                <a:latin typeface="Courier" pitchFamily="2" charset="0"/>
              </a:rPr>
              <a:t>main</a:t>
            </a:r>
            <a:r>
              <a:rPr lang="it-IT" sz="1400" dirty="0">
                <a:latin typeface="Courier" pitchFamily="2" charset="0"/>
              </a:rPr>
              <a:t> (</a:t>
            </a:r>
            <a:r>
              <a:rPr lang="it-IT" sz="1400" dirty="0" err="1">
                <a:latin typeface="Courier" pitchFamily="2" charset="0"/>
              </a:rPr>
              <a:t>String</a:t>
            </a:r>
            <a:r>
              <a:rPr lang="it-IT" sz="1400" dirty="0">
                <a:latin typeface="Courier" pitchFamily="2" charset="0"/>
              </a:rPr>
              <a:t>[] </a:t>
            </a:r>
            <a:r>
              <a:rPr lang="it-IT" sz="1400" dirty="0" err="1">
                <a:latin typeface="Courier" pitchFamily="2" charset="0"/>
              </a:rPr>
              <a:t>args</a:t>
            </a:r>
            <a:r>
              <a:rPr lang="it-IT" sz="1400" dirty="0">
                <a:latin typeface="Courier" pitchFamily="2" charset="0"/>
              </a:rPr>
              <a:t>) {         </a:t>
            </a:r>
          </a:p>
          <a:p>
            <a:r>
              <a:rPr lang="it-IT" sz="1400" dirty="0">
                <a:latin typeface="Courier" pitchFamily="2" charset="0"/>
              </a:rPr>
              <a:t>  </a:t>
            </a:r>
            <a:r>
              <a:rPr lang="it-IT" sz="1400" dirty="0" err="1">
                <a:latin typeface="Courier" pitchFamily="2" charset="0"/>
              </a:rPr>
              <a:t>int</a:t>
            </a:r>
            <a:r>
              <a:rPr lang="it-IT" sz="1400" dirty="0">
                <a:latin typeface="Courier" pitchFamily="2" charset="0"/>
              </a:rPr>
              <a:t>[] array = new </a:t>
            </a:r>
            <a:r>
              <a:rPr lang="it-IT" sz="1400" dirty="0" err="1">
                <a:latin typeface="Courier" pitchFamily="2" charset="0"/>
              </a:rPr>
              <a:t>int</a:t>
            </a:r>
            <a:r>
              <a:rPr lang="it-IT" sz="1400" dirty="0">
                <a:latin typeface="Courier" pitchFamily="2" charset="0"/>
              </a:rPr>
              <a:t>[1];          </a:t>
            </a:r>
          </a:p>
          <a:p>
            <a:r>
              <a:rPr lang="it-IT" sz="1400" dirty="0">
                <a:latin typeface="Courier" pitchFamily="2" charset="0"/>
              </a:rPr>
              <a:t>  array[0] = 30;         </a:t>
            </a:r>
          </a:p>
          <a:p>
            <a:r>
              <a:rPr lang="it-IT" sz="1400" dirty="0">
                <a:latin typeface="Courier" pitchFamily="2" charset="0"/>
              </a:rPr>
              <a:t>  </a:t>
            </a:r>
            <a:r>
              <a:rPr lang="it-IT" sz="1400" dirty="0" err="1">
                <a:latin typeface="Courier" pitchFamily="2" charset="0"/>
              </a:rPr>
              <a:t>System.out.println</a:t>
            </a:r>
            <a:r>
              <a:rPr lang="it-IT" sz="1400" dirty="0">
                <a:latin typeface="Courier" pitchFamily="2" charset="0"/>
              </a:rPr>
              <a:t>("array[0] vale " + array[0]); // Stampa 30          </a:t>
            </a:r>
          </a:p>
          <a:p>
            <a:r>
              <a:rPr lang="it-IT" sz="1400" dirty="0">
                <a:latin typeface="Courier" pitchFamily="2" charset="0"/>
              </a:rPr>
              <a:t>  </a:t>
            </a:r>
            <a:r>
              <a:rPr lang="it-IT" sz="1400" dirty="0" err="1">
                <a:latin typeface="Courier" pitchFamily="2" charset="0"/>
              </a:rPr>
              <a:t>PerRiferimento</a:t>
            </a:r>
            <a:r>
              <a:rPr lang="it-IT" sz="1400" dirty="0">
                <a:latin typeface="Courier" pitchFamily="2" charset="0"/>
              </a:rPr>
              <a:t>(array);         </a:t>
            </a:r>
          </a:p>
          <a:p>
            <a:r>
              <a:rPr lang="it-IT" sz="1400" dirty="0">
                <a:latin typeface="Courier" pitchFamily="2" charset="0"/>
              </a:rPr>
              <a:t>  </a:t>
            </a:r>
            <a:r>
              <a:rPr lang="it-IT" sz="1400" dirty="0" err="1">
                <a:latin typeface="Courier" pitchFamily="2" charset="0"/>
              </a:rPr>
              <a:t>System.out.println</a:t>
            </a:r>
            <a:r>
              <a:rPr lang="it-IT" sz="1400" dirty="0">
                <a:latin typeface="Courier" pitchFamily="2" charset="0"/>
              </a:rPr>
              <a:t>("adesso array[0] vale " + array[0]); // Stampa 0      </a:t>
            </a:r>
          </a:p>
          <a:p>
            <a:r>
              <a:rPr lang="it-IT" sz="1400" dirty="0">
                <a:latin typeface="Courier" pitchFamily="2" charset="0"/>
              </a:rPr>
              <a:t>}</a:t>
            </a:r>
            <a:endParaRPr lang="it-IT" dirty="0">
              <a:latin typeface="Courier" pitchFamily="2" charset="0"/>
            </a:endParaRPr>
          </a:p>
        </p:txBody>
      </p:sp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01F34C4A-176F-4610-8017-F3C0C55ADA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404664"/>
            <a:ext cx="8229600" cy="558800"/>
          </a:xfrm>
        </p:spPr>
        <p:txBody>
          <a:bodyPr/>
          <a:lstStyle/>
          <a:p>
            <a:r>
              <a:rPr lang="en-GB" altLang="en-US" sz="3200" err="1"/>
              <a:t>Esercizio</a:t>
            </a:r>
            <a:r>
              <a:rPr lang="en-GB" altLang="en-US" sz="3200"/>
              <a:t>: </a:t>
            </a:r>
            <a:r>
              <a:rPr lang="en-GB" altLang="en-US" sz="3200" err="1"/>
              <a:t>metodo</a:t>
            </a:r>
            <a:r>
              <a:rPr lang="en-GB" altLang="en-US" sz="3200"/>
              <a:t> </a:t>
            </a:r>
            <a:r>
              <a:rPr lang="en-GB" altLang="en-US" sz="3200" err="1"/>
              <a:t>Fattoriale</a:t>
            </a:r>
            <a:endParaRPr lang="en-GB" altLang="en-US" sz="3200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A4A730F-11CD-417D-9669-388277C1AA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773436"/>
            <a:ext cx="8229600" cy="1079500"/>
          </a:xfrm>
        </p:spPr>
        <p:txBody>
          <a:bodyPr/>
          <a:lstStyle/>
          <a:p>
            <a:r>
              <a:rPr lang="en-GB" altLang="en-US" sz="2800" err="1"/>
              <a:t>Scrivere</a:t>
            </a:r>
            <a:r>
              <a:rPr lang="en-GB" altLang="en-US" sz="2800"/>
              <a:t> </a:t>
            </a:r>
            <a:r>
              <a:rPr lang="en-GB" altLang="en-US" sz="2800" err="1"/>
              <a:t>una</a:t>
            </a:r>
            <a:r>
              <a:rPr lang="en-GB" altLang="en-US" sz="2800"/>
              <a:t> </a:t>
            </a:r>
            <a:r>
              <a:rPr lang="en-GB" altLang="en-US" sz="2800" err="1"/>
              <a:t>funzione</a:t>
            </a:r>
            <a:r>
              <a:rPr lang="en-GB" altLang="en-US" sz="2800"/>
              <a:t> per il </a:t>
            </a:r>
            <a:r>
              <a:rPr lang="en-GB" altLang="en-US" sz="2800" err="1"/>
              <a:t>calcolo</a:t>
            </a:r>
            <a:r>
              <a:rPr lang="en-GB" altLang="en-US" sz="2800"/>
              <a:t> del </a:t>
            </a:r>
            <a:r>
              <a:rPr lang="en-GB" altLang="en-US" sz="2800" err="1"/>
              <a:t>fattoriale</a:t>
            </a:r>
            <a:r>
              <a:rPr lang="en-GB" altLang="en-US" sz="2800"/>
              <a:t>:</a:t>
            </a:r>
          </a:p>
        </p:txBody>
      </p:sp>
      <p:sp>
        <p:nvSpPr>
          <p:cNvPr id="397316" name="Text Box 4">
            <a:extLst>
              <a:ext uri="{FF2B5EF4-FFF2-40B4-BE49-F238E27FC236}">
                <a16:creationId xmlns:a16="http://schemas.microsoft.com/office/drawing/2014/main" id="{4C49B51F-ABA6-40C8-B3F6-CC9EA95E1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2510894"/>
            <a:ext cx="7461487" cy="286232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endParaRPr lang="en-GB" b="1" dirty="0">
              <a:solidFill>
                <a:srgbClr val="FF3300"/>
              </a:solidFill>
            </a:endParaRPr>
          </a:p>
          <a:p>
            <a:pPr>
              <a:defRPr/>
            </a:pP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public static double </a:t>
            </a:r>
            <a:r>
              <a:rPr lang="en-GB" b="1" dirty="0" err="1">
                <a:solidFill>
                  <a:srgbClr val="FF3300"/>
                </a:solidFill>
                <a:latin typeface="Courier" pitchFamily="2" charset="0"/>
              </a:rPr>
              <a:t>Fattoriale</a:t>
            </a: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(int </a:t>
            </a:r>
            <a:r>
              <a:rPr lang="en-GB" b="1" dirty="0" err="1">
                <a:solidFill>
                  <a:srgbClr val="FF3300"/>
                </a:solidFill>
                <a:latin typeface="Courier" pitchFamily="2" charset="0"/>
              </a:rPr>
              <a:t>num</a:t>
            </a: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){</a:t>
            </a:r>
          </a:p>
          <a:p>
            <a:pPr>
              <a:defRPr/>
            </a:pP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        double </a:t>
            </a:r>
            <a:r>
              <a:rPr lang="en-GB" b="1" dirty="0" err="1">
                <a:solidFill>
                  <a:srgbClr val="FF3300"/>
                </a:solidFill>
                <a:latin typeface="Courier" pitchFamily="2" charset="0"/>
              </a:rPr>
              <a:t>fatt</a:t>
            </a: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=1; </a:t>
            </a:r>
          </a:p>
          <a:p>
            <a:pPr>
              <a:defRPr/>
            </a:pP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        if (</a:t>
            </a:r>
            <a:r>
              <a:rPr lang="en-GB" b="1" dirty="0" err="1">
                <a:solidFill>
                  <a:srgbClr val="FF3300"/>
                </a:solidFill>
                <a:latin typeface="Courier" pitchFamily="2" charset="0"/>
              </a:rPr>
              <a:t>num</a:t>
            </a: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==0 || </a:t>
            </a:r>
            <a:r>
              <a:rPr lang="en-GB" b="1" dirty="0" err="1">
                <a:solidFill>
                  <a:srgbClr val="FF3300"/>
                </a:solidFill>
                <a:latin typeface="Courier" pitchFamily="2" charset="0"/>
              </a:rPr>
              <a:t>num</a:t>
            </a: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==1) </a:t>
            </a:r>
            <a:r>
              <a:rPr lang="en-GB" b="1" dirty="0" err="1">
                <a:solidFill>
                  <a:srgbClr val="FF3300"/>
                </a:solidFill>
                <a:latin typeface="Courier" pitchFamily="2" charset="0"/>
              </a:rPr>
              <a:t>fatt</a:t>
            </a: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=1;</a:t>
            </a:r>
          </a:p>
          <a:p>
            <a:pPr>
              <a:defRPr/>
            </a:pP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        else {</a:t>
            </a:r>
          </a:p>
          <a:p>
            <a:pPr>
              <a:defRPr/>
            </a:pP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          for (int </a:t>
            </a:r>
            <a:r>
              <a:rPr lang="en-GB" b="1" dirty="0" err="1">
                <a:solidFill>
                  <a:srgbClr val="FF3300"/>
                </a:solidFill>
                <a:latin typeface="Courier" pitchFamily="2" charset="0"/>
              </a:rPr>
              <a:t>i</a:t>
            </a: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=1; </a:t>
            </a:r>
            <a:r>
              <a:rPr lang="en-GB" b="1" dirty="0" err="1">
                <a:solidFill>
                  <a:srgbClr val="FF3300"/>
                </a:solidFill>
                <a:latin typeface="Courier" pitchFamily="2" charset="0"/>
              </a:rPr>
              <a:t>i</a:t>
            </a: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&lt;=</a:t>
            </a:r>
            <a:r>
              <a:rPr lang="en-GB" b="1" dirty="0" err="1">
                <a:solidFill>
                  <a:srgbClr val="FF3300"/>
                </a:solidFill>
                <a:latin typeface="Courier" pitchFamily="2" charset="0"/>
              </a:rPr>
              <a:t>num</a:t>
            </a: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; </a:t>
            </a:r>
            <a:r>
              <a:rPr lang="en-GB" b="1" dirty="0" err="1">
                <a:solidFill>
                  <a:srgbClr val="FF3300"/>
                </a:solidFill>
                <a:latin typeface="Courier" pitchFamily="2" charset="0"/>
              </a:rPr>
              <a:t>i</a:t>
            </a: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++)</a:t>
            </a:r>
          </a:p>
          <a:p>
            <a:pPr>
              <a:defRPr/>
            </a:pP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              </a:t>
            </a:r>
            <a:r>
              <a:rPr lang="en-GB" b="1" dirty="0" err="1">
                <a:solidFill>
                  <a:srgbClr val="FF3300"/>
                </a:solidFill>
                <a:latin typeface="Courier" pitchFamily="2" charset="0"/>
              </a:rPr>
              <a:t>fatt</a:t>
            </a: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=</a:t>
            </a:r>
            <a:r>
              <a:rPr lang="en-GB" b="1" dirty="0" err="1">
                <a:solidFill>
                  <a:srgbClr val="FF3300"/>
                </a:solidFill>
                <a:latin typeface="Courier" pitchFamily="2" charset="0"/>
              </a:rPr>
              <a:t>fatt</a:t>
            </a: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*</a:t>
            </a:r>
            <a:r>
              <a:rPr lang="en-GB" b="1" dirty="0" err="1">
                <a:solidFill>
                  <a:srgbClr val="FF3300"/>
                </a:solidFill>
                <a:latin typeface="Courier" pitchFamily="2" charset="0"/>
              </a:rPr>
              <a:t>i</a:t>
            </a: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; </a:t>
            </a:r>
          </a:p>
          <a:p>
            <a:pPr>
              <a:defRPr/>
            </a:pP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	 }</a:t>
            </a:r>
          </a:p>
          <a:p>
            <a:pPr>
              <a:defRPr/>
            </a:pP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        return </a:t>
            </a:r>
            <a:r>
              <a:rPr lang="en-GB" b="1" dirty="0" err="1">
                <a:solidFill>
                  <a:srgbClr val="FF3300"/>
                </a:solidFill>
                <a:latin typeface="Courier" pitchFamily="2" charset="0"/>
              </a:rPr>
              <a:t>fatt</a:t>
            </a: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;   </a:t>
            </a:r>
          </a:p>
          <a:p>
            <a:pPr>
              <a:defRPr/>
            </a:pPr>
            <a:r>
              <a:rPr lang="en-GB" b="1" dirty="0">
                <a:solidFill>
                  <a:srgbClr val="FF3300"/>
                </a:solidFill>
                <a:latin typeface="Courier" pitchFamily="2" charset="0"/>
              </a:rPr>
              <a:t> 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5E25358A-89FF-4BA2-B920-7247EA9E4C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0"/>
            <a:ext cx="8229600" cy="774700"/>
          </a:xfrm>
        </p:spPr>
        <p:txBody>
          <a:bodyPr/>
          <a:lstStyle/>
          <a:p>
            <a:r>
              <a:rPr lang="en-GB" altLang="en-US" sz="3200" dirty="0" err="1"/>
              <a:t>Esercizio</a:t>
            </a:r>
            <a:r>
              <a:rPr lang="en-GB" altLang="en-US" sz="3200" dirty="0"/>
              <a:t>. </a:t>
            </a:r>
            <a:r>
              <a:rPr lang="en-GB" altLang="en-US" sz="3200" dirty="0" err="1"/>
              <a:t>Programma</a:t>
            </a:r>
            <a:r>
              <a:rPr lang="en-GB" altLang="en-US" sz="3200" dirty="0"/>
              <a:t> </a:t>
            </a:r>
            <a:r>
              <a:rPr lang="en-GB" altLang="en-US" sz="3200" dirty="0" err="1"/>
              <a:t>chiamante</a:t>
            </a:r>
            <a:endParaRPr lang="en-GB" altLang="en-US" sz="3200" dirty="0"/>
          </a:p>
        </p:txBody>
      </p:sp>
      <p:sp>
        <p:nvSpPr>
          <p:cNvPr id="398340" name="Text Box 4">
            <a:extLst>
              <a:ext uri="{FF2B5EF4-FFF2-40B4-BE49-F238E27FC236}">
                <a16:creationId xmlns:a16="http://schemas.microsoft.com/office/drawing/2014/main" id="{583B2FEE-EA36-4179-A332-C52F6F355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519" y="995281"/>
            <a:ext cx="8733481" cy="53553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GB" dirty="0">
                <a:solidFill>
                  <a:schemeClr val="tx1"/>
                </a:solidFill>
              </a:rPr>
              <a:t>package </a:t>
            </a:r>
            <a:r>
              <a:rPr lang="en-GB" dirty="0" err="1">
                <a:solidFill>
                  <a:schemeClr val="tx1"/>
                </a:solidFill>
              </a:rPr>
              <a:t>calcolofattoriale</a:t>
            </a:r>
            <a:r>
              <a:rPr lang="en-GB" dirty="0">
                <a:solidFill>
                  <a:schemeClr val="tx1"/>
                </a:solidFill>
              </a:rPr>
              <a:t>;</a:t>
            </a:r>
          </a:p>
          <a:p>
            <a:pPr>
              <a:defRPr/>
            </a:pPr>
            <a:endParaRPr lang="en-GB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GB" dirty="0">
                <a:solidFill>
                  <a:schemeClr val="tx1"/>
                </a:solidFill>
              </a:rPr>
              <a:t>import </a:t>
            </a:r>
            <a:r>
              <a:rPr lang="en-GB" dirty="0" err="1">
                <a:solidFill>
                  <a:schemeClr val="tx1"/>
                </a:solidFill>
              </a:rPr>
              <a:t>java.util.Scanner</a:t>
            </a:r>
            <a:r>
              <a:rPr lang="en-GB" dirty="0">
                <a:solidFill>
                  <a:schemeClr val="tx1"/>
                </a:solidFill>
              </a:rPr>
              <a:t>;</a:t>
            </a:r>
          </a:p>
          <a:p>
            <a:pPr>
              <a:defRPr/>
            </a:pPr>
            <a:endParaRPr lang="en-GB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GB" dirty="0">
                <a:solidFill>
                  <a:schemeClr val="tx1"/>
                </a:solidFill>
              </a:rPr>
              <a:t>public class </a:t>
            </a:r>
            <a:r>
              <a:rPr lang="en-GB" dirty="0" err="1">
                <a:solidFill>
                  <a:schemeClr val="tx1"/>
                </a:solidFill>
              </a:rPr>
              <a:t>CalcoloFattoriale</a:t>
            </a:r>
            <a:r>
              <a:rPr lang="en-GB" dirty="0">
                <a:solidFill>
                  <a:schemeClr val="tx1"/>
                </a:solidFill>
              </a:rPr>
              <a:t> {</a:t>
            </a:r>
          </a:p>
          <a:p>
            <a:pPr>
              <a:defRPr/>
            </a:pPr>
            <a:endParaRPr lang="en-GB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GB" dirty="0">
                <a:solidFill>
                  <a:schemeClr val="tx1"/>
                </a:solidFill>
              </a:rPr>
              <a:t>    public static void main(String[] </a:t>
            </a:r>
            <a:r>
              <a:rPr lang="en-GB" dirty="0" err="1">
                <a:solidFill>
                  <a:schemeClr val="tx1"/>
                </a:solidFill>
              </a:rPr>
              <a:t>args</a:t>
            </a:r>
            <a:r>
              <a:rPr lang="en-GB" dirty="0">
                <a:solidFill>
                  <a:schemeClr val="tx1"/>
                </a:solidFill>
              </a:rPr>
              <a:t>) {</a:t>
            </a:r>
          </a:p>
          <a:p>
            <a:pPr>
              <a:defRPr/>
            </a:pPr>
            <a:r>
              <a:rPr lang="en-GB" dirty="0">
                <a:solidFill>
                  <a:schemeClr val="tx1"/>
                </a:solidFill>
              </a:rPr>
              <a:t>        int n;</a:t>
            </a:r>
          </a:p>
          <a:p>
            <a:pPr>
              <a:defRPr/>
            </a:pPr>
            <a:r>
              <a:rPr lang="en-GB" dirty="0">
                <a:solidFill>
                  <a:schemeClr val="tx1"/>
                </a:solidFill>
              </a:rPr>
              <a:t>        double </a:t>
            </a:r>
            <a:r>
              <a:rPr lang="en-GB" dirty="0" err="1">
                <a:solidFill>
                  <a:schemeClr val="tx1"/>
                </a:solidFill>
              </a:rPr>
              <a:t>ris</a:t>
            </a:r>
            <a:r>
              <a:rPr lang="en-GB" dirty="0">
                <a:solidFill>
                  <a:schemeClr val="tx1"/>
                </a:solidFill>
              </a:rPr>
              <a:t>;</a:t>
            </a:r>
          </a:p>
          <a:p>
            <a:pPr>
              <a:defRPr/>
            </a:pPr>
            <a:r>
              <a:rPr lang="en-GB" dirty="0">
                <a:solidFill>
                  <a:schemeClr val="tx1"/>
                </a:solidFill>
              </a:rPr>
              <a:t>        Scanner input = new Scanner (</a:t>
            </a:r>
            <a:r>
              <a:rPr lang="en-GB" dirty="0" err="1">
                <a:solidFill>
                  <a:schemeClr val="tx1"/>
                </a:solidFill>
              </a:rPr>
              <a:t>System.in</a:t>
            </a:r>
            <a:r>
              <a:rPr lang="en-GB" dirty="0">
                <a:solidFill>
                  <a:schemeClr val="tx1"/>
                </a:solidFill>
              </a:rPr>
              <a:t>);</a:t>
            </a:r>
          </a:p>
          <a:p>
            <a:pPr>
              <a:defRPr/>
            </a:pPr>
            <a:r>
              <a:rPr lang="en-GB" dirty="0">
                <a:solidFill>
                  <a:schemeClr val="tx1"/>
                </a:solidFill>
              </a:rPr>
              <a:t>        </a:t>
            </a:r>
            <a:r>
              <a:rPr lang="en-GB" dirty="0" err="1">
                <a:solidFill>
                  <a:schemeClr val="tx1"/>
                </a:solidFill>
              </a:rPr>
              <a:t>System.out.print</a:t>
            </a:r>
            <a:r>
              <a:rPr lang="en-GB" dirty="0">
                <a:solidFill>
                  <a:schemeClr val="tx1"/>
                </a:solidFill>
              </a:rPr>
              <a:t>("</a:t>
            </a:r>
            <a:r>
              <a:rPr lang="en-GB" dirty="0" err="1">
                <a:solidFill>
                  <a:schemeClr val="tx1"/>
                </a:solidFill>
              </a:rPr>
              <a:t>Inserisci</a:t>
            </a:r>
            <a:r>
              <a:rPr lang="en-GB" dirty="0">
                <a:solidFill>
                  <a:schemeClr val="tx1"/>
                </a:solidFill>
              </a:rPr>
              <a:t> un </a:t>
            </a:r>
            <a:r>
              <a:rPr lang="en-GB" dirty="0" err="1">
                <a:solidFill>
                  <a:schemeClr val="tx1"/>
                </a:solidFill>
              </a:rPr>
              <a:t>numero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intero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positivo</a:t>
            </a:r>
            <a:r>
              <a:rPr lang="en-GB" dirty="0">
                <a:solidFill>
                  <a:schemeClr val="tx1"/>
                </a:solidFill>
              </a:rPr>
              <a:t>: ");</a:t>
            </a:r>
          </a:p>
          <a:p>
            <a:pPr>
              <a:defRPr/>
            </a:pPr>
            <a:r>
              <a:rPr lang="en-GB" dirty="0">
                <a:solidFill>
                  <a:schemeClr val="tx1"/>
                </a:solidFill>
              </a:rPr>
              <a:t>        n = </a:t>
            </a:r>
            <a:r>
              <a:rPr lang="en-GB" dirty="0" err="1">
                <a:solidFill>
                  <a:schemeClr val="tx1"/>
                </a:solidFill>
              </a:rPr>
              <a:t>input.nextInt</a:t>
            </a:r>
            <a:r>
              <a:rPr lang="en-GB" dirty="0">
                <a:solidFill>
                  <a:schemeClr val="tx1"/>
                </a:solidFill>
              </a:rPr>
              <a:t>();</a:t>
            </a:r>
          </a:p>
          <a:p>
            <a:pPr>
              <a:defRPr/>
            </a:pPr>
            <a:r>
              <a:rPr lang="en-GB" dirty="0">
                <a:solidFill>
                  <a:schemeClr val="tx1"/>
                </a:solidFill>
              </a:rPr>
              <a:t>        if (n&lt;0) </a:t>
            </a:r>
            <a:r>
              <a:rPr lang="en-GB" dirty="0" err="1">
                <a:solidFill>
                  <a:schemeClr val="tx1"/>
                </a:solidFill>
              </a:rPr>
              <a:t>System.out.print</a:t>
            </a:r>
            <a:r>
              <a:rPr lang="en-GB" dirty="0">
                <a:solidFill>
                  <a:schemeClr val="tx1"/>
                </a:solidFill>
              </a:rPr>
              <a:t>("il </a:t>
            </a:r>
            <a:r>
              <a:rPr lang="en-GB" dirty="0" err="1">
                <a:solidFill>
                  <a:schemeClr val="tx1"/>
                </a:solidFill>
              </a:rPr>
              <a:t>fattoriale</a:t>
            </a:r>
            <a:r>
              <a:rPr lang="en-GB" dirty="0">
                <a:solidFill>
                  <a:schemeClr val="tx1"/>
                </a:solidFill>
              </a:rPr>
              <a:t> non e' </a:t>
            </a:r>
            <a:r>
              <a:rPr lang="en-GB" dirty="0" err="1">
                <a:solidFill>
                  <a:schemeClr val="tx1"/>
                </a:solidFill>
              </a:rPr>
              <a:t>definito</a:t>
            </a:r>
            <a:r>
              <a:rPr lang="en-GB" dirty="0">
                <a:solidFill>
                  <a:schemeClr val="tx1"/>
                </a:solidFill>
              </a:rPr>
              <a:t> per numeri </a:t>
            </a:r>
            <a:r>
              <a:rPr lang="en-GB" dirty="0" err="1">
                <a:solidFill>
                  <a:schemeClr val="tx1"/>
                </a:solidFill>
              </a:rPr>
              <a:t>interi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negativi</a:t>
            </a:r>
            <a:r>
              <a:rPr lang="en-GB" dirty="0">
                <a:solidFill>
                  <a:schemeClr val="tx1"/>
                </a:solidFill>
              </a:rPr>
              <a:t>!");</a:t>
            </a:r>
          </a:p>
          <a:p>
            <a:pPr>
              <a:defRPr/>
            </a:pPr>
            <a:r>
              <a:rPr lang="en-GB" dirty="0">
                <a:solidFill>
                  <a:schemeClr val="tx1"/>
                </a:solidFill>
              </a:rPr>
              <a:t>        else { </a:t>
            </a:r>
          </a:p>
          <a:p>
            <a:pPr>
              <a:defRPr/>
            </a:pPr>
            <a:r>
              <a:rPr lang="en-GB" dirty="0">
                <a:solidFill>
                  <a:schemeClr val="tx1"/>
                </a:solidFill>
              </a:rPr>
              <a:t>        </a:t>
            </a:r>
            <a:r>
              <a:rPr lang="en-GB" dirty="0" err="1">
                <a:solidFill>
                  <a:schemeClr val="tx1"/>
                </a:solidFill>
              </a:rPr>
              <a:t>ris</a:t>
            </a:r>
            <a:r>
              <a:rPr lang="en-GB" dirty="0">
                <a:solidFill>
                  <a:schemeClr val="tx1"/>
                </a:solidFill>
              </a:rPr>
              <a:t>=</a:t>
            </a:r>
            <a:r>
              <a:rPr lang="en-GB" dirty="0" err="1">
                <a:solidFill>
                  <a:schemeClr val="tx1"/>
                </a:solidFill>
              </a:rPr>
              <a:t>Fattoriale</a:t>
            </a:r>
            <a:r>
              <a:rPr lang="en-GB" dirty="0">
                <a:solidFill>
                  <a:schemeClr val="tx1"/>
                </a:solidFill>
              </a:rPr>
              <a:t>(n);</a:t>
            </a:r>
          </a:p>
          <a:p>
            <a:pPr>
              <a:defRPr/>
            </a:pPr>
            <a:r>
              <a:rPr lang="en-GB" dirty="0">
                <a:solidFill>
                  <a:schemeClr val="tx1"/>
                </a:solidFill>
              </a:rPr>
              <a:t>        </a:t>
            </a:r>
            <a:r>
              <a:rPr lang="en-GB" dirty="0" err="1">
                <a:solidFill>
                  <a:schemeClr val="tx1"/>
                </a:solidFill>
              </a:rPr>
              <a:t>System.out.print</a:t>
            </a:r>
            <a:r>
              <a:rPr lang="en-GB" dirty="0">
                <a:solidFill>
                  <a:schemeClr val="tx1"/>
                </a:solidFill>
              </a:rPr>
              <a:t>("il </a:t>
            </a:r>
            <a:r>
              <a:rPr lang="en-GB" dirty="0" err="1">
                <a:solidFill>
                  <a:schemeClr val="tx1"/>
                </a:solidFill>
              </a:rPr>
              <a:t>fattoriale</a:t>
            </a:r>
            <a:r>
              <a:rPr lang="en-GB" dirty="0">
                <a:solidFill>
                  <a:schemeClr val="tx1"/>
                </a:solidFill>
              </a:rPr>
              <a:t> e': " + </a:t>
            </a:r>
            <a:r>
              <a:rPr lang="en-GB" dirty="0" err="1">
                <a:solidFill>
                  <a:schemeClr val="tx1"/>
                </a:solidFill>
              </a:rPr>
              <a:t>ris</a:t>
            </a:r>
            <a:r>
              <a:rPr lang="en-GB" dirty="0">
                <a:solidFill>
                  <a:schemeClr val="tx1"/>
                </a:solidFill>
              </a:rPr>
              <a:t>);</a:t>
            </a:r>
          </a:p>
          <a:p>
            <a:pPr>
              <a:defRPr/>
            </a:pPr>
            <a:r>
              <a:rPr lang="en-GB" dirty="0">
                <a:solidFill>
                  <a:schemeClr val="tx1"/>
                </a:solidFill>
              </a:rPr>
              <a:t>        }</a:t>
            </a:r>
          </a:p>
          <a:p>
            <a:pPr>
              <a:defRPr/>
            </a:pPr>
            <a:r>
              <a:rPr lang="en-GB" dirty="0">
                <a:solidFill>
                  <a:schemeClr val="tx1"/>
                </a:solidFill>
              </a:rPr>
              <a:t>    }</a:t>
            </a:r>
          </a:p>
          <a:p>
            <a:pPr>
              <a:defRPr/>
            </a:pPr>
            <a:r>
              <a:rPr lang="en-GB" dirty="0">
                <a:solidFill>
                  <a:schemeClr val="tx1"/>
                </a:solidFill>
              </a:rPr>
              <a:t>   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99CD09-6C19-422D-5548-2A91C2305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-315416"/>
            <a:ext cx="7543800" cy="1295400"/>
          </a:xfrm>
        </p:spPr>
        <p:txBody>
          <a:bodyPr/>
          <a:lstStyle/>
          <a:p>
            <a:r>
              <a:rPr lang="it-IT" err="1"/>
              <a:t>Overloading</a:t>
            </a:r>
            <a:r>
              <a:rPr lang="it-IT"/>
              <a:t> (1/4)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849A01-14BA-AEDE-ADE2-EE68AC792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23169"/>
            <a:ext cx="8229600" cy="4411662"/>
          </a:xfrm>
        </p:spPr>
        <p:txBody>
          <a:bodyPr/>
          <a:lstStyle/>
          <a:p>
            <a:r>
              <a:rPr lang="it-IT" sz="2000"/>
              <a:t>L’</a:t>
            </a:r>
            <a:r>
              <a:rPr lang="it-IT" sz="2000" err="1"/>
              <a:t>overloading</a:t>
            </a:r>
            <a:r>
              <a:rPr lang="it-IT" sz="2000"/>
              <a:t> delle funzioni (letteralmente sovraccarico) è in generale un meccanismo, messo a disposizione dai linguaggi orientati agli oggetti, che permette di dichiarare più </a:t>
            </a:r>
            <a:r>
              <a:rPr lang="it-IT" sz="2000" b="1"/>
              <a:t>funzioni con lo stesso nome</a:t>
            </a:r>
            <a:r>
              <a:rPr lang="it-IT" sz="2000"/>
              <a:t>.</a:t>
            </a:r>
          </a:p>
          <a:p>
            <a:r>
              <a:rPr lang="it-IT" sz="2000"/>
              <a:t>L’</a:t>
            </a:r>
            <a:r>
              <a:rPr lang="it-IT" sz="2000" err="1"/>
              <a:t>overloading</a:t>
            </a:r>
            <a:r>
              <a:rPr lang="it-IT" sz="2000"/>
              <a:t> è utile quando una stessa funzionalità deve essere sviluppata su tipi di dati diversi, ma concettualmente le funzioni realizzano la stessa operazione</a:t>
            </a:r>
          </a:p>
          <a:p>
            <a:r>
              <a:rPr lang="it-IT" sz="2000"/>
              <a:t>Ad esempio una funzione che si chiama </a:t>
            </a:r>
            <a:r>
              <a:rPr lang="it-IT" sz="2000" i="1"/>
              <a:t>disegna</a:t>
            </a:r>
            <a:r>
              <a:rPr lang="it-IT" sz="2000"/>
              <a:t> sarà realizzata scrivendo codice diverso se si tratta di disegnare un cerchio piuttosto che un quadrato, ma semanticamente si tratta della stessa funzionalità</a:t>
            </a:r>
          </a:p>
          <a:p>
            <a:r>
              <a:rPr lang="it-IT" sz="2000"/>
              <a:t>Per l’utente è vantaggioso quindi potersi riferire a quella funzionalità sempre con lo stesso nome pur fornendo di volta in volta gli argomenti necessari.</a:t>
            </a:r>
          </a:p>
        </p:txBody>
      </p:sp>
    </p:spTree>
    <p:extLst>
      <p:ext uri="{BB962C8B-B14F-4D97-AF65-F5344CB8AC3E}">
        <p14:creationId xmlns:p14="http://schemas.microsoft.com/office/powerpoint/2010/main" val="1613502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EA7BC6-BB88-0D3A-3D3B-3BBA215FF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292" y="-387424"/>
            <a:ext cx="7543800" cy="1295400"/>
          </a:xfrm>
        </p:spPr>
        <p:txBody>
          <a:bodyPr/>
          <a:lstStyle/>
          <a:p>
            <a:r>
              <a:rPr lang="it-IT" err="1"/>
              <a:t>Overloading</a:t>
            </a:r>
            <a:r>
              <a:rPr lang="it-IT"/>
              <a:t> (2/4)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009692A-91CA-FA39-D4DE-D60D68927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292" y="1028342"/>
            <a:ext cx="8229600" cy="4411662"/>
          </a:xfrm>
        </p:spPr>
        <p:txBody>
          <a:bodyPr/>
          <a:lstStyle/>
          <a:p>
            <a:r>
              <a:rPr lang="it-IT" sz="2000">
                <a:effectLst/>
                <a:latin typeface="Arial" panose="020B0604020202020204" pitchFamily="34" charset="0"/>
              </a:rPr>
              <a:t>In Java, è possibile dare a metodi diversi lo stesso nome, a condizione che i metodi abbiano liste di parametri diverse </a:t>
            </a:r>
          </a:p>
          <a:p>
            <a:r>
              <a:rPr lang="it-IT" sz="2000">
                <a:effectLst/>
                <a:latin typeface="Arial" panose="020B0604020202020204" pitchFamily="34" charset="0"/>
              </a:rPr>
              <a:t>Il compilatore è in grado di associare in modo univoco ciascuna chiamata a uno dei metodi, distinti in base della lista degli argomenti</a:t>
            </a:r>
          </a:p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BDA2571-846F-82B5-A9C3-1CCA20F50DCA}"/>
              </a:ext>
            </a:extLst>
          </p:cNvPr>
          <p:cNvSpPr txBox="1"/>
          <p:nvPr/>
        </p:nvSpPr>
        <p:spPr>
          <a:xfrm>
            <a:off x="552108" y="2636912"/>
            <a:ext cx="4637808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400" dirty="0"/>
              <a:t>public </a:t>
            </a:r>
            <a:r>
              <a:rPr lang="it-IT" sz="1400" dirty="0" err="1"/>
              <a:t>int</a:t>
            </a:r>
            <a:r>
              <a:rPr lang="it-IT" sz="1400" dirty="0"/>
              <a:t> quadrato(</a:t>
            </a:r>
            <a:r>
              <a:rPr lang="it-IT" sz="1400" dirty="0" err="1"/>
              <a:t>int</a:t>
            </a:r>
            <a:r>
              <a:rPr lang="it-IT" sz="1400" dirty="0"/>
              <a:t> i1) {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System.out.print</a:t>
            </a:r>
            <a:r>
              <a:rPr lang="it-IT" sz="1400" dirty="0"/>
              <a:t>("funzione: </a:t>
            </a:r>
            <a:r>
              <a:rPr lang="it-IT" sz="1400" dirty="0" err="1"/>
              <a:t>int</a:t>
            </a:r>
            <a:r>
              <a:rPr lang="it-IT" sz="1400" dirty="0"/>
              <a:t> quadrato(</a:t>
            </a:r>
            <a:r>
              <a:rPr lang="it-IT" sz="1400" dirty="0" err="1"/>
              <a:t>int</a:t>
            </a:r>
            <a:r>
              <a:rPr lang="it-IT" sz="1400" dirty="0"/>
              <a:t> i1) \</a:t>
            </a:r>
            <a:r>
              <a:rPr lang="it-IT" sz="1400" dirty="0" err="1"/>
              <a:t>n</a:t>
            </a:r>
            <a:r>
              <a:rPr lang="it-IT" sz="1400" dirty="0"/>
              <a:t>"); 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return</a:t>
            </a:r>
            <a:r>
              <a:rPr lang="it-IT" sz="1400" dirty="0"/>
              <a:t> i1*i1;</a:t>
            </a:r>
          </a:p>
          <a:p>
            <a:r>
              <a:rPr lang="it-IT" sz="1400" dirty="0"/>
              <a:t>    }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FDCEC61-1428-CB69-04F8-7B475445C683}"/>
              </a:ext>
            </a:extLst>
          </p:cNvPr>
          <p:cNvSpPr txBox="1"/>
          <p:nvPr/>
        </p:nvSpPr>
        <p:spPr>
          <a:xfrm>
            <a:off x="552108" y="3783255"/>
            <a:ext cx="5392823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400" dirty="0"/>
              <a:t>public double quadrato(double d1) {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System.out.print</a:t>
            </a:r>
            <a:r>
              <a:rPr lang="it-IT" sz="1400" dirty="0"/>
              <a:t>("funzione: double quadrato(double d1) \</a:t>
            </a:r>
            <a:r>
              <a:rPr lang="it-IT" sz="1400" dirty="0" err="1"/>
              <a:t>n</a:t>
            </a:r>
            <a:r>
              <a:rPr lang="it-IT" sz="1400" dirty="0"/>
              <a:t>"); 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return</a:t>
            </a:r>
            <a:r>
              <a:rPr lang="it-IT" sz="1400" dirty="0"/>
              <a:t> d1*d1;</a:t>
            </a:r>
          </a:p>
          <a:p>
            <a:r>
              <a:rPr lang="it-IT" sz="1400" dirty="0"/>
              <a:t>    }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A479263-1F0E-9A1D-38F3-4C3A825BEFB8}"/>
              </a:ext>
            </a:extLst>
          </p:cNvPr>
          <p:cNvSpPr txBox="1"/>
          <p:nvPr/>
        </p:nvSpPr>
        <p:spPr>
          <a:xfrm>
            <a:off x="552108" y="4952775"/>
            <a:ext cx="4750018" cy="13849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400" dirty="0"/>
              <a:t> public </a:t>
            </a:r>
            <a:r>
              <a:rPr lang="it-IT" sz="1400" dirty="0" err="1"/>
              <a:t>void</a:t>
            </a:r>
            <a:r>
              <a:rPr lang="it-IT" sz="1400" dirty="0"/>
              <a:t> </a:t>
            </a:r>
            <a:r>
              <a:rPr lang="it-IT" sz="1400" dirty="0" err="1"/>
              <a:t>testquadrato</a:t>
            </a:r>
            <a:r>
              <a:rPr lang="it-IT" sz="1400" dirty="0"/>
              <a:t>() {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int</a:t>
            </a:r>
            <a:r>
              <a:rPr lang="it-IT" sz="1400" dirty="0"/>
              <a:t> ris1 = quadrato(3);</a:t>
            </a:r>
          </a:p>
          <a:p>
            <a:r>
              <a:rPr lang="it-IT" sz="1400" dirty="0"/>
              <a:t>        double ris2 = quadrato(3.4);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System.out.print</a:t>
            </a:r>
            <a:r>
              <a:rPr lang="it-IT" sz="1400" dirty="0"/>
              <a:t>("il quadrato di 3 </a:t>
            </a:r>
            <a:r>
              <a:rPr lang="it-IT" sz="1400" dirty="0" err="1"/>
              <a:t>e'</a:t>
            </a:r>
            <a:r>
              <a:rPr lang="it-IT" sz="1400" dirty="0"/>
              <a:t>: " + ris1 + "\</a:t>
            </a:r>
            <a:r>
              <a:rPr lang="it-IT" sz="1400" dirty="0" err="1"/>
              <a:t>n</a:t>
            </a:r>
            <a:r>
              <a:rPr lang="it-IT" sz="1400" dirty="0"/>
              <a:t>");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System.out.print</a:t>
            </a:r>
            <a:r>
              <a:rPr lang="it-IT" sz="1400" dirty="0"/>
              <a:t>("il quadrato di 3.4 </a:t>
            </a:r>
            <a:r>
              <a:rPr lang="it-IT" sz="1400" dirty="0" err="1"/>
              <a:t>e'</a:t>
            </a:r>
            <a:r>
              <a:rPr lang="it-IT" sz="1400" dirty="0"/>
              <a:t>: " + ris2 + "\</a:t>
            </a:r>
            <a:r>
              <a:rPr lang="it-IT" sz="1400" dirty="0" err="1"/>
              <a:t>n</a:t>
            </a:r>
            <a:r>
              <a:rPr lang="it-IT" sz="1400" dirty="0"/>
              <a:t>");</a:t>
            </a:r>
          </a:p>
          <a:p>
            <a:r>
              <a:rPr lang="it-IT" sz="1400" dirty="0"/>
              <a:t>    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CA2270C-B025-7CA6-F1E7-63A9CD57AB7B}"/>
              </a:ext>
            </a:extLst>
          </p:cNvPr>
          <p:cNvSpPr txBox="1"/>
          <p:nvPr/>
        </p:nvSpPr>
        <p:spPr>
          <a:xfrm>
            <a:off x="5326784" y="4955886"/>
            <a:ext cx="3515193" cy="138499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400" err="1">
                <a:solidFill>
                  <a:srgbClr val="FF0000"/>
                </a:solidFill>
              </a:rPr>
              <a:t>run</a:t>
            </a:r>
            <a:r>
              <a:rPr lang="it-IT" sz="1400">
                <a:solidFill>
                  <a:srgbClr val="FF0000"/>
                </a:solidFill>
              </a:rPr>
              <a:t>:</a:t>
            </a:r>
          </a:p>
          <a:p>
            <a:r>
              <a:rPr lang="it-IT" sz="1400"/>
              <a:t>funzione: </a:t>
            </a:r>
            <a:r>
              <a:rPr lang="it-IT" sz="1400" err="1"/>
              <a:t>int</a:t>
            </a:r>
            <a:r>
              <a:rPr lang="it-IT" sz="1400"/>
              <a:t> quadrato(</a:t>
            </a:r>
            <a:r>
              <a:rPr lang="it-IT" sz="1400" err="1"/>
              <a:t>int</a:t>
            </a:r>
            <a:r>
              <a:rPr lang="it-IT" sz="1400"/>
              <a:t> i1) </a:t>
            </a:r>
          </a:p>
          <a:p>
            <a:r>
              <a:rPr lang="it-IT" sz="1400"/>
              <a:t>funzione: double quadrato(double d1) </a:t>
            </a:r>
          </a:p>
          <a:p>
            <a:r>
              <a:rPr lang="it-IT" sz="1400"/>
              <a:t>il quadrato di 3 </a:t>
            </a:r>
            <a:r>
              <a:rPr lang="it-IT" sz="1400" err="1"/>
              <a:t>e'</a:t>
            </a:r>
            <a:r>
              <a:rPr lang="it-IT" sz="1400"/>
              <a:t>: 9</a:t>
            </a:r>
          </a:p>
          <a:p>
            <a:r>
              <a:rPr lang="it-IT" sz="1400"/>
              <a:t>il quadrato di 3.4 </a:t>
            </a:r>
            <a:r>
              <a:rPr lang="it-IT" sz="1400" err="1"/>
              <a:t>e'</a:t>
            </a:r>
            <a:r>
              <a:rPr lang="it-IT" sz="1400"/>
              <a:t>: 11.559999999999999</a:t>
            </a:r>
          </a:p>
          <a:p>
            <a:endParaRPr lang="it-IT" sz="1400"/>
          </a:p>
        </p:txBody>
      </p:sp>
    </p:spTree>
    <p:extLst>
      <p:ext uri="{BB962C8B-B14F-4D97-AF65-F5344CB8AC3E}">
        <p14:creationId xmlns:p14="http://schemas.microsoft.com/office/powerpoint/2010/main" val="2173383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4DEDFA-B625-0DC5-5DDC-865CC0627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99" y="-243408"/>
            <a:ext cx="7543800" cy="1295400"/>
          </a:xfrm>
        </p:spPr>
        <p:txBody>
          <a:bodyPr/>
          <a:lstStyle/>
          <a:p>
            <a:r>
              <a:rPr lang="it-IT" err="1"/>
              <a:t>Overloading</a:t>
            </a:r>
            <a:r>
              <a:rPr lang="it-IT"/>
              <a:t> dei metodi (3/4)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60EECF4-3E63-E9AB-0CD1-55488B569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30" y="1282294"/>
            <a:ext cx="8229600" cy="5112568"/>
          </a:xfrm>
        </p:spPr>
        <p:txBody>
          <a:bodyPr>
            <a:normAutofit lnSpcReduction="10000"/>
          </a:bodyPr>
          <a:lstStyle/>
          <a:p>
            <a:r>
              <a:rPr lang="it-IT" sz="1800" dirty="0">
                <a:effectLst/>
                <a:latin typeface="Arial" panose="020B0604020202020204" pitchFamily="34" charset="0"/>
              </a:rPr>
              <a:t>Avere </a:t>
            </a:r>
            <a:r>
              <a:rPr lang="it-IT" sz="1800" b="1" dirty="0">
                <a:effectLst/>
                <a:latin typeface="Arial" panose="020B0604020202020204" pitchFamily="34" charset="0"/>
              </a:rPr>
              <a:t>tipi di ritorno </a:t>
            </a:r>
            <a:r>
              <a:rPr lang="it-IT" sz="1800" dirty="0">
                <a:effectLst/>
                <a:latin typeface="Arial" panose="020B0604020202020204" pitchFamily="34" charset="0"/>
              </a:rPr>
              <a:t>diversi </a:t>
            </a:r>
            <a:r>
              <a:rPr lang="it-IT" sz="1800" b="1" dirty="0">
                <a:effectLst/>
                <a:latin typeface="Arial" panose="020B0604020202020204" pitchFamily="34" charset="0"/>
              </a:rPr>
              <a:t>non è sufficiente </a:t>
            </a:r>
            <a:r>
              <a:rPr lang="it-IT" sz="1800" dirty="0">
                <a:effectLst/>
                <a:latin typeface="Arial" panose="020B0604020202020204" pitchFamily="34" charset="0"/>
              </a:rPr>
              <a:t>a distinguere le funzioni/metodi. In ogni caso, in presenza di ambiguità il compilatore genera errori.</a:t>
            </a:r>
          </a:p>
          <a:p>
            <a:r>
              <a:rPr lang="it-IT" sz="1800" dirty="0">
                <a:effectLst/>
                <a:latin typeface="Arial" panose="020B0604020202020204" pitchFamily="34" charset="0"/>
              </a:rPr>
              <a:t>In presenza della chiamata di una funzione/metodo </a:t>
            </a:r>
            <a:r>
              <a:rPr lang="it-IT" sz="1800" i="1" dirty="0" err="1">
                <a:effectLst/>
                <a:latin typeface="Arial" panose="020B0604020202020204" pitchFamily="34" charset="0"/>
              </a:rPr>
              <a:t>overloaded</a:t>
            </a:r>
            <a:r>
              <a:rPr lang="it-IT" sz="1800" dirty="0">
                <a:effectLst/>
                <a:latin typeface="Arial" panose="020B0604020202020204" pitchFamily="34" charset="0"/>
              </a:rPr>
              <a:t>, il compilatore riconosce quello che (“meglio”) si adatta alla chiamata in base alla firma</a:t>
            </a:r>
          </a:p>
          <a:p>
            <a:pPr marL="0" indent="0" algn="ctr">
              <a:buNone/>
            </a:pPr>
            <a:r>
              <a:rPr lang="it-IT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Firma</a:t>
            </a:r>
            <a:r>
              <a:rPr lang="it-IT" sz="180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it-IT" sz="1800" i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signature</a:t>
            </a:r>
            <a:r>
              <a:rPr lang="it-IT" sz="180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 di una funzione:</a:t>
            </a:r>
          </a:p>
          <a:p>
            <a:pPr marL="0" indent="0" algn="ctr">
              <a:buNone/>
            </a:pPr>
            <a:r>
              <a:rPr lang="it-IT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nome + tipo dei parametri</a:t>
            </a:r>
            <a:endParaRPr lang="it-IT" sz="180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endParaRPr lang="it-IT" sz="1800" dirty="0">
              <a:effectLst/>
              <a:latin typeface="Arial" panose="020B0604020202020204" pitchFamily="34" charset="0"/>
            </a:endParaRPr>
          </a:p>
          <a:p>
            <a:r>
              <a:rPr lang="it-IT" sz="1800" i="1" u="sng" dirty="0">
                <a:effectLst/>
                <a:latin typeface="Arial" panose="020B0604020202020204" pitchFamily="34" charset="0"/>
              </a:rPr>
              <a:t>Le liste possono distinguersi per numero, tipo e ordine dei parametri</a:t>
            </a:r>
            <a:r>
              <a:rPr lang="it-IT" sz="1800" dirty="0">
                <a:effectLst/>
                <a:latin typeface="Arial" panose="020B0604020202020204" pitchFamily="34" charset="0"/>
              </a:rPr>
              <a:t>, quindi ad esempio le seguenti signature sono diverse: </a:t>
            </a:r>
          </a:p>
          <a:p>
            <a:pPr marL="0" indent="0" algn="ctr">
              <a:buNone/>
            </a:pPr>
            <a:r>
              <a:rPr lang="it-IT" sz="1800" b="1" dirty="0" err="1">
                <a:effectLst/>
                <a:latin typeface="Arial" panose="020B0604020202020204" pitchFamily="34" charset="0"/>
              </a:rPr>
              <a:t>void</a:t>
            </a:r>
            <a:r>
              <a:rPr lang="it-IT" sz="1800" b="1" dirty="0">
                <a:effectLst/>
                <a:latin typeface="Arial" panose="020B0604020202020204" pitchFamily="34" charset="0"/>
              </a:rPr>
              <a:t> metodo(</a:t>
            </a:r>
            <a:r>
              <a:rPr lang="it-IT" sz="1800" b="1" dirty="0" err="1">
                <a:effectLst/>
                <a:latin typeface="Arial" panose="020B0604020202020204" pitchFamily="34" charset="0"/>
              </a:rPr>
              <a:t>int</a:t>
            </a:r>
            <a:r>
              <a:rPr lang="it-IT" sz="1800" b="1" dirty="0">
                <a:effectLst/>
                <a:latin typeface="Arial" panose="020B0604020202020204" pitchFamily="34" charset="0"/>
              </a:rPr>
              <a:t> a, float b) </a:t>
            </a:r>
            <a:r>
              <a:rPr lang="it-IT" sz="1800" dirty="0">
                <a:effectLst/>
                <a:latin typeface="Arial" panose="020B0604020202020204" pitchFamily="34" charset="0"/>
              </a:rPr>
              <a:t>e </a:t>
            </a:r>
            <a:r>
              <a:rPr lang="it-IT" sz="1800" b="1" dirty="0" err="1">
                <a:effectLst/>
                <a:latin typeface="Arial" panose="020B0604020202020204" pitchFamily="34" charset="0"/>
              </a:rPr>
              <a:t>void</a:t>
            </a:r>
            <a:r>
              <a:rPr lang="it-IT" sz="1800" b="1" dirty="0">
                <a:effectLst/>
                <a:latin typeface="Arial" panose="020B0604020202020204" pitchFamily="34" charset="0"/>
              </a:rPr>
              <a:t> metodo(float a, </a:t>
            </a:r>
            <a:r>
              <a:rPr lang="it-IT" sz="1800" b="1" dirty="0" err="1">
                <a:effectLst/>
                <a:latin typeface="Arial" panose="020B0604020202020204" pitchFamily="34" charset="0"/>
              </a:rPr>
              <a:t>int</a:t>
            </a:r>
            <a:r>
              <a:rPr lang="it-IT" sz="1800" b="1" dirty="0">
                <a:effectLst/>
                <a:latin typeface="Arial" panose="020B0604020202020204" pitchFamily="34" charset="0"/>
              </a:rPr>
              <a:t> b) </a:t>
            </a:r>
          </a:p>
          <a:p>
            <a:r>
              <a:rPr lang="it-IT" sz="1800" dirty="0">
                <a:effectLst/>
                <a:latin typeface="Arial" panose="020B0604020202020204" pitchFamily="34" charset="0"/>
              </a:rPr>
              <a:t>N.B. </a:t>
            </a:r>
            <a:r>
              <a:rPr lang="it-IT" sz="1800" u="sng" dirty="0">
                <a:effectLst/>
                <a:latin typeface="Arial" panose="020B0604020202020204" pitchFamily="34" charset="0"/>
              </a:rPr>
              <a:t>Il tipo restituito non fa parte della firma della funzione</a:t>
            </a:r>
            <a:r>
              <a:rPr lang="it-IT" sz="1800" dirty="0">
                <a:effectLst/>
                <a:latin typeface="Arial" panose="020B0604020202020204" pitchFamily="34" charset="0"/>
              </a:rPr>
              <a:t>! Nell’istruzione di chiamata infatti può non essere evidente il tipo del valore di ritorno</a:t>
            </a:r>
          </a:p>
          <a:p>
            <a:r>
              <a:rPr lang="it-IT" sz="1800" dirty="0">
                <a:effectLst/>
                <a:latin typeface="Arial" panose="020B0604020202020204" pitchFamily="34" charset="0"/>
              </a:rPr>
              <a:t>Attenzione alle conversioni implicite di tipo! Nel caso dell’esempio del </a:t>
            </a:r>
            <a:r>
              <a:rPr lang="it-IT" sz="1800" i="1" dirty="0">
                <a:effectLst/>
                <a:latin typeface="Arial" panose="020B0604020202020204" pitchFamily="34" charset="0"/>
              </a:rPr>
              <a:t>quadrato </a:t>
            </a:r>
            <a:r>
              <a:rPr lang="it-IT" sz="1800" dirty="0">
                <a:effectLst/>
                <a:latin typeface="Arial" panose="020B0604020202020204" pitchFamily="34" charset="0"/>
              </a:rPr>
              <a:t>la versione double può essere usata </a:t>
            </a:r>
            <a:r>
              <a:rPr lang="it-IT" sz="1800" i="1" dirty="0">
                <a:effectLst/>
                <a:latin typeface="Arial" panose="020B0604020202020204" pitchFamily="34" charset="0"/>
              </a:rPr>
              <a:t>in mancanza </a:t>
            </a:r>
            <a:r>
              <a:rPr lang="it-IT" sz="1800" dirty="0">
                <a:effectLst/>
                <a:latin typeface="Arial" panose="020B0604020202020204" pitchFamily="34" charset="0"/>
              </a:rPr>
              <a:t>della versione </a:t>
            </a:r>
            <a:r>
              <a:rPr lang="it-IT" sz="1800" dirty="0" err="1">
                <a:effectLst/>
                <a:latin typeface="Arial" panose="020B0604020202020204" pitchFamily="34" charset="0"/>
              </a:rPr>
              <a:t>int</a:t>
            </a:r>
            <a:r>
              <a:rPr lang="it-IT" sz="1800" dirty="0">
                <a:latin typeface="Arial" panose="020B0604020202020204" pitchFamily="34" charset="0"/>
              </a:rPr>
              <a:t> per effettuare il quadrato di due interi (ma non viceversa, il compilatore non lo consente)</a:t>
            </a:r>
            <a:endParaRPr lang="it-IT" sz="1800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it-IT" sz="1800" dirty="0">
              <a:effectLst/>
              <a:latin typeface="Arial" panose="020B0604020202020204" pitchFamily="34" charset="0"/>
            </a:endParaRPr>
          </a:p>
          <a:p>
            <a:endParaRPr lang="it-IT" sz="1800" dirty="0"/>
          </a:p>
        </p:txBody>
      </p:sp>
    </p:spTree>
    <p:extLst>
      <p:ext uri="{BB962C8B-B14F-4D97-AF65-F5344CB8AC3E}">
        <p14:creationId xmlns:p14="http://schemas.microsoft.com/office/powerpoint/2010/main" val="708417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8C241E-A35A-4AB4-5DA7-C76D2018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Overloading</a:t>
            </a:r>
            <a:r>
              <a:rPr lang="it-IT"/>
              <a:t> (4/4)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20C703-C85E-5CC8-D084-8003D4663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>
                <a:effectLst/>
                <a:latin typeface="Arial" panose="020B0604020202020204" pitchFamily="34" charset="0"/>
              </a:rPr>
              <a:t>L’</a:t>
            </a:r>
            <a:r>
              <a:rPr lang="it-IT" err="1">
                <a:effectLst/>
                <a:latin typeface="Arial" panose="020B0604020202020204" pitchFamily="34" charset="0"/>
              </a:rPr>
              <a:t>overloading</a:t>
            </a:r>
            <a:r>
              <a:rPr lang="it-IT">
                <a:effectLst/>
                <a:latin typeface="Arial" panose="020B0604020202020204" pitchFamily="34" charset="0"/>
              </a:rPr>
              <a:t> delle funzioni/metodi si usa preferibilmente:</a:t>
            </a:r>
          </a:p>
          <a:p>
            <a:r>
              <a:rPr lang="it-IT">
                <a:effectLst/>
                <a:latin typeface="Arial" panose="020B0604020202020204" pitchFamily="34" charset="0"/>
              </a:rPr>
              <a:t>Quando si devono definire funzioni/metodi concettualmente simili da applicare a dati di tipo diverso</a:t>
            </a:r>
          </a:p>
          <a:p>
            <a:pPr marL="0" indent="0">
              <a:buNone/>
            </a:pPr>
            <a:r>
              <a:rPr lang="it-IT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</a:t>
            </a:r>
          </a:p>
          <a:p>
            <a:r>
              <a:rPr lang="it-IT">
                <a:effectLst/>
                <a:latin typeface="Arial" panose="020B0604020202020204" pitchFamily="34" charset="0"/>
              </a:rPr>
              <a:t>L’algoritmo realizzato da ciascuna funzione è anch’esso diverso a seconda dei tipi di dato a cui la funzione deve essere applicata</a:t>
            </a: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4391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AF7B20-14FA-E297-DD88-42B98CA35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Overloading</a:t>
            </a:r>
            <a:r>
              <a:rPr lang="it-IT" dirty="0"/>
              <a:t> e conversione automatica di tipo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E23FD9-5907-8485-D5F9-3C08D0DB8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12386"/>
            <a:ext cx="8229600" cy="4411662"/>
          </a:xfrm>
        </p:spPr>
        <p:txBody>
          <a:bodyPr/>
          <a:lstStyle/>
          <a:p>
            <a:r>
              <a:rPr lang="it-IT" sz="2600" dirty="0"/>
              <a:t>La conversione automatica di tipo è un meccanismo utile che può però creare situazioni non volute</a:t>
            </a:r>
          </a:p>
          <a:p>
            <a:r>
              <a:rPr lang="it-IT" sz="2600" dirty="0"/>
              <a:t>Si ricorda che in una espressione mista molti linguaggi effettuano conversioni </a:t>
            </a:r>
            <a:r>
              <a:rPr lang="it-IT" sz="2600" dirty="0" err="1"/>
              <a:t>impicite</a:t>
            </a:r>
            <a:r>
              <a:rPr lang="it-IT" sz="2600" dirty="0"/>
              <a:t> di tipo: </a:t>
            </a:r>
            <a:r>
              <a:rPr lang="it-IT" sz="2600" dirty="0" err="1"/>
              <a:t>char</a:t>
            </a:r>
            <a:r>
              <a:rPr lang="it-IT" sz="2600" dirty="0"/>
              <a:t> -&gt; </a:t>
            </a:r>
            <a:r>
              <a:rPr lang="it-IT" sz="2600" dirty="0" err="1"/>
              <a:t>int</a:t>
            </a:r>
            <a:r>
              <a:rPr lang="it-IT" sz="2600" dirty="0"/>
              <a:t> -&gt; float -&gt; double</a:t>
            </a:r>
          </a:p>
          <a:p>
            <a:r>
              <a:rPr lang="it-IT" sz="2600" dirty="0"/>
              <a:t>In Java l’</a:t>
            </a:r>
            <a:r>
              <a:rPr lang="it-IT" sz="2600" dirty="0" err="1"/>
              <a:t>overloading</a:t>
            </a:r>
            <a:r>
              <a:rPr lang="it-IT" sz="2600" dirty="0"/>
              <a:t> precede la conversione automatica di tipo: se esiste un metodo che corrisponde al tipo di argomenti fornito viene usato tale metodo (come nell’esempio «quadrato» precedente) </a:t>
            </a:r>
          </a:p>
        </p:txBody>
      </p:sp>
    </p:spTree>
    <p:extLst>
      <p:ext uri="{BB962C8B-B14F-4D97-AF65-F5344CB8AC3E}">
        <p14:creationId xmlns:p14="http://schemas.microsoft.com/office/powerpoint/2010/main" val="788876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E47CDB-89EC-8688-0D48-8C6395978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 di </a:t>
            </a:r>
            <a:r>
              <a:rPr lang="it-IT" dirty="0" err="1"/>
              <a:t>Overloading</a:t>
            </a:r>
            <a:r>
              <a:rPr lang="it-IT" dirty="0"/>
              <a:t> con Conversioni Implicite</a:t>
            </a:r>
            <a:endParaRPr lang="en-US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241F966-3A6A-B59C-9344-50ED7652EA1B}"/>
              </a:ext>
            </a:extLst>
          </p:cNvPr>
          <p:cNvSpPr txBox="1"/>
          <p:nvPr/>
        </p:nvSpPr>
        <p:spPr>
          <a:xfrm>
            <a:off x="86497" y="1417638"/>
            <a:ext cx="860030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EsempioOverloading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pPr lvl="1"/>
            <a:r>
              <a:rPr lang="it-IT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stampa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 lvl="1"/>
            <a:r>
              <a:rPr lang="it-IT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it-IT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println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it-IT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: "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1"/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lvl="1"/>
            <a:b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it-IT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stampa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 lvl="1"/>
            <a:r>
              <a:rPr lang="it-IT" b="0" dirty="0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it-IT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System</a:t>
            </a:r>
            <a:r>
              <a:rPr lang="it-IT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b="0" dirty="0" err="1">
                <a:solidFill>
                  <a:srgbClr val="0070C1"/>
                </a:solidFill>
                <a:effectLst/>
                <a:latin typeface="Menlo" panose="020B0609030804020204" pitchFamily="49" charset="0"/>
              </a:rPr>
              <a:t>out</a:t>
            </a:r>
            <a:r>
              <a:rPr lang="it-IT" b="0" dirty="0" err="1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it-IT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println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"double: "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1"/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lvl="1"/>
            <a:b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it-IT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public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static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 err="1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[] </a:t>
            </a:r>
            <a:r>
              <a:rPr lang="it-IT" b="0" dirty="0" err="1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args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 lvl="2"/>
            <a:r>
              <a:rPr lang="it-IT" b="0" dirty="0" err="1">
                <a:solidFill>
                  <a:srgbClr val="267F99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it-IT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'A'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it-IT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'A' = 65</a:t>
            </a:r>
            <a:endParaRPr lang="it-IT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it-IT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stampa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b="0" dirty="0">
                <a:solidFill>
                  <a:srgbClr val="001080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 </a:t>
            </a:r>
            <a:r>
              <a:rPr lang="it-IT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it-IT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it-IT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→ </a:t>
            </a:r>
            <a:r>
              <a:rPr lang="it-IT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→ stampa(</a:t>
            </a:r>
            <a:r>
              <a:rPr lang="it-IT" b="0" dirty="0" err="1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it-IT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)</a:t>
            </a:r>
            <a:endParaRPr lang="it-IT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 lvl="2"/>
            <a:b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</a:br>
            <a:r>
              <a:rPr lang="it-IT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stampa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it-IT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3.14f</a:t>
            </a:r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); </a:t>
            </a:r>
            <a:r>
              <a:rPr lang="it-IT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// float → double → stampa(double)</a:t>
            </a:r>
            <a:endParaRPr lang="it-IT" b="0" dirty="0">
              <a:solidFill>
                <a:srgbClr val="3B3B3B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it-IT" b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796D2D5-A35C-5EF5-07F1-C60DCF5E6F32}"/>
              </a:ext>
            </a:extLst>
          </p:cNvPr>
          <p:cNvSpPr txBox="1"/>
          <p:nvPr/>
        </p:nvSpPr>
        <p:spPr>
          <a:xfrm>
            <a:off x="4229100" y="5535433"/>
            <a:ext cx="4436075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/>
              <a:t>Java sceglie il metodo più adatto usando </a:t>
            </a:r>
            <a:r>
              <a:rPr lang="it-IT" b="1" dirty="0"/>
              <a:t>conversioni implicite</a:t>
            </a:r>
            <a:r>
              <a:rPr lang="it-IT" dirty="0"/>
              <a:t>:</a:t>
            </a:r>
          </a:p>
          <a:p>
            <a:r>
              <a:rPr lang="it-IT" dirty="0" err="1"/>
              <a:t>char</a:t>
            </a:r>
            <a:r>
              <a:rPr lang="it-IT" dirty="0"/>
              <a:t> → </a:t>
            </a:r>
            <a:r>
              <a:rPr lang="it-IT" dirty="0" err="1"/>
              <a:t>int</a:t>
            </a:r>
            <a:endParaRPr lang="it-IT" dirty="0"/>
          </a:p>
          <a:p>
            <a:r>
              <a:rPr lang="it-IT" dirty="0"/>
              <a:t>float → double</a:t>
            </a:r>
          </a:p>
        </p:txBody>
      </p:sp>
    </p:spTree>
    <p:extLst>
      <p:ext uri="{BB962C8B-B14F-4D97-AF65-F5344CB8AC3E}">
        <p14:creationId xmlns:p14="http://schemas.microsoft.com/office/powerpoint/2010/main" val="1513234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ADACC17-364B-4B8E-BE09-EED11BC99B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198396"/>
            <a:ext cx="7543800" cy="1295400"/>
          </a:xfrm>
        </p:spPr>
        <p:txBody>
          <a:bodyPr/>
          <a:lstStyle/>
          <a:p>
            <a:pPr eaLnBrk="1" hangingPunct="1"/>
            <a:r>
              <a:rPr lang="it-IT" altLang="en-US" dirty="0"/>
              <a:t>Riferimenti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B1F16C10-2E1E-496F-ADE7-AF55024DC4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697986"/>
            <a:ext cx="8229600" cy="4411662"/>
          </a:xfrm>
        </p:spPr>
        <p:txBody>
          <a:bodyPr/>
          <a:lstStyle/>
          <a:p>
            <a:pPr marL="0" indent="0" algn="just" eaLnBrk="1" hangingPunct="1">
              <a:buNone/>
            </a:pPr>
            <a:endParaRPr lang="it-IT" altLang="en-US" dirty="0">
              <a:highlight>
                <a:srgbClr val="FFFF00"/>
              </a:highlight>
              <a:cs typeface="Times New Roman" panose="02020603050405020304" pitchFamily="18" charset="0"/>
            </a:endParaRPr>
          </a:p>
          <a:p>
            <a:pPr algn="just" eaLnBrk="1" hangingPunct="1"/>
            <a:r>
              <a:rPr lang="it-IT" altLang="en-US" dirty="0"/>
              <a:t>Programmare in Java: Capitolo 3 (metodi) </a:t>
            </a:r>
          </a:p>
          <a:p>
            <a:pPr algn="just" eaLnBrk="1" hangingPunct="1"/>
            <a:r>
              <a:rPr lang="it-IT" altLang="en-US" dirty="0"/>
              <a:t>Programmare in Java: Capitolo 6 per esecuzione dei metodi ed </a:t>
            </a:r>
            <a:r>
              <a:rPr lang="it-IT" altLang="en-US" dirty="0" err="1"/>
              <a:t>overloading</a:t>
            </a:r>
            <a:r>
              <a:rPr lang="it-IT" altLang="en-US" dirty="0"/>
              <a:t> (fino al paragrafo 6.7 incluso e paragrafo 6.12)</a:t>
            </a:r>
          </a:p>
          <a:p>
            <a:pPr algn="just" eaLnBrk="1" hangingPunct="1"/>
            <a:r>
              <a:rPr lang="it-IT" altLang="en-US" dirty="0" err="1"/>
              <a:t>Savitch</a:t>
            </a:r>
            <a:r>
              <a:rPr lang="it-IT" altLang="en-US" dirty="0"/>
              <a:t>: Capitolo 5 (metodi)</a:t>
            </a:r>
          </a:p>
          <a:p>
            <a:pPr algn="just" eaLnBrk="1" hangingPunct="1"/>
            <a:r>
              <a:rPr lang="it-IT" altLang="en-US" dirty="0" err="1"/>
              <a:t>Savitch</a:t>
            </a:r>
            <a:r>
              <a:rPr lang="it-IT" altLang="en-US" dirty="0"/>
              <a:t>: Capitolo 9 par.9.3 (</a:t>
            </a:r>
            <a:r>
              <a:rPr lang="it-IT" altLang="en-US" dirty="0" err="1"/>
              <a:t>overloading</a:t>
            </a:r>
            <a:r>
              <a:rPr lang="it-IT" altLang="en-US" dirty="0"/>
              <a:t>)</a:t>
            </a:r>
          </a:p>
          <a:p>
            <a:pPr marL="0" indent="0" algn="just" eaLnBrk="1" hangingPunct="1">
              <a:buNone/>
            </a:pPr>
            <a:endParaRPr lang="it-IT" altLang="en-US" dirty="0"/>
          </a:p>
          <a:p>
            <a:pPr lvl="1" algn="just" eaLnBrk="1" hangingPunct="1"/>
            <a:endParaRPr lang="it-IT" altLang="en-US" dirty="0"/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it-IT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e">
  <a:themeElements>
    <a:clrScheme name="Re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Re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e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75877EE1B70A4284EAAAD4F5DAB5A8" ma:contentTypeVersion="3" ma:contentTypeDescription="Create a new document." ma:contentTypeScope="" ma:versionID="f90efe8b9a013048999e04d4d7cbb7e6">
  <xsd:schema xmlns:xsd="http://www.w3.org/2001/XMLSchema" xmlns:xs="http://www.w3.org/2001/XMLSchema" xmlns:p="http://schemas.microsoft.com/office/2006/metadata/properties" xmlns:ns2="26b08820-12d9-4581-8254-4e993db2160e" targetNamespace="http://schemas.microsoft.com/office/2006/metadata/properties" ma:root="true" ma:fieldsID="f6cef277e2c68d9d910b222ad249d322" ns2:_="">
    <xsd:import namespace="26b08820-12d9-4581-8254-4e993db216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b08820-12d9-4581-8254-4e993db216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41C768-6F7E-4746-945E-CA712452E7B7}">
  <ds:schemaRefs>
    <ds:schemaRef ds:uri="17cb46fe-fb09-4fdf-a472-4e2c88d31c8c"/>
    <ds:schemaRef ds:uri="35be80a6-5618-4845-bacd-cf0098900a47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631D09A-DC65-4BB3-AAA7-B0307597FA91}"/>
</file>

<file path=customXml/itemProps3.xml><?xml version="1.0" encoding="utf-8"?>
<ds:datastoreItem xmlns:ds="http://schemas.openxmlformats.org/officeDocument/2006/customXml" ds:itemID="{E00EEF36-5181-4A9A-AE76-3FC0CD92374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341</TotalTime>
  <Words>2472</Words>
  <Application>Microsoft Macintosh PowerPoint</Application>
  <PresentationFormat>Presentazione su schermo (4:3)</PresentationFormat>
  <Paragraphs>238</Paragraphs>
  <Slides>23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30" baseType="lpstr">
      <vt:lpstr>Arial</vt:lpstr>
      <vt:lpstr>Courier</vt:lpstr>
      <vt:lpstr>Courier New</vt:lpstr>
      <vt:lpstr>Menlo</vt:lpstr>
      <vt:lpstr>Times New Roman</vt:lpstr>
      <vt:lpstr>Wingdings</vt:lpstr>
      <vt:lpstr>Rete</vt:lpstr>
      <vt:lpstr>  Corso di Programmazione</vt:lpstr>
      <vt:lpstr>Sottoprogrammi in JAVA</vt:lpstr>
      <vt:lpstr>Dichiarazione di metodo (1/5)</vt:lpstr>
      <vt:lpstr>Dichiarazione di metodo (2/5)</vt:lpstr>
      <vt:lpstr>Dichiarazione di metodo (3/5)</vt:lpstr>
      <vt:lpstr>Dichiarazione di metodo (4/5)</vt:lpstr>
      <vt:lpstr>Dichiarazione di metodo (5/5)</vt:lpstr>
      <vt:lpstr>Chiamata di metodo (1/3)</vt:lpstr>
      <vt:lpstr>Presentazione standard di PowerPoint</vt:lpstr>
      <vt:lpstr>Chiamata di metodo (3/3)</vt:lpstr>
      <vt:lpstr>Modalità di scambio dei parametri</vt:lpstr>
      <vt:lpstr>Modalità di scambio dei parametri in JAVA</vt:lpstr>
      <vt:lpstr>Scambio per valore</vt:lpstr>
      <vt:lpstr>Uso dei riferimenti come parametri di scambio</vt:lpstr>
      <vt:lpstr>Esercizio: metodo Fattoriale</vt:lpstr>
      <vt:lpstr>Esercizio. Programma chiamante</vt:lpstr>
      <vt:lpstr>Overloading (1/4)</vt:lpstr>
      <vt:lpstr>Overloading (2/4)</vt:lpstr>
      <vt:lpstr>Overloading dei metodi (3/4)</vt:lpstr>
      <vt:lpstr>Overloading (4/4)</vt:lpstr>
      <vt:lpstr>Overloading e conversione automatica di tipo</vt:lpstr>
      <vt:lpstr>Esempio di Overloading con Conversioni Implicite</vt:lpstr>
      <vt:lpstr>Riferimenti</vt:lpstr>
    </vt:vector>
  </TitlesOfParts>
  <Company>grid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Introduzione al corso (1)</dc:title>
  <dc:creator>vittorin</dc:creator>
  <cp:lastModifiedBy>DOMENICO AMALFITANO</cp:lastModifiedBy>
  <cp:revision>20</cp:revision>
  <dcterms:created xsi:type="dcterms:W3CDTF">2001-02-19T15:17:19Z</dcterms:created>
  <dcterms:modified xsi:type="dcterms:W3CDTF">2025-03-26T04:26:56Z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2023-11-21T10:45:34Z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e29d92b5-0072-41f7-9348-c9acb3b9c31c</vt:lpwstr>
  </property>
  <property fmtid="{D5CDD505-2E9C-101B-9397-08002B2CF9AE}" pid="8" name="MSIP_Label_2ad0b24d-6422-44b0-b3de-abb3a9e8c81a_ContentBits">
    <vt:lpwstr>0</vt:lpwstr>
  </property>
  <property fmtid="{D5CDD505-2E9C-101B-9397-08002B2CF9AE}" pid="9" name="ContentTypeId">
    <vt:lpwstr>0x010100C075877EE1B70A4284EAAAD4F5DAB5A8</vt:lpwstr>
  </property>
  <property fmtid="{D5CDD505-2E9C-101B-9397-08002B2CF9AE}" pid="10" name="MediaServiceImageTags">
    <vt:lpwstr/>
  </property>
</Properties>
</file>