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4"/>
  </p:sldMasterIdLst>
  <p:notesMasterIdLst>
    <p:notesMasterId r:id="rId49"/>
  </p:notesMasterIdLst>
  <p:handoutMasterIdLst>
    <p:handoutMasterId r:id="rId50"/>
  </p:handoutMasterIdLst>
  <p:sldIdLst>
    <p:sldId id="265" r:id="rId5"/>
    <p:sldId id="344" r:id="rId6"/>
    <p:sldId id="346" r:id="rId7"/>
    <p:sldId id="347" r:id="rId8"/>
    <p:sldId id="348" r:id="rId9"/>
    <p:sldId id="349" r:id="rId10"/>
    <p:sldId id="387" r:id="rId11"/>
    <p:sldId id="352" r:id="rId12"/>
    <p:sldId id="355" r:id="rId13"/>
    <p:sldId id="386" r:id="rId14"/>
    <p:sldId id="356" r:id="rId15"/>
    <p:sldId id="357" r:id="rId16"/>
    <p:sldId id="358" r:id="rId17"/>
    <p:sldId id="359" r:id="rId18"/>
    <p:sldId id="360" r:id="rId19"/>
    <p:sldId id="361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399" r:id="rId31"/>
    <p:sldId id="400" r:id="rId32"/>
    <p:sldId id="401" r:id="rId33"/>
    <p:sldId id="388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3" r:id="rId42"/>
    <p:sldId id="375" r:id="rId43"/>
    <p:sldId id="374" r:id="rId44"/>
    <p:sldId id="402" r:id="rId45"/>
    <p:sldId id="371" r:id="rId46"/>
    <p:sldId id="403" r:id="rId47"/>
    <p:sldId id="343" r:id="rId48"/>
  </p:sldIdLst>
  <p:sldSz cx="9144000" cy="6858000" type="screen4x3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>
      <p:cViewPr varScale="1">
        <p:scale>
          <a:sx n="103" d="100"/>
          <a:sy n="103" d="100"/>
        </p:scale>
        <p:origin x="178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207D78-5015-8475-54C2-0A9B46ADA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22A352-A7D7-027B-AD15-9DBC932BD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921BFE9-C9D8-1C38-3838-EC1FE74846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214275AA-9546-0FE4-B537-4855F5E143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Verdana" panose="020B0604030504040204" pitchFamily="34" charset="0"/>
              </a:defRPr>
            </a:lvl1pPr>
          </a:lstStyle>
          <a:p>
            <a:fld id="{2993C5AB-CE10-C94B-82A8-3847F79289AD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3C1-1FAE-ED41-A3D6-CD02F3B367D8}" type="datetimeFigureOut">
              <a:rPr lang="it-IT" smtClean="0"/>
              <a:t>03/04/25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31BA5-3816-174C-B7A9-A8BBEA3C2A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31BA5-3816-174C-B7A9-A8BBEA3C2A38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4424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63477-67FC-3842-C961-13374741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CCA5FB8-100F-D783-0799-12EA3D04A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F290E6A-795E-1654-350E-AA0FE2D1A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B6C2A61-5BB7-86ED-3E0C-AB996CDD4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31BA5-3816-174C-B7A9-A8BBEA3C2A38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7553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919BA-FDDE-11E8-9E95-EDB853ED9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8328619-8B82-F3AC-A811-431A26591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5BF63DA-E75E-BEA2-F646-C96F73E61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B5C655-8517-A97C-C18A-BCD5CA54D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31BA5-3816-174C-B7A9-A8BBEA3C2A38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6093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DFB8E36-2692-9471-EECA-AA61B7A6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260E3BE-B81E-7C4D-1F34-F0D3085ECB8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C4259D16-DEFD-027C-00D8-3A2E8BF1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D783EDC-DD0A-A35A-1F67-0271D9CF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8DD6095-01B2-14AB-C09E-5AC7F8FC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A8CC8D34-A6F6-6FBC-E306-651CD229A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42DB62A-02AF-010E-6938-3AEE62E6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E010F5C-5AF7-E68D-CF2E-CA01AC2BA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8C779B22-3271-BC34-3025-A5D63D14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99FCA170-A778-8F8B-1728-AF6FD4F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B691FF7-E84E-84B9-5AB5-E565A525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57164C9-E297-D2B3-8152-40E66F1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0FEB2EE-0ED2-85C2-85F1-83A1BB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9A3026D-6EB7-1E81-AEF6-4979F5EC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92F59D63-53F1-080B-7142-39B65BAE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F054441-EC9C-B07B-75BB-2D08F53A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B97A58-18DB-0DF0-CA1A-31169D30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88DF6CF-3E0A-8611-1A78-1D288081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C32031F4-1263-B0FB-2B55-5D4BD107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6A419EE-5229-9FE5-E748-520534AE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9627FAA7-CEF8-A621-0C1F-570876CE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1EDA2367-81CD-DEAC-7E02-B1C0519A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5DCDEE2-83B3-536E-6123-004E0BF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B9ADC3D3-B430-3D9A-7AF0-EBB2F85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1AE266B-6D1B-166C-6474-3A27D5FC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BD55B242-AB5F-2401-9701-41ACCCEBD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9DB4E7FD-8EA2-A662-9B6D-97427264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7EE16CBA-D536-A892-BE2D-F1B59808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B4E9432-8633-35E7-4E11-437B5B28E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CD2BB0AB-815A-5DDA-5E4B-6789CA4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A6EA0308-12B1-3EB3-3907-EF3F7AAC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A8F3A92-6AB1-2F62-4BBD-D41DC891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03A31CF4-50B7-629F-B52C-50EA5006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7EAAE9-3BF6-0C31-F5C4-2C0F97DA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2FE5966-D775-3B11-7827-48722D247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DEA5970-F6FB-6FA9-E48E-0B51FBC5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A53554F-80D1-21F4-9987-92A6A1237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59C2B-F7FC-894A-A5CE-3A355566020C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FD8F56-330C-0DFF-7EA5-ECA50C868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A3548D-F7D7-5837-C8A5-0A9C5809F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37D6A2-E719-6297-E26C-3BF9C2C24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7A2BB-1426-7940-AF0E-EE4E29273AE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1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73A563-6027-417E-CA97-E19B258A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E5D0DD-E42A-76B8-C2FB-2D2A9B01A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3B55BA-0823-B634-AC39-EEEA7AF4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DBACB-E365-024E-8DDD-EE008340169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2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F66DE-EDD0-F0F2-8577-76FAE7590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92FEB-B604-47A1-0075-C41AD5318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3D859C-9F71-8DF9-FBB4-1C0445764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2A83B4-F1DF-4E4F-AFF4-9C3CF4F2EE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0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7D42D32-0621-8886-9371-F7120B9B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B44152-4BA3-7266-A04B-D335016E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B95D3AC-EBB1-FA5C-DF4C-D37CFABE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AD412-AFBC-C94F-B6D8-900608A6D28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6213C-10B3-BEF7-3A61-E42ED37B6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E22DD4-22EB-98B3-FE75-208718E6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96E866-9E98-E4BA-F841-51305A0EE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9F61-55F9-6F4A-8175-A32FE726ADB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441F79-35C1-AFF2-0708-F85EC7AD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000A7E-D812-EDF3-0364-49AD895A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B2BA7C5-B5D6-6375-8DB4-0A1D52B9B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88D2-B4F4-C54E-A11C-7867C43B62F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04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1E842-7E67-81CD-A5D3-D9B08709E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25817-0234-9637-49C9-4232ADCFA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8BFAF4-2AF6-18D4-2785-20165B45B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7342-6BA4-894D-B109-9E49F17A1124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FEF3A-02C8-DD78-F338-9F2A34E15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638AD8-6FF8-D888-FB09-9C37E1681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D5E3C-2ACF-28C6-DBA0-AFB717CF2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C580-8BE5-F743-8E8E-F69DF682E6D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3BF3F4-009A-DDD1-8C88-42798690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AA62B-33A2-4415-863C-046DB60A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43B5BA7-12E7-1A57-C171-35598BC01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3340D-9F62-2745-A3EF-6420F06DF7CE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EC48A-2092-7B54-D2AA-889BA9C6A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9B5314-B07B-4F0A-2AD8-CB77E4295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C837E0-0F2D-0A1C-0E2C-402978B1A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C9615-8AFF-D943-AC5A-34CC66FE437F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2">
            <a:extLst>
              <a:ext uri="{FF2B5EF4-FFF2-40B4-BE49-F238E27FC236}">
                <a16:creationId xmlns:a16="http://schemas.microsoft.com/office/drawing/2014/main" id="{540C9EE9-F88F-0FCE-D63A-BD6403DA7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D8BF64B-CABB-23F6-B464-30E708F6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757F452-E11B-F73F-9D31-9E64F7BC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6E10625-B6F2-4C53-9CCC-6419A01A34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C7332706-7FFA-54A1-EC44-C94B73721F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0C95B491-8644-1183-0E63-D7A1B6E66B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B36E27F-A467-C343-A682-197048FF27E3}" type="slidenum">
              <a:rPr lang="en-US" altLang="en-US"/>
              <a:pPr/>
              <a:t>‹N›</a:t>
            </a:fld>
            <a:endParaRPr lang="en-US" altLang="en-US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7E611C9-A6DF-E642-A92D-7350DE5CB4E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26985" name="Oval 9">
              <a:extLst>
                <a:ext uri="{FF2B5EF4-FFF2-40B4-BE49-F238E27FC236}">
                  <a16:creationId xmlns:a16="http://schemas.microsoft.com/office/drawing/2014/main" id="{458D5DA2-D63A-BCA2-4131-9337A9F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6" name="Oval 10">
              <a:extLst>
                <a:ext uri="{FF2B5EF4-FFF2-40B4-BE49-F238E27FC236}">
                  <a16:creationId xmlns:a16="http://schemas.microsoft.com/office/drawing/2014/main" id="{8890EB0F-7369-8915-F4A5-1ABAFF6D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7" name="Oval 11">
              <a:extLst>
                <a:ext uri="{FF2B5EF4-FFF2-40B4-BE49-F238E27FC236}">
                  <a16:creationId xmlns:a16="http://schemas.microsoft.com/office/drawing/2014/main" id="{E4F63A04-47F0-7C06-3808-CB8141CE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8" name="Oval 12">
              <a:extLst>
                <a:ext uri="{FF2B5EF4-FFF2-40B4-BE49-F238E27FC236}">
                  <a16:creationId xmlns:a16="http://schemas.microsoft.com/office/drawing/2014/main" id="{CBD03CE4-70F6-E7AF-484F-7B3A19CDC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9" name="Oval 13">
              <a:extLst>
                <a:ext uri="{FF2B5EF4-FFF2-40B4-BE49-F238E27FC236}">
                  <a16:creationId xmlns:a16="http://schemas.microsoft.com/office/drawing/2014/main" id="{122C697E-12A5-96C9-3160-E711DA98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0" name="Oval 14">
              <a:extLst>
                <a:ext uri="{FF2B5EF4-FFF2-40B4-BE49-F238E27FC236}">
                  <a16:creationId xmlns:a16="http://schemas.microsoft.com/office/drawing/2014/main" id="{3582F47B-BA78-75EC-BA11-733D26F1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1" name="Oval 15">
              <a:extLst>
                <a:ext uri="{FF2B5EF4-FFF2-40B4-BE49-F238E27FC236}">
                  <a16:creationId xmlns:a16="http://schemas.microsoft.com/office/drawing/2014/main" id="{E4A13053-C19F-F749-4FC6-0834BB3E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2" name="Oval 16">
              <a:extLst>
                <a:ext uri="{FF2B5EF4-FFF2-40B4-BE49-F238E27FC236}">
                  <a16:creationId xmlns:a16="http://schemas.microsoft.com/office/drawing/2014/main" id="{F39340F1-2AD8-DD98-83D4-1A092CD3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3" name="Oval 17">
              <a:extLst>
                <a:ext uri="{FF2B5EF4-FFF2-40B4-BE49-F238E27FC236}">
                  <a16:creationId xmlns:a16="http://schemas.microsoft.com/office/drawing/2014/main" id="{B294C5ED-458D-6FC0-9242-727420D4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4" name="Oval 18">
              <a:extLst>
                <a:ext uri="{FF2B5EF4-FFF2-40B4-BE49-F238E27FC236}">
                  <a16:creationId xmlns:a16="http://schemas.microsoft.com/office/drawing/2014/main" id="{3ADB9F1A-BAEB-E633-420A-C49EEBFD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5" name="Oval 19">
              <a:extLst>
                <a:ext uri="{FF2B5EF4-FFF2-40B4-BE49-F238E27FC236}">
                  <a16:creationId xmlns:a16="http://schemas.microsoft.com/office/drawing/2014/main" id="{4D7FD144-559C-A9A8-B783-6F3C8C1A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6" name="Oval 20">
              <a:extLst>
                <a:ext uri="{FF2B5EF4-FFF2-40B4-BE49-F238E27FC236}">
                  <a16:creationId xmlns:a16="http://schemas.microsoft.com/office/drawing/2014/main" id="{598E7249-26AB-193F-D1E8-83E0BB4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7" name="Oval 21">
              <a:extLst>
                <a:ext uri="{FF2B5EF4-FFF2-40B4-BE49-F238E27FC236}">
                  <a16:creationId xmlns:a16="http://schemas.microsoft.com/office/drawing/2014/main" id="{9C12A3DE-C91F-BC4E-628C-84B97915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8" name="Oval 22">
              <a:extLst>
                <a:ext uri="{FF2B5EF4-FFF2-40B4-BE49-F238E27FC236}">
                  <a16:creationId xmlns:a16="http://schemas.microsoft.com/office/drawing/2014/main" id="{8BC5A21A-9F25-DAB9-43EB-B51E736A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9" name="Oval 23">
              <a:extLst>
                <a:ext uri="{FF2B5EF4-FFF2-40B4-BE49-F238E27FC236}">
                  <a16:creationId xmlns:a16="http://schemas.microsoft.com/office/drawing/2014/main" id="{7F64B40F-951B-2C62-6BCE-9ED069F2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0" name="Oval 24">
              <a:extLst>
                <a:ext uri="{FF2B5EF4-FFF2-40B4-BE49-F238E27FC236}">
                  <a16:creationId xmlns:a16="http://schemas.microsoft.com/office/drawing/2014/main" id="{CA178D50-6275-0362-E00C-1CA73A48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1" name="Oval 25">
              <a:extLst>
                <a:ext uri="{FF2B5EF4-FFF2-40B4-BE49-F238E27FC236}">
                  <a16:creationId xmlns:a16="http://schemas.microsoft.com/office/drawing/2014/main" id="{281982FD-F23F-8D3A-3E1C-E1DD238A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2" name="Oval 26">
              <a:extLst>
                <a:ext uri="{FF2B5EF4-FFF2-40B4-BE49-F238E27FC236}">
                  <a16:creationId xmlns:a16="http://schemas.microsoft.com/office/drawing/2014/main" id="{C8D7E381-17EC-2A89-CD07-B648B12E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3" name="Oval 27">
              <a:extLst>
                <a:ext uri="{FF2B5EF4-FFF2-40B4-BE49-F238E27FC236}">
                  <a16:creationId xmlns:a16="http://schemas.microsoft.com/office/drawing/2014/main" id="{32DD81C6-B5B4-9147-3851-21E28114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4" name="Oval 28">
              <a:extLst>
                <a:ext uri="{FF2B5EF4-FFF2-40B4-BE49-F238E27FC236}">
                  <a16:creationId xmlns:a16="http://schemas.microsoft.com/office/drawing/2014/main" id="{72A66D00-BE9F-69EA-1631-391C47D4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5" name="Oval 29">
              <a:extLst>
                <a:ext uri="{FF2B5EF4-FFF2-40B4-BE49-F238E27FC236}">
                  <a16:creationId xmlns:a16="http://schemas.microsoft.com/office/drawing/2014/main" id="{4C144CCF-2806-BF73-1213-3BD291D6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6" name="Oval 30">
              <a:extLst>
                <a:ext uri="{FF2B5EF4-FFF2-40B4-BE49-F238E27FC236}">
                  <a16:creationId xmlns:a16="http://schemas.microsoft.com/office/drawing/2014/main" id="{158CC9C8-184C-9D09-DC3D-D6F8628B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7" name="Oval 31">
              <a:extLst>
                <a:ext uri="{FF2B5EF4-FFF2-40B4-BE49-F238E27FC236}">
                  <a16:creationId xmlns:a16="http://schemas.microsoft.com/office/drawing/2014/main" id="{A2309C93-ECEF-5DD8-56EA-69EB76E34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8" name="Oval 32">
              <a:extLst>
                <a:ext uri="{FF2B5EF4-FFF2-40B4-BE49-F238E27FC236}">
                  <a16:creationId xmlns:a16="http://schemas.microsoft.com/office/drawing/2014/main" id="{1EE4CEBC-BED7-E548-7FD1-EA40731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9" name="Oval 33">
              <a:extLst>
                <a:ext uri="{FF2B5EF4-FFF2-40B4-BE49-F238E27FC236}">
                  <a16:creationId xmlns:a16="http://schemas.microsoft.com/office/drawing/2014/main" id="{15ADF64A-190F-BB60-3CCD-4BE3E5B73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0" name="Oval 34">
              <a:extLst>
                <a:ext uri="{FF2B5EF4-FFF2-40B4-BE49-F238E27FC236}">
                  <a16:creationId xmlns:a16="http://schemas.microsoft.com/office/drawing/2014/main" id="{C7D2FB20-9F35-8F71-8BD9-786281D1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1" name="Oval 35">
              <a:extLst>
                <a:ext uri="{FF2B5EF4-FFF2-40B4-BE49-F238E27FC236}">
                  <a16:creationId xmlns:a16="http://schemas.microsoft.com/office/drawing/2014/main" id="{5890642F-1E56-8F36-DBB7-B71269DE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2" name="Oval 36">
              <a:extLst>
                <a:ext uri="{FF2B5EF4-FFF2-40B4-BE49-F238E27FC236}">
                  <a16:creationId xmlns:a16="http://schemas.microsoft.com/office/drawing/2014/main" id="{5F10B179-9CAF-6B7F-6F27-C4938A33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3" name="Oval 37">
              <a:extLst>
                <a:ext uri="{FF2B5EF4-FFF2-40B4-BE49-F238E27FC236}">
                  <a16:creationId xmlns:a16="http://schemas.microsoft.com/office/drawing/2014/main" id="{DACD2D39-EA14-9019-44C2-236A45B6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4" name="Oval 38">
              <a:extLst>
                <a:ext uri="{FF2B5EF4-FFF2-40B4-BE49-F238E27FC236}">
                  <a16:creationId xmlns:a16="http://schemas.microsoft.com/office/drawing/2014/main" id="{0BE3EBF9-755C-1F41-6924-622E229F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5" name="Oval 39">
              <a:extLst>
                <a:ext uri="{FF2B5EF4-FFF2-40B4-BE49-F238E27FC236}">
                  <a16:creationId xmlns:a16="http://schemas.microsoft.com/office/drawing/2014/main" id="{B69D5D9E-9F51-7F63-AD38-956B5A99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 dirty="0">
                <a:latin typeface="Times New Roman" pitchFamily="18" charset="0"/>
              </a:rPr>
            </a:br>
            <a:r>
              <a:rPr lang="en-US" altLang="it-IT" sz="4000" dirty="0">
                <a:latin typeface="Times New Roman" pitchFamily="18" charset="0"/>
              </a:rPr>
              <a:t> Corso di </a:t>
            </a:r>
            <a:r>
              <a:rPr lang="en-US" altLang="it-IT" sz="4000" dirty="0" err="1">
                <a:latin typeface="Times New Roman" pitchFamily="18" charset="0"/>
              </a:rPr>
              <a:t>Programmazione</a:t>
            </a:r>
            <a:endParaRPr lang="en-US" altLang="it-IT" sz="4000" b="0" i="1" dirty="0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it-IT" altLang="it-IT" sz="3600" b="1" i="1" dirty="0" err="1">
                <a:latin typeface="Times New Roman" pitchFamily="18" charset="0"/>
              </a:rPr>
              <a:t>String</a:t>
            </a:r>
            <a:r>
              <a:rPr lang="it-IT" altLang="it-IT" sz="3600" b="1" i="1" dirty="0">
                <a:latin typeface="Times New Roman" pitchFamily="18" charset="0"/>
              </a:rPr>
              <a:t> e </a:t>
            </a:r>
            <a:r>
              <a:rPr lang="it-IT" altLang="it-IT" sz="3600" b="1" i="1" dirty="0" err="1">
                <a:latin typeface="Times New Roman" pitchFamily="18" charset="0"/>
              </a:rPr>
              <a:t>StringBuilder</a:t>
            </a:r>
            <a:endParaRPr lang="it-IT" altLang="it-IT" sz="3600" b="1" i="1" dirty="0">
              <a:latin typeface="Times New Roman" pitchFamily="18" charset="0"/>
            </a:endParaRP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/>
              <a:t>Università di Napoli Federico II - </a:t>
            </a:r>
            <a:r>
              <a:rPr lang="en-GB" altLang="it-IT" sz="1200"/>
              <a:t>Dip. di </a:t>
            </a:r>
            <a:r>
              <a:rPr lang="en-GB" altLang="it-IT" sz="1200" err="1"/>
              <a:t>Ingegneria</a:t>
            </a:r>
            <a:r>
              <a:rPr lang="en-GB" altLang="it-IT" sz="1200"/>
              <a:t> </a:t>
            </a:r>
            <a:r>
              <a:rPr lang="en-GB" altLang="it-IT" sz="1200" err="1"/>
              <a:t>Elettrica</a:t>
            </a:r>
            <a:r>
              <a:rPr lang="en-GB" altLang="it-IT" sz="1200"/>
              <a:t> e </a:t>
            </a:r>
            <a:r>
              <a:rPr lang="en-GB" altLang="it-IT" sz="1200" err="1"/>
              <a:t>delle</a:t>
            </a:r>
            <a:r>
              <a:rPr lang="en-GB" altLang="it-IT" sz="1200"/>
              <a:t> </a:t>
            </a:r>
            <a:r>
              <a:rPr lang="en-GB" altLang="it-IT" sz="1200" err="1"/>
              <a:t>Tecnologie</a:t>
            </a:r>
            <a:r>
              <a:rPr lang="en-GB" altLang="it-IT" sz="1200"/>
              <a:t> </a:t>
            </a:r>
            <a:r>
              <a:rPr lang="en-GB" altLang="it-IT" sz="1200" err="1"/>
              <a:t>dell’Informazione</a:t>
            </a:r>
            <a:r>
              <a:rPr lang="en-GB" altLang="it-IT" sz="1200"/>
              <a:t> </a:t>
            </a:r>
          </a:p>
          <a:p>
            <a:pPr eaLnBrk="1" hangingPunct="1"/>
            <a:r>
              <a:rPr lang="it-IT" altLang="it-IT" sz="1200"/>
              <a:t>Corso di Laurea in Ingegneria Informatica</a:t>
            </a:r>
            <a:endParaRPr lang="en-US" altLang="it-IT" sz="120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33EB06-159B-D597-E389-9DC1A16B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Lavorare con le stringhe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D1466F-C6EF-81D7-B79E-13DD8D7DE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Le tecniche di manipolazione e gestione delle stringhe sono adatte per </a:t>
            </a:r>
          </a:p>
          <a:p>
            <a:pPr lvl="1"/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validare input dei programmi, </a:t>
            </a:r>
          </a:p>
          <a:p>
            <a:pPr lvl="1"/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visualizzare informazioni per gli utenti </a:t>
            </a:r>
          </a:p>
          <a:p>
            <a:pPr lvl="1"/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eseguire altre manipolazioni basate sul testo, oltre che</a:t>
            </a:r>
          </a:p>
          <a:p>
            <a:pPr lvl="2"/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sviluppare editor di testo, elaboratori di testo, software di impaginazione e in generale software per lavorare con il testo. 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3790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61B0D1-5EDE-410F-0AB0-C3BFD22B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Stringhe di caratteri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702EE0-6387-27BD-4055-34C1FD01E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5029888"/>
          </a:xfrm>
        </p:spPr>
        <p:txBody>
          <a:bodyPr/>
          <a:lstStyle/>
          <a:p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Una stringa è una sequenza di caratteri trattata come un’unica entità.</a:t>
            </a:r>
            <a:r>
              <a:rPr lang="it-IT" sz="2400" dirty="0">
                <a:solidFill>
                  <a:srgbClr val="333333"/>
                </a:solidFill>
                <a:latin typeface="system-ui"/>
              </a:rPr>
              <a:t> </a:t>
            </a:r>
            <a:endParaRPr lang="it-IT" sz="2400" b="0" i="0" dirty="0">
              <a:solidFill>
                <a:srgbClr val="333333"/>
              </a:solidFill>
              <a:effectLst/>
              <a:latin typeface="system-ui"/>
            </a:endParaRPr>
          </a:p>
          <a:p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Una stringa può includere lettere, cifre e </a:t>
            </a:r>
            <a:r>
              <a:rPr lang="it-IT" sz="2400" b="1" i="0" dirty="0">
                <a:solidFill>
                  <a:srgbClr val="333333"/>
                </a:solidFill>
                <a:effectLst/>
                <a:latin typeface="system-ui"/>
              </a:rPr>
              <a:t>caratteri speciali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, come </a:t>
            </a:r>
            <a:r>
              <a:rPr lang="it-IT" sz="2400" dirty="0"/>
              <a:t>+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sz="2400" dirty="0"/>
              <a:t>-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sz="2400" dirty="0"/>
              <a:t>*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sz="2400" dirty="0"/>
              <a:t>/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 e </a:t>
            </a:r>
            <a:r>
              <a:rPr lang="it-IT" sz="2400" dirty="0"/>
              <a:t>$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Una stringa è un oggetto di classe </a:t>
            </a:r>
            <a:r>
              <a:rPr lang="it-IT" sz="2400" dirty="0" err="1"/>
              <a:t>String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.</a:t>
            </a:r>
          </a:p>
          <a:p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Gli oggetti memorizzati  </a:t>
            </a:r>
            <a:r>
              <a:rPr lang="it-IT" sz="2400" dirty="0" err="1"/>
              <a:t>String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 possono essere scritti come sequenze di caratteri tra apici doppi, come per esempio:</a:t>
            </a:r>
          </a:p>
          <a:p>
            <a:pPr lvl="1" indent="-347345"/>
            <a:endParaRPr lang="it-IT" dirty="0">
              <a:cs typeface="Arial"/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187BCBC-DDA4-3FD9-9A2A-500B4CEA9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59439"/>
              </p:ext>
            </p:extLst>
          </p:nvPr>
        </p:nvGraphicFramePr>
        <p:xfrm>
          <a:off x="563671" y="4844042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00268659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835036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it-IT" dirty="0">
                          <a:effectLst/>
                        </a:rPr>
                        <a:t>"Diego Maradona"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>
                          <a:effectLst/>
                        </a:rPr>
                        <a:t>(un nome)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714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it-IT" dirty="0">
                          <a:effectLst/>
                        </a:rPr>
                        <a:t>"Via Claudio, 21"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>
                          <a:effectLst/>
                        </a:rPr>
                        <a:t>(un indirizzo)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095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it-IT" dirty="0">
                          <a:effectLst/>
                        </a:rPr>
                        <a:t>"Napoli, Italia"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>
                          <a:effectLst/>
                        </a:rPr>
                        <a:t>(una città e uno stato)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188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it-IT" dirty="0">
                          <a:effectLst/>
                        </a:rPr>
                        <a:t>"(+39) 081-121212"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it-IT" dirty="0">
                          <a:effectLst/>
                        </a:rPr>
                        <a:t>(un numero di telefono)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917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82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B0171D-2697-EF74-B18B-9B6EA7AD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Ancora su letterali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CCA7A2-8A97-05B1-45DB-15CDA2150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Un letterale stringa può essere associato a un riferimento </a:t>
            </a:r>
            <a:r>
              <a:rPr lang="it-IT" b="0" i="0" err="1">
                <a:solidFill>
                  <a:srgbClr val="333333"/>
                </a:solidFill>
                <a:effectLst/>
                <a:latin typeface="system-ui"/>
              </a:rPr>
              <a:t>String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La dichiarazione</a:t>
            </a:r>
          </a:p>
          <a:p>
            <a:pPr lvl="1"/>
            <a:r>
              <a:rPr lang="it-IT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colore = "azzurro";</a:t>
            </a:r>
          </a:p>
          <a:p>
            <a:pPr marL="0" indent="0" algn="l">
              <a:buNone/>
            </a:pP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	inizializza la variabile colore di tipo </a:t>
            </a:r>
            <a:r>
              <a:rPr lang="it-IT" b="0" i="0" err="1">
                <a:solidFill>
                  <a:srgbClr val="333333"/>
                </a:solidFill>
                <a:effectLst/>
                <a:latin typeface="system-ui"/>
              </a:rPr>
              <a:t>String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per 	fare riferimento a un oggetto </a:t>
            </a:r>
            <a:r>
              <a:rPr lang="it-IT" b="0" i="0" err="1">
                <a:solidFill>
                  <a:srgbClr val="333333"/>
                </a:solidFill>
                <a:effectLst/>
                <a:latin typeface="system-ui"/>
              </a:rPr>
              <a:t>String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che 	contiene la stringa "azzurro".</a:t>
            </a:r>
          </a:p>
          <a:p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Per risparmiare spazio di memoria, Java tratta tutti i letterali stringa aventi il medesimo contenuto come un unico oggetto </a:t>
            </a:r>
            <a:r>
              <a:rPr lang="it-IT" b="0" i="1" err="1">
                <a:solidFill>
                  <a:srgbClr val="333333"/>
                </a:solidFill>
                <a:effectLst/>
                <a:latin typeface="system-ui"/>
              </a:rPr>
              <a:t>String</a:t>
            </a:r>
            <a:r>
              <a:rPr lang="it-IT" b="0" i="1">
                <a:solidFill>
                  <a:srgbClr val="333333"/>
                </a:solidFill>
                <a:effectLst/>
                <a:latin typeface="system-ui"/>
              </a:rPr>
              <a:t> con più riferimenti.</a:t>
            </a:r>
            <a:endParaRPr lang="it-IT" b="0" i="0">
              <a:solidFill>
                <a:srgbClr val="333333"/>
              </a:solidFill>
              <a:effectLst/>
              <a:latin typeface="system-ui"/>
            </a:endParaRP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03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382B75-943C-6743-DA04-80044C665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Costruttori di Stringa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0D4511-3C20-C8C9-0FB3-4B11DE639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La classe </a:t>
            </a:r>
            <a:r>
              <a:rPr lang="it-IT" err="1"/>
              <a:t>String</a:t>
            </a:r>
            <a:r>
              <a:rPr lang="it-IT"/>
              <a:t> è utilizzata in Java per rappresentare stringhe. </a:t>
            </a:r>
          </a:p>
          <a:p>
            <a:r>
              <a:rPr lang="it-IT"/>
              <a:t>La classe </a:t>
            </a:r>
            <a:r>
              <a:rPr lang="it-IT" err="1"/>
              <a:t>String</a:t>
            </a:r>
            <a:r>
              <a:rPr lang="it-IT"/>
              <a:t> fornisce costruttori per inizializzare gli oggetti </a:t>
            </a:r>
            <a:r>
              <a:rPr lang="it-IT" err="1"/>
              <a:t>String</a:t>
            </a:r>
            <a:r>
              <a:rPr lang="it-IT"/>
              <a:t> in molti modi diversi.</a:t>
            </a:r>
          </a:p>
        </p:txBody>
      </p:sp>
    </p:spTree>
    <p:extLst>
      <p:ext uri="{BB962C8B-B14F-4D97-AF65-F5344CB8AC3E}">
        <p14:creationId xmlns:p14="http://schemas.microsoft.com/office/powerpoint/2010/main" val="262889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DD2FEF-FFCE-875E-7968-E01C3928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Esempi di costruttori di </a:t>
            </a:r>
            <a:r>
              <a:rPr lang="it-IT" err="1"/>
              <a:t>String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5742324-8C91-BF64-D5B0-E80A21BC74EF}"/>
              </a:ext>
            </a:extLst>
          </p:cNvPr>
          <p:cNvSpPr txBox="1"/>
          <p:nvPr/>
        </p:nvSpPr>
        <p:spPr>
          <a:xfrm>
            <a:off x="161764" y="1413261"/>
            <a:ext cx="8820472" cy="369331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dirty="0">
                <a:latin typeface="Courier" pitchFamily="2" charset="0"/>
              </a:rPr>
              <a:t>public </a:t>
            </a:r>
            <a:r>
              <a:rPr lang="it-IT" dirty="0" err="1">
                <a:latin typeface="Courier" pitchFamily="2" charset="0"/>
              </a:rPr>
              <a:t>static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void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main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[] </a:t>
            </a:r>
            <a:r>
              <a:rPr lang="it-IT" dirty="0" err="1">
                <a:latin typeface="Courier" pitchFamily="2" charset="0"/>
              </a:rPr>
              <a:t>args</a:t>
            </a:r>
            <a:r>
              <a:rPr lang="it-IT" dirty="0">
                <a:latin typeface="Courier" pitchFamily="2" charset="0"/>
              </a:rPr>
              <a:t>) {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char</a:t>
            </a:r>
            <a:r>
              <a:rPr lang="it-IT" dirty="0">
                <a:latin typeface="Courier" pitchFamily="2" charset="0"/>
              </a:rPr>
              <a:t>[] </a:t>
            </a:r>
            <a:r>
              <a:rPr lang="it-IT" dirty="0" err="1">
                <a:latin typeface="Courier" pitchFamily="2" charset="0"/>
              </a:rPr>
              <a:t>charArray</a:t>
            </a:r>
            <a:r>
              <a:rPr lang="it-IT" dirty="0">
                <a:latin typeface="Courier" pitchFamily="2" charset="0"/>
              </a:rPr>
              <a:t> = {'b', 'i', '</a:t>
            </a:r>
            <a:r>
              <a:rPr lang="it-IT" dirty="0" err="1">
                <a:latin typeface="Courier" pitchFamily="2" charset="0"/>
              </a:rPr>
              <a:t>r</a:t>
            </a:r>
            <a:r>
              <a:rPr lang="it-IT" dirty="0">
                <a:latin typeface="Courier" pitchFamily="2" charset="0"/>
              </a:rPr>
              <a:t>', 't', 'h', ' ', 'd', 'a', 'y'};</a:t>
            </a:r>
          </a:p>
          <a:p>
            <a:r>
              <a:rPr lang="it-IT" dirty="0">
                <a:latin typeface="Courier" pitchFamily="2" charset="0"/>
              </a:rPr>
              <a:t> 	  // usa costruttori </a:t>
            </a:r>
            <a:r>
              <a:rPr lang="it-IT" dirty="0" err="1">
                <a:latin typeface="Courier" pitchFamily="2" charset="0"/>
              </a:rPr>
              <a:t>String</a:t>
            </a:r>
            <a:endParaRPr lang="it-IT" dirty="0">
              <a:latin typeface="Courier" pitchFamily="2" charset="0"/>
            </a:endParaRPr>
          </a:p>
          <a:p>
            <a:r>
              <a:rPr lang="it-IT" dirty="0">
                <a:latin typeface="Courier" pitchFamily="2" charset="0"/>
              </a:rPr>
              <a:t> 	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s</a:t>
            </a:r>
            <a:r>
              <a:rPr lang="it-IT" dirty="0">
                <a:latin typeface="Courier" pitchFamily="2" charset="0"/>
              </a:rPr>
              <a:t>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("hello");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s1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s2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s</a:t>
            </a:r>
            <a:r>
              <a:rPr lang="it-IT" dirty="0">
                <a:latin typeface="Courier" pitchFamily="2" charset="0"/>
              </a:rPr>
              <a:t>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s3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charArray</a:t>
            </a:r>
            <a:r>
              <a:rPr lang="it-IT" dirty="0">
                <a:latin typeface="Courier" pitchFamily="2" charset="0"/>
              </a:rPr>
              <a:t>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s4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charArray</a:t>
            </a:r>
            <a:r>
              <a:rPr lang="it-IT" dirty="0">
                <a:latin typeface="Courier" pitchFamily="2" charset="0"/>
              </a:rPr>
              <a:t>, 6, 3);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System.out.printf</a:t>
            </a:r>
            <a:r>
              <a:rPr lang="it-IT" dirty="0">
                <a:latin typeface="Courier" pitchFamily="2" charset="0"/>
              </a:rPr>
              <a:t>(</a:t>
            </a:r>
          </a:p>
          <a:p>
            <a:r>
              <a:rPr lang="it-IT" dirty="0">
                <a:latin typeface="Courier" pitchFamily="2" charset="0"/>
              </a:rPr>
              <a:t>       "s1 = %s%ns2 = %s%ns3 = %s%ns4 = %</a:t>
            </a:r>
            <a:r>
              <a:rPr lang="it-IT" dirty="0" err="1">
                <a:latin typeface="Courier" pitchFamily="2" charset="0"/>
              </a:rPr>
              <a:t>s%n</a:t>
            </a:r>
            <a:r>
              <a:rPr lang="it-IT" dirty="0">
                <a:latin typeface="Courier" pitchFamily="2" charset="0"/>
              </a:rPr>
              <a:t>", s1, s2, s3, s4);</a:t>
            </a:r>
          </a:p>
          <a:p>
            <a:r>
              <a:rPr lang="it-IT" dirty="0">
                <a:latin typeface="Courier" pitchFamily="2" charset="0"/>
              </a:rPr>
              <a:t>    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0B6FA17-3867-7F05-C24E-34573C6F0D37}"/>
              </a:ext>
            </a:extLst>
          </p:cNvPr>
          <p:cNvSpPr txBox="1"/>
          <p:nvPr/>
        </p:nvSpPr>
        <p:spPr>
          <a:xfrm>
            <a:off x="164714" y="5535433"/>
            <a:ext cx="2535078" cy="120032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s1 =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s2 = hello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s3 = </a:t>
            </a:r>
            <a:r>
              <a:rPr lang="it-IT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birth</a:t>
            </a:r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day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s4 = day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E927409-70AF-1544-FD2C-3970430C26A0}"/>
              </a:ext>
            </a:extLst>
          </p:cNvPr>
          <p:cNvSpPr txBox="1"/>
          <p:nvPr/>
        </p:nvSpPr>
        <p:spPr>
          <a:xfrm>
            <a:off x="2195736" y="5445224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29772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3982-192F-4556-8501-8F0E8C940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00AC1E-175A-6897-6BFB-F9A4D8A2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Esempi di costruttori di </a:t>
            </a:r>
            <a:r>
              <a:rPr lang="it-IT" err="1"/>
              <a:t>String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39A0FA8-4BFD-CC9A-4813-5D8611BB6A94}"/>
              </a:ext>
            </a:extLst>
          </p:cNvPr>
          <p:cNvSpPr txBox="1"/>
          <p:nvPr/>
        </p:nvSpPr>
        <p:spPr>
          <a:xfrm>
            <a:off x="161764" y="1413261"/>
            <a:ext cx="8820472" cy="369331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dirty="0">
                <a:latin typeface="Courier" pitchFamily="2" charset="0"/>
              </a:rPr>
              <a:t>public </a:t>
            </a:r>
            <a:r>
              <a:rPr lang="it-IT" dirty="0" err="1">
                <a:latin typeface="Courier" pitchFamily="2" charset="0"/>
              </a:rPr>
              <a:t>static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void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main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[] </a:t>
            </a:r>
            <a:r>
              <a:rPr lang="it-IT" dirty="0" err="1">
                <a:latin typeface="Courier" pitchFamily="2" charset="0"/>
              </a:rPr>
              <a:t>args</a:t>
            </a:r>
            <a:r>
              <a:rPr lang="it-IT" dirty="0">
                <a:latin typeface="Courier" pitchFamily="2" charset="0"/>
              </a:rPr>
              <a:t>) {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char</a:t>
            </a:r>
            <a:r>
              <a:rPr lang="it-IT" dirty="0">
                <a:latin typeface="Courier" pitchFamily="2" charset="0"/>
              </a:rPr>
              <a:t>[] </a:t>
            </a:r>
            <a:r>
              <a:rPr lang="it-IT" dirty="0" err="1">
                <a:latin typeface="Courier" pitchFamily="2" charset="0"/>
              </a:rPr>
              <a:t>charArray</a:t>
            </a:r>
            <a:r>
              <a:rPr lang="it-IT" dirty="0">
                <a:latin typeface="Courier" pitchFamily="2" charset="0"/>
              </a:rPr>
              <a:t> = {'b', 'i', '</a:t>
            </a:r>
            <a:r>
              <a:rPr lang="it-IT" dirty="0" err="1">
                <a:latin typeface="Courier" pitchFamily="2" charset="0"/>
              </a:rPr>
              <a:t>r</a:t>
            </a:r>
            <a:r>
              <a:rPr lang="it-IT" dirty="0">
                <a:latin typeface="Courier" pitchFamily="2" charset="0"/>
              </a:rPr>
              <a:t>', 't', 'h', ' ', 'd', 'a', 'y'};</a:t>
            </a:r>
          </a:p>
          <a:p>
            <a:r>
              <a:rPr lang="it-IT" dirty="0">
                <a:latin typeface="Courier" pitchFamily="2" charset="0"/>
              </a:rPr>
              <a:t> 	  // usa costruttori </a:t>
            </a:r>
            <a:r>
              <a:rPr lang="it-IT" dirty="0" err="1">
                <a:latin typeface="Courier" pitchFamily="2" charset="0"/>
              </a:rPr>
              <a:t>String</a:t>
            </a:r>
            <a:endParaRPr lang="it-IT" dirty="0">
              <a:latin typeface="Courier" pitchFamily="2" charset="0"/>
            </a:endParaRPr>
          </a:p>
          <a:p>
            <a:r>
              <a:rPr lang="it-IT" dirty="0">
                <a:latin typeface="Courier" pitchFamily="2" charset="0"/>
              </a:rPr>
              <a:t> 	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highlight>
                  <a:srgbClr val="FFFF00"/>
                </a:highlight>
                <a:latin typeface="Courier" pitchFamily="2" charset="0"/>
              </a:rPr>
              <a:t>String</a:t>
            </a:r>
            <a:r>
              <a:rPr lang="it-IT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it-IT" dirty="0" err="1">
                <a:highlight>
                  <a:srgbClr val="FFFF00"/>
                </a:highlight>
                <a:latin typeface="Courier" pitchFamily="2" charset="0"/>
              </a:rPr>
              <a:t>s</a:t>
            </a:r>
            <a:r>
              <a:rPr lang="it-IT" dirty="0">
                <a:highlight>
                  <a:srgbClr val="FFFF00"/>
                </a:highlight>
                <a:latin typeface="Courier" pitchFamily="2" charset="0"/>
              </a:rPr>
              <a:t> = new </a:t>
            </a:r>
            <a:r>
              <a:rPr lang="it-IT" dirty="0" err="1">
                <a:highlight>
                  <a:srgbClr val="FFFF00"/>
                </a:highlight>
                <a:latin typeface="Courier" pitchFamily="2" charset="0"/>
              </a:rPr>
              <a:t>String</a:t>
            </a:r>
            <a:r>
              <a:rPr lang="it-IT" dirty="0">
                <a:highlight>
                  <a:srgbClr val="FFFF00"/>
                </a:highlight>
                <a:latin typeface="Courier" pitchFamily="2" charset="0"/>
              </a:rPr>
              <a:t>("hello");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s1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s2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s</a:t>
            </a:r>
            <a:r>
              <a:rPr lang="it-IT" dirty="0">
                <a:latin typeface="Courier" pitchFamily="2" charset="0"/>
              </a:rPr>
              <a:t>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s3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charArray</a:t>
            </a:r>
            <a:r>
              <a:rPr lang="it-IT" dirty="0">
                <a:latin typeface="Courier" pitchFamily="2" charset="0"/>
              </a:rPr>
              <a:t>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s4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charArray</a:t>
            </a:r>
            <a:r>
              <a:rPr lang="it-IT" dirty="0">
                <a:latin typeface="Courier" pitchFamily="2" charset="0"/>
              </a:rPr>
              <a:t>, 6, 3);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System.out.printf</a:t>
            </a:r>
            <a:r>
              <a:rPr lang="it-IT" dirty="0">
                <a:latin typeface="Courier" pitchFamily="2" charset="0"/>
              </a:rPr>
              <a:t>(</a:t>
            </a:r>
          </a:p>
          <a:p>
            <a:r>
              <a:rPr lang="it-IT" dirty="0">
                <a:latin typeface="Courier" pitchFamily="2" charset="0"/>
              </a:rPr>
              <a:t>       "s1 = %s%ns2 = %s%ns3 = %s%ns4 = %</a:t>
            </a:r>
            <a:r>
              <a:rPr lang="it-IT" dirty="0" err="1">
                <a:latin typeface="Courier" pitchFamily="2" charset="0"/>
              </a:rPr>
              <a:t>s%n</a:t>
            </a:r>
            <a:r>
              <a:rPr lang="it-IT" dirty="0">
                <a:latin typeface="Courier" pitchFamily="2" charset="0"/>
              </a:rPr>
              <a:t>", s1, s2, s3, s4);</a:t>
            </a:r>
          </a:p>
          <a:p>
            <a:r>
              <a:rPr lang="it-IT" dirty="0">
                <a:latin typeface="Courier" pitchFamily="2" charset="0"/>
              </a:rPr>
              <a:t>    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225ECEB-BCFD-040E-2F0C-A4E8AFE25580}"/>
              </a:ext>
            </a:extLst>
          </p:cNvPr>
          <p:cNvSpPr txBox="1"/>
          <p:nvPr/>
        </p:nvSpPr>
        <p:spPr>
          <a:xfrm>
            <a:off x="164714" y="5535433"/>
            <a:ext cx="2535078" cy="120032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s1 =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s2 = hello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s3 = </a:t>
            </a:r>
            <a:r>
              <a:rPr lang="it-IT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birth</a:t>
            </a:r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day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s4 = day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A376ACC-1B9A-13A8-9BD7-9A5A032D9C72}"/>
              </a:ext>
            </a:extLst>
          </p:cNvPr>
          <p:cNvSpPr txBox="1"/>
          <p:nvPr/>
        </p:nvSpPr>
        <p:spPr>
          <a:xfrm>
            <a:off x="2195736" y="5445224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C30F116-C1A3-256F-0533-F9FAD342106E}"/>
              </a:ext>
            </a:extLst>
          </p:cNvPr>
          <p:cNvSpPr txBox="1"/>
          <p:nvPr/>
        </p:nvSpPr>
        <p:spPr>
          <a:xfrm>
            <a:off x="3202117" y="5445224"/>
            <a:ext cx="5906387" cy="58477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Istanzia una nuova </a:t>
            </a:r>
            <a:r>
              <a:rPr lang="it-IT" sz="1600" dirty="0" err="1"/>
              <a:t>String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a partire da una sequenza di caratteri racchiusi tra doppi apici.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4116948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102A7-9B82-2044-FD17-B9E5CE5A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B4EE1D-E186-03F8-B1EF-1F7394B8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Esempi di costruttori di </a:t>
            </a:r>
            <a:r>
              <a:rPr lang="it-IT" err="1"/>
              <a:t>String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57A21C-46F6-FE9F-650C-60BA9C454360}"/>
              </a:ext>
            </a:extLst>
          </p:cNvPr>
          <p:cNvSpPr txBox="1"/>
          <p:nvPr/>
        </p:nvSpPr>
        <p:spPr>
          <a:xfrm>
            <a:off x="161764" y="1463873"/>
            <a:ext cx="8820472" cy="369331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dirty="0">
                <a:latin typeface="Courier" pitchFamily="2" charset="0"/>
              </a:rPr>
              <a:t>public </a:t>
            </a:r>
            <a:r>
              <a:rPr lang="it-IT" dirty="0" err="1">
                <a:latin typeface="Courier" pitchFamily="2" charset="0"/>
              </a:rPr>
              <a:t>static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void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main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[] </a:t>
            </a:r>
            <a:r>
              <a:rPr lang="it-IT" dirty="0" err="1">
                <a:latin typeface="Courier" pitchFamily="2" charset="0"/>
              </a:rPr>
              <a:t>args</a:t>
            </a:r>
            <a:r>
              <a:rPr lang="it-IT" dirty="0">
                <a:latin typeface="Courier" pitchFamily="2" charset="0"/>
              </a:rPr>
              <a:t>) {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char</a:t>
            </a:r>
            <a:r>
              <a:rPr lang="it-IT" dirty="0">
                <a:latin typeface="Courier" pitchFamily="2" charset="0"/>
              </a:rPr>
              <a:t>[] </a:t>
            </a:r>
            <a:r>
              <a:rPr lang="it-IT" dirty="0" err="1">
                <a:latin typeface="Courier" pitchFamily="2" charset="0"/>
              </a:rPr>
              <a:t>charArray</a:t>
            </a:r>
            <a:r>
              <a:rPr lang="it-IT" dirty="0">
                <a:latin typeface="Courier" pitchFamily="2" charset="0"/>
              </a:rPr>
              <a:t> = {'b', 'i', '</a:t>
            </a:r>
            <a:r>
              <a:rPr lang="it-IT" dirty="0" err="1">
                <a:latin typeface="Courier" pitchFamily="2" charset="0"/>
              </a:rPr>
              <a:t>r</a:t>
            </a:r>
            <a:r>
              <a:rPr lang="it-IT" dirty="0">
                <a:latin typeface="Courier" pitchFamily="2" charset="0"/>
              </a:rPr>
              <a:t>', 't', 'h', ' ', 'd', 'a', 'y'};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s</a:t>
            </a:r>
            <a:r>
              <a:rPr lang="it-IT" dirty="0">
                <a:latin typeface="Courier" pitchFamily="2" charset="0"/>
              </a:rPr>
              <a:t>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("hello");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</a:p>
          <a:p>
            <a:r>
              <a:rPr lang="it-IT" dirty="0">
                <a:latin typeface="Courier" pitchFamily="2" charset="0"/>
              </a:rPr>
              <a:t>        // usa costruttori </a:t>
            </a:r>
            <a:r>
              <a:rPr lang="it-IT" dirty="0" err="1">
                <a:latin typeface="Courier" pitchFamily="2" charset="0"/>
              </a:rPr>
              <a:t>String</a:t>
            </a:r>
            <a:endParaRPr lang="it-IT" dirty="0">
              <a:latin typeface="Courier" pitchFamily="2" charset="0"/>
            </a:endParaRP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s1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highlight>
                  <a:srgbClr val="FFFF00"/>
                </a:highlight>
                <a:latin typeface="Courier" pitchFamily="2" charset="0"/>
              </a:rPr>
              <a:t>String</a:t>
            </a:r>
            <a:r>
              <a:rPr lang="it-IT" dirty="0">
                <a:highlight>
                  <a:srgbClr val="FFFF00"/>
                </a:highlight>
                <a:latin typeface="Courier" pitchFamily="2" charset="0"/>
              </a:rPr>
              <a:t> s2 = new </a:t>
            </a:r>
            <a:r>
              <a:rPr lang="it-IT" dirty="0" err="1">
                <a:highlight>
                  <a:srgbClr val="FFFF00"/>
                </a:highlight>
                <a:latin typeface="Courier" pitchFamily="2" charset="0"/>
              </a:rPr>
              <a:t>String</a:t>
            </a:r>
            <a:r>
              <a:rPr lang="it-IT" dirty="0">
                <a:highlight>
                  <a:srgbClr val="FFFF00"/>
                </a:highlight>
                <a:latin typeface="Courier" pitchFamily="2" charset="0"/>
              </a:rPr>
              <a:t>(</a:t>
            </a:r>
            <a:r>
              <a:rPr lang="it-IT" dirty="0" err="1">
                <a:highlight>
                  <a:srgbClr val="FFFF00"/>
                </a:highlight>
                <a:latin typeface="Courier" pitchFamily="2" charset="0"/>
              </a:rPr>
              <a:t>s</a:t>
            </a:r>
            <a:r>
              <a:rPr lang="it-IT" dirty="0">
                <a:highlight>
                  <a:srgbClr val="FFFF00"/>
                </a:highlight>
                <a:latin typeface="Courier" pitchFamily="2" charset="0"/>
              </a:rPr>
              <a:t>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s3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charArray</a:t>
            </a:r>
            <a:r>
              <a:rPr lang="it-IT" dirty="0">
                <a:latin typeface="Courier" pitchFamily="2" charset="0"/>
              </a:rPr>
              <a:t>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s4 = new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charArray</a:t>
            </a:r>
            <a:r>
              <a:rPr lang="it-IT" dirty="0">
                <a:latin typeface="Courier" pitchFamily="2" charset="0"/>
              </a:rPr>
              <a:t>, 6, 3);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System.out.printf</a:t>
            </a:r>
            <a:r>
              <a:rPr lang="it-IT" dirty="0">
                <a:latin typeface="Courier" pitchFamily="2" charset="0"/>
              </a:rPr>
              <a:t>(</a:t>
            </a:r>
          </a:p>
          <a:p>
            <a:r>
              <a:rPr lang="it-IT" dirty="0">
                <a:latin typeface="Courier" pitchFamily="2" charset="0"/>
              </a:rPr>
              <a:t>       "s1 = %s%ns2 = %s%ns3 = %s%ns4 = %</a:t>
            </a:r>
            <a:r>
              <a:rPr lang="it-IT" dirty="0" err="1">
                <a:latin typeface="Courier" pitchFamily="2" charset="0"/>
              </a:rPr>
              <a:t>s%n</a:t>
            </a:r>
            <a:r>
              <a:rPr lang="it-IT" dirty="0">
                <a:latin typeface="Courier" pitchFamily="2" charset="0"/>
              </a:rPr>
              <a:t>", s1, s2, s3, s4);</a:t>
            </a:r>
          </a:p>
          <a:p>
            <a:r>
              <a:rPr lang="it-IT" dirty="0">
                <a:latin typeface="Courier" pitchFamily="2" charset="0"/>
              </a:rPr>
              <a:t>    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0A227EF-1F5D-EB67-8BB3-942B5E554FE5}"/>
              </a:ext>
            </a:extLst>
          </p:cNvPr>
          <p:cNvSpPr txBox="1"/>
          <p:nvPr/>
        </p:nvSpPr>
        <p:spPr>
          <a:xfrm>
            <a:off x="164714" y="5535433"/>
            <a:ext cx="2535078" cy="120032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s1 =</a:t>
            </a:r>
          </a:p>
          <a:p>
            <a:pPr algn="l"/>
            <a:r>
              <a:rPr lang="it-IT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s2 = hello</a:t>
            </a:r>
          </a:p>
          <a:p>
            <a:pPr algn="l"/>
            <a:r>
              <a:rPr lang="it-IT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s3 = 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birth</a:t>
            </a:r>
            <a:r>
              <a:rPr lang="it-IT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day</a:t>
            </a:r>
          </a:p>
          <a:p>
            <a:pPr algn="l"/>
            <a:r>
              <a:rPr lang="it-IT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s4 = day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41239F2-3983-2A33-CF83-BF537B4E6D09}"/>
              </a:ext>
            </a:extLst>
          </p:cNvPr>
          <p:cNvSpPr txBox="1"/>
          <p:nvPr/>
        </p:nvSpPr>
        <p:spPr>
          <a:xfrm>
            <a:off x="2195736" y="5445224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0B65ED1-E037-3387-A182-D5CDDA6438DD}"/>
              </a:ext>
            </a:extLst>
          </p:cNvPr>
          <p:cNvSpPr txBox="1"/>
          <p:nvPr/>
        </p:nvSpPr>
        <p:spPr>
          <a:xfrm>
            <a:off x="3072899" y="5243716"/>
            <a:ext cx="6035605" cy="15696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Istanzia un nuovo oggetto </a:t>
            </a:r>
            <a:r>
              <a:rPr lang="it-IT" sz="1600" err="1"/>
              <a:t>String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utilizzando il costruttore della classe </a:t>
            </a:r>
            <a:r>
              <a:rPr lang="it-IT" sz="1600" err="1"/>
              <a:t>String</a:t>
            </a:r>
            <a:r>
              <a:rPr lang="it-IT" sz="1600"/>
              <a:t> 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che prende un oggetto </a:t>
            </a:r>
            <a:r>
              <a:rPr lang="it-IT" sz="1600" err="1"/>
              <a:t>String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come argomento e ne assegna il riferimento a </a:t>
            </a:r>
            <a:r>
              <a:rPr lang="it-IT" sz="1600"/>
              <a:t>s2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Il nuovo oggetto </a:t>
            </a:r>
            <a:r>
              <a:rPr lang="it-IT" sz="1600" err="1"/>
              <a:t>String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contiene la stessa sequenza di caratteri dell’oggetto </a:t>
            </a:r>
            <a:r>
              <a:rPr lang="it-IT" sz="1600" err="1"/>
              <a:t>s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di tipo </a:t>
            </a:r>
            <a:r>
              <a:rPr lang="it-IT" sz="1600" err="1"/>
              <a:t>String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che viene passato come argomento al costruttore.</a:t>
            </a:r>
            <a:endParaRPr lang="it-IT" sz="1600"/>
          </a:p>
        </p:txBody>
      </p:sp>
      <p:sp>
        <p:nvSpPr>
          <p:cNvPr id="3" name="Angolo ripiegato 2">
            <a:extLst>
              <a:ext uri="{FF2B5EF4-FFF2-40B4-BE49-F238E27FC236}">
                <a16:creationId xmlns:a16="http://schemas.microsoft.com/office/drawing/2014/main" id="{4B1760BC-6E4B-0043-422C-DCD880A8E1CB}"/>
              </a:ext>
            </a:extLst>
          </p:cNvPr>
          <p:cNvSpPr/>
          <p:nvPr/>
        </p:nvSpPr>
        <p:spPr bwMode="auto">
          <a:xfrm>
            <a:off x="827584" y="1988840"/>
            <a:ext cx="8012514" cy="1101923"/>
          </a:xfrm>
          <a:prstGeom prst="foldedCorner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solidFill>
                  <a:srgbClr val="333333"/>
                </a:solidFill>
                <a:latin typeface="system-ui"/>
              </a:rPr>
              <a:t>ATTENZIONE!</a:t>
            </a:r>
            <a:endParaRPr lang="it-IT" b="0" i="0" dirty="0">
              <a:solidFill>
                <a:srgbClr val="333333"/>
              </a:solidFill>
              <a:effectLst/>
              <a:latin typeface="system-ui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Gli oggetti </a:t>
            </a:r>
            <a:r>
              <a:rPr lang="it-IT" b="0" i="1" dirty="0" err="1">
                <a:solidFill>
                  <a:srgbClr val="333333"/>
                </a:solidFill>
                <a:effectLst/>
                <a:latin typeface="system-ui"/>
              </a:rPr>
              <a:t>String</a:t>
            </a:r>
            <a:r>
              <a:rPr lang="it-IT" b="0" i="1" dirty="0">
                <a:solidFill>
                  <a:srgbClr val="333333"/>
                </a:solidFill>
                <a:effectLst/>
                <a:latin typeface="system-ui"/>
              </a:rPr>
              <a:t> son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o immutabili, perché 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la classe </a:t>
            </a:r>
            <a:r>
              <a:rPr lang="it-IT" b="1" i="1" dirty="0" err="1">
                <a:solidFill>
                  <a:srgbClr val="333333"/>
                </a:solidFill>
                <a:effectLst/>
                <a:latin typeface="system-ui"/>
              </a:rPr>
              <a:t>String</a:t>
            </a:r>
            <a:r>
              <a:rPr lang="it-IT" b="1" i="1" dirty="0">
                <a:solidFill>
                  <a:srgbClr val="333333"/>
                </a:solidFill>
                <a:effectLst/>
                <a:latin typeface="system-ui"/>
              </a:rPr>
              <a:t> n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on fornisce metodi che </a:t>
            </a:r>
          </a:p>
          <a:p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permettono di modificare il contenuto di un oggetto </a:t>
            </a:r>
            <a:r>
              <a:rPr lang="it-IT" b="1" i="1" dirty="0" err="1">
                <a:solidFill>
                  <a:srgbClr val="333333"/>
                </a:solidFill>
                <a:effectLst/>
                <a:latin typeface="system-ui"/>
              </a:rPr>
              <a:t>String</a:t>
            </a:r>
            <a:r>
              <a:rPr lang="it-IT" b="1" i="1" dirty="0">
                <a:solidFill>
                  <a:srgbClr val="333333"/>
                </a:solidFill>
                <a:effectLst/>
                <a:latin typeface="system-ui"/>
              </a:rPr>
              <a:t> d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opo la sua creazione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;</a:t>
            </a:r>
            <a:r>
              <a:rPr lang="it-IT" dirty="0">
                <a:solidFill>
                  <a:srgbClr val="333333"/>
                </a:solidFill>
                <a:latin typeface="system-ui"/>
              </a:rPr>
              <a:t> </a:t>
            </a:r>
            <a:endParaRPr lang="it-IT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2534181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28EA05-17C8-5191-3462-39F25DEFD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568325"/>
            <a:ext cx="7543800" cy="1295400"/>
          </a:xfrm>
        </p:spPr>
        <p:txBody>
          <a:bodyPr/>
          <a:lstStyle/>
          <a:p>
            <a:r>
              <a:rPr lang="it-IT" sz="3600" b="0" i="0" dirty="0">
                <a:solidFill>
                  <a:srgbClr val="00406A"/>
                </a:solidFill>
                <a:effectLst/>
                <a:latin typeface="system-ui"/>
              </a:rPr>
              <a:t>I</a:t>
            </a:r>
            <a:r>
              <a:rPr lang="it-IT" sz="3600" b="0" dirty="0">
                <a:solidFill>
                  <a:srgbClr val="00406A"/>
                </a:solidFill>
                <a:latin typeface="system-ui"/>
              </a:rPr>
              <a:t> </a:t>
            </a:r>
            <a:r>
              <a:rPr lang="it-IT" sz="3600" b="0" i="0" dirty="0">
                <a:solidFill>
                  <a:srgbClr val="00406A"/>
                </a:solidFill>
                <a:effectLst/>
                <a:latin typeface="system-ui"/>
              </a:rPr>
              <a:t> metodi </a:t>
            </a:r>
            <a:r>
              <a:rPr lang="it-IT" sz="3600" b="1" i="0" dirty="0" err="1">
                <a:solidFill>
                  <a:srgbClr val="00406A"/>
                </a:solidFill>
                <a:effectLst/>
                <a:latin typeface="system-ui"/>
              </a:rPr>
              <a:t>length</a:t>
            </a:r>
            <a:r>
              <a:rPr lang="it-IT" sz="3600" b="1" i="0" dirty="0">
                <a:solidFill>
                  <a:srgbClr val="00406A"/>
                </a:solidFill>
                <a:effectLst/>
                <a:latin typeface="system-ui"/>
              </a:rPr>
              <a:t> </a:t>
            </a:r>
            <a:r>
              <a:rPr lang="it-IT" sz="3600" b="0" i="0" dirty="0">
                <a:solidFill>
                  <a:srgbClr val="00406A"/>
                </a:solidFill>
                <a:effectLst/>
                <a:latin typeface="system-ui"/>
              </a:rPr>
              <a:t>, </a:t>
            </a:r>
            <a:r>
              <a:rPr lang="it-IT" sz="3600" b="1" i="0" dirty="0" err="1">
                <a:solidFill>
                  <a:srgbClr val="00406A"/>
                </a:solidFill>
                <a:effectLst/>
                <a:latin typeface="system-ui"/>
              </a:rPr>
              <a:t>charAt</a:t>
            </a:r>
            <a:r>
              <a:rPr lang="it-IT" sz="3600" b="1" i="0" dirty="0">
                <a:solidFill>
                  <a:srgbClr val="00406A"/>
                </a:solidFill>
                <a:effectLst/>
                <a:latin typeface="system-ui"/>
              </a:rPr>
              <a:t> </a:t>
            </a:r>
            <a:r>
              <a:rPr lang="it-IT" sz="3600" b="0" i="0" dirty="0">
                <a:solidFill>
                  <a:srgbClr val="00406A"/>
                </a:solidFill>
                <a:effectLst/>
                <a:latin typeface="system-ui"/>
              </a:rPr>
              <a:t>e </a:t>
            </a:r>
            <a:r>
              <a:rPr lang="it-IT" sz="3600" b="1" i="0" dirty="0" err="1">
                <a:solidFill>
                  <a:srgbClr val="00406A"/>
                </a:solidFill>
                <a:effectLst/>
                <a:latin typeface="system-ui"/>
              </a:rPr>
              <a:t>getChars</a:t>
            </a:r>
            <a:endParaRPr lang="it-IT" sz="36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F9E2DE-CA2D-0F07-31A0-5725D203B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704" y="841439"/>
            <a:ext cx="8229600" cy="4411662"/>
          </a:xfrm>
        </p:spPr>
        <p:txBody>
          <a:bodyPr/>
          <a:lstStyle/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I metodi di 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length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charAt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e 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getChars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di  </a:t>
            </a:r>
            <a:r>
              <a:rPr lang="it-IT" dirty="0" err="1"/>
              <a:t>String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 rispettivamente, </a:t>
            </a:r>
          </a:p>
          <a:p>
            <a:pPr lvl="1"/>
            <a:r>
              <a:rPr lang="it-IT" b="1" dirty="0" err="1">
                <a:solidFill>
                  <a:srgbClr val="333333"/>
                </a:solidFill>
                <a:latin typeface="system-ui"/>
              </a:rPr>
              <a:t>l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enght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determina la lunghezza di una stringa, </a:t>
            </a:r>
          </a:p>
          <a:p>
            <a:pPr lvl="1"/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charAt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 </a:t>
            </a:r>
            <a:r>
              <a:rPr lang="it-IT" i="0" dirty="0">
                <a:solidFill>
                  <a:srgbClr val="333333"/>
                </a:solidFill>
                <a:effectLst/>
                <a:latin typeface="system-ui"/>
              </a:rPr>
              <a:t>prende un argomento di tipo intero e restituisce il carattere che si trova 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in </a:t>
            </a:r>
            <a:r>
              <a:rPr lang="it-IT" dirty="0">
                <a:solidFill>
                  <a:srgbClr val="333333"/>
                </a:solidFill>
                <a:latin typeface="system-ui"/>
              </a:rPr>
              <a:t>quella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specifica posizione </a:t>
            </a:r>
            <a:r>
              <a:rPr lang="it-IT" dirty="0">
                <a:solidFill>
                  <a:srgbClr val="333333"/>
                </a:solidFill>
                <a:latin typeface="system-ui"/>
              </a:rPr>
              <a:t>nella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stringa,  </a:t>
            </a:r>
          </a:p>
          <a:p>
            <a:pPr lvl="1"/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getChars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 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copia un insieme di caratteri da una stringa </a:t>
            </a:r>
            <a:r>
              <a:rPr lang="it-IT" dirty="0">
                <a:solidFill>
                  <a:srgbClr val="333333"/>
                </a:solidFill>
                <a:latin typeface="system-ui"/>
              </a:rPr>
              <a:t>in un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array di caratteri</a:t>
            </a:r>
            <a:r>
              <a:rPr lang="it-IT" dirty="0">
                <a:solidFill>
                  <a:srgbClr val="333333"/>
                </a:solidFill>
                <a:latin typeface="system-ui"/>
              </a:rPr>
              <a:t> 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passato come argomento. </a:t>
            </a:r>
          </a:p>
          <a:p>
            <a:pPr lvl="2"/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Questo metodo prende quattro argomenti: l’indice nella stringa a partire dal quale devono essere copiati i caratteri, l’indice del carattere che 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segue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l’ultimo carattere da copiare, l’array di caratteri nel quale devono essere copiati i caratteri e la posizione nell’array a partire dal quale i caratteri devono essere copiati. </a:t>
            </a:r>
          </a:p>
        </p:txBody>
      </p:sp>
    </p:spTree>
    <p:extLst>
      <p:ext uri="{BB962C8B-B14F-4D97-AF65-F5344CB8AC3E}">
        <p14:creationId xmlns:p14="http://schemas.microsoft.com/office/powerpoint/2010/main" val="3535833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9E1A-973E-112E-3EFF-AB9BCDBB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Arial"/>
              </a:rPr>
              <a:t>Esempio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CC9F9-AE8F-AAE8-39C5-3555FABD1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4" y="1417638"/>
            <a:ext cx="9037528" cy="3203466"/>
          </a:xfrm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public static void main(String[] </a:t>
            </a:r>
            <a:r>
              <a:rPr lang="en-US" sz="1600" dirty="0" err="1">
                <a:latin typeface="Courier" pitchFamily="2" charset="0"/>
              </a:rPr>
              <a:t>args</a:t>
            </a:r>
            <a:r>
              <a:rPr lang="en-US" sz="1600" dirty="0">
                <a:latin typeface="Courier" pitchFamily="2" charset="0"/>
              </a:rPr>
              <a:t>) {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   char[] pivot = new char[5];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   String s = new String ("Diego");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s.getChars</a:t>
            </a:r>
            <a:r>
              <a:rPr lang="en-US" sz="1600" dirty="0">
                <a:latin typeface="Courier" pitchFamily="2" charset="0"/>
              </a:rPr>
              <a:t>(1,  3, pivot, 0);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System.out.printf</a:t>
            </a:r>
            <a:r>
              <a:rPr lang="en-US" sz="1600" dirty="0">
                <a:latin typeface="Courier" pitchFamily="2" charset="0"/>
              </a:rPr>
              <a:t>("La </a:t>
            </a:r>
            <a:r>
              <a:rPr lang="en-US" sz="1600" dirty="0" err="1">
                <a:latin typeface="Courier" pitchFamily="2" charset="0"/>
              </a:rPr>
              <a:t>lunghezza</a:t>
            </a:r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 err="1">
                <a:latin typeface="Courier" pitchFamily="2" charset="0"/>
              </a:rPr>
              <a:t>della</a:t>
            </a:r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 err="1">
                <a:latin typeface="Courier" pitchFamily="2" charset="0"/>
              </a:rPr>
              <a:t>stringa</a:t>
            </a:r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 err="1">
                <a:latin typeface="Courier" pitchFamily="2" charset="0"/>
              </a:rPr>
              <a:t>è</a:t>
            </a:r>
            <a:r>
              <a:rPr lang="en-US" sz="1600" dirty="0">
                <a:latin typeface="Courier" pitchFamily="2" charset="0"/>
              </a:rPr>
              <a:t>: %</a:t>
            </a:r>
            <a:r>
              <a:rPr lang="en-US" sz="1600" dirty="0" err="1">
                <a:latin typeface="Courier" pitchFamily="2" charset="0"/>
              </a:rPr>
              <a:t>d%n</a:t>
            </a:r>
            <a:r>
              <a:rPr lang="en-US" sz="1600" dirty="0">
                <a:latin typeface="Courier" pitchFamily="2" charset="0"/>
              </a:rPr>
              <a:t>", </a:t>
            </a:r>
            <a:r>
              <a:rPr lang="en-US" sz="1600" dirty="0" err="1">
                <a:latin typeface="Courier" pitchFamily="2" charset="0"/>
              </a:rPr>
              <a:t>s.length</a:t>
            </a:r>
            <a:r>
              <a:rPr lang="en-US" sz="1600" dirty="0">
                <a:latin typeface="Courier" pitchFamily="2" charset="0"/>
              </a:rPr>
              <a:t>());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System.out.printf</a:t>
            </a:r>
            <a:r>
              <a:rPr lang="en-US" sz="1600" dirty="0">
                <a:latin typeface="Courier" pitchFamily="2" charset="0"/>
              </a:rPr>
              <a:t>("Il primo carattere </a:t>
            </a:r>
            <a:r>
              <a:rPr lang="en-US" sz="1600" dirty="0" err="1">
                <a:latin typeface="Courier" pitchFamily="2" charset="0"/>
              </a:rPr>
              <a:t>della</a:t>
            </a:r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 err="1">
                <a:latin typeface="Courier" pitchFamily="2" charset="0"/>
              </a:rPr>
              <a:t>stringa</a:t>
            </a:r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 err="1">
                <a:latin typeface="Courier" pitchFamily="2" charset="0"/>
              </a:rPr>
              <a:t>è</a:t>
            </a:r>
            <a:r>
              <a:rPr lang="en-US" sz="1600" dirty="0">
                <a:latin typeface="Courier" pitchFamily="2" charset="0"/>
              </a:rPr>
              <a:t>: %</a:t>
            </a:r>
            <a:r>
              <a:rPr lang="en-US" sz="1600" dirty="0" err="1">
                <a:latin typeface="Courier" pitchFamily="2" charset="0"/>
              </a:rPr>
              <a:t>c%n</a:t>
            </a:r>
            <a:r>
              <a:rPr lang="en-US" sz="1600" dirty="0">
                <a:latin typeface="Courier" pitchFamily="2" charset="0"/>
              </a:rPr>
              <a:t>", </a:t>
            </a:r>
            <a:r>
              <a:rPr lang="en-US" sz="1600" dirty="0" err="1">
                <a:latin typeface="Courier" pitchFamily="2" charset="0"/>
              </a:rPr>
              <a:t>s.charAt</a:t>
            </a:r>
            <a:r>
              <a:rPr lang="en-US" sz="1600" dirty="0">
                <a:latin typeface="Courier" pitchFamily="2" charset="0"/>
              </a:rPr>
              <a:t>(0));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System.out.printf</a:t>
            </a:r>
            <a:r>
              <a:rPr lang="en-US" sz="1600" dirty="0">
                <a:latin typeface="Courier" pitchFamily="2" charset="0"/>
              </a:rPr>
              <a:t>("Il primo carattere </a:t>
            </a:r>
            <a:r>
              <a:rPr lang="en-US" sz="1600" dirty="0" err="1">
                <a:latin typeface="Courier" pitchFamily="2" charset="0"/>
              </a:rPr>
              <a:t>estratto</a:t>
            </a:r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 err="1">
                <a:latin typeface="Courier" pitchFamily="2" charset="0"/>
              </a:rPr>
              <a:t>è</a:t>
            </a:r>
            <a:r>
              <a:rPr lang="en-US" sz="1600" dirty="0">
                <a:latin typeface="Courier" pitchFamily="2" charset="0"/>
              </a:rPr>
              <a:t> %</a:t>
            </a:r>
            <a:r>
              <a:rPr lang="en-US" sz="1600" dirty="0" err="1">
                <a:latin typeface="Courier" pitchFamily="2" charset="0"/>
              </a:rPr>
              <a:t>c%n</a:t>
            </a:r>
            <a:r>
              <a:rPr lang="en-US" sz="1600" dirty="0">
                <a:latin typeface="Courier" pitchFamily="2" charset="0"/>
              </a:rPr>
              <a:t>",pivot[0]);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}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0520B6C-197A-C124-A17E-3D65C8EFE4B6}"/>
              </a:ext>
            </a:extLst>
          </p:cNvPr>
          <p:cNvSpPr txBox="1"/>
          <p:nvPr/>
        </p:nvSpPr>
        <p:spPr>
          <a:xfrm>
            <a:off x="3161256" y="400606"/>
            <a:ext cx="53924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java.lang.StringIndexOutOfBoundsException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A3B5F90-596C-FD10-8DE0-94D556DC4C5E}"/>
              </a:ext>
            </a:extLst>
          </p:cNvPr>
          <p:cNvSpPr txBox="1"/>
          <p:nvPr/>
        </p:nvSpPr>
        <p:spPr>
          <a:xfrm>
            <a:off x="68893" y="5040767"/>
            <a:ext cx="5968651" cy="92333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La lunghezza della stringa è: 5</a:t>
            </a:r>
          </a:p>
          <a:p>
            <a:pPr algn="l"/>
            <a:r>
              <a:rPr lang="it-IT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Il primo carattere della stringa è: D</a:t>
            </a:r>
          </a:p>
          <a:p>
            <a:pPr algn="l"/>
            <a:r>
              <a:rPr lang="it-IT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Il primo carattere estratto è 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88F156E-3DF7-B030-38F8-525A198B4C3E}"/>
              </a:ext>
            </a:extLst>
          </p:cNvPr>
          <p:cNvSpPr txBox="1"/>
          <p:nvPr/>
        </p:nvSpPr>
        <p:spPr>
          <a:xfrm>
            <a:off x="68893" y="4732828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/>
              <a:t>Output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6A59D8A-D5BF-1FF7-7D2F-41C7E3801D9C}"/>
              </a:ext>
            </a:extLst>
          </p:cNvPr>
          <p:cNvSpPr txBox="1"/>
          <p:nvPr/>
        </p:nvSpPr>
        <p:spPr>
          <a:xfrm>
            <a:off x="68893" y="6074601"/>
            <a:ext cx="9006214" cy="58477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sz="1600" b="0" i="0" dirty="0">
                <a:solidFill>
                  <a:srgbClr val="333333"/>
                </a:solidFill>
                <a:effectLst/>
                <a:latin typeface="+mn-lt"/>
              </a:rPr>
              <a:t>ATTENZIONE: se si sfora la dimensione della stringa (ad esempio tramite i comandi </a:t>
            </a:r>
            <a:r>
              <a:rPr lang="it-IT" sz="16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charAt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e </a:t>
            </a:r>
            <a:r>
              <a:rPr lang="it-IT" sz="16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getChars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+mn-lt"/>
              </a:rPr>
              <a:t>) si ottiene una eccezione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dirty="0" err="1"/>
              <a:t>java.lang.StringIndexOutOfBoundsException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8144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48E663-34AC-342B-D50F-F6A4EFB3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Confronto tra Stringhe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B0DBC2-F191-049B-32D5-F2E08E66B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719263"/>
            <a:ext cx="9036496" cy="4411662"/>
          </a:xfrm>
        </p:spPr>
        <p:txBody>
          <a:bodyPr>
            <a:normAutofit fontScale="92500" lnSpcReduction="20000"/>
          </a:bodyPr>
          <a:lstStyle/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La classe </a:t>
            </a:r>
            <a:r>
              <a:rPr lang="it-IT" dirty="0" err="1"/>
              <a:t>String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fornisce i metodi per </a:t>
            </a:r>
            <a:r>
              <a:rPr lang="it-IT" b="0" i="1" dirty="0">
                <a:solidFill>
                  <a:srgbClr val="333333"/>
                </a:solidFill>
                <a:effectLst/>
                <a:latin typeface="system-ui"/>
              </a:rPr>
              <a:t>confrontare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le stringhe.</a:t>
            </a:r>
            <a:endParaRPr lang="it-IT" dirty="0"/>
          </a:p>
          <a:p>
            <a:r>
              <a:rPr lang="it-IT" dirty="0">
                <a:solidFill>
                  <a:srgbClr val="333333"/>
                </a:solidFill>
                <a:latin typeface="system-ui"/>
              </a:rPr>
              <a:t>Per comprendere cosa significa che una stringa è più o meno grande di un’altra, provate a pensare al procedimento che seguireste per mettere in ordine alfabetico una serie di cognomi. </a:t>
            </a:r>
          </a:p>
          <a:p>
            <a:pPr algn="l"/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Il confronto tra stringhe è </a:t>
            </a:r>
            <a:r>
              <a:rPr lang="it-IT" b="1" i="1" dirty="0">
                <a:solidFill>
                  <a:srgbClr val="333333"/>
                </a:solidFill>
                <a:effectLst/>
                <a:latin typeface="system-ui"/>
              </a:rPr>
              <a:t>lessicografico</a:t>
            </a:r>
          </a:p>
          <a:p>
            <a:pPr lvl="1" indent="-347345"/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Tutti i caratteri sono rappresentati </a:t>
            </a:r>
            <a:r>
              <a:rPr lang="it-IT" dirty="0">
                <a:solidFill>
                  <a:srgbClr val="333333"/>
                </a:solidFill>
                <a:latin typeface="system-ui"/>
              </a:rPr>
              <a:t>mediante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codici numerici (code points)</a:t>
            </a:r>
          </a:p>
          <a:p>
            <a:pPr lvl="1" indent="-347345"/>
            <a:r>
              <a:rPr lang="it-IT" dirty="0">
                <a:solidFill>
                  <a:srgbClr val="333333"/>
                </a:solidFill>
                <a:latin typeface="system-ui"/>
              </a:rPr>
              <a:t>Il 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confronto tra stringhe</a:t>
            </a:r>
            <a:r>
              <a:rPr lang="it-IT" dirty="0">
                <a:solidFill>
                  <a:srgbClr val="333333"/>
                </a:solidFill>
                <a:latin typeface="system-ui"/>
              </a:rPr>
              <a:t> è effettuato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confrontando i codici numerici dei caratteri al loro interno.</a:t>
            </a:r>
          </a:p>
          <a:p>
            <a:pPr marL="344805" lvl="1" indent="0">
              <a:buNone/>
            </a:pPr>
            <a:endParaRPr lang="it-IT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401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960E1C-5E6D-1C9E-3FCE-8242A94DA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568325"/>
            <a:ext cx="7543800" cy="1295400"/>
          </a:xfrm>
        </p:spPr>
        <p:txBody>
          <a:bodyPr/>
          <a:lstStyle/>
          <a:p>
            <a:r>
              <a:rPr lang="it-IT" dirty="0"/>
              <a:t>Metodi per il confronto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7D036F-ED58-8103-7590-E7D12F43E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841439"/>
            <a:ext cx="8229600" cy="4411662"/>
          </a:xfrm>
        </p:spPr>
        <p:txBody>
          <a:bodyPr/>
          <a:lstStyle/>
          <a:p>
            <a:r>
              <a:rPr lang="it-IT" sz="2800" dirty="0"/>
              <a:t>I </a:t>
            </a:r>
            <a:r>
              <a:rPr lang="it-IT" sz="2800" b="0" i="0" dirty="0">
                <a:solidFill>
                  <a:srgbClr val="333333"/>
                </a:solidFill>
                <a:effectLst/>
                <a:latin typeface="system-ui"/>
              </a:rPr>
              <a:t>metodi </a:t>
            </a:r>
            <a:r>
              <a:rPr lang="it-IT" sz="2800" b="1" i="0" dirty="0" err="1">
                <a:solidFill>
                  <a:srgbClr val="333333"/>
                </a:solidFill>
                <a:effectLst/>
                <a:latin typeface="system-ui"/>
              </a:rPr>
              <a:t>equals</a:t>
            </a:r>
            <a:r>
              <a:rPr lang="it-IT" sz="2800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sz="2800" b="1" i="0" dirty="0" err="1">
                <a:solidFill>
                  <a:srgbClr val="333333"/>
                </a:solidFill>
                <a:effectLst/>
                <a:latin typeface="system-ui"/>
              </a:rPr>
              <a:t>equalsIgnoreCase</a:t>
            </a:r>
            <a:r>
              <a:rPr lang="it-IT" sz="2800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sz="2800" b="1" i="0" dirty="0" err="1">
                <a:solidFill>
                  <a:srgbClr val="333333"/>
                </a:solidFill>
                <a:effectLst/>
                <a:latin typeface="system-ui"/>
              </a:rPr>
              <a:t>compareTo</a:t>
            </a:r>
            <a:r>
              <a:rPr lang="it-IT" sz="2800" b="0" i="0" dirty="0">
                <a:solidFill>
                  <a:srgbClr val="333333"/>
                </a:solidFill>
                <a:effectLst/>
                <a:latin typeface="system-ui"/>
              </a:rPr>
              <a:t> e      </a:t>
            </a:r>
            <a:r>
              <a:rPr lang="it-IT" sz="2800" b="1" i="0" dirty="0" err="1">
                <a:solidFill>
                  <a:srgbClr val="333333"/>
                </a:solidFill>
                <a:effectLst/>
                <a:latin typeface="system-ui"/>
              </a:rPr>
              <a:t>regionMatches</a:t>
            </a:r>
            <a:r>
              <a:rPr lang="it-IT" sz="2800" b="0" i="0" dirty="0">
                <a:solidFill>
                  <a:srgbClr val="333333"/>
                </a:solidFill>
                <a:effectLst/>
                <a:latin typeface="system-ui"/>
              </a:rPr>
              <a:t> di tipo </a:t>
            </a:r>
            <a:r>
              <a:rPr lang="it-IT" sz="2800" dirty="0" err="1"/>
              <a:t>String</a:t>
            </a:r>
            <a:endParaRPr lang="it-IT" sz="2800" dirty="0">
              <a:solidFill>
                <a:srgbClr val="333333"/>
              </a:solidFill>
              <a:latin typeface="system-ui"/>
            </a:endParaRPr>
          </a:p>
          <a:p>
            <a:pPr lvl="1"/>
            <a:r>
              <a:rPr lang="it-IT" sz="2400" b="1" i="0" dirty="0" err="1">
                <a:solidFill>
                  <a:srgbClr val="333333"/>
                </a:solidFill>
                <a:effectLst/>
                <a:latin typeface="system-ui"/>
              </a:rPr>
              <a:t>equalsIgnoreCase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, </a:t>
            </a:r>
            <a:r>
              <a:rPr lang="it-IT" sz="2400" i="1" dirty="0">
                <a:effectLst/>
                <a:latin typeface="Helvetica" pitchFamily="2" charset="0"/>
              </a:rPr>
              <a:t>esegue un confronto senza fare distinzione fra maiuscole e minuscole</a:t>
            </a:r>
          </a:p>
          <a:p>
            <a:pPr lvl="1"/>
            <a:r>
              <a:rPr lang="it-IT" sz="2400" b="1" i="0" dirty="0" err="1">
                <a:solidFill>
                  <a:srgbClr val="333333"/>
                </a:solidFill>
                <a:effectLst/>
                <a:latin typeface="system-ui"/>
              </a:rPr>
              <a:t>compareTo</a:t>
            </a:r>
            <a:r>
              <a:rPr lang="it-IT" sz="2400" b="1" i="0" dirty="0">
                <a:solidFill>
                  <a:srgbClr val="333333"/>
                </a:solidFill>
                <a:effectLst/>
                <a:latin typeface="system-ui"/>
              </a:rPr>
              <a:t> </a:t>
            </a:r>
            <a:r>
              <a:rPr lang="it-IT" sz="2400" i="1" dirty="0">
                <a:solidFill>
                  <a:srgbClr val="333333"/>
                </a:solidFill>
                <a:latin typeface="Helvetica" pitchFamily="2" charset="0"/>
              </a:rPr>
              <a:t>s</a:t>
            </a:r>
            <a:r>
              <a:rPr lang="it-IT" sz="2400" i="1" dirty="0">
                <a:effectLst/>
                <a:latin typeface="Helvetica" pitchFamily="2" charset="0"/>
              </a:rPr>
              <a:t>e le stringhe sono uguali restituisce </a:t>
            </a:r>
            <a:r>
              <a:rPr lang="it-IT" sz="2400" i="1" dirty="0">
                <a:effectLst/>
                <a:latin typeface="Times" pitchFamily="2" charset="0"/>
              </a:rPr>
              <a:t>0</a:t>
            </a:r>
            <a:r>
              <a:rPr lang="it-IT" sz="2400" i="1" dirty="0">
                <a:effectLst/>
                <a:latin typeface="Helvetica" pitchFamily="2" charset="0"/>
              </a:rPr>
              <a:t>; se la stringa che</a:t>
            </a:r>
            <a:r>
              <a:rPr lang="it-IT" sz="2400" dirty="0">
                <a:latin typeface="Helvetica" pitchFamily="2" charset="0"/>
              </a:rPr>
              <a:t> </a:t>
            </a:r>
            <a:r>
              <a:rPr lang="it-IT" sz="2400" i="1" dirty="0">
                <a:effectLst/>
                <a:latin typeface="Helvetica" pitchFamily="2" charset="0"/>
              </a:rPr>
              <a:t>invoca il metodo </a:t>
            </a:r>
            <a:r>
              <a:rPr lang="it-IT" sz="2400" i="1" dirty="0" err="1">
                <a:effectLst/>
                <a:latin typeface="Times" pitchFamily="2" charset="0"/>
              </a:rPr>
              <a:t>compareTo</a:t>
            </a:r>
            <a:r>
              <a:rPr lang="it-IT" sz="2400" i="1" dirty="0">
                <a:effectLst/>
                <a:latin typeface="Times" pitchFamily="2" charset="0"/>
              </a:rPr>
              <a:t> </a:t>
            </a:r>
            <a:r>
              <a:rPr lang="it-IT" sz="2400" i="1" dirty="0">
                <a:effectLst/>
                <a:latin typeface="Helvetica" pitchFamily="2" charset="0"/>
              </a:rPr>
              <a:t>è minore di quella passata come argomento restituisce un numero</a:t>
            </a:r>
            <a:r>
              <a:rPr lang="it-IT" sz="2400" dirty="0">
                <a:latin typeface="Helvetica" pitchFamily="2" charset="0"/>
              </a:rPr>
              <a:t> </a:t>
            </a:r>
            <a:r>
              <a:rPr lang="it-IT" sz="2400" i="1" dirty="0">
                <a:effectLst/>
                <a:latin typeface="Helvetica" pitchFamily="2" charset="0"/>
              </a:rPr>
              <a:t>negativo, mentre se è maggiore restituisce un numero positivo</a:t>
            </a:r>
          </a:p>
          <a:p>
            <a:pPr lvl="1"/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 </a:t>
            </a:r>
            <a:r>
              <a:rPr lang="it-IT" sz="2400" b="1" i="0" dirty="0" err="1">
                <a:solidFill>
                  <a:srgbClr val="333333"/>
                </a:solidFill>
                <a:effectLst/>
                <a:latin typeface="system-ui"/>
              </a:rPr>
              <a:t>regionMatches</a:t>
            </a:r>
            <a:r>
              <a:rPr lang="it-IT" sz="2400" b="0" i="0" dirty="0">
                <a:solidFill>
                  <a:srgbClr val="333333"/>
                </a:solidFill>
                <a:effectLst/>
                <a:latin typeface="system-ui"/>
              </a:rPr>
              <a:t> consente di </a:t>
            </a:r>
            <a:r>
              <a:rPr lang="it-IT" sz="2400" i="1" dirty="0">
                <a:effectLst/>
                <a:latin typeface="Helvetica" pitchFamily="2" charset="0"/>
              </a:rPr>
              <a:t>confrontare porzioni di due stringhe e verificarne l’uguaglianza</a:t>
            </a:r>
            <a:endParaRPr lang="it-IT" sz="2400" b="0" i="0" dirty="0">
              <a:solidFill>
                <a:srgbClr val="333333"/>
              </a:solidFill>
              <a:effectLst/>
              <a:latin typeface="system-ui"/>
            </a:endParaRPr>
          </a:p>
          <a:p>
            <a:r>
              <a:rPr lang="it-IT" sz="2800" dirty="0">
                <a:solidFill>
                  <a:srgbClr val="333333"/>
                </a:solidFill>
                <a:latin typeface="system-ui"/>
              </a:rPr>
              <a:t>Nel prossimo esempio vedremo l’utilizzo di </a:t>
            </a:r>
            <a:r>
              <a:rPr lang="it-IT" sz="2800" b="1" i="0" dirty="0" err="1">
                <a:solidFill>
                  <a:srgbClr val="333333"/>
                </a:solidFill>
                <a:effectLst/>
                <a:latin typeface="system-ui"/>
              </a:rPr>
              <a:t>equals</a:t>
            </a:r>
            <a:r>
              <a:rPr lang="it-IT" sz="2800" b="1" i="0" dirty="0">
                <a:solidFill>
                  <a:srgbClr val="333333"/>
                </a:solidFill>
                <a:effectLst/>
                <a:latin typeface="system-ui"/>
              </a:rPr>
              <a:t> </a:t>
            </a:r>
            <a:r>
              <a:rPr lang="it-IT" sz="2800" i="0" dirty="0">
                <a:solidFill>
                  <a:srgbClr val="333333"/>
                </a:solidFill>
                <a:effectLst/>
                <a:latin typeface="system-ui"/>
              </a:rPr>
              <a:t>e</a:t>
            </a:r>
            <a:r>
              <a:rPr lang="it-IT" sz="2800" b="1" i="0" dirty="0">
                <a:solidFill>
                  <a:srgbClr val="333333"/>
                </a:solidFill>
                <a:effectLst/>
                <a:latin typeface="system-ui"/>
              </a:rPr>
              <a:t> </a:t>
            </a:r>
            <a:r>
              <a:rPr lang="it-IT" sz="2800" b="0" i="0" dirty="0">
                <a:solidFill>
                  <a:srgbClr val="333333"/>
                </a:solidFill>
                <a:effectLst/>
                <a:latin typeface="system-ui"/>
              </a:rPr>
              <a:t>dell’operatore di uguaglianza </a:t>
            </a:r>
            <a:r>
              <a:rPr lang="it-IT" sz="2800" dirty="0"/>
              <a:t>==</a:t>
            </a:r>
            <a:r>
              <a:rPr lang="it-IT" sz="2800" b="0" i="0" dirty="0">
                <a:solidFill>
                  <a:srgbClr val="333333"/>
                </a:solidFill>
                <a:effectLst/>
                <a:latin typeface="system-ui"/>
              </a:rPr>
              <a:t> 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4291471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6560FE-84F0-A64F-1C06-8812A5D2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714474"/>
          </a:xfrm>
        </p:spPr>
        <p:txBody>
          <a:bodyPr/>
          <a:lstStyle/>
          <a:p>
            <a:r>
              <a:rPr lang="it-IT"/>
              <a:t>Esempio di confronto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BFB517F-A22D-E88C-79F0-64F14B0BC968}"/>
              </a:ext>
            </a:extLst>
          </p:cNvPr>
          <p:cNvSpPr txBox="1"/>
          <p:nvPr/>
        </p:nvSpPr>
        <p:spPr>
          <a:xfrm>
            <a:off x="144016" y="764704"/>
            <a:ext cx="8892480" cy="375487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sz="1400" dirty="0">
                <a:latin typeface="Courier" pitchFamily="2" charset="0"/>
              </a:rPr>
              <a:t>public </a:t>
            </a:r>
            <a:r>
              <a:rPr lang="it-IT" sz="1400" dirty="0" err="1">
                <a:latin typeface="Courier" pitchFamily="2" charset="0"/>
              </a:rPr>
              <a:t>static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void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main</a:t>
            </a:r>
            <a:r>
              <a:rPr lang="it-IT" sz="1400" dirty="0">
                <a:latin typeface="Courier" pitchFamily="2" charset="0"/>
              </a:rPr>
              <a:t>(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[] </a:t>
            </a:r>
            <a:r>
              <a:rPr lang="it-IT" sz="1400" dirty="0" err="1">
                <a:latin typeface="Courier" pitchFamily="2" charset="0"/>
              </a:rPr>
              <a:t>args</a:t>
            </a:r>
            <a:r>
              <a:rPr lang="it-IT" sz="1400" dirty="0">
                <a:latin typeface="Courier" pitchFamily="2" charset="0"/>
              </a:rPr>
              <a:t>) {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s1 = new </a:t>
            </a:r>
            <a:r>
              <a:rPr lang="it-IT" sz="1400" dirty="0" err="1">
                <a:highlight>
                  <a:srgbClr val="FFFF00"/>
                </a:highlight>
                <a:latin typeface="Courier" pitchFamily="2" charset="0"/>
              </a:rPr>
              <a:t>String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("Diego"); </a:t>
            </a:r>
            <a:r>
              <a:rPr lang="it-IT" sz="1400" dirty="0">
                <a:latin typeface="Courier" pitchFamily="2" charset="0"/>
              </a:rPr>
              <a:t>// s1 è una copia di "hello</a:t>
            </a:r>
          </a:p>
          <a:p>
            <a:r>
              <a:rPr lang="it-IT" sz="1400" dirty="0">
                <a:latin typeface="Courier" pitchFamily="2" charset="0"/>
              </a:rPr>
              <a:t>             // test di uguaglianza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if</a:t>
            </a:r>
            <a:r>
              <a:rPr lang="it-IT" sz="1400" dirty="0">
                <a:latin typeface="Courier" pitchFamily="2" charset="0"/>
              </a:rPr>
              <a:t> (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s1.equals("Diego")</a:t>
            </a:r>
            <a:r>
              <a:rPr lang="it-IT" sz="1400" dirty="0">
                <a:latin typeface="Courier" pitchFamily="2" charset="0"/>
              </a:rPr>
              <a:t>) { // vero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equals</a:t>
            </a:r>
            <a:r>
              <a:rPr lang="it-IT" sz="1400" dirty="0">
                <a:latin typeface="Courier" pitchFamily="2" charset="0"/>
              </a:rPr>
              <a:t> \"Diego\"");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    else {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does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not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equal</a:t>
            </a:r>
            <a:r>
              <a:rPr lang="it-IT" sz="1400" dirty="0">
                <a:latin typeface="Courier" pitchFamily="2" charset="0"/>
              </a:rPr>
              <a:t> 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    // test di uguaglianza con ==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if</a:t>
            </a:r>
            <a:r>
              <a:rPr lang="it-IT" sz="1400" dirty="0">
                <a:latin typeface="Courier" pitchFamily="2" charset="0"/>
              </a:rPr>
              <a:t> (s1 == "Diego") { // falso; non sono lo stesso oggetto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the </a:t>
            </a:r>
            <a:r>
              <a:rPr lang="it-IT" sz="1400" dirty="0" err="1">
                <a:latin typeface="Courier" pitchFamily="2" charset="0"/>
              </a:rPr>
              <a:t>same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object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as</a:t>
            </a:r>
            <a:r>
              <a:rPr lang="it-IT" sz="1400" dirty="0">
                <a:latin typeface="Courier" pitchFamily="2" charset="0"/>
              </a:rPr>
              <a:t> 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    else {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not</a:t>
            </a:r>
            <a:r>
              <a:rPr lang="it-IT" sz="1400" dirty="0">
                <a:latin typeface="Courier" pitchFamily="2" charset="0"/>
              </a:rPr>
              <a:t> the </a:t>
            </a:r>
            <a:r>
              <a:rPr lang="it-IT" sz="1400" dirty="0" err="1">
                <a:latin typeface="Courier" pitchFamily="2" charset="0"/>
              </a:rPr>
              <a:t>same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object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as</a:t>
            </a:r>
            <a:r>
              <a:rPr lang="it-IT" sz="1400" dirty="0">
                <a:latin typeface="Courier" pitchFamily="2" charset="0"/>
              </a:rPr>
              <a:t> 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}</a:t>
            </a:r>
            <a:endParaRPr lang="it-IT" dirty="0">
              <a:latin typeface="Courier" pitchFamily="2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317A437-0EAE-1F1D-719C-C41ADB494782}"/>
              </a:ext>
            </a:extLst>
          </p:cNvPr>
          <p:cNvSpPr txBox="1"/>
          <p:nvPr/>
        </p:nvSpPr>
        <p:spPr>
          <a:xfrm>
            <a:off x="35496" y="4504371"/>
            <a:ext cx="9118908" cy="23083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Il metodo </a:t>
            </a:r>
            <a:r>
              <a:rPr lang="it-IT" sz="1600" dirty="0" err="1"/>
              <a:t>equals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(un metodo di </a:t>
            </a:r>
            <a:r>
              <a:rPr lang="it-IT" sz="1600" dirty="0"/>
              <a:t>Object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sovrascritto in </a:t>
            </a:r>
            <a:r>
              <a:rPr lang="it-IT" sz="1600" dirty="0" err="1"/>
              <a:t>String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) confronta tra loro la stringa </a:t>
            </a:r>
            <a:r>
              <a:rPr lang="it-IT" sz="1600" dirty="0"/>
              <a:t>s1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e il letterale stringa </a:t>
            </a:r>
            <a:r>
              <a:rPr lang="it-IT" sz="1600" dirty="0"/>
              <a:t>"hello"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e determina se i contenuti delle due stringhe sono </a:t>
            </a:r>
            <a:r>
              <a:rPr lang="it-IT" sz="1600" b="0" i="1" dirty="0">
                <a:solidFill>
                  <a:srgbClr val="333333"/>
                </a:solidFill>
                <a:effectLst/>
                <a:latin typeface="system-ui"/>
              </a:rPr>
              <a:t>identici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. Se lo sono, restituisce </a:t>
            </a:r>
            <a:r>
              <a:rPr lang="it-IT" sz="1600" dirty="0" err="1"/>
              <a:t>true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; altrimenti, restituisce </a:t>
            </a:r>
            <a:r>
              <a:rPr lang="it-IT" sz="1600" dirty="0"/>
              <a:t>false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La condizione precedente è vera perché la stringa </a:t>
            </a:r>
            <a:r>
              <a:rPr lang="it-IT" sz="1600" dirty="0"/>
              <a:t>s1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era stata inizializzata con il letterale </a:t>
            </a:r>
            <a:r>
              <a:rPr lang="it-IT" sz="1600" dirty="0"/>
              <a:t>"hello"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Il metodo </a:t>
            </a:r>
            <a:r>
              <a:rPr lang="it-IT" sz="1600" dirty="0" err="1"/>
              <a:t>equals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utilizza un </a:t>
            </a:r>
            <a:r>
              <a:rPr lang="it-IT" sz="1600" b="1" i="0" dirty="0">
                <a:solidFill>
                  <a:srgbClr val="333333"/>
                </a:solidFill>
                <a:effectLst/>
                <a:latin typeface="system-ui"/>
              </a:rPr>
              <a:t>confronto lessicografico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: confronta i valori interi Unicode, che rappresentano ciascun carattere in ogni stringa.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Quindi, se la stringa "Diego</a:t>
            </a:r>
            <a:r>
              <a:rPr lang="it-IT" sz="1600" dirty="0"/>
              <a:t>"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viene confrontata con la stringa </a:t>
            </a:r>
            <a:r>
              <a:rPr lang="it-IT" sz="1600" dirty="0"/>
              <a:t>"DIEGO"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, il risultato è </a:t>
            </a:r>
            <a:r>
              <a:rPr lang="it-IT" sz="1600" dirty="0"/>
              <a:t>false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, perché la rappresentazione con interi di una lettera minuscola è diversa da quella della maiuscola corrispondente.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333333"/>
                </a:solidFill>
                <a:latin typeface="system-ui"/>
              </a:rPr>
              <a:t>Si può utilizzare </a:t>
            </a:r>
            <a:r>
              <a:rPr lang="it-IT" sz="1600" dirty="0" err="1">
                <a:solidFill>
                  <a:srgbClr val="333333"/>
                </a:solidFill>
                <a:latin typeface="system-ui"/>
              </a:rPr>
              <a:t>equalsIgnoreCase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217632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29ADC-CB7C-CF1D-E83F-B3526120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DB6A58-3FA0-1816-1309-9819DB5FE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714474"/>
          </a:xfrm>
        </p:spPr>
        <p:txBody>
          <a:bodyPr/>
          <a:lstStyle/>
          <a:p>
            <a:r>
              <a:rPr lang="it-IT"/>
              <a:t>Esempio di confronto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AB8712E-7C02-9DB5-A78F-FE6334AC464A}"/>
              </a:ext>
            </a:extLst>
          </p:cNvPr>
          <p:cNvSpPr txBox="1"/>
          <p:nvPr/>
        </p:nvSpPr>
        <p:spPr>
          <a:xfrm>
            <a:off x="144016" y="764704"/>
            <a:ext cx="8892480" cy="375487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sz="1400" dirty="0">
                <a:latin typeface="Courier" pitchFamily="2" charset="0"/>
              </a:rPr>
              <a:t>public </a:t>
            </a:r>
            <a:r>
              <a:rPr lang="it-IT" sz="1400" dirty="0" err="1">
                <a:latin typeface="Courier" pitchFamily="2" charset="0"/>
              </a:rPr>
              <a:t>static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void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main</a:t>
            </a:r>
            <a:r>
              <a:rPr lang="it-IT" sz="1400" dirty="0">
                <a:latin typeface="Courier" pitchFamily="2" charset="0"/>
              </a:rPr>
              <a:t>(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[] </a:t>
            </a:r>
            <a:r>
              <a:rPr lang="it-IT" sz="1400" dirty="0" err="1">
                <a:latin typeface="Courier" pitchFamily="2" charset="0"/>
              </a:rPr>
              <a:t>args</a:t>
            </a:r>
            <a:r>
              <a:rPr lang="it-IT" sz="1400" dirty="0">
                <a:latin typeface="Courier" pitchFamily="2" charset="0"/>
              </a:rPr>
              <a:t>) {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s1 = new </a:t>
            </a:r>
            <a:r>
              <a:rPr lang="it-IT" sz="1400" dirty="0" err="1">
                <a:highlight>
                  <a:srgbClr val="FFFF00"/>
                </a:highlight>
                <a:latin typeface="Courier" pitchFamily="2" charset="0"/>
              </a:rPr>
              <a:t>String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("Diego");</a:t>
            </a:r>
            <a:r>
              <a:rPr lang="it-IT" sz="1400" dirty="0">
                <a:latin typeface="Courier" pitchFamily="2" charset="0"/>
              </a:rPr>
              <a:t> // s1 è una copia di "hello</a:t>
            </a:r>
          </a:p>
          <a:p>
            <a:r>
              <a:rPr lang="it-IT" sz="1400" dirty="0">
                <a:latin typeface="Courier" pitchFamily="2" charset="0"/>
              </a:rPr>
              <a:t>             // test di uguaglianza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if</a:t>
            </a:r>
            <a:r>
              <a:rPr lang="it-IT" sz="1400" dirty="0">
                <a:latin typeface="Courier" pitchFamily="2" charset="0"/>
              </a:rPr>
              <a:t> (s1.equals("Diego")) { // vero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equals</a:t>
            </a:r>
            <a:r>
              <a:rPr lang="it-IT" sz="1400" dirty="0">
                <a:latin typeface="Courier" pitchFamily="2" charset="0"/>
              </a:rPr>
              <a:t> \"Diego\"");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    else {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does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not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equal</a:t>
            </a:r>
            <a:r>
              <a:rPr lang="it-IT" sz="1400" dirty="0">
                <a:latin typeface="Courier" pitchFamily="2" charset="0"/>
              </a:rPr>
              <a:t> \"Diego\"");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    // test di uguaglianza con ==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if</a:t>
            </a:r>
            <a:r>
              <a:rPr lang="it-IT" sz="1400" dirty="0">
                <a:latin typeface="Courier" pitchFamily="2" charset="0"/>
              </a:rPr>
              <a:t> (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s1 == "Diego"</a:t>
            </a:r>
            <a:r>
              <a:rPr lang="it-IT" sz="1400" dirty="0">
                <a:latin typeface="Courier" pitchFamily="2" charset="0"/>
              </a:rPr>
              <a:t>) { // falso; non sono lo stesso oggetto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the </a:t>
            </a:r>
            <a:r>
              <a:rPr lang="it-IT" sz="1400" dirty="0" err="1">
                <a:latin typeface="Courier" pitchFamily="2" charset="0"/>
              </a:rPr>
              <a:t>same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object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as</a:t>
            </a:r>
            <a:r>
              <a:rPr lang="it-IT" sz="1400" dirty="0">
                <a:latin typeface="Courier" pitchFamily="2" charset="0"/>
              </a:rPr>
              <a:t> \"Diego\"");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    else {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not</a:t>
            </a:r>
            <a:r>
              <a:rPr lang="it-IT" sz="1400" dirty="0">
                <a:latin typeface="Courier" pitchFamily="2" charset="0"/>
              </a:rPr>
              <a:t> the </a:t>
            </a:r>
            <a:r>
              <a:rPr lang="it-IT" sz="1400" dirty="0" err="1">
                <a:latin typeface="Courier" pitchFamily="2" charset="0"/>
              </a:rPr>
              <a:t>same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object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as</a:t>
            </a:r>
            <a:r>
              <a:rPr lang="it-IT" sz="1400" dirty="0">
                <a:latin typeface="Courier" pitchFamily="2" charset="0"/>
              </a:rPr>
              <a:t> \"Diego\"");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}</a:t>
            </a:r>
            <a:endParaRPr lang="it-IT" dirty="0">
              <a:latin typeface="Courier" pitchFamily="2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4A33A5E-F1ED-0727-0BE5-7D31367776D5}"/>
              </a:ext>
            </a:extLst>
          </p:cNvPr>
          <p:cNvSpPr txBox="1"/>
          <p:nvPr/>
        </p:nvSpPr>
        <p:spPr>
          <a:xfrm>
            <a:off x="35496" y="4504371"/>
            <a:ext cx="9118908" cy="15696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333333"/>
                </a:solidFill>
                <a:latin typeface="system-ui"/>
              </a:rPr>
              <a:t>In questo caso l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’operatore di uguaglianza == è usato per confrontare la stringa s1 con il letterale stringa "hello".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Quando si confrontano valori di tipi primitivi utilizzando == , il risultato è </a:t>
            </a:r>
            <a:r>
              <a:rPr lang="it-IT" sz="1600" b="0" i="0" err="1">
                <a:solidFill>
                  <a:srgbClr val="333333"/>
                </a:solidFill>
                <a:effectLst/>
                <a:latin typeface="system-ui"/>
              </a:rPr>
              <a:t>true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se entrambi i valori sono identici;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quando si confrontano riferimenti, il risultato è </a:t>
            </a:r>
            <a:r>
              <a:rPr lang="it-IT" sz="1600" b="0" i="0" err="1">
                <a:solidFill>
                  <a:srgbClr val="333333"/>
                </a:solidFill>
                <a:effectLst/>
                <a:latin typeface="system-ui"/>
              </a:rPr>
              <a:t>true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se entrambi i riferimenti fanno riferimento al medesimo oggetto in memoria. </a:t>
            </a:r>
            <a:endParaRPr lang="it-IT" sz="1600"/>
          </a:p>
        </p:txBody>
      </p:sp>
    </p:spTree>
    <p:extLst>
      <p:ext uri="{BB962C8B-B14F-4D97-AF65-F5344CB8AC3E}">
        <p14:creationId xmlns:p14="http://schemas.microsoft.com/office/powerpoint/2010/main" val="148496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4BEAC-E40E-BCA5-01FE-74D2D5C4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095374-3696-E5A6-ED5D-F6F63E52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-27384"/>
            <a:ext cx="7543800" cy="714474"/>
          </a:xfrm>
        </p:spPr>
        <p:txBody>
          <a:bodyPr/>
          <a:lstStyle/>
          <a:p>
            <a:r>
              <a:rPr lang="it-IT"/>
              <a:t>Esempio di confronto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64D0D92-54DD-8271-A071-691598721F1F}"/>
              </a:ext>
            </a:extLst>
          </p:cNvPr>
          <p:cNvSpPr txBox="1"/>
          <p:nvPr/>
        </p:nvSpPr>
        <p:spPr>
          <a:xfrm>
            <a:off x="144016" y="620688"/>
            <a:ext cx="8892480" cy="375487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sz="1400" dirty="0">
                <a:latin typeface="Courier" pitchFamily="2" charset="0"/>
              </a:rPr>
              <a:t>public </a:t>
            </a:r>
            <a:r>
              <a:rPr lang="it-IT" sz="1400" dirty="0" err="1">
                <a:latin typeface="Courier" pitchFamily="2" charset="0"/>
              </a:rPr>
              <a:t>static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void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main</a:t>
            </a:r>
            <a:r>
              <a:rPr lang="it-IT" sz="1400" dirty="0">
                <a:latin typeface="Courier" pitchFamily="2" charset="0"/>
              </a:rPr>
              <a:t>(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[] </a:t>
            </a:r>
            <a:r>
              <a:rPr lang="it-IT" sz="1400" dirty="0" err="1">
                <a:latin typeface="Courier" pitchFamily="2" charset="0"/>
              </a:rPr>
              <a:t>args</a:t>
            </a:r>
            <a:r>
              <a:rPr lang="it-IT" sz="1400" dirty="0">
                <a:latin typeface="Courier" pitchFamily="2" charset="0"/>
              </a:rPr>
              <a:t>) {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s1 = new </a:t>
            </a:r>
            <a:r>
              <a:rPr lang="it-IT" sz="1400" dirty="0" err="1">
                <a:highlight>
                  <a:srgbClr val="FFFF00"/>
                </a:highlight>
                <a:latin typeface="Courier" pitchFamily="2" charset="0"/>
              </a:rPr>
              <a:t>String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("Diego");</a:t>
            </a:r>
            <a:r>
              <a:rPr lang="it-IT" sz="1400" dirty="0">
                <a:latin typeface="Courier" pitchFamily="2" charset="0"/>
              </a:rPr>
              <a:t> // s1 è una copia di "hello</a:t>
            </a:r>
          </a:p>
          <a:p>
            <a:r>
              <a:rPr lang="it-IT" sz="1400" dirty="0">
                <a:latin typeface="Courier" pitchFamily="2" charset="0"/>
              </a:rPr>
              <a:t>             // test di uguaglianza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if</a:t>
            </a:r>
            <a:r>
              <a:rPr lang="it-IT" sz="1400" dirty="0">
                <a:latin typeface="Courier" pitchFamily="2" charset="0"/>
              </a:rPr>
              <a:t> (s1.equals("Diego")) { // vero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equals</a:t>
            </a:r>
            <a:r>
              <a:rPr lang="it-IT" sz="1400" dirty="0">
                <a:latin typeface="Courier" pitchFamily="2" charset="0"/>
              </a:rPr>
              <a:t> \"Diego\"");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    else {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does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not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equal</a:t>
            </a:r>
            <a:r>
              <a:rPr lang="it-IT" sz="1400" dirty="0">
                <a:latin typeface="Courier" pitchFamily="2" charset="0"/>
              </a:rPr>
              <a:t> \"Diego\"");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    // test di uguaglianza con ==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if</a:t>
            </a:r>
            <a:r>
              <a:rPr lang="it-IT" sz="1400" dirty="0">
                <a:latin typeface="Courier" pitchFamily="2" charset="0"/>
              </a:rPr>
              <a:t> (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s1 == "Diego"</a:t>
            </a:r>
            <a:r>
              <a:rPr lang="it-IT" sz="1400" dirty="0">
                <a:latin typeface="Courier" pitchFamily="2" charset="0"/>
              </a:rPr>
              <a:t>) { // falso; non sono lo stesso oggetto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the </a:t>
            </a:r>
            <a:r>
              <a:rPr lang="it-IT" sz="1400" dirty="0" err="1">
                <a:latin typeface="Courier" pitchFamily="2" charset="0"/>
              </a:rPr>
              <a:t>same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object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as</a:t>
            </a:r>
            <a:r>
              <a:rPr lang="it-IT" sz="1400" dirty="0">
                <a:latin typeface="Courier" pitchFamily="2" charset="0"/>
              </a:rPr>
              <a:t> \"Diego\"");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    else {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("s1 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not</a:t>
            </a:r>
            <a:r>
              <a:rPr lang="it-IT" sz="1400" dirty="0">
                <a:latin typeface="Courier" pitchFamily="2" charset="0"/>
              </a:rPr>
              <a:t> the </a:t>
            </a:r>
            <a:r>
              <a:rPr lang="it-IT" sz="1400" dirty="0" err="1">
                <a:latin typeface="Courier" pitchFamily="2" charset="0"/>
              </a:rPr>
              <a:t>same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object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as</a:t>
            </a:r>
            <a:r>
              <a:rPr lang="it-IT" sz="1400" dirty="0">
                <a:latin typeface="Courier" pitchFamily="2" charset="0"/>
              </a:rPr>
              <a:t> \"Diego\"");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   }</a:t>
            </a:r>
            <a:endParaRPr lang="it-IT" dirty="0">
              <a:latin typeface="Courier" pitchFamily="2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61CE35C-5D46-3145-E9C1-5355A71CC92D}"/>
              </a:ext>
            </a:extLst>
          </p:cNvPr>
          <p:cNvSpPr txBox="1"/>
          <p:nvPr/>
        </p:nvSpPr>
        <p:spPr>
          <a:xfrm>
            <a:off x="35496" y="4293096"/>
            <a:ext cx="9118908" cy="255454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Per confrontare il contenuto effettivo (o indicare informazioni) di oggetti e verificarne l’uguaglianza è necessario invocare un metodo. Nel caso delle stringhe, si invocherà il metodo </a:t>
            </a:r>
            <a:r>
              <a:rPr lang="it-IT" sz="1600" b="0" i="0" dirty="0" err="1">
                <a:solidFill>
                  <a:srgbClr val="333333"/>
                </a:solidFill>
                <a:effectLst/>
                <a:latin typeface="system-ui"/>
              </a:rPr>
              <a:t>equals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La condizione risulta false perché il riferimento s1 era stato inizializzato con l’istruzione </a:t>
            </a:r>
            <a:r>
              <a:rPr lang="it-IT" sz="1600" b="0" i="0" dirty="0">
                <a:solidFill>
                  <a:srgbClr val="E83E8C"/>
                </a:solidFill>
                <a:effectLst/>
                <a:latin typeface="ui-monospace"/>
              </a:rPr>
              <a:t>s1 = new </a:t>
            </a:r>
            <a:r>
              <a:rPr lang="it-IT" sz="1600" b="0" i="0" dirty="0" err="1">
                <a:solidFill>
                  <a:srgbClr val="E83E8C"/>
                </a:solidFill>
                <a:effectLst/>
                <a:latin typeface="ui-monospace"/>
              </a:rPr>
              <a:t>String</a:t>
            </a:r>
            <a:r>
              <a:rPr lang="it-IT" sz="1600" b="0" i="0" dirty="0">
                <a:solidFill>
                  <a:srgbClr val="E83E8C"/>
                </a:solidFill>
                <a:effectLst/>
                <a:latin typeface="ui-monospace"/>
              </a:rPr>
              <a:t>("Diego"); 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che crea un nuovo oggetto </a:t>
            </a:r>
            <a:r>
              <a:rPr lang="it-IT" sz="1600" dirty="0" err="1"/>
              <a:t>String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con una copia del letterale stringa </a:t>
            </a:r>
            <a:r>
              <a:rPr lang="it-IT" sz="1600" dirty="0"/>
              <a:t>"Diego"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e assegna il nuovo oggetto alla variabile </a:t>
            </a:r>
            <a:r>
              <a:rPr lang="it-IT" sz="1600" dirty="0"/>
              <a:t>s1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Se </a:t>
            </a:r>
            <a:r>
              <a:rPr lang="it-IT" sz="1600" dirty="0"/>
              <a:t>s1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fosse stata inizializzata con l’istruzione </a:t>
            </a:r>
            <a:r>
              <a:rPr lang="it-IT" sz="1600" b="0" i="0" dirty="0">
                <a:solidFill>
                  <a:srgbClr val="E83E8C"/>
                </a:solidFill>
                <a:effectLst/>
                <a:latin typeface="ui-monospace"/>
              </a:rPr>
              <a:t>s1 = "Diego"; 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che assegna direttamente il letterale stringa </a:t>
            </a:r>
            <a:r>
              <a:rPr lang="it-IT" sz="1600" dirty="0"/>
              <a:t>"Diego"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alla variabile </a:t>
            </a:r>
            <a:r>
              <a:rPr lang="it-IT" sz="1600" dirty="0"/>
              <a:t>s1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, la condizione sarebbe risultata </a:t>
            </a:r>
            <a:r>
              <a:rPr lang="it-IT" sz="1600" dirty="0" err="1"/>
              <a:t>true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. Si ricordi che </a:t>
            </a:r>
            <a:r>
              <a:rPr lang="it-IT" sz="1600" b="1" i="0" dirty="0">
                <a:solidFill>
                  <a:srgbClr val="333333"/>
                </a:solidFill>
                <a:effectLst/>
                <a:latin typeface="system-ui"/>
              </a:rPr>
              <a:t>Java tratta tutti gli oggetti letterali stringa aventi il medesimo contenuto come un unico oggetto </a:t>
            </a:r>
            <a:r>
              <a:rPr lang="it-IT" sz="1600" b="1" dirty="0" err="1"/>
              <a:t>String</a:t>
            </a:r>
            <a:r>
              <a:rPr lang="it-IT" sz="1600" b="1" i="0" dirty="0">
                <a:solidFill>
                  <a:srgbClr val="333333"/>
                </a:solidFill>
                <a:effectLst/>
                <a:latin typeface="system-ui"/>
              </a:rPr>
              <a:t> con più riferimenti. Quindi se avessimo avuto più letterali </a:t>
            </a:r>
            <a:r>
              <a:rPr lang="it-IT" sz="1600" b="1" dirty="0"/>
              <a:t>"Diego"</a:t>
            </a:r>
            <a:r>
              <a:rPr lang="it-IT" sz="1600" b="1" dirty="0">
                <a:solidFill>
                  <a:srgbClr val="333333"/>
                </a:solidFill>
                <a:latin typeface="system-ui"/>
              </a:rPr>
              <a:t>,</a:t>
            </a:r>
            <a:r>
              <a:rPr lang="it-IT" sz="1600" b="1" i="0" dirty="0">
                <a:solidFill>
                  <a:srgbClr val="333333"/>
                </a:solidFill>
                <a:effectLst/>
                <a:latin typeface="system-ui"/>
              </a:rPr>
              <a:t> tutti avrebbero fatto riferimento allo stesso oggetto </a:t>
            </a:r>
            <a:r>
              <a:rPr lang="it-IT" sz="1600" b="1" dirty="0" err="1"/>
              <a:t>String</a:t>
            </a:r>
            <a:r>
              <a:rPr lang="it-IT" sz="1600" b="1" i="0" dirty="0">
                <a:solidFill>
                  <a:srgbClr val="333333"/>
                </a:solidFill>
                <a:effectLst/>
                <a:latin typeface="system-ui"/>
              </a:rPr>
              <a:t>.</a:t>
            </a:r>
            <a:endParaRPr lang="it-IT" sz="1600" b="1" dirty="0"/>
          </a:p>
        </p:txBody>
      </p:sp>
    </p:spTree>
    <p:extLst>
      <p:ext uri="{BB962C8B-B14F-4D97-AF65-F5344CB8AC3E}">
        <p14:creationId xmlns:p14="http://schemas.microsoft.com/office/powerpoint/2010/main" val="3867268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3C8EC6-6B3B-3E84-9FAC-6D68CBCCD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24" y="-291223"/>
            <a:ext cx="7543800" cy="1295400"/>
          </a:xfrm>
        </p:spPr>
        <p:txBody>
          <a:bodyPr/>
          <a:lstStyle/>
          <a:p>
            <a:r>
              <a:rPr lang="it-IT" dirty="0"/>
              <a:t>Concatenazione di stringhe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34D273B-BF79-1E78-0D40-40D6EEB3D08F}"/>
              </a:ext>
            </a:extLst>
          </p:cNvPr>
          <p:cNvSpPr txBox="1"/>
          <p:nvPr/>
        </p:nvSpPr>
        <p:spPr>
          <a:xfrm>
            <a:off x="287524" y="2405523"/>
            <a:ext cx="9001000" cy="23083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latin typeface="Courier" pitchFamily="2" charset="0"/>
              </a:rPr>
              <a:t>public </a:t>
            </a:r>
            <a:r>
              <a:rPr lang="it-IT" err="1">
                <a:latin typeface="Courier" pitchFamily="2" charset="0"/>
              </a:rPr>
              <a:t>static</a:t>
            </a:r>
            <a:r>
              <a:rPr lang="it-IT">
                <a:latin typeface="Courier" pitchFamily="2" charset="0"/>
              </a:rPr>
              <a:t> </a:t>
            </a:r>
            <a:r>
              <a:rPr lang="it-IT" err="1">
                <a:latin typeface="Courier" pitchFamily="2" charset="0"/>
              </a:rPr>
              <a:t>void</a:t>
            </a:r>
            <a:r>
              <a:rPr lang="it-IT">
                <a:latin typeface="Courier" pitchFamily="2" charset="0"/>
              </a:rPr>
              <a:t> </a:t>
            </a:r>
            <a:r>
              <a:rPr lang="it-IT" err="1">
                <a:latin typeface="Courier" pitchFamily="2" charset="0"/>
              </a:rPr>
              <a:t>main</a:t>
            </a:r>
            <a:r>
              <a:rPr lang="it-IT">
                <a:latin typeface="Courier" pitchFamily="2" charset="0"/>
              </a:rPr>
              <a:t>(</a:t>
            </a:r>
            <a:r>
              <a:rPr lang="it-IT" err="1">
                <a:latin typeface="Courier" pitchFamily="2" charset="0"/>
              </a:rPr>
              <a:t>String</a:t>
            </a:r>
            <a:r>
              <a:rPr lang="it-IT">
                <a:latin typeface="Courier" pitchFamily="2" charset="0"/>
              </a:rPr>
              <a:t>[] </a:t>
            </a:r>
            <a:r>
              <a:rPr lang="it-IT" err="1">
                <a:latin typeface="Courier" pitchFamily="2" charset="0"/>
              </a:rPr>
              <a:t>args</a:t>
            </a:r>
            <a:r>
              <a:rPr lang="it-IT">
                <a:latin typeface="Courier" pitchFamily="2" charset="0"/>
              </a:rPr>
              <a:t>) {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</a:t>
            </a:r>
            <a:r>
              <a:rPr lang="it-IT">
                <a:latin typeface="Courier" pitchFamily="2" charset="0"/>
              </a:rPr>
              <a:t> s1 = "Diego ";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</a:t>
            </a:r>
            <a:r>
              <a:rPr lang="it-IT">
                <a:latin typeface="Courier" pitchFamily="2" charset="0"/>
              </a:rPr>
              <a:t> s2 = "Maradona";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("s1 = %s%ns2 = %s%n%n",s1, s2);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</a:t>
            </a:r>
          </a:p>
          <a:p>
            <a:r>
              <a:rPr lang="it-IT">
                <a:latin typeface="Courier" pitchFamily="2" charset="0"/>
              </a:rPr>
              <a:t>        "</a:t>
            </a:r>
            <a:r>
              <a:rPr lang="it-IT" err="1">
                <a:latin typeface="Courier" pitchFamily="2" charset="0"/>
              </a:rPr>
              <a:t>Result</a:t>
            </a:r>
            <a:r>
              <a:rPr lang="it-IT">
                <a:latin typeface="Courier" pitchFamily="2" charset="0"/>
              </a:rPr>
              <a:t> of s1.concat(s2) = %</a:t>
            </a:r>
            <a:r>
              <a:rPr lang="it-IT" err="1">
                <a:latin typeface="Courier" pitchFamily="2" charset="0"/>
              </a:rPr>
              <a:t>s%n</a:t>
            </a:r>
            <a:r>
              <a:rPr lang="it-IT">
                <a:latin typeface="Courier" pitchFamily="2" charset="0"/>
              </a:rPr>
              <a:t>", s1.concat(s2));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("s1 after </a:t>
            </a:r>
            <a:r>
              <a:rPr lang="it-IT" err="1">
                <a:latin typeface="Courier" pitchFamily="2" charset="0"/>
              </a:rPr>
              <a:t>concatenation</a:t>
            </a:r>
            <a:r>
              <a:rPr lang="it-IT">
                <a:latin typeface="Courier" pitchFamily="2" charset="0"/>
              </a:rPr>
              <a:t> = %</a:t>
            </a:r>
            <a:r>
              <a:rPr lang="it-IT" err="1">
                <a:latin typeface="Courier" pitchFamily="2" charset="0"/>
              </a:rPr>
              <a:t>s%n</a:t>
            </a:r>
            <a:r>
              <a:rPr lang="it-IT">
                <a:latin typeface="Courier" pitchFamily="2" charset="0"/>
              </a:rPr>
              <a:t>", s1);</a:t>
            </a:r>
          </a:p>
          <a:p>
            <a:r>
              <a:rPr lang="it-IT">
                <a:latin typeface="Courier" pitchFamily="2" charset="0"/>
              </a:rPr>
              <a:t>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1763931-9AD1-6C7D-BAD6-AEDBCAA2C932}"/>
              </a:ext>
            </a:extLst>
          </p:cNvPr>
          <p:cNvSpPr txBox="1"/>
          <p:nvPr/>
        </p:nvSpPr>
        <p:spPr>
          <a:xfrm>
            <a:off x="287524" y="5091354"/>
            <a:ext cx="6120680" cy="147732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s1 = Diego 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s2 = Maradona</a:t>
            </a:r>
          </a:p>
          <a:p>
            <a:pPr algn="l"/>
            <a:endParaRPr lang="it-IT" b="0" i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it-IT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Result</a:t>
            </a:r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of s1.concat(s2) = Diego Maradona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s1 after </a:t>
            </a:r>
            <a:r>
              <a:rPr lang="it-IT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concatenation</a:t>
            </a:r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Diego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299B76-1226-566E-FFC5-2BD2E56A2C31}"/>
              </a:ext>
            </a:extLst>
          </p:cNvPr>
          <p:cNvSpPr txBox="1"/>
          <p:nvPr/>
        </p:nvSpPr>
        <p:spPr>
          <a:xfrm>
            <a:off x="179512" y="4798004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  <p:sp>
        <p:nvSpPr>
          <p:cNvPr id="8" name="Callout 13 7">
            <a:extLst>
              <a:ext uri="{FF2B5EF4-FFF2-40B4-BE49-F238E27FC236}">
                <a16:creationId xmlns:a16="http://schemas.microsoft.com/office/drawing/2014/main" id="{992EDD7D-BDC6-7680-DD77-5506CDD445B5}"/>
              </a:ext>
            </a:extLst>
          </p:cNvPr>
          <p:cNvSpPr/>
          <p:nvPr/>
        </p:nvSpPr>
        <p:spPr bwMode="auto">
          <a:xfrm>
            <a:off x="7056276" y="5506852"/>
            <a:ext cx="1800200" cy="646331"/>
          </a:xfrm>
          <a:prstGeom prst="accentBorderCallout1">
            <a:avLst>
              <a:gd name="adj1" fmla="val -2280"/>
              <a:gd name="adj2" fmla="val 98061"/>
              <a:gd name="adj3" fmla="val -217403"/>
              <a:gd name="adj4" fmla="val 7576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Equivalente a s1+s2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2A71461-C98F-6456-0FD0-51AE32E86FDC}"/>
              </a:ext>
            </a:extLst>
          </p:cNvPr>
          <p:cNvSpPr txBox="1"/>
          <p:nvPr/>
        </p:nvSpPr>
        <p:spPr>
          <a:xfrm>
            <a:off x="287524" y="1188814"/>
            <a:ext cx="8016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i="1" dirty="0">
                <a:effectLst/>
                <a:latin typeface="Helvetica" pitchFamily="2" charset="0"/>
              </a:rPr>
              <a:t>Il metodo </a:t>
            </a:r>
            <a:r>
              <a:rPr lang="it-IT" b="1" i="1" dirty="0" err="1">
                <a:effectLst/>
                <a:latin typeface="Helvetica" pitchFamily="2" charset="0"/>
              </a:rPr>
              <a:t>concat</a:t>
            </a:r>
            <a:r>
              <a:rPr lang="it-IT" b="1" i="1" dirty="0">
                <a:effectLst/>
                <a:latin typeface="Helvetica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concatena due oggetti stringa: restituisce il riferimento ad un nuovo oggetto </a:t>
            </a:r>
            <a:r>
              <a:rPr lang="it-IT" i="1" dirty="0" err="1">
                <a:effectLst/>
                <a:latin typeface="Helvetica" pitchFamily="2" charset="0"/>
              </a:rPr>
              <a:t>String</a:t>
            </a:r>
            <a:r>
              <a:rPr lang="it-IT" i="1" dirty="0">
                <a:effectLst/>
                <a:latin typeface="Helvetica" pitchFamily="2" charset="0"/>
              </a:rPr>
              <a:t> contenente i caratteri di entrambe le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stringhe originali</a:t>
            </a:r>
            <a:endParaRPr lang="it-IT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38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0EEE57-56F5-6B78-3AEA-5FFC75193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22166"/>
            <a:ext cx="7543800" cy="1295400"/>
          </a:xfrm>
        </p:spPr>
        <p:txBody>
          <a:bodyPr/>
          <a:lstStyle/>
          <a:p>
            <a:r>
              <a:rPr lang="it-IT" dirty="0"/>
              <a:t>Operatori + e +=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1267F7-2C61-BD61-C99B-FE3421520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4232"/>
            <a:ext cx="8406384" cy="5141055"/>
          </a:xfrm>
        </p:spPr>
        <p:txBody>
          <a:bodyPr/>
          <a:lstStyle/>
          <a:p>
            <a:r>
              <a:rPr lang="it-IT" sz="2400" dirty="0"/>
              <a:t>E’ possibile concatenare le stringhe con gli operatori + e +=</a:t>
            </a:r>
          </a:p>
          <a:p>
            <a:r>
              <a:rPr lang="it-IT" sz="2400" dirty="0">
                <a:effectLst/>
                <a:latin typeface="Helvetica" pitchFamily="2" charset="0"/>
              </a:rPr>
              <a:t>Ogni valore primitivo e ogni oggetto</a:t>
            </a:r>
            <a:r>
              <a:rPr lang="it-IT" sz="2400" dirty="0">
                <a:latin typeface="Helvetica" pitchFamily="2" charset="0"/>
              </a:rPr>
              <a:t> </a:t>
            </a:r>
            <a:r>
              <a:rPr lang="it-IT" sz="2400" dirty="0">
                <a:effectLst/>
                <a:latin typeface="Helvetica" pitchFamily="2" charset="0"/>
              </a:rPr>
              <a:t>in Java ha una propria rappresentazione di tipo </a:t>
            </a:r>
            <a:r>
              <a:rPr lang="it-IT" sz="2400" i="1" dirty="0" err="1">
                <a:effectLst/>
                <a:latin typeface="Times" pitchFamily="2" charset="0"/>
              </a:rPr>
              <a:t>String</a:t>
            </a:r>
            <a:endParaRPr lang="it-IT" sz="2400" i="1" dirty="0">
              <a:effectLst/>
              <a:latin typeface="Times" pitchFamily="2" charset="0"/>
            </a:endParaRPr>
          </a:p>
          <a:p>
            <a:r>
              <a:rPr lang="it-IT" sz="2400" dirty="0">
                <a:effectLst/>
                <a:latin typeface="Helvetica" pitchFamily="2" charset="0"/>
              </a:rPr>
              <a:t>Quando uno dei due operandi di </a:t>
            </a:r>
            <a:r>
              <a:rPr lang="it-IT" sz="2400" dirty="0">
                <a:effectLst/>
                <a:latin typeface="Times" pitchFamily="2" charset="0"/>
              </a:rPr>
              <a:t>+ </a:t>
            </a:r>
            <a:r>
              <a:rPr lang="it-IT" sz="2400" dirty="0">
                <a:effectLst/>
                <a:latin typeface="Helvetica" pitchFamily="2" charset="0"/>
              </a:rPr>
              <a:t>è</a:t>
            </a:r>
            <a:r>
              <a:rPr lang="it-IT" sz="2400" dirty="0">
                <a:latin typeface="Helvetica" pitchFamily="2" charset="0"/>
              </a:rPr>
              <a:t> </a:t>
            </a:r>
            <a:r>
              <a:rPr lang="it-IT" sz="2400" dirty="0">
                <a:effectLst/>
                <a:latin typeface="Helvetica" pitchFamily="2" charset="0"/>
              </a:rPr>
              <a:t>una </a:t>
            </a:r>
            <a:r>
              <a:rPr lang="it-IT" sz="2400" i="1" dirty="0" err="1">
                <a:effectLst/>
                <a:latin typeface="Times" pitchFamily="2" charset="0"/>
              </a:rPr>
              <a:t>String</a:t>
            </a:r>
            <a:r>
              <a:rPr lang="it-IT" sz="2400" dirty="0">
                <a:latin typeface="Helvetica" pitchFamily="2" charset="0"/>
              </a:rPr>
              <a:t>, i </a:t>
            </a:r>
            <a:r>
              <a:rPr lang="it-IT" sz="2400" b="1" dirty="0">
                <a:latin typeface="Helvetica" pitchFamily="2" charset="0"/>
              </a:rPr>
              <a:t>valori primitivi </a:t>
            </a:r>
            <a:r>
              <a:rPr lang="it-IT" sz="2400" dirty="0">
                <a:latin typeface="Helvetica" pitchFamily="2" charset="0"/>
              </a:rPr>
              <a:t>sono convertiti</a:t>
            </a:r>
            <a:r>
              <a:rPr lang="it-IT" sz="2400" b="1" dirty="0">
                <a:effectLst/>
                <a:latin typeface="Helvetica" pitchFamily="2" charset="0"/>
              </a:rPr>
              <a:t> </a:t>
            </a:r>
            <a:r>
              <a:rPr lang="it-IT" sz="2400" dirty="0">
                <a:effectLst/>
                <a:latin typeface="Helvetica" pitchFamily="2" charset="0"/>
              </a:rPr>
              <a:t>allo stesso tipo, e i due sono quindi concatenati</a:t>
            </a:r>
          </a:p>
          <a:p>
            <a:pPr marL="0" indent="0" algn="ctr">
              <a:buNone/>
            </a:pPr>
            <a:r>
              <a:rPr lang="it-IT" sz="1800" dirty="0" err="1">
                <a:solidFill>
                  <a:srgbClr val="FF0000"/>
                </a:solidFill>
                <a:effectLst/>
                <a:latin typeface="Helvetica" pitchFamily="2" charset="0"/>
              </a:rPr>
              <a:t>System.out.print</a:t>
            </a:r>
            <a:r>
              <a:rPr lang="it-IT" sz="1800" dirty="0">
                <a:solidFill>
                  <a:srgbClr val="FF0000"/>
                </a:solidFill>
                <a:effectLst/>
                <a:latin typeface="Helvetica" pitchFamily="2" charset="0"/>
              </a:rPr>
              <a:t>("valore corrente del contatore c dopo l'incremento: " + </a:t>
            </a:r>
            <a:r>
              <a:rPr lang="it-IT" sz="1800" dirty="0" err="1">
                <a:solidFill>
                  <a:srgbClr val="FF0000"/>
                </a:solidFill>
                <a:effectLst/>
                <a:latin typeface="Helvetica" pitchFamily="2" charset="0"/>
              </a:rPr>
              <a:t>c.get_value</a:t>
            </a:r>
            <a:r>
              <a:rPr lang="it-IT" sz="1800" dirty="0">
                <a:solidFill>
                  <a:srgbClr val="FF0000"/>
                </a:solidFill>
                <a:effectLst/>
                <a:latin typeface="Helvetica" pitchFamily="2" charset="0"/>
              </a:rPr>
              <a:t>());</a:t>
            </a:r>
            <a:endParaRPr lang="it-IT" sz="1800" i="1" dirty="0">
              <a:effectLst/>
              <a:latin typeface="Helvetica" pitchFamily="2" charset="0"/>
            </a:endParaRPr>
          </a:p>
          <a:p>
            <a:r>
              <a:rPr lang="it-IT" sz="2400" dirty="0">
                <a:effectLst/>
                <a:latin typeface="Helvetica" pitchFamily="2" charset="0"/>
              </a:rPr>
              <a:t>Un valore booleano è tradotto in</a:t>
            </a:r>
            <a:r>
              <a:rPr lang="it-IT" sz="2400" dirty="0">
                <a:latin typeface="Helvetica" pitchFamily="2" charset="0"/>
              </a:rPr>
              <a:t> </a:t>
            </a:r>
            <a:r>
              <a:rPr lang="it-IT" sz="2400" dirty="0">
                <a:effectLst/>
                <a:latin typeface="Helvetica" pitchFamily="2" charset="0"/>
              </a:rPr>
              <a:t>una delle due stringhe </a:t>
            </a:r>
            <a:r>
              <a:rPr lang="it-IT" sz="2400" i="1" dirty="0">
                <a:effectLst/>
                <a:latin typeface="Times" pitchFamily="2" charset="0"/>
              </a:rPr>
              <a:t>"</a:t>
            </a:r>
            <a:r>
              <a:rPr lang="it-IT" sz="2400" i="1" dirty="0" err="1">
                <a:effectLst/>
                <a:latin typeface="Times" pitchFamily="2" charset="0"/>
              </a:rPr>
              <a:t>true</a:t>
            </a:r>
            <a:r>
              <a:rPr lang="it-IT" sz="2400" i="1" dirty="0">
                <a:effectLst/>
                <a:latin typeface="Times" pitchFamily="2" charset="0"/>
              </a:rPr>
              <a:t>" </a:t>
            </a:r>
            <a:r>
              <a:rPr lang="it-IT" sz="2400" i="1" dirty="0">
                <a:effectLst/>
                <a:latin typeface="Helvetica" pitchFamily="2" charset="0"/>
              </a:rPr>
              <a:t>e </a:t>
            </a:r>
            <a:r>
              <a:rPr lang="it-IT" sz="2400" i="1" dirty="0">
                <a:effectLst/>
                <a:latin typeface="Times" pitchFamily="2" charset="0"/>
              </a:rPr>
              <a:t>"false»</a:t>
            </a:r>
          </a:p>
          <a:p>
            <a:r>
              <a:rPr lang="it-IT" sz="2400" i="1" dirty="0">
                <a:latin typeface="Times" pitchFamily="2" charset="0"/>
              </a:rPr>
              <a:t>Che succede se l’altro operando è invece un riferimento ad oggetto?</a:t>
            </a:r>
            <a:endParaRPr lang="it-IT" sz="2400" i="1" dirty="0">
              <a:effectLst/>
              <a:latin typeface="Times" pitchFamily="2" charset="0"/>
            </a:endParaRPr>
          </a:p>
          <a:p>
            <a:pPr marL="0" indent="0">
              <a:buNone/>
            </a:pPr>
            <a:endParaRPr lang="it-IT" dirty="0">
              <a:effectLst/>
              <a:latin typeface="Helvetica" pitchFamily="2" charset="0"/>
            </a:endParaRPr>
          </a:p>
          <a:p>
            <a:endParaRPr lang="it-IT" dirty="0">
              <a:effectLst/>
              <a:latin typeface="Helvetica" pitchFamily="2" charset="0"/>
            </a:endParaRP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3429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D9FCCC-49DD-DB7E-9354-2E7F84B0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31330"/>
            <a:ext cx="7543800" cy="1295400"/>
          </a:xfrm>
        </p:spPr>
        <p:txBody>
          <a:bodyPr/>
          <a:lstStyle/>
          <a:p>
            <a:r>
              <a:rPr lang="it-IT" dirty="0"/>
              <a:t>Il metodo </a:t>
            </a:r>
            <a:r>
              <a:rPr lang="it-IT" i="1" dirty="0" err="1"/>
              <a:t>toString</a:t>
            </a:r>
            <a:endParaRPr lang="it-IT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600503-F31E-4410-CFCB-DA1538BBF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0079"/>
            <a:ext cx="8229600" cy="4411662"/>
          </a:xfrm>
        </p:spPr>
        <p:txBody>
          <a:bodyPr/>
          <a:lstStyle/>
          <a:p>
            <a:r>
              <a:rPr lang="it-IT" dirty="0">
                <a:effectLst/>
                <a:latin typeface="Helvetica" pitchFamily="2" charset="0"/>
              </a:rPr>
              <a:t>In Java tutti </a:t>
            </a:r>
            <a:r>
              <a:rPr lang="it-IT" b="1" dirty="0">
                <a:effectLst/>
                <a:latin typeface="Helvetica" pitchFamily="2" charset="0"/>
              </a:rPr>
              <a:t>gli oggetti </a:t>
            </a:r>
            <a:r>
              <a:rPr lang="it-IT" dirty="0">
                <a:effectLst/>
                <a:latin typeface="Helvetica" pitchFamily="2" charset="0"/>
              </a:rPr>
              <a:t>hanno un metodo </a:t>
            </a:r>
            <a:r>
              <a:rPr lang="it-IT" b="1" i="1" dirty="0" err="1">
                <a:effectLst/>
                <a:latin typeface="Times" pitchFamily="2" charset="0"/>
              </a:rPr>
              <a:t>toString</a:t>
            </a:r>
            <a:r>
              <a:rPr lang="it-IT" dirty="0">
                <a:effectLst/>
                <a:latin typeface="Times" pitchFamily="2" charset="0"/>
              </a:rPr>
              <a:t> </a:t>
            </a:r>
            <a:r>
              <a:rPr lang="it-IT" dirty="0">
                <a:effectLst/>
                <a:latin typeface="Helvetica" pitchFamily="2" charset="0"/>
              </a:rPr>
              <a:t>che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dirty="0">
                <a:effectLst/>
                <a:latin typeface="Helvetica" pitchFamily="2" charset="0"/>
              </a:rPr>
              <a:t>restituisce una loro rappresentazione in formato </a:t>
            </a:r>
            <a:r>
              <a:rPr lang="it-IT" i="1" dirty="0" err="1">
                <a:effectLst/>
                <a:latin typeface="Times" pitchFamily="2" charset="0"/>
              </a:rPr>
              <a:t>String</a:t>
            </a:r>
            <a:endParaRPr lang="it-IT" i="1" dirty="0">
              <a:effectLst/>
              <a:latin typeface="Times" pitchFamily="2" charset="0"/>
            </a:endParaRPr>
          </a:p>
          <a:p>
            <a:r>
              <a:rPr lang="it-IT" dirty="0">
                <a:effectLst/>
                <a:latin typeface="Helvetica" pitchFamily="2" charset="0"/>
              </a:rPr>
              <a:t>Quando un oggetto è concatenato a una stringa, </a:t>
            </a:r>
            <a:r>
              <a:rPr lang="it-IT" b="1" dirty="0">
                <a:effectLst/>
                <a:latin typeface="Helvetica" pitchFamily="2" charset="0"/>
              </a:rPr>
              <a:t>Java invoca implicitamente</a:t>
            </a:r>
            <a:r>
              <a:rPr lang="it-IT" b="1" dirty="0">
                <a:latin typeface="Helvetica" pitchFamily="2" charset="0"/>
              </a:rPr>
              <a:t> </a:t>
            </a:r>
            <a:r>
              <a:rPr lang="it-IT" b="1" dirty="0">
                <a:effectLst/>
                <a:latin typeface="Helvetica" pitchFamily="2" charset="0"/>
              </a:rPr>
              <a:t>il metodo </a:t>
            </a:r>
            <a:r>
              <a:rPr lang="it-IT" b="1" i="1" dirty="0" err="1">
                <a:effectLst/>
                <a:latin typeface="Times" pitchFamily="2" charset="0"/>
              </a:rPr>
              <a:t>toString</a:t>
            </a:r>
            <a:r>
              <a:rPr lang="it-IT" i="1" dirty="0">
                <a:effectLst/>
                <a:latin typeface="Times" pitchFamily="2" charset="0"/>
              </a:rPr>
              <a:t> </a:t>
            </a:r>
            <a:r>
              <a:rPr lang="it-IT" dirty="0">
                <a:effectLst/>
                <a:latin typeface="Helvetica" pitchFamily="2" charset="0"/>
              </a:rPr>
              <a:t>di quell’oggetto e ne restituisce la rappresentazione in formato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i="1" dirty="0" err="1">
                <a:effectLst/>
                <a:latin typeface="Times" pitchFamily="2" charset="0"/>
              </a:rPr>
              <a:t>String</a:t>
            </a:r>
            <a:endParaRPr lang="it-IT" i="1" dirty="0">
              <a:effectLst/>
              <a:latin typeface="Times" pitchFamily="2" charset="0"/>
            </a:endParaRPr>
          </a:p>
          <a:p>
            <a:r>
              <a:rPr lang="it-IT" dirty="0">
                <a:effectLst/>
                <a:latin typeface="Helvetica" pitchFamily="2" charset="0"/>
              </a:rPr>
              <a:t>Il metodo </a:t>
            </a:r>
            <a:r>
              <a:rPr lang="it-IT" i="1" dirty="0" err="1">
                <a:effectLst/>
                <a:latin typeface="Times" pitchFamily="2" charset="0"/>
              </a:rPr>
              <a:t>toString</a:t>
            </a:r>
            <a:r>
              <a:rPr lang="it-IT" i="1" dirty="0">
                <a:effectLst/>
                <a:latin typeface="Times" pitchFamily="2" charset="0"/>
              </a:rPr>
              <a:t> </a:t>
            </a:r>
            <a:r>
              <a:rPr lang="it-IT" dirty="0">
                <a:effectLst/>
                <a:latin typeface="Helvetica" pitchFamily="2" charset="0"/>
              </a:rPr>
              <a:t>può anche essere invocato esplicitamente.</a:t>
            </a:r>
          </a:p>
          <a:p>
            <a:pPr marL="0" indent="0">
              <a:buNone/>
            </a:pPr>
            <a:endParaRPr lang="it-IT" i="1" dirty="0">
              <a:latin typeface="Helvetica" pitchFamily="2" charset="0"/>
            </a:endParaRPr>
          </a:p>
          <a:p>
            <a:endParaRPr lang="it-IT" dirty="0">
              <a:effectLst/>
              <a:latin typeface="Times" pitchFamily="2" charset="0"/>
            </a:endParaRPr>
          </a:p>
          <a:p>
            <a:endParaRPr lang="it-IT" dirty="0">
              <a:effectLst/>
              <a:latin typeface="Helvetica" pitchFamily="2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476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F19730-6C95-8A07-6BC3-FF17299A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53250"/>
            <a:ext cx="7543800" cy="1295400"/>
          </a:xfrm>
        </p:spPr>
        <p:txBody>
          <a:bodyPr/>
          <a:lstStyle/>
          <a:p>
            <a:r>
              <a:rPr lang="it-IT" dirty="0"/>
              <a:t>(Alcuni) altri metodi di </a:t>
            </a:r>
            <a:r>
              <a:rPr lang="it-IT" dirty="0" err="1"/>
              <a:t>String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3AAB93-82CE-C4E0-58C0-AAC064879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8241"/>
            <a:ext cx="8229600" cy="4411662"/>
          </a:xfrm>
        </p:spPr>
        <p:txBody>
          <a:bodyPr/>
          <a:lstStyle/>
          <a:p>
            <a:r>
              <a:rPr lang="it-IT" dirty="0"/>
              <a:t>Localizzazione</a:t>
            </a:r>
          </a:p>
          <a:p>
            <a:pPr lvl="1"/>
            <a:r>
              <a:rPr lang="it-IT" i="1" dirty="0" err="1">
                <a:effectLst/>
                <a:latin typeface="Times" pitchFamily="2" charset="0"/>
              </a:rPr>
              <a:t>indexOf</a:t>
            </a:r>
            <a:r>
              <a:rPr lang="it-IT" i="1" dirty="0">
                <a:effectLst/>
                <a:latin typeface="Times" pitchFamily="2" charset="0"/>
              </a:rPr>
              <a:t> –  metodi </a:t>
            </a:r>
            <a:r>
              <a:rPr lang="it-IT" i="1" dirty="0" err="1">
                <a:effectLst/>
                <a:latin typeface="Times" pitchFamily="2" charset="0"/>
              </a:rPr>
              <a:t>overloaded</a:t>
            </a:r>
            <a:r>
              <a:rPr lang="it-IT" i="1" dirty="0">
                <a:effectLst/>
                <a:latin typeface="Times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che ricercano uno specifico carattere in una stringa</a:t>
            </a:r>
          </a:p>
          <a:p>
            <a:pPr lvl="1"/>
            <a:r>
              <a:rPr lang="it-IT" i="1" dirty="0" err="1">
                <a:effectLst/>
                <a:latin typeface="Times" pitchFamily="2" charset="0"/>
              </a:rPr>
              <a:t>lastIndexOf</a:t>
            </a:r>
            <a:r>
              <a:rPr lang="it-IT" i="1" dirty="0">
                <a:effectLst/>
                <a:latin typeface="Times" pitchFamily="2" charset="0"/>
              </a:rPr>
              <a:t> - metodi </a:t>
            </a:r>
            <a:r>
              <a:rPr lang="it-IT" i="1" dirty="0" err="1">
                <a:effectLst/>
                <a:latin typeface="Times" pitchFamily="2" charset="0"/>
              </a:rPr>
              <a:t>overloaded</a:t>
            </a:r>
            <a:r>
              <a:rPr lang="it-IT" i="1" dirty="0">
                <a:effectLst/>
                <a:latin typeface="Times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che ricercano una specifica sottostringa in una stringa</a:t>
            </a:r>
            <a:endParaRPr lang="it-IT" dirty="0"/>
          </a:p>
          <a:p>
            <a:r>
              <a:rPr lang="it-IT" dirty="0"/>
              <a:t>Estrazione</a:t>
            </a:r>
          </a:p>
          <a:p>
            <a:pPr lvl="1"/>
            <a:r>
              <a:rPr lang="it-IT" i="1" dirty="0" err="1">
                <a:effectLst/>
                <a:latin typeface="Times" pitchFamily="2" charset="0"/>
              </a:rPr>
              <a:t>substring</a:t>
            </a:r>
            <a:r>
              <a:rPr lang="it-IT" i="1" dirty="0">
                <a:effectLst/>
                <a:latin typeface="Times" pitchFamily="2" charset="0"/>
              </a:rPr>
              <a:t> - metodi </a:t>
            </a:r>
            <a:r>
              <a:rPr lang="it-IT" i="1" dirty="0" err="1">
                <a:effectLst/>
                <a:latin typeface="Times" pitchFamily="2" charset="0"/>
              </a:rPr>
              <a:t>overloaded</a:t>
            </a:r>
            <a:r>
              <a:rPr lang="it-IT" i="1" dirty="0">
                <a:effectLst/>
                <a:latin typeface="Times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che permettono di creare un nuovo oggetto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stringa copiando una parte di un oggetto stringa già esistente</a:t>
            </a:r>
          </a:p>
          <a:p>
            <a:pPr marL="344487" lvl="1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3443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F19730-6C95-8A07-6BC3-FF17299A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53250"/>
            <a:ext cx="7543800" cy="1295400"/>
          </a:xfrm>
        </p:spPr>
        <p:txBody>
          <a:bodyPr/>
          <a:lstStyle/>
          <a:p>
            <a:r>
              <a:rPr lang="it-IT" dirty="0"/>
              <a:t>(Alcuni) altri metodi di </a:t>
            </a:r>
            <a:r>
              <a:rPr lang="it-IT" dirty="0" err="1"/>
              <a:t>String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3AAB93-82CE-C4E0-58C0-AAC064879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664" y="1223169"/>
            <a:ext cx="8229600" cy="4411662"/>
          </a:xfrm>
        </p:spPr>
        <p:txBody>
          <a:bodyPr/>
          <a:lstStyle/>
          <a:p>
            <a:r>
              <a:rPr lang="it-IT" i="1" dirty="0">
                <a:latin typeface="Helvetica" pitchFamily="2" charset="0"/>
              </a:rPr>
              <a:t>M</a:t>
            </a:r>
            <a:r>
              <a:rPr lang="it-IT" i="1" dirty="0">
                <a:effectLst/>
                <a:latin typeface="Helvetica" pitchFamily="2" charset="0"/>
              </a:rPr>
              <a:t>etodi che restituiscono stringhe o array di caratteri che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contengono </a:t>
            </a:r>
            <a:r>
              <a:rPr lang="it-IT" b="1" i="1" dirty="0">
                <a:effectLst/>
                <a:latin typeface="Helvetica" pitchFamily="2" charset="0"/>
              </a:rPr>
              <a:t>copie</a:t>
            </a:r>
            <a:r>
              <a:rPr lang="it-IT" i="1" dirty="0">
                <a:effectLst/>
                <a:latin typeface="Helvetica" pitchFamily="2" charset="0"/>
              </a:rPr>
              <a:t> </a:t>
            </a:r>
            <a:r>
              <a:rPr lang="it-IT" b="1" i="1" dirty="0">
                <a:effectLst/>
                <a:latin typeface="Helvetica" pitchFamily="2" charset="0"/>
              </a:rPr>
              <a:t>modificate</a:t>
            </a:r>
            <a:r>
              <a:rPr lang="it-IT" i="1" dirty="0">
                <a:effectLst/>
                <a:latin typeface="Helvetica" pitchFamily="2" charset="0"/>
              </a:rPr>
              <a:t> dei contenuti originali di una stringa:</a:t>
            </a:r>
          </a:p>
          <a:p>
            <a:pPr lvl="1"/>
            <a:r>
              <a:rPr lang="it-IT" i="1" dirty="0" err="1">
                <a:effectLst/>
                <a:latin typeface="Times" pitchFamily="2" charset="0"/>
              </a:rPr>
              <a:t>replace</a:t>
            </a:r>
            <a:endParaRPr lang="it-IT" i="1" dirty="0">
              <a:effectLst/>
              <a:latin typeface="Times" pitchFamily="2" charset="0"/>
            </a:endParaRPr>
          </a:p>
          <a:p>
            <a:pPr lvl="1"/>
            <a:r>
              <a:rPr lang="it-IT" i="1" dirty="0" err="1">
                <a:effectLst/>
                <a:latin typeface="Times" pitchFamily="2" charset="0"/>
              </a:rPr>
              <a:t>toLowerCase</a:t>
            </a:r>
            <a:endParaRPr lang="it-IT" i="1" dirty="0">
              <a:latin typeface="Times" pitchFamily="2" charset="0"/>
            </a:endParaRPr>
          </a:p>
          <a:p>
            <a:pPr lvl="1"/>
            <a:r>
              <a:rPr lang="it-IT" i="1" dirty="0" err="1">
                <a:effectLst/>
                <a:latin typeface="Times" pitchFamily="2" charset="0"/>
              </a:rPr>
              <a:t>toUpperCase</a:t>
            </a:r>
            <a:endParaRPr lang="it-IT" i="1" dirty="0">
              <a:latin typeface="Times" pitchFamily="2" charset="0"/>
            </a:endParaRPr>
          </a:p>
          <a:p>
            <a:pPr lvl="1"/>
            <a:r>
              <a:rPr lang="it-IT" i="1" dirty="0">
                <a:latin typeface="Times" pitchFamily="2" charset="0"/>
              </a:rPr>
              <a:t>t</a:t>
            </a:r>
            <a:r>
              <a:rPr lang="it-IT" i="1" dirty="0">
                <a:effectLst/>
                <a:latin typeface="Times" pitchFamily="2" charset="0"/>
              </a:rPr>
              <a:t>rim</a:t>
            </a:r>
          </a:p>
          <a:p>
            <a:pPr lvl="1"/>
            <a:r>
              <a:rPr lang="it-IT" i="1" dirty="0" err="1">
                <a:effectLst/>
                <a:latin typeface="Times" pitchFamily="2" charset="0"/>
              </a:rPr>
              <a:t>toCharArray</a:t>
            </a:r>
            <a:endParaRPr lang="it-IT" i="1" dirty="0">
              <a:effectLst/>
              <a:latin typeface="Times" pitchFamily="2" charset="0"/>
            </a:endParaRPr>
          </a:p>
          <a:p>
            <a:pPr lvl="1"/>
            <a:r>
              <a:rPr lang="it-IT" i="1" dirty="0">
                <a:latin typeface="Times" pitchFamily="2" charset="0"/>
              </a:rPr>
              <a:t>…</a:t>
            </a:r>
            <a:endParaRPr lang="it-IT" i="1" dirty="0">
              <a:effectLst/>
              <a:latin typeface="Helvetica" pitchFamily="2" charset="0"/>
            </a:endParaRPr>
          </a:p>
          <a:p>
            <a:r>
              <a:rPr lang="it-IT" b="1" i="1" dirty="0">
                <a:latin typeface="Helvetica" pitchFamily="2" charset="0"/>
              </a:rPr>
              <a:t>N</a:t>
            </a:r>
            <a:r>
              <a:rPr lang="it-IT" b="1" i="1" dirty="0">
                <a:effectLst/>
                <a:latin typeface="Helvetica" pitchFamily="2" charset="0"/>
              </a:rPr>
              <a:t>essuno di questi metodi</a:t>
            </a:r>
            <a:r>
              <a:rPr lang="it-IT" b="1" dirty="0">
                <a:latin typeface="Helvetica" pitchFamily="2" charset="0"/>
              </a:rPr>
              <a:t> </a:t>
            </a:r>
            <a:r>
              <a:rPr lang="it-IT" b="1" i="1" dirty="0">
                <a:effectLst/>
                <a:latin typeface="Helvetica" pitchFamily="2" charset="0"/>
              </a:rPr>
              <a:t>modifica la stringa sulla quale vengono invocati</a:t>
            </a:r>
            <a:endParaRPr lang="it-IT" b="1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it-IT" dirty="0">
              <a:effectLst/>
              <a:latin typeface="Helvetica" pitchFamily="2" charset="0"/>
            </a:endParaRPr>
          </a:p>
          <a:p>
            <a:pPr lvl="1"/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04406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CAE372-8080-12D2-E651-748EB1BC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i="1" dirty="0" err="1"/>
              <a:t>valueOf</a:t>
            </a:r>
            <a:endParaRPr lang="it-IT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9E0A5E-2FE1-C07A-09A1-DFCFAC50A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i="1" dirty="0">
                <a:effectLst/>
                <a:latin typeface="Helvetica" pitchFamily="2" charset="0"/>
              </a:rPr>
              <a:t>La classe </a:t>
            </a:r>
            <a:r>
              <a:rPr lang="it-IT" i="1" dirty="0" err="1">
                <a:effectLst/>
                <a:latin typeface="Times" pitchFamily="2" charset="0"/>
              </a:rPr>
              <a:t>String</a:t>
            </a:r>
            <a:r>
              <a:rPr lang="it-IT" i="1" dirty="0">
                <a:effectLst/>
                <a:latin typeface="Times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fornisce i metodi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i="1" dirty="0" err="1">
                <a:effectLst/>
                <a:latin typeface="Times" pitchFamily="2" charset="0"/>
              </a:rPr>
              <a:t>static</a:t>
            </a:r>
            <a:r>
              <a:rPr lang="it-IT" i="1" dirty="0">
                <a:effectLst/>
                <a:latin typeface="Times" pitchFamily="2" charset="0"/>
              </a:rPr>
              <a:t> </a:t>
            </a:r>
            <a:r>
              <a:rPr lang="it-IT" i="1" dirty="0" err="1">
                <a:latin typeface="Times" pitchFamily="2" charset="0"/>
              </a:rPr>
              <a:t>valueOf</a:t>
            </a:r>
            <a:r>
              <a:rPr lang="it-IT" i="1" dirty="0">
                <a:latin typeface="Times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che prendono un argomento </a:t>
            </a:r>
            <a:r>
              <a:rPr lang="it-IT" b="1" i="1" dirty="0">
                <a:effectLst/>
                <a:latin typeface="Helvetica" pitchFamily="2" charset="0"/>
              </a:rPr>
              <a:t>di qualsiasi tipo </a:t>
            </a:r>
            <a:r>
              <a:rPr lang="it-IT" i="1" dirty="0">
                <a:effectLst/>
                <a:latin typeface="Helvetica" pitchFamily="2" charset="0"/>
              </a:rPr>
              <a:t>e lo convertono in un oggetto stringa.</a:t>
            </a:r>
            <a:endParaRPr lang="it-IT" dirty="0">
              <a:effectLst/>
              <a:latin typeface="Helvetica" pitchFamily="2" charset="0"/>
            </a:endParaRPr>
          </a:p>
          <a:p>
            <a:r>
              <a:rPr lang="it-IT" dirty="0" err="1"/>
              <a:t>valueOf</a:t>
            </a:r>
            <a:r>
              <a:rPr lang="it-IT" dirty="0"/>
              <a:t> è definito: per i tipi primitivi, per gli array (quindi è possibile usare </a:t>
            </a:r>
            <a:r>
              <a:rPr lang="it-IT" dirty="0" err="1"/>
              <a:t>valueOf</a:t>
            </a:r>
            <a:r>
              <a:rPr lang="it-IT" dirty="0"/>
              <a:t> per ottenere una stringa da un array di caratteri) e per gli oggetti (attraverso il metodo </a:t>
            </a:r>
            <a:r>
              <a:rPr lang="it-IT" dirty="0" err="1"/>
              <a:t>toString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0164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861C2A-C7BE-BE9F-9C76-C77367C5E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📦 </a:t>
            </a:r>
            <a:r>
              <a:rPr lang="it-IT" b="1" dirty="0"/>
              <a:t>Come Java gestisce le stringhe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141F2E-1EBC-6543-86F0-6767CD3CF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2704456"/>
          </a:xfrm>
        </p:spPr>
        <p:txBody>
          <a:bodyPr/>
          <a:lstStyle/>
          <a:p>
            <a:r>
              <a:rPr lang="it-IT" dirty="0"/>
              <a:t>Le </a:t>
            </a:r>
            <a:r>
              <a:rPr lang="it-IT" b="1" dirty="0"/>
              <a:t>stringhe letterali</a:t>
            </a:r>
            <a:r>
              <a:rPr lang="it-IT" dirty="0"/>
              <a:t> (es. "ciao") sono archiviate nel </a:t>
            </a:r>
            <a:r>
              <a:rPr lang="it-IT" b="1" dirty="0" err="1"/>
              <a:t>String</a:t>
            </a:r>
            <a:r>
              <a:rPr lang="it-IT" b="1" dirty="0"/>
              <a:t> Pool</a:t>
            </a:r>
          </a:p>
          <a:p>
            <a:r>
              <a:rPr lang="it-IT" dirty="0"/>
              <a:t>Le stringhe sono </a:t>
            </a:r>
            <a:r>
              <a:rPr lang="it-IT" b="1" dirty="0"/>
              <a:t>immutabili</a:t>
            </a:r>
            <a:endParaRPr lang="it-IT" dirty="0"/>
          </a:p>
          <a:p>
            <a:r>
              <a:rPr lang="it-IT" dirty="0"/>
              <a:t>Se due letterali sono uguali, Java </a:t>
            </a:r>
            <a:r>
              <a:rPr lang="it-IT" b="1" dirty="0"/>
              <a:t>riutilizza lo stesso oggetto</a:t>
            </a:r>
            <a:endParaRPr lang="it-IT" dirty="0"/>
          </a:p>
          <a:p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BE24B5C-EDEA-8483-9ACB-FC799C2447A9}"/>
              </a:ext>
            </a:extLst>
          </p:cNvPr>
          <p:cNvSpPr txBox="1"/>
          <p:nvPr/>
        </p:nvSpPr>
        <p:spPr>
          <a:xfrm>
            <a:off x="308919" y="4528946"/>
            <a:ext cx="6697362" cy="639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"ciao"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"ciao"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stesso oggetto di 'a'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564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7D5380-6529-8A0F-D12D-9C631EE7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4089"/>
            <a:ext cx="7543800" cy="940443"/>
          </a:xfrm>
        </p:spPr>
        <p:txBody>
          <a:bodyPr/>
          <a:lstStyle/>
          <a:p>
            <a:r>
              <a:rPr lang="it-IT" b="1" dirty="0"/>
              <a:t>🆕 Cosa fa new </a:t>
            </a:r>
            <a:r>
              <a:rPr lang="it-IT" b="1" dirty="0" err="1"/>
              <a:t>String</a:t>
            </a:r>
            <a:r>
              <a:rPr lang="it-IT" b="1" dirty="0"/>
              <a:t>()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1710DC-B724-EE43-6A0C-4AEBD258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2346110"/>
          </a:xfrm>
        </p:spPr>
        <p:txBody>
          <a:bodyPr/>
          <a:lstStyle/>
          <a:p>
            <a:r>
              <a:rPr lang="it-IT" dirty="0"/>
              <a:t>new </a:t>
            </a:r>
            <a:r>
              <a:rPr lang="it-IT" dirty="0" err="1"/>
              <a:t>String</a:t>
            </a:r>
            <a:r>
              <a:rPr lang="it-IT" dirty="0"/>
              <a:t>("ciao") crea </a:t>
            </a:r>
            <a:r>
              <a:rPr lang="it-IT" b="1" dirty="0"/>
              <a:t>un nuovo oggetto</a:t>
            </a:r>
            <a:r>
              <a:rPr lang="it-IT" dirty="0"/>
              <a:t> sullo heap</a:t>
            </a:r>
          </a:p>
          <a:p>
            <a:r>
              <a:rPr lang="it-IT" dirty="0"/>
              <a:t>Anche se "ciao" è già nel pool, il new forza la duplicazione</a:t>
            </a:r>
          </a:p>
          <a:p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35133D2-DB58-BEAF-9CCC-013AACA18EEC}"/>
              </a:ext>
            </a:extLst>
          </p:cNvPr>
          <p:cNvSpPr txBox="1"/>
          <p:nvPr/>
        </p:nvSpPr>
        <p:spPr>
          <a:xfrm>
            <a:off x="599303" y="4006864"/>
            <a:ext cx="7401697" cy="87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"ciao"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"ciao"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nuovo oggetto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480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080A29-590A-7417-3522-3584673B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🧠 </a:t>
            </a:r>
            <a:r>
              <a:rPr lang="it-IT" b="1" dirty="0"/>
              <a:t>Differenze a livello di memoria</a:t>
            </a:r>
            <a:endParaRPr lang="en-US" dirty="0"/>
          </a:p>
        </p:txBody>
      </p:sp>
      <p:pic>
        <p:nvPicPr>
          <p:cNvPr id="5" name="Segnaposto contenuto 4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2BAD8961-7AA6-9F94-D1FE-FFC69E776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89" y="2563350"/>
            <a:ext cx="8229600" cy="1731299"/>
          </a:xfrm>
        </p:spPr>
      </p:pic>
    </p:spTree>
    <p:extLst>
      <p:ext uri="{BB962C8B-B14F-4D97-AF65-F5344CB8AC3E}">
        <p14:creationId xmlns:p14="http://schemas.microsoft.com/office/powerpoint/2010/main" val="3364226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D6E1AE-864C-9E0C-D3DA-D801753C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543800" cy="960438"/>
          </a:xfrm>
        </p:spPr>
        <p:txBody>
          <a:bodyPr/>
          <a:lstStyle/>
          <a:p>
            <a:r>
              <a:rPr lang="it-IT" dirty="0"/>
              <a:t>🔍 </a:t>
            </a:r>
            <a:r>
              <a:rPr lang="it-IT" b="1" dirty="0"/>
              <a:t>Confronti: == vs .</a:t>
            </a:r>
            <a:r>
              <a:rPr lang="it-IT" b="1" dirty="0" err="1"/>
              <a:t>equals</a:t>
            </a:r>
            <a:r>
              <a:rPr lang="it-IT" b="1" dirty="0"/>
              <a:t>()</a:t>
            </a:r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4EA70E2-4CC8-4E15-FB5F-349A01AA14AC}"/>
              </a:ext>
            </a:extLst>
          </p:cNvPr>
          <p:cNvSpPr txBox="1"/>
          <p:nvPr/>
        </p:nvSpPr>
        <p:spPr>
          <a:xfrm>
            <a:off x="463378" y="2427764"/>
            <a:ext cx="8217243" cy="2122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"ciao"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"ciao"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ct val="150000"/>
              </a:lnSpc>
              <a:buNone/>
            </a:pPr>
            <a:b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b 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false → confronto referenze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it-IT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it-IT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equals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(b) 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it-IT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→ confronto contenuto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174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C44529-92A7-A44D-EA0E-A1515B2C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⚡ Impatto su performance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0D81B-3126-3270-67CA-39CE51442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new </a:t>
            </a:r>
            <a:r>
              <a:rPr lang="it-IT" dirty="0" err="1"/>
              <a:t>String</a:t>
            </a:r>
            <a:r>
              <a:rPr lang="it-IT" dirty="0"/>
              <a:t>(...) crea oggetti </a:t>
            </a:r>
            <a:r>
              <a:rPr lang="it-IT" b="1" dirty="0"/>
              <a:t>inutili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Più lavoro per il </a:t>
            </a:r>
            <a:r>
              <a:rPr lang="it-IT" b="1" dirty="0" err="1"/>
              <a:t>garbage</a:t>
            </a:r>
            <a:r>
              <a:rPr lang="it-IT" b="1" dirty="0"/>
              <a:t> </a:t>
            </a:r>
            <a:r>
              <a:rPr lang="it-IT" b="1" dirty="0" err="1"/>
              <a:t>collector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In loop o codice intensivo → </a:t>
            </a:r>
            <a:r>
              <a:rPr lang="it-IT" b="1" dirty="0"/>
              <a:t>peggiora le prestazioni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💡 </a:t>
            </a:r>
            <a:r>
              <a:rPr lang="it-IT" i="1" dirty="0"/>
              <a:t>Evita new </a:t>
            </a:r>
            <a:r>
              <a:rPr lang="it-IT" i="1" dirty="0" err="1"/>
              <a:t>String</a:t>
            </a:r>
            <a:r>
              <a:rPr lang="it-IT" i="1" dirty="0"/>
              <a:t>(...) se non strettamente necessario!</a:t>
            </a:r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670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186CCF-3D53-BA01-CCE2-561D040C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✅ </a:t>
            </a:r>
            <a:r>
              <a:rPr lang="it-IT" b="1" dirty="0"/>
              <a:t>Quando usare new </a:t>
            </a:r>
            <a:r>
              <a:rPr lang="it-IT" b="1" dirty="0" err="1"/>
              <a:t>String</a:t>
            </a:r>
            <a:r>
              <a:rPr lang="it-IT" b="1" dirty="0"/>
              <a:t>()?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2027842-55D6-5E29-1D2D-5667069AD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1975407"/>
          </a:xfrm>
        </p:spPr>
        <p:txBody>
          <a:bodyPr/>
          <a:lstStyle/>
          <a:p>
            <a:r>
              <a:rPr lang="it-IT" dirty="0"/>
              <a:t>Quasi </a:t>
            </a:r>
            <a:r>
              <a:rPr lang="it-IT" b="1" dirty="0"/>
              <a:t>mai</a:t>
            </a:r>
            <a:r>
              <a:rPr lang="it-IT" dirty="0"/>
              <a:t> nelle versioni moderne (Java 8+)</a:t>
            </a:r>
          </a:p>
          <a:p>
            <a:r>
              <a:rPr lang="it-IT" dirty="0"/>
              <a:t>Unico caso valido: </a:t>
            </a:r>
            <a:r>
              <a:rPr lang="it-IT" b="1" dirty="0"/>
              <a:t>duplicazione deliberata</a:t>
            </a:r>
            <a:r>
              <a:rPr lang="it-IT" dirty="0"/>
              <a:t> in test o casi rarissimi</a:t>
            </a:r>
          </a:p>
          <a:p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B9178C8-5CB7-49DF-159E-9FD83A727142}"/>
              </a:ext>
            </a:extLst>
          </p:cNvPr>
          <p:cNvSpPr txBox="1"/>
          <p:nvPr/>
        </p:nvSpPr>
        <p:spPr>
          <a:xfrm>
            <a:off x="667265" y="3694670"/>
            <a:ext cx="7333735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copy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original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raro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462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33724F-0A24-5BA4-08DE-D7B65824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🧑‍🏫 </a:t>
            </a:r>
            <a:r>
              <a:rPr lang="it-IT" b="1" dirty="0"/>
              <a:t>Regola d’oro per gli studenti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50A722-247F-04B4-EC59-683C44B46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it-IT" dirty="0"/>
              <a:t>❌ </a:t>
            </a:r>
            <a:r>
              <a:rPr lang="it-IT" dirty="0" err="1"/>
              <a:t>String</a:t>
            </a:r>
            <a:r>
              <a:rPr lang="it-IT" dirty="0"/>
              <a:t> </a:t>
            </a:r>
            <a:r>
              <a:rPr lang="it-IT" dirty="0" err="1"/>
              <a:t>s</a:t>
            </a:r>
            <a:r>
              <a:rPr lang="it-IT" dirty="0"/>
              <a:t> = new </a:t>
            </a:r>
            <a:r>
              <a:rPr lang="it-IT" dirty="0" err="1"/>
              <a:t>String</a:t>
            </a:r>
            <a:r>
              <a:rPr lang="it-IT" dirty="0"/>
              <a:t>("testo");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/>
              <a:t>✅ </a:t>
            </a:r>
            <a:r>
              <a:rPr lang="it-IT" dirty="0" err="1"/>
              <a:t>String</a:t>
            </a:r>
            <a:r>
              <a:rPr lang="it-IT" dirty="0"/>
              <a:t> </a:t>
            </a:r>
            <a:r>
              <a:rPr lang="it-IT" dirty="0" err="1"/>
              <a:t>s</a:t>
            </a:r>
            <a:r>
              <a:rPr lang="it-IT" dirty="0"/>
              <a:t> = "testo";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📌 </a:t>
            </a:r>
            <a:r>
              <a:rPr lang="it-IT" i="1" dirty="0"/>
              <a:t>Evita la duplicazione inutile: usa sempre i letterali, Java fa già il lavoro per te!</a:t>
            </a:r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559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5E5D5D-7FDE-1B38-7D54-00D01FBC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💬 </a:t>
            </a:r>
            <a:r>
              <a:rPr lang="it-IT" b="1"/>
              <a:t>Recap</a:t>
            </a:r>
            <a:r>
              <a:rPr lang="it-IT" b="1" dirty="0"/>
              <a:t> finale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756201-44EA-59A9-E083-35184355A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Le stringhe letterali vanno nel </a:t>
            </a:r>
            <a:r>
              <a:rPr lang="it-IT" b="1" dirty="0"/>
              <a:t>pool</a:t>
            </a:r>
            <a:r>
              <a:rPr lang="it-IT" dirty="0"/>
              <a:t> → efficienti e condivise</a:t>
            </a:r>
          </a:p>
          <a:p>
            <a:r>
              <a:rPr lang="it-IT" dirty="0"/>
              <a:t>new </a:t>
            </a:r>
            <a:r>
              <a:rPr lang="it-IT" dirty="0" err="1"/>
              <a:t>String</a:t>
            </a:r>
            <a:r>
              <a:rPr lang="it-IT" dirty="0"/>
              <a:t>() crea oggetti </a:t>
            </a:r>
            <a:r>
              <a:rPr lang="it-IT" b="1" dirty="0"/>
              <a:t>nuovi e inutili</a:t>
            </a:r>
          </a:p>
          <a:p>
            <a:r>
              <a:rPr lang="it-IT" dirty="0"/>
              <a:t>Usa sempre .</a:t>
            </a:r>
            <a:r>
              <a:rPr lang="it-IT" dirty="0" err="1"/>
              <a:t>equals</a:t>
            </a:r>
            <a:r>
              <a:rPr lang="it-IT" dirty="0"/>
              <a:t>() per confrontare stringhe</a:t>
            </a:r>
          </a:p>
          <a:p>
            <a:r>
              <a:rPr lang="it-IT" dirty="0"/>
              <a:t>Nel dubbio → </a:t>
            </a:r>
            <a:r>
              <a:rPr lang="it-IT" b="1" dirty="0"/>
              <a:t>non usare new </a:t>
            </a:r>
            <a:r>
              <a:rPr lang="it-IT" b="1" dirty="0" err="1"/>
              <a:t>String</a:t>
            </a:r>
            <a:r>
              <a:rPr lang="it-IT" b="1" dirty="0"/>
              <a:t>(...)</a:t>
            </a:r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874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8918F9-44FF-A5E8-3D5E-73AEB42F9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74645"/>
            <a:ext cx="7543800" cy="1295400"/>
          </a:xfrm>
        </p:spPr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StringBuilder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4B81DF-C7B5-D745-4301-D5002354F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757"/>
            <a:ext cx="8229600" cy="4411662"/>
          </a:xfrm>
        </p:spPr>
        <p:txBody>
          <a:bodyPr/>
          <a:lstStyle/>
          <a:p>
            <a:r>
              <a:rPr lang="it-IT" i="0" dirty="0">
                <a:solidFill>
                  <a:srgbClr val="333333"/>
                </a:solidFill>
                <a:effectLst/>
                <a:latin typeface="system-ui"/>
              </a:rPr>
              <a:t>La classe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 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è utile per creare e manipolare informazioni di stringhe </a:t>
            </a:r>
            <a:r>
              <a:rPr lang="it-IT" b="0" i="1" dirty="0">
                <a:solidFill>
                  <a:srgbClr val="333333"/>
                </a:solidFill>
                <a:effectLst/>
                <a:latin typeface="system-ui"/>
              </a:rPr>
              <a:t>dinamiche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 cioè stringhe </a:t>
            </a:r>
            <a:r>
              <a:rPr lang="it-IT" b="0" i="1" dirty="0">
                <a:solidFill>
                  <a:srgbClr val="333333"/>
                </a:solidFill>
                <a:effectLst/>
                <a:latin typeface="system-ui"/>
              </a:rPr>
              <a:t>modificabili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Ogni 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ha una </a:t>
            </a:r>
            <a:r>
              <a:rPr lang="it-IT" b="0" i="1" dirty="0">
                <a:solidFill>
                  <a:srgbClr val="333333"/>
                </a:solidFill>
                <a:effectLst/>
                <a:latin typeface="system-ui"/>
              </a:rPr>
              <a:t>capacità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 che rappresenta il numero massimo di caratteri che la stringa può contenere. </a:t>
            </a:r>
          </a:p>
          <a:p>
            <a:pPr lvl="1"/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Se la capacità dello 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viene superata, si espanderà automaticamente per poter contenere i caratteri addizionali.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4068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5DA4-29B4-B39D-3EAA-B1B3D277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0FA5E7-BDDB-5C79-2000-D9634FB6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Costruttori di </a:t>
            </a:r>
            <a:r>
              <a:rPr lang="it-IT" err="1"/>
              <a:t>StringBuilder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067C9B-CBD4-669F-53F6-E999932DF262}"/>
              </a:ext>
            </a:extLst>
          </p:cNvPr>
          <p:cNvSpPr txBox="1"/>
          <p:nvPr/>
        </p:nvSpPr>
        <p:spPr>
          <a:xfrm>
            <a:off x="161764" y="1463873"/>
            <a:ext cx="8820472" cy="23083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latin typeface="Courier" pitchFamily="2" charset="0"/>
              </a:rPr>
              <a:t>public </a:t>
            </a:r>
            <a:r>
              <a:rPr lang="it-IT" err="1">
                <a:latin typeface="Courier" pitchFamily="2" charset="0"/>
              </a:rPr>
              <a:t>static</a:t>
            </a:r>
            <a:r>
              <a:rPr lang="it-IT">
                <a:latin typeface="Courier" pitchFamily="2" charset="0"/>
              </a:rPr>
              <a:t> </a:t>
            </a:r>
            <a:r>
              <a:rPr lang="it-IT" err="1">
                <a:latin typeface="Courier" pitchFamily="2" charset="0"/>
              </a:rPr>
              <a:t>void</a:t>
            </a:r>
            <a:r>
              <a:rPr lang="it-IT">
                <a:latin typeface="Courier" pitchFamily="2" charset="0"/>
              </a:rPr>
              <a:t> </a:t>
            </a:r>
            <a:r>
              <a:rPr lang="it-IT" err="1">
                <a:latin typeface="Courier" pitchFamily="2" charset="0"/>
              </a:rPr>
              <a:t>main</a:t>
            </a:r>
            <a:r>
              <a:rPr lang="it-IT">
                <a:latin typeface="Courier" pitchFamily="2" charset="0"/>
              </a:rPr>
              <a:t>(</a:t>
            </a:r>
            <a:r>
              <a:rPr lang="it-IT" err="1">
                <a:latin typeface="Courier" pitchFamily="2" charset="0"/>
              </a:rPr>
              <a:t>String</a:t>
            </a:r>
            <a:r>
              <a:rPr lang="it-IT">
                <a:latin typeface="Courier" pitchFamily="2" charset="0"/>
              </a:rPr>
              <a:t>[] </a:t>
            </a:r>
            <a:r>
              <a:rPr lang="it-IT" err="1">
                <a:latin typeface="Courier" pitchFamily="2" charset="0"/>
              </a:rPr>
              <a:t>args</a:t>
            </a:r>
            <a:r>
              <a:rPr lang="it-IT">
                <a:latin typeface="Courier" pitchFamily="2" charset="0"/>
              </a:rPr>
              <a:t>) {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 buffer1 = new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();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 buffer2 = new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(10);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 buffer3 = new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("Maradona");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("buffer1 = \"%</a:t>
            </a:r>
            <a:r>
              <a:rPr lang="it-IT" err="1">
                <a:latin typeface="Courier" pitchFamily="2" charset="0"/>
              </a:rPr>
              <a:t>s</a:t>
            </a:r>
            <a:r>
              <a:rPr lang="it-IT">
                <a:latin typeface="Courier" pitchFamily="2" charset="0"/>
              </a:rPr>
              <a:t>\"%</a:t>
            </a:r>
            <a:r>
              <a:rPr lang="it-IT" err="1">
                <a:latin typeface="Courier" pitchFamily="2" charset="0"/>
              </a:rPr>
              <a:t>n</a:t>
            </a:r>
            <a:r>
              <a:rPr lang="it-IT">
                <a:latin typeface="Courier" pitchFamily="2" charset="0"/>
              </a:rPr>
              <a:t>", buffer1);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("buffer2 = \"%</a:t>
            </a:r>
            <a:r>
              <a:rPr lang="it-IT" err="1">
                <a:latin typeface="Courier" pitchFamily="2" charset="0"/>
              </a:rPr>
              <a:t>s</a:t>
            </a:r>
            <a:r>
              <a:rPr lang="it-IT">
                <a:latin typeface="Courier" pitchFamily="2" charset="0"/>
              </a:rPr>
              <a:t>\"%</a:t>
            </a:r>
            <a:r>
              <a:rPr lang="it-IT" err="1">
                <a:latin typeface="Courier" pitchFamily="2" charset="0"/>
              </a:rPr>
              <a:t>n</a:t>
            </a:r>
            <a:r>
              <a:rPr lang="it-IT">
                <a:latin typeface="Courier" pitchFamily="2" charset="0"/>
              </a:rPr>
              <a:t>", buffer2);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("buffer3 = \"%</a:t>
            </a:r>
            <a:r>
              <a:rPr lang="it-IT" err="1">
                <a:latin typeface="Courier" pitchFamily="2" charset="0"/>
              </a:rPr>
              <a:t>s</a:t>
            </a:r>
            <a:r>
              <a:rPr lang="it-IT">
                <a:latin typeface="Courier" pitchFamily="2" charset="0"/>
              </a:rPr>
              <a:t>\"%</a:t>
            </a:r>
            <a:r>
              <a:rPr lang="it-IT" err="1">
                <a:latin typeface="Courier" pitchFamily="2" charset="0"/>
              </a:rPr>
              <a:t>n</a:t>
            </a:r>
            <a:r>
              <a:rPr lang="it-IT">
                <a:latin typeface="Courier" pitchFamily="2" charset="0"/>
              </a:rPr>
              <a:t>", buffer3);</a:t>
            </a:r>
          </a:p>
          <a:p>
            <a:r>
              <a:rPr lang="it-IT">
                <a:latin typeface="Courier" pitchFamily="2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5E784C3-69A1-FCD2-CB9C-8A763AB73845}"/>
              </a:ext>
            </a:extLst>
          </p:cNvPr>
          <p:cNvSpPr txBox="1"/>
          <p:nvPr/>
        </p:nvSpPr>
        <p:spPr>
          <a:xfrm>
            <a:off x="179511" y="3862687"/>
            <a:ext cx="3096345" cy="92333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buffer1 = ""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buffer2 = ""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buffer3 = "Maradona"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B99AABF-DDC7-BD12-4451-D0ABBCAF3266}"/>
              </a:ext>
            </a:extLst>
          </p:cNvPr>
          <p:cNvSpPr txBox="1"/>
          <p:nvPr/>
        </p:nvSpPr>
        <p:spPr>
          <a:xfrm>
            <a:off x="2837274" y="3791009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6424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B0222-CFCB-3637-E69B-30199E5E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87898F-EF86-2E28-00BF-770F4A363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Costruttori di </a:t>
            </a:r>
            <a:r>
              <a:rPr lang="it-IT" err="1"/>
              <a:t>StringBuilder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66556E1-EB67-4A4D-8B7E-6D35B1FBE571}"/>
              </a:ext>
            </a:extLst>
          </p:cNvPr>
          <p:cNvSpPr txBox="1"/>
          <p:nvPr/>
        </p:nvSpPr>
        <p:spPr>
          <a:xfrm>
            <a:off x="161764" y="1463873"/>
            <a:ext cx="8820472" cy="23083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latin typeface="Courier" pitchFamily="2" charset="0"/>
              </a:rPr>
              <a:t>public </a:t>
            </a:r>
            <a:r>
              <a:rPr lang="it-IT" err="1">
                <a:latin typeface="Courier" pitchFamily="2" charset="0"/>
              </a:rPr>
              <a:t>static</a:t>
            </a:r>
            <a:r>
              <a:rPr lang="it-IT">
                <a:latin typeface="Courier" pitchFamily="2" charset="0"/>
              </a:rPr>
              <a:t> </a:t>
            </a:r>
            <a:r>
              <a:rPr lang="it-IT" err="1">
                <a:latin typeface="Courier" pitchFamily="2" charset="0"/>
              </a:rPr>
              <a:t>void</a:t>
            </a:r>
            <a:r>
              <a:rPr lang="it-IT">
                <a:latin typeface="Courier" pitchFamily="2" charset="0"/>
              </a:rPr>
              <a:t> </a:t>
            </a:r>
            <a:r>
              <a:rPr lang="it-IT" err="1">
                <a:latin typeface="Courier" pitchFamily="2" charset="0"/>
              </a:rPr>
              <a:t>main</a:t>
            </a:r>
            <a:r>
              <a:rPr lang="it-IT">
                <a:latin typeface="Courier" pitchFamily="2" charset="0"/>
              </a:rPr>
              <a:t>(</a:t>
            </a:r>
            <a:r>
              <a:rPr lang="it-IT" err="1">
                <a:latin typeface="Courier" pitchFamily="2" charset="0"/>
              </a:rPr>
              <a:t>String</a:t>
            </a:r>
            <a:r>
              <a:rPr lang="it-IT">
                <a:latin typeface="Courier" pitchFamily="2" charset="0"/>
              </a:rPr>
              <a:t>[] </a:t>
            </a:r>
            <a:r>
              <a:rPr lang="it-IT" err="1">
                <a:latin typeface="Courier" pitchFamily="2" charset="0"/>
              </a:rPr>
              <a:t>args</a:t>
            </a:r>
            <a:r>
              <a:rPr lang="it-IT">
                <a:latin typeface="Courier" pitchFamily="2" charset="0"/>
              </a:rPr>
              <a:t>) {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StringBuilder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 buffer1 = new 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StringBuilder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();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 buffer2 = new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(10);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 buffer3 = new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("Maradona");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("buffer1 = \"%</a:t>
            </a:r>
            <a:r>
              <a:rPr lang="it-IT" err="1">
                <a:latin typeface="Courier" pitchFamily="2" charset="0"/>
              </a:rPr>
              <a:t>s</a:t>
            </a:r>
            <a:r>
              <a:rPr lang="it-IT">
                <a:latin typeface="Courier" pitchFamily="2" charset="0"/>
              </a:rPr>
              <a:t>\"%</a:t>
            </a:r>
            <a:r>
              <a:rPr lang="it-IT" err="1">
                <a:latin typeface="Courier" pitchFamily="2" charset="0"/>
              </a:rPr>
              <a:t>n</a:t>
            </a:r>
            <a:r>
              <a:rPr lang="it-IT">
                <a:latin typeface="Courier" pitchFamily="2" charset="0"/>
              </a:rPr>
              <a:t>", buffer1);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("buffer2 = \"%</a:t>
            </a:r>
            <a:r>
              <a:rPr lang="it-IT" err="1">
                <a:latin typeface="Courier" pitchFamily="2" charset="0"/>
              </a:rPr>
              <a:t>s</a:t>
            </a:r>
            <a:r>
              <a:rPr lang="it-IT">
                <a:latin typeface="Courier" pitchFamily="2" charset="0"/>
              </a:rPr>
              <a:t>\"%</a:t>
            </a:r>
            <a:r>
              <a:rPr lang="it-IT" err="1">
                <a:latin typeface="Courier" pitchFamily="2" charset="0"/>
              </a:rPr>
              <a:t>n</a:t>
            </a:r>
            <a:r>
              <a:rPr lang="it-IT">
                <a:latin typeface="Courier" pitchFamily="2" charset="0"/>
              </a:rPr>
              <a:t>", buffer2);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("buffer3 = \"%</a:t>
            </a:r>
            <a:r>
              <a:rPr lang="it-IT" err="1">
                <a:latin typeface="Courier" pitchFamily="2" charset="0"/>
              </a:rPr>
              <a:t>s</a:t>
            </a:r>
            <a:r>
              <a:rPr lang="it-IT">
                <a:latin typeface="Courier" pitchFamily="2" charset="0"/>
              </a:rPr>
              <a:t>\"%</a:t>
            </a:r>
            <a:r>
              <a:rPr lang="it-IT" err="1">
                <a:latin typeface="Courier" pitchFamily="2" charset="0"/>
              </a:rPr>
              <a:t>n</a:t>
            </a:r>
            <a:r>
              <a:rPr lang="it-IT">
                <a:latin typeface="Courier" pitchFamily="2" charset="0"/>
              </a:rPr>
              <a:t>", buffer3);</a:t>
            </a:r>
          </a:p>
          <a:p>
            <a:r>
              <a:rPr lang="it-IT">
                <a:latin typeface="Courier" pitchFamily="2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AFD61D-C08E-3A91-8C92-563187D1AF5D}"/>
              </a:ext>
            </a:extLst>
          </p:cNvPr>
          <p:cNvSpPr txBox="1"/>
          <p:nvPr/>
        </p:nvSpPr>
        <p:spPr>
          <a:xfrm>
            <a:off x="179511" y="3862687"/>
            <a:ext cx="3096345" cy="92333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buffer1 = ""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buffer2 = ""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buffer3 = "Maradona"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7515810-1A2A-43C9-2A80-AD1B7DC34D35}"/>
              </a:ext>
            </a:extLst>
          </p:cNvPr>
          <p:cNvSpPr txBox="1"/>
          <p:nvPr/>
        </p:nvSpPr>
        <p:spPr>
          <a:xfrm>
            <a:off x="2837274" y="3791009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8D7711B-22C5-8914-007F-4AA3D208545F}"/>
              </a:ext>
            </a:extLst>
          </p:cNvPr>
          <p:cNvSpPr txBox="1"/>
          <p:nvPr/>
        </p:nvSpPr>
        <p:spPr>
          <a:xfrm>
            <a:off x="25092" y="5166102"/>
            <a:ext cx="9118908" cy="58477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Costruttore </a:t>
            </a:r>
            <a:r>
              <a:rPr lang="it-IT" sz="1600" err="1"/>
              <a:t>StringBuilder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senza argomenti per creare uno </a:t>
            </a:r>
            <a:r>
              <a:rPr lang="it-IT" sz="1600" err="1"/>
              <a:t>StringBuilder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che non contiene caratteri e con una capacità iniziale di 16 caratteri (capacità di default per uno </a:t>
            </a:r>
            <a:r>
              <a:rPr lang="it-IT" sz="1600" err="1"/>
              <a:t>StringBuilder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). </a:t>
            </a:r>
            <a:endParaRPr lang="it-IT" sz="1600"/>
          </a:p>
        </p:txBody>
      </p:sp>
    </p:spTree>
    <p:extLst>
      <p:ext uri="{BB962C8B-B14F-4D97-AF65-F5344CB8AC3E}">
        <p14:creationId xmlns:p14="http://schemas.microsoft.com/office/powerpoint/2010/main" val="2178906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65AD-C4F2-FBE1-6357-2357C52CA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7A2716-35D3-1410-703C-4A3EE146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Costruttori di </a:t>
            </a:r>
            <a:r>
              <a:rPr lang="it-IT" err="1"/>
              <a:t>StringBuilder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4EE66DD-E026-DAB9-A4DF-B20726D589DB}"/>
              </a:ext>
            </a:extLst>
          </p:cNvPr>
          <p:cNvSpPr txBox="1"/>
          <p:nvPr/>
        </p:nvSpPr>
        <p:spPr>
          <a:xfrm>
            <a:off x="161764" y="1463873"/>
            <a:ext cx="8820472" cy="23083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latin typeface="Courier" pitchFamily="2" charset="0"/>
              </a:rPr>
              <a:t>public </a:t>
            </a:r>
            <a:r>
              <a:rPr lang="it-IT" err="1">
                <a:latin typeface="Courier" pitchFamily="2" charset="0"/>
              </a:rPr>
              <a:t>static</a:t>
            </a:r>
            <a:r>
              <a:rPr lang="it-IT">
                <a:latin typeface="Courier" pitchFamily="2" charset="0"/>
              </a:rPr>
              <a:t> </a:t>
            </a:r>
            <a:r>
              <a:rPr lang="it-IT" err="1">
                <a:latin typeface="Courier" pitchFamily="2" charset="0"/>
              </a:rPr>
              <a:t>void</a:t>
            </a:r>
            <a:r>
              <a:rPr lang="it-IT">
                <a:latin typeface="Courier" pitchFamily="2" charset="0"/>
              </a:rPr>
              <a:t> </a:t>
            </a:r>
            <a:r>
              <a:rPr lang="it-IT" err="1">
                <a:latin typeface="Courier" pitchFamily="2" charset="0"/>
              </a:rPr>
              <a:t>main</a:t>
            </a:r>
            <a:r>
              <a:rPr lang="it-IT">
                <a:latin typeface="Courier" pitchFamily="2" charset="0"/>
              </a:rPr>
              <a:t>(</a:t>
            </a:r>
            <a:r>
              <a:rPr lang="it-IT" err="1">
                <a:latin typeface="Courier" pitchFamily="2" charset="0"/>
              </a:rPr>
              <a:t>String</a:t>
            </a:r>
            <a:r>
              <a:rPr lang="it-IT">
                <a:latin typeface="Courier" pitchFamily="2" charset="0"/>
              </a:rPr>
              <a:t>[] </a:t>
            </a:r>
            <a:r>
              <a:rPr lang="it-IT" err="1">
                <a:latin typeface="Courier" pitchFamily="2" charset="0"/>
              </a:rPr>
              <a:t>args</a:t>
            </a:r>
            <a:r>
              <a:rPr lang="it-IT">
                <a:latin typeface="Courier" pitchFamily="2" charset="0"/>
              </a:rPr>
              <a:t>) {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 buffer1 = new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();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StringBuilder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 buffer2 = new 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StringBuilder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(10);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 buffer3 = new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("Maradona");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("buffer1 = \"%</a:t>
            </a:r>
            <a:r>
              <a:rPr lang="it-IT" err="1">
                <a:latin typeface="Courier" pitchFamily="2" charset="0"/>
              </a:rPr>
              <a:t>s</a:t>
            </a:r>
            <a:r>
              <a:rPr lang="it-IT">
                <a:latin typeface="Courier" pitchFamily="2" charset="0"/>
              </a:rPr>
              <a:t>\"%</a:t>
            </a:r>
            <a:r>
              <a:rPr lang="it-IT" err="1">
                <a:latin typeface="Courier" pitchFamily="2" charset="0"/>
              </a:rPr>
              <a:t>n</a:t>
            </a:r>
            <a:r>
              <a:rPr lang="it-IT">
                <a:latin typeface="Courier" pitchFamily="2" charset="0"/>
              </a:rPr>
              <a:t>", buffer1);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("buffer2 = \"%</a:t>
            </a:r>
            <a:r>
              <a:rPr lang="it-IT" err="1">
                <a:latin typeface="Courier" pitchFamily="2" charset="0"/>
              </a:rPr>
              <a:t>s</a:t>
            </a:r>
            <a:r>
              <a:rPr lang="it-IT">
                <a:latin typeface="Courier" pitchFamily="2" charset="0"/>
              </a:rPr>
              <a:t>\"%</a:t>
            </a:r>
            <a:r>
              <a:rPr lang="it-IT" err="1">
                <a:latin typeface="Courier" pitchFamily="2" charset="0"/>
              </a:rPr>
              <a:t>n</a:t>
            </a:r>
            <a:r>
              <a:rPr lang="it-IT">
                <a:latin typeface="Courier" pitchFamily="2" charset="0"/>
              </a:rPr>
              <a:t>", buffer2);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System.out.printf</a:t>
            </a:r>
            <a:r>
              <a:rPr lang="it-IT">
                <a:latin typeface="Courier" pitchFamily="2" charset="0"/>
              </a:rPr>
              <a:t>("buffer3 = \"%</a:t>
            </a:r>
            <a:r>
              <a:rPr lang="it-IT" err="1">
                <a:latin typeface="Courier" pitchFamily="2" charset="0"/>
              </a:rPr>
              <a:t>s</a:t>
            </a:r>
            <a:r>
              <a:rPr lang="it-IT">
                <a:latin typeface="Courier" pitchFamily="2" charset="0"/>
              </a:rPr>
              <a:t>\"%</a:t>
            </a:r>
            <a:r>
              <a:rPr lang="it-IT" err="1">
                <a:latin typeface="Courier" pitchFamily="2" charset="0"/>
              </a:rPr>
              <a:t>n</a:t>
            </a:r>
            <a:r>
              <a:rPr lang="it-IT">
                <a:latin typeface="Courier" pitchFamily="2" charset="0"/>
              </a:rPr>
              <a:t>", buffer3);</a:t>
            </a:r>
          </a:p>
          <a:p>
            <a:r>
              <a:rPr lang="it-IT">
                <a:latin typeface="Courier" pitchFamily="2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9A4614-EC73-3524-C0AB-90ECD6AA5199}"/>
              </a:ext>
            </a:extLst>
          </p:cNvPr>
          <p:cNvSpPr txBox="1"/>
          <p:nvPr/>
        </p:nvSpPr>
        <p:spPr>
          <a:xfrm>
            <a:off x="179511" y="3862687"/>
            <a:ext cx="3096345" cy="92333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buffer1 = ""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buffer2 = ""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buffer3 = "Maradona"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7DDAD15-076E-0708-492D-F0CB069FC91A}"/>
              </a:ext>
            </a:extLst>
          </p:cNvPr>
          <p:cNvSpPr txBox="1"/>
          <p:nvPr/>
        </p:nvSpPr>
        <p:spPr>
          <a:xfrm>
            <a:off x="2837274" y="3791009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664F7AE-2BF0-A8F4-B932-E05DE38D08B4}"/>
              </a:ext>
            </a:extLst>
          </p:cNvPr>
          <p:cNvSpPr txBox="1"/>
          <p:nvPr/>
        </p:nvSpPr>
        <p:spPr>
          <a:xfrm>
            <a:off x="25092" y="5166102"/>
            <a:ext cx="9118908" cy="58477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Costruttore </a:t>
            </a:r>
            <a:r>
              <a:rPr lang="it-IT" sz="1600" err="1"/>
              <a:t>StringBuilder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che prende un intero come argomento per creare uno </a:t>
            </a:r>
            <a:r>
              <a:rPr lang="it-IT" sz="1600" err="1"/>
              <a:t>StringBuilder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 che non contiene caratteri e con una capacità iniziale specificata dall’argomento intero (ovvero </a:t>
            </a:r>
            <a:r>
              <a:rPr lang="it-IT" sz="1600"/>
              <a:t>10</a:t>
            </a:r>
            <a:r>
              <a:rPr lang="it-IT" sz="1600" b="0" i="0">
                <a:solidFill>
                  <a:srgbClr val="333333"/>
                </a:solidFill>
                <a:effectLst/>
                <a:latin typeface="system-ui"/>
              </a:rPr>
              <a:t>)</a:t>
            </a:r>
            <a:endParaRPr lang="it-IT" sz="1600"/>
          </a:p>
        </p:txBody>
      </p:sp>
    </p:spTree>
    <p:extLst>
      <p:ext uri="{BB962C8B-B14F-4D97-AF65-F5344CB8AC3E}">
        <p14:creationId xmlns:p14="http://schemas.microsoft.com/office/powerpoint/2010/main" val="631607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21E82-B2E8-B1CA-369B-55020095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4FEF27-68A4-345D-5E17-0355D972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Costruttori di </a:t>
            </a:r>
            <a:r>
              <a:rPr lang="it-IT" err="1"/>
              <a:t>StringBuilder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CB58D0-F5BB-FBC9-4544-6053D1EA9A33}"/>
              </a:ext>
            </a:extLst>
          </p:cNvPr>
          <p:cNvSpPr txBox="1"/>
          <p:nvPr/>
        </p:nvSpPr>
        <p:spPr>
          <a:xfrm>
            <a:off x="161764" y="1463873"/>
            <a:ext cx="8820472" cy="23083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dirty="0">
                <a:latin typeface="Courier" pitchFamily="2" charset="0"/>
              </a:rPr>
              <a:t>public </a:t>
            </a:r>
            <a:r>
              <a:rPr lang="it-IT" dirty="0" err="1">
                <a:latin typeface="Courier" pitchFamily="2" charset="0"/>
              </a:rPr>
              <a:t>static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void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main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[] </a:t>
            </a:r>
            <a:r>
              <a:rPr lang="it-IT" dirty="0" err="1">
                <a:latin typeface="Courier" pitchFamily="2" charset="0"/>
              </a:rPr>
              <a:t>args</a:t>
            </a:r>
            <a:r>
              <a:rPr lang="it-IT" dirty="0">
                <a:latin typeface="Courier" pitchFamily="2" charset="0"/>
              </a:rPr>
              <a:t>) {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StringBuilder</a:t>
            </a:r>
            <a:r>
              <a:rPr lang="it-IT" dirty="0">
                <a:latin typeface="Courier" pitchFamily="2" charset="0"/>
              </a:rPr>
              <a:t> buffer1 = new </a:t>
            </a:r>
            <a:r>
              <a:rPr lang="it-IT" dirty="0" err="1">
                <a:latin typeface="Courier" pitchFamily="2" charset="0"/>
              </a:rPr>
              <a:t>StringBuilder</a:t>
            </a:r>
            <a:r>
              <a:rPr lang="it-IT" dirty="0">
                <a:latin typeface="Courier" pitchFamily="2" charset="0"/>
              </a:rPr>
              <a:t>();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StringBuilder</a:t>
            </a:r>
            <a:r>
              <a:rPr lang="it-IT" dirty="0">
                <a:latin typeface="Courier" pitchFamily="2" charset="0"/>
              </a:rPr>
              <a:t> buffer2 = new </a:t>
            </a:r>
            <a:r>
              <a:rPr lang="it-IT" dirty="0" err="1">
                <a:latin typeface="Courier" pitchFamily="2" charset="0"/>
              </a:rPr>
              <a:t>StringBuilder</a:t>
            </a:r>
            <a:r>
              <a:rPr lang="it-IT" dirty="0">
                <a:latin typeface="Courier" pitchFamily="2" charset="0"/>
              </a:rPr>
              <a:t>(10);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highlight>
                  <a:srgbClr val="FFFF00"/>
                </a:highlight>
                <a:latin typeface="Courier" pitchFamily="2" charset="0"/>
              </a:rPr>
              <a:t>StringBuilder</a:t>
            </a:r>
            <a:r>
              <a:rPr lang="it-IT" dirty="0">
                <a:highlight>
                  <a:srgbClr val="FFFF00"/>
                </a:highlight>
                <a:latin typeface="Courier" pitchFamily="2" charset="0"/>
              </a:rPr>
              <a:t> buffer3 = new </a:t>
            </a:r>
            <a:r>
              <a:rPr lang="it-IT" dirty="0" err="1">
                <a:highlight>
                  <a:srgbClr val="FFFF00"/>
                </a:highlight>
                <a:latin typeface="Courier" pitchFamily="2" charset="0"/>
              </a:rPr>
              <a:t>StringBuilder</a:t>
            </a:r>
            <a:r>
              <a:rPr lang="it-IT" dirty="0">
                <a:highlight>
                  <a:srgbClr val="FFFF00"/>
                </a:highlight>
                <a:latin typeface="Courier" pitchFamily="2" charset="0"/>
              </a:rPr>
              <a:t>("Maradona");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System.out.printf</a:t>
            </a:r>
            <a:r>
              <a:rPr lang="it-IT" dirty="0">
                <a:latin typeface="Courier" pitchFamily="2" charset="0"/>
              </a:rPr>
              <a:t>("buffer1 = \"%</a:t>
            </a:r>
            <a:r>
              <a:rPr lang="it-IT" dirty="0" err="1">
                <a:latin typeface="Courier" pitchFamily="2" charset="0"/>
              </a:rPr>
              <a:t>s</a:t>
            </a:r>
            <a:r>
              <a:rPr lang="it-IT" dirty="0">
                <a:latin typeface="Courier" pitchFamily="2" charset="0"/>
              </a:rPr>
              <a:t>\"%</a:t>
            </a:r>
            <a:r>
              <a:rPr lang="it-IT" dirty="0" err="1">
                <a:latin typeface="Courier" pitchFamily="2" charset="0"/>
              </a:rPr>
              <a:t>n</a:t>
            </a:r>
            <a:r>
              <a:rPr lang="it-IT" dirty="0">
                <a:latin typeface="Courier" pitchFamily="2" charset="0"/>
              </a:rPr>
              <a:t>", buffer1);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System.out.printf</a:t>
            </a:r>
            <a:r>
              <a:rPr lang="it-IT" dirty="0">
                <a:latin typeface="Courier" pitchFamily="2" charset="0"/>
              </a:rPr>
              <a:t>("buffer2 = \"%</a:t>
            </a:r>
            <a:r>
              <a:rPr lang="it-IT" dirty="0" err="1">
                <a:latin typeface="Courier" pitchFamily="2" charset="0"/>
              </a:rPr>
              <a:t>s</a:t>
            </a:r>
            <a:r>
              <a:rPr lang="it-IT" dirty="0">
                <a:latin typeface="Courier" pitchFamily="2" charset="0"/>
              </a:rPr>
              <a:t>\"%</a:t>
            </a:r>
            <a:r>
              <a:rPr lang="it-IT" dirty="0" err="1">
                <a:latin typeface="Courier" pitchFamily="2" charset="0"/>
              </a:rPr>
              <a:t>n</a:t>
            </a:r>
            <a:r>
              <a:rPr lang="it-IT" dirty="0">
                <a:latin typeface="Courier" pitchFamily="2" charset="0"/>
              </a:rPr>
              <a:t>", buffer2);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System.out.printf</a:t>
            </a:r>
            <a:r>
              <a:rPr lang="it-IT" dirty="0">
                <a:latin typeface="Courier" pitchFamily="2" charset="0"/>
              </a:rPr>
              <a:t>("buffer3 = \"%</a:t>
            </a:r>
            <a:r>
              <a:rPr lang="it-IT" dirty="0" err="1">
                <a:latin typeface="Courier" pitchFamily="2" charset="0"/>
              </a:rPr>
              <a:t>s</a:t>
            </a:r>
            <a:r>
              <a:rPr lang="it-IT" dirty="0">
                <a:latin typeface="Courier" pitchFamily="2" charset="0"/>
              </a:rPr>
              <a:t>\"%</a:t>
            </a:r>
            <a:r>
              <a:rPr lang="it-IT" dirty="0" err="1">
                <a:latin typeface="Courier" pitchFamily="2" charset="0"/>
              </a:rPr>
              <a:t>n</a:t>
            </a:r>
            <a:r>
              <a:rPr lang="it-IT" dirty="0">
                <a:latin typeface="Courier" pitchFamily="2" charset="0"/>
              </a:rPr>
              <a:t>", buffer3);</a:t>
            </a:r>
          </a:p>
          <a:p>
            <a:r>
              <a:rPr lang="it-IT" dirty="0">
                <a:latin typeface="Courier" pitchFamily="2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6CB3E2B-F6F5-6C52-33DB-BE52BF019DE6}"/>
              </a:ext>
            </a:extLst>
          </p:cNvPr>
          <p:cNvSpPr txBox="1"/>
          <p:nvPr/>
        </p:nvSpPr>
        <p:spPr>
          <a:xfrm>
            <a:off x="179511" y="3862687"/>
            <a:ext cx="3096345" cy="92333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buffer1 = ""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buffer2 = ""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buffer3 = "Maradona"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8E9585B-8934-5F7D-D138-24B3030A2879}"/>
              </a:ext>
            </a:extLst>
          </p:cNvPr>
          <p:cNvSpPr txBox="1"/>
          <p:nvPr/>
        </p:nvSpPr>
        <p:spPr>
          <a:xfrm>
            <a:off x="2837274" y="3791009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566E39D-977D-314C-FCB1-F198128969EB}"/>
              </a:ext>
            </a:extLst>
          </p:cNvPr>
          <p:cNvSpPr txBox="1"/>
          <p:nvPr/>
        </p:nvSpPr>
        <p:spPr>
          <a:xfrm>
            <a:off x="25092" y="5166102"/>
            <a:ext cx="9118908" cy="107721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Costruttore </a:t>
            </a:r>
            <a:r>
              <a:rPr lang="it-IT" sz="1600" dirty="0" err="1"/>
              <a:t>String­Builder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che prende un argomento </a:t>
            </a:r>
            <a:r>
              <a:rPr lang="it-IT" sz="1600" dirty="0" err="1"/>
              <a:t>String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per creare uno </a:t>
            </a:r>
            <a:r>
              <a:rPr lang="it-IT" sz="1600" dirty="0" err="1"/>
              <a:t>StringBuilder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che contiene i caratteri dell’argomento.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La dimensione effettiva  è il numero dei caratteri nell’argomento stringa (cioè 8 per l’esempio)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La </a:t>
            </a:r>
            <a:r>
              <a:rPr lang="it-IT" sz="1600" b="1" i="1" dirty="0">
                <a:solidFill>
                  <a:srgbClr val="333333"/>
                </a:solidFill>
                <a:effectLst/>
                <a:latin typeface="system-ui"/>
              </a:rPr>
              <a:t>capacità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 iniziale è il numero dei caratteri nell’argomento stringa + 16 (cioè 24)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876116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BD8F3-4248-F9C0-2FBA-31F11995C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0028D2-81C3-092C-573A-FECDBE5E5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Costruttori di </a:t>
            </a:r>
            <a:r>
              <a:rPr lang="it-IT" err="1"/>
              <a:t>StringBuilder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0DCB6FA-8A57-CF7F-FFC5-7038EDD2B1BB}"/>
              </a:ext>
            </a:extLst>
          </p:cNvPr>
          <p:cNvSpPr txBox="1"/>
          <p:nvPr/>
        </p:nvSpPr>
        <p:spPr>
          <a:xfrm>
            <a:off x="161764" y="1463873"/>
            <a:ext cx="8820472" cy="23083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latin typeface="Courier" pitchFamily="2" charset="0"/>
              </a:rPr>
              <a:t>public </a:t>
            </a:r>
            <a:r>
              <a:rPr lang="it-IT" err="1">
                <a:latin typeface="Courier" pitchFamily="2" charset="0"/>
              </a:rPr>
              <a:t>static</a:t>
            </a:r>
            <a:r>
              <a:rPr lang="it-IT">
                <a:latin typeface="Courier" pitchFamily="2" charset="0"/>
              </a:rPr>
              <a:t> </a:t>
            </a:r>
            <a:r>
              <a:rPr lang="it-IT" err="1">
                <a:latin typeface="Courier" pitchFamily="2" charset="0"/>
              </a:rPr>
              <a:t>void</a:t>
            </a:r>
            <a:r>
              <a:rPr lang="it-IT">
                <a:latin typeface="Courier" pitchFamily="2" charset="0"/>
              </a:rPr>
              <a:t> </a:t>
            </a:r>
            <a:r>
              <a:rPr lang="it-IT" err="1">
                <a:latin typeface="Courier" pitchFamily="2" charset="0"/>
              </a:rPr>
              <a:t>main</a:t>
            </a:r>
            <a:r>
              <a:rPr lang="it-IT">
                <a:latin typeface="Courier" pitchFamily="2" charset="0"/>
              </a:rPr>
              <a:t>(</a:t>
            </a:r>
            <a:r>
              <a:rPr lang="it-IT" err="1">
                <a:latin typeface="Courier" pitchFamily="2" charset="0"/>
              </a:rPr>
              <a:t>String</a:t>
            </a:r>
            <a:r>
              <a:rPr lang="it-IT">
                <a:latin typeface="Courier" pitchFamily="2" charset="0"/>
              </a:rPr>
              <a:t>[] </a:t>
            </a:r>
            <a:r>
              <a:rPr lang="it-IT" err="1">
                <a:latin typeface="Courier" pitchFamily="2" charset="0"/>
              </a:rPr>
              <a:t>args</a:t>
            </a:r>
            <a:r>
              <a:rPr lang="it-IT">
                <a:latin typeface="Courier" pitchFamily="2" charset="0"/>
              </a:rPr>
              <a:t>) {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 buffer1 = new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();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 buffer2 = new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(10);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 buffer3 = new </a:t>
            </a:r>
            <a:r>
              <a:rPr lang="it-IT" err="1">
                <a:latin typeface="Courier" pitchFamily="2" charset="0"/>
              </a:rPr>
              <a:t>StringBuilder</a:t>
            </a:r>
            <a:r>
              <a:rPr lang="it-IT">
                <a:latin typeface="Courier" pitchFamily="2" charset="0"/>
              </a:rPr>
              <a:t>("Maradona");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System.out.printf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("buffer1 = \"%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s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\"%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n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", buffer1);</a:t>
            </a:r>
            <a:endParaRPr lang="it-IT">
              <a:latin typeface="Courier" pitchFamily="2" charset="0"/>
            </a:endParaRP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System.out.printf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("buffer2 = \"%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s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\"%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n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", buffer2);</a:t>
            </a:r>
          </a:p>
          <a:p>
            <a:r>
              <a:rPr lang="it-IT">
                <a:latin typeface="Courier" pitchFamily="2" charset="0"/>
              </a:rPr>
              <a:t>        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System.out.printf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("buffer3 = \"%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s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\"%</a:t>
            </a:r>
            <a:r>
              <a:rPr lang="it-IT" err="1">
                <a:highlight>
                  <a:srgbClr val="FFFF00"/>
                </a:highlight>
                <a:latin typeface="Courier" pitchFamily="2" charset="0"/>
              </a:rPr>
              <a:t>n</a:t>
            </a:r>
            <a:r>
              <a:rPr lang="it-IT">
                <a:highlight>
                  <a:srgbClr val="FFFF00"/>
                </a:highlight>
                <a:latin typeface="Courier" pitchFamily="2" charset="0"/>
              </a:rPr>
              <a:t>", buffer3);</a:t>
            </a:r>
          </a:p>
          <a:p>
            <a:r>
              <a:rPr lang="it-IT">
                <a:latin typeface="Courier" pitchFamily="2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1B01A62-5B26-5388-0A3A-B4E58FCF4346}"/>
              </a:ext>
            </a:extLst>
          </p:cNvPr>
          <p:cNvSpPr txBox="1"/>
          <p:nvPr/>
        </p:nvSpPr>
        <p:spPr>
          <a:xfrm>
            <a:off x="179511" y="3862687"/>
            <a:ext cx="3096345" cy="92333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buffer1 = ""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buffer2 = ""</a:t>
            </a:r>
          </a:p>
          <a:p>
            <a:pPr algn="l"/>
            <a:r>
              <a:rPr lang="it-IT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buffer3 = "Maradona"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77CF79-ED24-6D25-EFCC-A9195EB52162}"/>
              </a:ext>
            </a:extLst>
          </p:cNvPr>
          <p:cNvSpPr txBox="1"/>
          <p:nvPr/>
        </p:nvSpPr>
        <p:spPr>
          <a:xfrm>
            <a:off x="2837274" y="3791009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1B72296-186A-E6DB-A514-8A40D93431E3}"/>
              </a:ext>
            </a:extLst>
          </p:cNvPr>
          <p:cNvSpPr txBox="1"/>
          <p:nvPr/>
        </p:nvSpPr>
        <p:spPr>
          <a:xfrm>
            <a:off x="25092" y="5166102"/>
            <a:ext cx="9118908" cy="58477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Usano implicitamente il metodo </a:t>
            </a:r>
            <a:r>
              <a:rPr lang="it-IT" sz="1600" dirty="0" err="1"/>
              <a:t>toString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della classe </a:t>
            </a:r>
            <a:r>
              <a:rPr lang="it-IT" sz="1600" dirty="0" err="1"/>
              <a:t>StringBuilder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per stampare gli </a:t>
            </a:r>
            <a:r>
              <a:rPr lang="it-IT" sz="1600" dirty="0" err="1"/>
              <a:t>StringBuilder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 con il metodo </a:t>
            </a:r>
            <a:r>
              <a:rPr lang="it-IT" sz="1600" dirty="0" err="1"/>
              <a:t>printf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system-ui"/>
              </a:rPr>
              <a:t>. 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36878380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BD1A9D-19E4-BC91-3A8B-9D47282E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0" i="0">
                <a:solidFill>
                  <a:srgbClr val="00406A"/>
                </a:solidFill>
                <a:effectLst/>
                <a:latin typeface="system-ui"/>
              </a:rPr>
              <a:t>I metodi </a:t>
            </a:r>
            <a:r>
              <a:rPr lang="it-IT" b="1" i="0" err="1">
                <a:solidFill>
                  <a:srgbClr val="00406A"/>
                </a:solidFill>
                <a:effectLst/>
                <a:latin typeface="system-ui"/>
              </a:rPr>
              <a:t>length</a:t>
            </a:r>
            <a:r>
              <a:rPr lang="it-IT" b="1" i="0">
                <a:solidFill>
                  <a:srgbClr val="00406A"/>
                </a:solidFill>
                <a:effectLst/>
                <a:latin typeface="system-ui"/>
              </a:rPr>
              <a:t> </a:t>
            </a:r>
            <a:r>
              <a:rPr lang="it-IT" b="0" i="0">
                <a:solidFill>
                  <a:srgbClr val="00406A"/>
                </a:solidFill>
                <a:effectLst/>
                <a:latin typeface="system-ui"/>
              </a:rPr>
              <a:t>, </a:t>
            </a:r>
            <a:r>
              <a:rPr lang="it-IT" b="1" i="0" err="1">
                <a:solidFill>
                  <a:srgbClr val="00406A"/>
                </a:solidFill>
                <a:effectLst/>
                <a:latin typeface="system-ui"/>
              </a:rPr>
              <a:t>capacity</a:t>
            </a:r>
            <a:r>
              <a:rPr lang="it-IT" b="1" i="0">
                <a:solidFill>
                  <a:srgbClr val="00406A"/>
                </a:solidFill>
                <a:effectLst/>
                <a:latin typeface="system-ui"/>
              </a:rPr>
              <a:t> </a:t>
            </a:r>
            <a:r>
              <a:rPr lang="it-IT" b="0" i="0">
                <a:solidFill>
                  <a:srgbClr val="00406A"/>
                </a:solidFill>
                <a:effectLst/>
                <a:latin typeface="system-ui"/>
              </a:rPr>
              <a:t>, </a:t>
            </a:r>
            <a:r>
              <a:rPr lang="it-IT" b="1" i="0" err="1">
                <a:solidFill>
                  <a:srgbClr val="00406A"/>
                </a:solidFill>
                <a:effectLst/>
                <a:latin typeface="system-ui"/>
              </a:rPr>
              <a:t>setLength</a:t>
            </a:r>
            <a:r>
              <a:rPr lang="it-IT" b="1" i="0">
                <a:solidFill>
                  <a:srgbClr val="00406A"/>
                </a:solidFill>
                <a:effectLst/>
                <a:latin typeface="system-ui"/>
              </a:rPr>
              <a:t> </a:t>
            </a:r>
            <a:r>
              <a:rPr lang="it-IT" b="0" i="0">
                <a:solidFill>
                  <a:srgbClr val="00406A"/>
                </a:solidFill>
                <a:effectLst/>
                <a:latin typeface="system-ui"/>
              </a:rPr>
              <a:t>ed </a:t>
            </a:r>
            <a:r>
              <a:rPr lang="it-IT" b="1" i="0" err="1">
                <a:solidFill>
                  <a:srgbClr val="00406A"/>
                </a:solidFill>
                <a:effectLst/>
                <a:latin typeface="system-ui"/>
              </a:rPr>
              <a:t>ensureCapacity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74014F-C697-08D4-91E1-C69E00403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</a:t>
            </a:r>
            <a:r>
              <a:rPr lang="it-IT" b="1" i="0" err="1">
                <a:solidFill>
                  <a:srgbClr val="333333"/>
                </a:solidFill>
                <a:effectLst/>
                <a:latin typeface="system-ui"/>
              </a:rPr>
              <a:t>length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e </a:t>
            </a:r>
            <a:r>
              <a:rPr lang="it-IT" b="1" i="0" err="1">
                <a:solidFill>
                  <a:srgbClr val="333333"/>
                </a:solidFill>
                <a:effectLst/>
                <a:latin typeface="system-ui"/>
              </a:rPr>
              <a:t>capacity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 restituiscono rispettivamente il numero di caratteri effettivamente contenuti in uno </a:t>
            </a:r>
            <a:r>
              <a:rPr lang="it-IT" err="1"/>
              <a:t>StringBuilder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e il numero di caratteri che possono essere memorizzati senza allocare ulteriore memoria.</a:t>
            </a:r>
          </a:p>
          <a:p>
            <a:r>
              <a:rPr lang="it-IT" b="1" i="0" err="1">
                <a:solidFill>
                  <a:srgbClr val="333333"/>
                </a:solidFill>
                <a:effectLst/>
                <a:latin typeface="system-ui"/>
              </a:rPr>
              <a:t>ensureCapacity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garantisce che uno  </a:t>
            </a:r>
            <a:r>
              <a:rPr lang="it-IT" err="1"/>
              <a:t>StringBuilder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abbia almeno la capacità specificata.</a:t>
            </a:r>
          </a:p>
          <a:p>
            <a:r>
              <a:rPr lang="it-IT" b="1" i="0" err="1">
                <a:solidFill>
                  <a:srgbClr val="333333"/>
                </a:solidFill>
                <a:effectLst/>
                <a:latin typeface="system-ui"/>
              </a:rPr>
              <a:t>setLength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aumenta o diminuisce la lunghezza di uno </a:t>
            </a:r>
            <a:r>
              <a:rPr lang="it-IT" err="1"/>
              <a:t>StringBuilder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03254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06C39-F9B0-197E-4F66-541302374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43E05B-2C46-511B-C53F-5B7087C04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0" i="0">
                <a:solidFill>
                  <a:srgbClr val="00406A"/>
                </a:solidFill>
                <a:effectLst/>
                <a:latin typeface="system-ui"/>
              </a:rPr>
              <a:t>I</a:t>
            </a:r>
            <a:r>
              <a:rPr lang="it-IT" sz="3600" b="0" i="0">
                <a:solidFill>
                  <a:srgbClr val="00406A"/>
                </a:solidFill>
                <a:effectLst/>
                <a:latin typeface="system-ui"/>
              </a:rPr>
              <a:t> metodi </a:t>
            </a:r>
            <a:r>
              <a:rPr lang="it-IT" sz="3600" b="1" i="0" err="1">
                <a:solidFill>
                  <a:srgbClr val="00406A"/>
                </a:solidFill>
                <a:effectLst/>
                <a:latin typeface="system-ui"/>
              </a:rPr>
              <a:t>length</a:t>
            </a:r>
            <a:r>
              <a:rPr lang="it-IT" sz="3600" b="1" i="0">
                <a:solidFill>
                  <a:srgbClr val="00406A"/>
                </a:solidFill>
                <a:effectLst/>
                <a:latin typeface="system-ui"/>
              </a:rPr>
              <a:t> </a:t>
            </a:r>
            <a:r>
              <a:rPr lang="it-IT" sz="3600" b="0" i="0">
                <a:solidFill>
                  <a:srgbClr val="00406A"/>
                </a:solidFill>
                <a:effectLst/>
                <a:latin typeface="system-ui"/>
              </a:rPr>
              <a:t>, </a:t>
            </a:r>
            <a:r>
              <a:rPr lang="it-IT" sz="3600" b="1" i="0" err="1">
                <a:solidFill>
                  <a:srgbClr val="00406A"/>
                </a:solidFill>
                <a:effectLst/>
                <a:latin typeface="system-ui"/>
              </a:rPr>
              <a:t>capacity</a:t>
            </a:r>
            <a:r>
              <a:rPr lang="it-IT" sz="3600" b="1" i="0">
                <a:solidFill>
                  <a:srgbClr val="00406A"/>
                </a:solidFill>
                <a:effectLst/>
                <a:latin typeface="system-ui"/>
              </a:rPr>
              <a:t> </a:t>
            </a:r>
            <a:r>
              <a:rPr lang="it-IT" sz="3600" b="0" i="0">
                <a:solidFill>
                  <a:srgbClr val="00406A"/>
                </a:solidFill>
                <a:effectLst/>
                <a:latin typeface="system-ui"/>
              </a:rPr>
              <a:t>, </a:t>
            </a:r>
            <a:r>
              <a:rPr lang="it-IT" sz="3600" b="1" i="0" err="1">
                <a:solidFill>
                  <a:srgbClr val="00406A"/>
                </a:solidFill>
                <a:effectLst/>
                <a:latin typeface="system-ui"/>
              </a:rPr>
              <a:t>setLength</a:t>
            </a:r>
            <a:r>
              <a:rPr lang="it-IT" sz="3600" b="1" i="0">
                <a:solidFill>
                  <a:srgbClr val="00406A"/>
                </a:solidFill>
                <a:effectLst/>
                <a:latin typeface="system-ui"/>
              </a:rPr>
              <a:t> </a:t>
            </a:r>
            <a:r>
              <a:rPr lang="it-IT" sz="3600" b="0" i="0">
                <a:solidFill>
                  <a:srgbClr val="00406A"/>
                </a:solidFill>
                <a:effectLst/>
                <a:latin typeface="system-ui"/>
              </a:rPr>
              <a:t>ed </a:t>
            </a:r>
            <a:r>
              <a:rPr lang="it-IT" sz="3600" b="1" i="0" err="1">
                <a:solidFill>
                  <a:srgbClr val="00406A"/>
                </a:solidFill>
                <a:effectLst/>
                <a:latin typeface="system-ui"/>
              </a:rPr>
              <a:t>ensureCapacity</a:t>
            </a:r>
            <a:endParaRPr lang="it-IT" sz="3600">
              <a:cs typeface="Arial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355919-6BFF-FECE-CA3F-8ADFBB6F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2"/>
            <a:ext cx="8229600" cy="5016499"/>
          </a:xfrm>
        </p:spPr>
        <p:txBody>
          <a:bodyPr>
            <a:normAutofit fontScale="77500" lnSpcReduction="20000"/>
          </a:bodyPr>
          <a:lstStyle/>
          <a:p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length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e 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capacity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 restituiscono rispettivamente il numero di caratteri effettivamente contenuti in uno 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e il numero di caratteri che possono essere memorizzati senza allocare ulteriore memoria.</a:t>
            </a:r>
          </a:p>
          <a:p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ensureCapacity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garantisce che uno  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abbia almeno la capacità specificata.</a:t>
            </a:r>
          </a:p>
          <a:p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setLength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aumenta o diminuisce la lunghezza di uno 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.</a:t>
            </a:r>
          </a:p>
          <a:p>
            <a:r>
              <a:rPr lang="it-IT" b="1" i="0" dirty="0">
                <a:solidFill>
                  <a:srgbClr val="FF0000"/>
                </a:solidFill>
                <a:effectLst/>
                <a:latin typeface="system-ui"/>
              </a:rPr>
              <a:t>ATTENZIONE!!! </a:t>
            </a:r>
          </a:p>
          <a:p>
            <a:pPr lvl="1"/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Aumentare dinamicamente la capacità di uno </a:t>
            </a:r>
            <a:r>
              <a:rPr lang="it-IT" b="0" i="1" dirty="0" err="1">
                <a:solidFill>
                  <a:srgbClr val="333333"/>
                </a:solidFill>
                <a:effectLst/>
                <a:latin typeface="system-ui"/>
              </a:rPr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può richiedere un tempo relativamente lungo, ed eseguire molte operazioni di questo tipo può peggiorare le prestazioni di un’applicazione. </a:t>
            </a:r>
          </a:p>
          <a:p>
            <a:pPr lvl="1"/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Se sapete che uno </a:t>
            </a:r>
            <a:r>
              <a:rPr lang="it-IT" b="0" i="1" dirty="0" err="1">
                <a:solidFill>
                  <a:srgbClr val="333333"/>
                </a:solidFill>
                <a:effectLst/>
                <a:latin typeface="system-ui"/>
              </a:rPr>
              <a:t>StringBuilder</a:t>
            </a:r>
            <a:r>
              <a:rPr lang="it-IT" b="0" i="1" dirty="0">
                <a:solidFill>
                  <a:srgbClr val="333333"/>
                </a:solidFill>
                <a:effectLst/>
                <a:latin typeface="system-ui"/>
              </a:rPr>
              <a:t> au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menterà notevolmente di dimensioni, e magari più volte, stabilite sin dall’inizio una capacità elevata per migliorare le prestazioni.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11956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756D-497E-205D-4317-5A908740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C7C867-A4E0-C479-52D8-6F74D165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Esempi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35BFD81-A03D-4E57-54F8-4CCD50050B28}"/>
              </a:ext>
            </a:extLst>
          </p:cNvPr>
          <p:cNvSpPr txBox="1"/>
          <p:nvPr/>
        </p:nvSpPr>
        <p:spPr>
          <a:xfrm>
            <a:off x="161764" y="1463873"/>
            <a:ext cx="8820472" cy="224676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sz="1400" dirty="0">
                <a:latin typeface="Courier" pitchFamily="2" charset="0"/>
              </a:rPr>
              <a:t>public </a:t>
            </a:r>
            <a:r>
              <a:rPr lang="it-IT" sz="1400" dirty="0" err="1">
                <a:latin typeface="Courier" pitchFamily="2" charset="0"/>
              </a:rPr>
              <a:t>static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void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main</a:t>
            </a:r>
            <a:r>
              <a:rPr lang="it-IT" sz="1400" dirty="0">
                <a:latin typeface="Courier" pitchFamily="2" charset="0"/>
              </a:rPr>
              <a:t>(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[] </a:t>
            </a:r>
            <a:r>
              <a:rPr lang="it-IT" sz="1400" dirty="0" err="1">
                <a:latin typeface="Courier" pitchFamily="2" charset="0"/>
              </a:rPr>
              <a:t>args</a:t>
            </a:r>
            <a:r>
              <a:rPr lang="it-IT" sz="1400" dirty="0">
                <a:latin typeface="Courier" pitchFamily="2" charset="0"/>
              </a:rPr>
              <a:t>) {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StringBuilder</a:t>
            </a:r>
            <a:r>
              <a:rPr lang="it-IT" sz="1400" dirty="0">
                <a:latin typeface="Courier" pitchFamily="2" charset="0"/>
              </a:rPr>
              <a:t> buffer = new </a:t>
            </a:r>
            <a:r>
              <a:rPr lang="it-IT" sz="1400" dirty="0" err="1">
                <a:latin typeface="Courier" pitchFamily="2" charset="0"/>
              </a:rPr>
              <a:t>StringBuilder</a:t>
            </a:r>
            <a:r>
              <a:rPr lang="it-IT" sz="1400" dirty="0">
                <a:latin typeface="Courier" pitchFamily="2" charset="0"/>
              </a:rPr>
              <a:t>("Diego Armando Maradona");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("buffer = %</a:t>
            </a:r>
            <a:r>
              <a:rPr lang="it-IT" sz="1400" dirty="0" err="1">
                <a:latin typeface="Courier" pitchFamily="2" charset="0"/>
              </a:rPr>
              <a:t>s%nlength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d%ncapacity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d%n%n</a:t>
            </a:r>
            <a:r>
              <a:rPr lang="it-IT" sz="1400" dirty="0">
                <a:latin typeface="Courier" pitchFamily="2" charset="0"/>
              </a:rPr>
              <a:t>",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buffer.toString</a:t>
            </a:r>
            <a:r>
              <a:rPr lang="it-IT" sz="1400" dirty="0">
                <a:latin typeface="Courier" pitchFamily="2" charset="0"/>
              </a:rPr>
              <a:t>(), </a:t>
            </a:r>
            <a:r>
              <a:rPr lang="it-IT" sz="1400" dirty="0" err="1">
                <a:latin typeface="Courier" pitchFamily="2" charset="0"/>
              </a:rPr>
              <a:t>buffer.length</a:t>
            </a:r>
            <a:r>
              <a:rPr lang="it-IT" sz="1400" dirty="0">
                <a:latin typeface="Courier" pitchFamily="2" charset="0"/>
              </a:rPr>
              <a:t>(), </a:t>
            </a:r>
            <a:r>
              <a:rPr lang="it-IT" sz="1400" dirty="0" err="1">
                <a:latin typeface="Courier" pitchFamily="2" charset="0"/>
              </a:rPr>
              <a:t>buffer.capacity</a:t>
            </a:r>
            <a:r>
              <a:rPr lang="it-IT" sz="1400" dirty="0">
                <a:latin typeface="Courier" pitchFamily="2" charset="0"/>
              </a:rPr>
              <a:t>());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buffer.ensureCapacity</a:t>
            </a:r>
            <a:r>
              <a:rPr lang="it-IT" sz="1400" dirty="0">
                <a:latin typeface="Courier" pitchFamily="2" charset="0"/>
              </a:rPr>
              <a:t>(75);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("New </a:t>
            </a:r>
            <a:r>
              <a:rPr lang="it-IT" sz="1400" dirty="0" err="1">
                <a:latin typeface="Courier" pitchFamily="2" charset="0"/>
              </a:rPr>
              <a:t>capacity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buffer.capacity</a:t>
            </a:r>
            <a:r>
              <a:rPr lang="it-IT" sz="1400" dirty="0">
                <a:latin typeface="Courier" pitchFamily="2" charset="0"/>
              </a:rPr>
              <a:t>());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buffer.setLength</a:t>
            </a:r>
            <a:r>
              <a:rPr lang="it-IT" sz="1400" dirty="0">
                <a:latin typeface="Courier" pitchFamily="2" charset="0"/>
              </a:rPr>
              <a:t>(5);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("New </a:t>
            </a:r>
            <a:r>
              <a:rPr lang="it-IT" sz="1400" dirty="0" err="1">
                <a:latin typeface="Courier" pitchFamily="2" charset="0"/>
              </a:rPr>
              <a:t>length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d%nbuffer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s%n</a:t>
            </a:r>
            <a:r>
              <a:rPr lang="it-IT" sz="1400" dirty="0">
                <a:latin typeface="Courier" pitchFamily="2" charset="0"/>
              </a:rPr>
              <a:t>",</a:t>
            </a:r>
          </a:p>
          <a:p>
            <a:r>
              <a:rPr lang="it-IT" sz="1400" dirty="0">
                <a:latin typeface="Courier" pitchFamily="2" charset="0"/>
              </a:rPr>
              <a:t>        	</a:t>
            </a:r>
            <a:r>
              <a:rPr lang="it-IT" sz="1400" dirty="0" err="1">
                <a:latin typeface="Courier" pitchFamily="2" charset="0"/>
              </a:rPr>
              <a:t>buffer.length</a:t>
            </a:r>
            <a:r>
              <a:rPr lang="it-IT" sz="1400" dirty="0">
                <a:latin typeface="Courier" pitchFamily="2" charset="0"/>
              </a:rPr>
              <a:t>(), </a:t>
            </a:r>
            <a:r>
              <a:rPr lang="it-IT" sz="1400" dirty="0" err="1">
                <a:latin typeface="Courier" pitchFamily="2" charset="0"/>
              </a:rPr>
              <a:t>buffer.toString</a:t>
            </a:r>
            <a:r>
              <a:rPr lang="it-IT" sz="1400" dirty="0">
                <a:latin typeface="Courier" pitchFamily="2" charset="0"/>
              </a:rPr>
              <a:t>());</a:t>
            </a:r>
          </a:p>
          <a:p>
            <a:r>
              <a:rPr lang="it-IT" sz="1400" dirty="0">
                <a:latin typeface="Courier" pitchFamily="2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47C474C-6315-C893-FF8E-B104DDA603D8}"/>
              </a:ext>
            </a:extLst>
          </p:cNvPr>
          <p:cNvSpPr txBox="1"/>
          <p:nvPr/>
        </p:nvSpPr>
        <p:spPr>
          <a:xfrm>
            <a:off x="171171" y="3778362"/>
            <a:ext cx="4122204" cy="2062103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 = Diego Armando Maradona</a:t>
            </a:r>
          </a:p>
          <a:p>
            <a:pPr algn="l"/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length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22</a:t>
            </a:r>
          </a:p>
          <a:p>
            <a:pPr algn="l"/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capacity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38</a:t>
            </a:r>
          </a:p>
          <a:p>
            <a:pPr algn="l"/>
            <a:endParaRPr lang="it-IT" sz="1600" b="0" i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New </a:t>
            </a:r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capacity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78</a:t>
            </a:r>
          </a:p>
          <a:p>
            <a:pPr algn="l"/>
            <a:endParaRPr lang="it-IT" sz="1600" b="0" i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New </a:t>
            </a:r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length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5</a:t>
            </a:r>
          </a:p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 = Diego</a:t>
            </a:r>
            <a:endParaRPr lang="it-IT" b="0" i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4746E43-9C9C-DCAA-E499-0FC905A5AE05}"/>
              </a:ext>
            </a:extLst>
          </p:cNvPr>
          <p:cNvSpPr txBox="1"/>
          <p:nvPr/>
        </p:nvSpPr>
        <p:spPr>
          <a:xfrm>
            <a:off x="3704244" y="4178502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4CFDCE0-AE62-78EE-177A-9B3C348A5403}"/>
              </a:ext>
            </a:extLst>
          </p:cNvPr>
          <p:cNvSpPr txBox="1"/>
          <p:nvPr/>
        </p:nvSpPr>
        <p:spPr>
          <a:xfrm>
            <a:off x="4850625" y="3778362"/>
            <a:ext cx="4122204" cy="203132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Si noti che inizialmente la capacità dello 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è di 38.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Il costruttore 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che prende un argomento stringa inizializza la capacità alla lunghezza della stringa passata come argomento più 16.</a:t>
            </a:r>
          </a:p>
        </p:txBody>
      </p:sp>
    </p:spTree>
    <p:extLst>
      <p:ext uri="{BB962C8B-B14F-4D97-AF65-F5344CB8AC3E}">
        <p14:creationId xmlns:p14="http://schemas.microsoft.com/office/powerpoint/2010/main" val="1849276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5DF51-65F2-C7C7-76BF-86C46C77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49AE3E-4FA0-E493-0ED1-9418A4AE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cs typeface="Arial"/>
              </a:rPr>
              <a:t>Esempi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A1AA657-D833-5E7F-41D1-0ABA2495D83B}"/>
              </a:ext>
            </a:extLst>
          </p:cNvPr>
          <p:cNvSpPr txBox="1"/>
          <p:nvPr/>
        </p:nvSpPr>
        <p:spPr>
          <a:xfrm>
            <a:off x="161764" y="1463873"/>
            <a:ext cx="8820472" cy="224676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sz="1400" dirty="0">
                <a:latin typeface="Courier" pitchFamily="2" charset="0"/>
              </a:rPr>
              <a:t>public </a:t>
            </a:r>
            <a:r>
              <a:rPr lang="it-IT" sz="1400" dirty="0" err="1">
                <a:latin typeface="Courier" pitchFamily="2" charset="0"/>
              </a:rPr>
              <a:t>static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void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main</a:t>
            </a:r>
            <a:r>
              <a:rPr lang="it-IT" sz="1400" dirty="0">
                <a:latin typeface="Courier" pitchFamily="2" charset="0"/>
              </a:rPr>
              <a:t>(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[] </a:t>
            </a:r>
            <a:r>
              <a:rPr lang="it-IT" sz="1400" dirty="0" err="1">
                <a:latin typeface="Courier" pitchFamily="2" charset="0"/>
              </a:rPr>
              <a:t>args</a:t>
            </a:r>
            <a:r>
              <a:rPr lang="it-IT" sz="1400" dirty="0">
                <a:latin typeface="Courier" pitchFamily="2" charset="0"/>
              </a:rPr>
              <a:t>) {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StringBuilder</a:t>
            </a:r>
            <a:r>
              <a:rPr lang="it-IT" sz="1400" dirty="0">
                <a:latin typeface="Courier" pitchFamily="2" charset="0"/>
              </a:rPr>
              <a:t> buffer = new </a:t>
            </a:r>
            <a:r>
              <a:rPr lang="it-IT" sz="1400" dirty="0" err="1">
                <a:latin typeface="Courier" pitchFamily="2" charset="0"/>
              </a:rPr>
              <a:t>StringBuilder</a:t>
            </a:r>
            <a:r>
              <a:rPr lang="it-IT" sz="1400" dirty="0">
                <a:latin typeface="Courier" pitchFamily="2" charset="0"/>
              </a:rPr>
              <a:t>("Diego Armando Maradona");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("buffer = %</a:t>
            </a:r>
            <a:r>
              <a:rPr lang="it-IT" sz="1400" dirty="0" err="1">
                <a:latin typeface="Courier" pitchFamily="2" charset="0"/>
              </a:rPr>
              <a:t>s%nlength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d%ncapacity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d%n%n</a:t>
            </a:r>
            <a:r>
              <a:rPr lang="it-IT" sz="1400" dirty="0">
                <a:latin typeface="Courier" pitchFamily="2" charset="0"/>
              </a:rPr>
              <a:t>",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buffer.toString</a:t>
            </a:r>
            <a:r>
              <a:rPr lang="it-IT" sz="1400" dirty="0">
                <a:latin typeface="Courier" pitchFamily="2" charset="0"/>
              </a:rPr>
              <a:t>(), </a:t>
            </a:r>
            <a:r>
              <a:rPr lang="it-IT" sz="1400" dirty="0" err="1">
                <a:latin typeface="Courier" pitchFamily="2" charset="0"/>
              </a:rPr>
              <a:t>buffer.length</a:t>
            </a:r>
            <a:r>
              <a:rPr lang="it-IT" sz="1400" dirty="0">
                <a:latin typeface="Courier" pitchFamily="2" charset="0"/>
              </a:rPr>
              <a:t>(), </a:t>
            </a:r>
            <a:r>
              <a:rPr lang="it-IT" sz="1400" dirty="0" err="1">
                <a:latin typeface="Courier" pitchFamily="2" charset="0"/>
              </a:rPr>
              <a:t>buffer.capacity</a:t>
            </a:r>
            <a:r>
              <a:rPr lang="it-IT" sz="1400" dirty="0">
                <a:latin typeface="Courier" pitchFamily="2" charset="0"/>
              </a:rPr>
              <a:t>());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highlight>
                  <a:srgbClr val="FFFF00"/>
                </a:highlight>
                <a:latin typeface="Courier" pitchFamily="2" charset="0"/>
              </a:rPr>
              <a:t>buffer.ensureCapacity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(75);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("New </a:t>
            </a:r>
            <a:r>
              <a:rPr lang="it-IT" sz="1400" dirty="0" err="1">
                <a:latin typeface="Courier" pitchFamily="2" charset="0"/>
              </a:rPr>
              <a:t>capacity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buffer.capacity</a:t>
            </a:r>
            <a:r>
              <a:rPr lang="it-IT" sz="1400" dirty="0">
                <a:latin typeface="Courier" pitchFamily="2" charset="0"/>
              </a:rPr>
              <a:t>());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buffer.setLength</a:t>
            </a:r>
            <a:r>
              <a:rPr lang="it-IT" sz="1400" dirty="0">
                <a:latin typeface="Courier" pitchFamily="2" charset="0"/>
              </a:rPr>
              <a:t>(5);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("New </a:t>
            </a:r>
            <a:r>
              <a:rPr lang="it-IT" sz="1400" dirty="0" err="1">
                <a:latin typeface="Courier" pitchFamily="2" charset="0"/>
              </a:rPr>
              <a:t>length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d%nbuffer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s%n</a:t>
            </a:r>
            <a:r>
              <a:rPr lang="it-IT" sz="1400" dirty="0">
                <a:latin typeface="Courier" pitchFamily="2" charset="0"/>
              </a:rPr>
              <a:t>",</a:t>
            </a:r>
          </a:p>
          <a:p>
            <a:r>
              <a:rPr lang="it-IT" sz="1400" dirty="0">
                <a:latin typeface="Courier" pitchFamily="2" charset="0"/>
              </a:rPr>
              <a:t>        	</a:t>
            </a:r>
            <a:r>
              <a:rPr lang="it-IT" sz="1400" dirty="0" err="1">
                <a:latin typeface="Courier" pitchFamily="2" charset="0"/>
              </a:rPr>
              <a:t>buffer.length</a:t>
            </a:r>
            <a:r>
              <a:rPr lang="it-IT" sz="1400" dirty="0">
                <a:latin typeface="Courier" pitchFamily="2" charset="0"/>
              </a:rPr>
              <a:t>(), </a:t>
            </a:r>
            <a:r>
              <a:rPr lang="it-IT" sz="1400" dirty="0" err="1">
                <a:latin typeface="Courier" pitchFamily="2" charset="0"/>
              </a:rPr>
              <a:t>buffer.toString</a:t>
            </a:r>
            <a:r>
              <a:rPr lang="it-IT" sz="1400" dirty="0">
                <a:latin typeface="Courier" pitchFamily="2" charset="0"/>
              </a:rPr>
              <a:t>());</a:t>
            </a:r>
          </a:p>
          <a:p>
            <a:r>
              <a:rPr lang="it-IT" sz="1400" dirty="0">
                <a:latin typeface="Courier" pitchFamily="2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BEB84E0-310C-D09E-9F7A-8CDB0DBA563D}"/>
              </a:ext>
            </a:extLst>
          </p:cNvPr>
          <p:cNvSpPr txBox="1"/>
          <p:nvPr/>
        </p:nvSpPr>
        <p:spPr>
          <a:xfrm>
            <a:off x="171171" y="3778362"/>
            <a:ext cx="4122204" cy="2062103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 = Diego Armando Maradona</a:t>
            </a:r>
          </a:p>
          <a:p>
            <a:pPr algn="l"/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length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22</a:t>
            </a:r>
          </a:p>
          <a:p>
            <a:pPr algn="l"/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capacity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38</a:t>
            </a:r>
          </a:p>
          <a:p>
            <a:pPr algn="l"/>
            <a:endParaRPr lang="it-IT" sz="1600" b="0" i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New </a:t>
            </a:r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capacity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78</a:t>
            </a:r>
          </a:p>
          <a:p>
            <a:pPr algn="l"/>
            <a:endParaRPr lang="it-IT" sz="1600" b="0" i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New </a:t>
            </a:r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length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5</a:t>
            </a:r>
          </a:p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 = Diego</a:t>
            </a:r>
            <a:endParaRPr lang="it-IT" b="0" i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4E122B1-67CC-8E07-3833-6486B06F8431}"/>
              </a:ext>
            </a:extLst>
          </p:cNvPr>
          <p:cNvSpPr txBox="1"/>
          <p:nvPr/>
        </p:nvSpPr>
        <p:spPr>
          <a:xfrm>
            <a:off x="3704244" y="4178502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/>
              <a:t>Output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D301C7C-DCFE-84E5-B4B9-AB97441176C3}"/>
              </a:ext>
            </a:extLst>
          </p:cNvPr>
          <p:cNvSpPr txBox="1"/>
          <p:nvPr/>
        </p:nvSpPr>
        <p:spPr>
          <a:xfrm>
            <a:off x="4572000" y="3717032"/>
            <a:ext cx="4464496" cy="23083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Espande la capacità dello 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ad una capacità che equivale al valore maggiore tra il numero specificato come argomento e il doppio della capacità originale più 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La capacità esistente rimane invariata se quella corrente è maggiore della capacità specificata.</a:t>
            </a:r>
          </a:p>
        </p:txBody>
      </p:sp>
    </p:spTree>
    <p:extLst>
      <p:ext uri="{BB962C8B-B14F-4D97-AF65-F5344CB8AC3E}">
        <p14:creationId xmlns:p14="http://schemas.microsoft.com/office/powerpoint/2010/main" val="1193938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32541-BD75-671D-1C41-4AB57274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F7760C-F6FE-7E6E-677E-B043CD018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56" y="-461387"/>
            <a:ext cx="7543800" cy="1295400"/>
          </a:xfrm>
        </p:spPr>
        <p:txBody>
          <a:bodyPr/>
          <a:lstStyle/>
          <a:p>
            <a:r>
              <a:rPr lang="it-IT" dirty="0">
                <a:cs typeface="Arial"/>
              </a:rPr>
              <a:t>Esempi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9271260-8A14-EE39-B8B8-21065F87A935}"/>
              </a:ext>
            </a:extLst>
          </p:cNvPr>
          <p:cNvSpPr txBox="1"/>
          <p:nvPr/>
        </p:nvSpPr>
        <p:spPr>
          <a:xfrm>
            <a:off x="161764" y="1013783"/>
            <a:ext cx="8820472" cy="224676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sz="1400" dirty="0">
                <a:latin typeface="Courier" pitchFamily="2" charset="0"/>
              </a:rPr>
              <a:t>public </a:t>
            </a:r>
            <a:r>
              <a:rPr lang="it-IT" sz="1400" dirty="0" err="1">
                <a:latin typeface="Courier" pitchFamily="2" charset="0"/>
              </a:rPr>
              <a:t>static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void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main</a:t>
            </a:r>
            <a:r>
              <a:rPr lang="it-IT" sz="1400" dirty="0">
                <a:latin typeface="Courier" pitchFamily="2" charset="0"/>
              </a:rPr>
              <a:t>(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[] </a:t>
            </a:r>
            <a:r>
              <a:rPr lang="it-IT" sz="1400" dirty="0" err="1">
                <a:latin typeface="Courier" pitchFamily="2" charset="0"/>
              </a:rPr>
              <a:t>args</a:t>
            </a:r>
            <a:r>
              <a:rPr lang="it-IT" sz="1400" dirty="0">
                <a:latin typeface="Courier" pitchFamily="2" charset="0"/>
              </a:rPr>
              <a:t>) {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StringBuilder</a:t>
            </a:r>
            <a:r>
              <a:rPr lang="it-IT" sz="1400" dirty="0">
                <a:latin typeface="Courier" pitchFamily="2" charset="0"/>
              </a:rPr>
              <a:t> buffer = new </a:t>
            </a:r>
            <a:r>
              <a:rPr lang="it-IT" sz="1400" dirty="0" err="1">
                <a:latin typeface="Courier" pitchFamily="2" charset="0"/>
              </a:rPr>
              <a:t>StringBuilder</a:t>
            </a:r>
            <a:r>
              <a:rPr lang="it-IT" sz="1400" dirty="0">
                <a:latin typeface="Courier" pitchFamily="2" charset="0"/>
              </a:rPr>
              <a:t>("Diego Armando Maradona");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("buffer = %</a:t>
            </a:r>
            <a:r>
              <a:rPr lang="it-IT" sz="1400" dirty="0" err="1">
                <a:latin typeface="Courier" pitchFamily="2" charset="0"/>
              </a:rPr>
              <a:t>s%nlength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d%ncapacity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d%n%n</a:t>
            </a:r>
            <a:r>
              <a:rPr lang="it-IT" sz="1400" dirty="0">
                <a:latin typeface="Courier" pitchFamily="2" charset="0"/>
              </a:rPr>
              <a:t>",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buffer.toString</a:t>
            </a:r>
            <a:r>
              <a:rPr lang="it-IT" sz="1400" dirty="0">
                <a:latin typeface="Courier" pitchFamily="2" charset="0"/>
              </a:rPr>
              <a:t>(), </a:t>
            </a:r>
            <a:r>
              <a:rPr lang="it-IT" sz="1400" dirty="0" err="1">
                <a:latin typeface="Courier" pitchFamily="2" charset="0"/>
              </a:rPr>
              <a:t>buffer.length</a:t>
            </a:r>
            <a:r>
              <a:rPr lang="it-IT" sz="1400" dirty="0">
                <a:latin typeface="Courier" pitchFamily="2" charset="0"/>
              </a:rPr>
              <a:t>(), </a:t>
            </a:r>
            <a:r>
              <a:rPr lang="it-IT" sz="1400" dirty="0" err="1">
                <a:latin typeface="Courier" pitchFamily="2" charset="0"/>
              </a:rPr>
              <a:t>buffer.capacity</a:t>
            </a:r>
            <a:r>
              <a:rPr lang="it-IT" sz="1400" dirty="0">
                <a:latin typeface="Courier" pitchFamily="2" charset="0"/>
              </a:rPr>
              <a:t>());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buffer.ensureCapacity</a:t>
            </a:r>
            <a:r>
              <a:rPr lang="it-IT" sz="1400" dirty="0">
                <a:latin typeface="Courier" pitchFamily="2" charset="0"/>
              </a:rPr>
              <a:t>(75);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("New </a:t>
            </a:r>
            <a:r>
              <a:rPr lang="it-IT" sz="1400" dirty="0" err="1">
                <a:latin typeface="Courier" pitchFamily="2" charset="0"/>
              </a:rPr>
              <a:t>capacity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buffer.capacity</a:t>
            </a:r>
            <a:r>
              <a:rPr lang="it-IT" sz="1400" dirty="0">
                <a:latin typeface="Courier" pitchFamily="2" charset="0"/>
              </a:rPr>
              <a:t>());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highlight>
                  <a:srgbClr val="FFFF00"/>
                </a:highlight>
                <a:latin typeface="Courier" pitchFamily="2" charset="0"/>
              </a:rPr>
              <a:t>buffer.setLength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(5);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("New </a:t>
            </a:r>
            <a:r>
              <a:rPr lang="it-IT" sz="1400" dirty="0" err="1">
                <a:latin typeface="Courier" pitchFamily="2" charset="0"/>
              </a:rPr>
              <a:t>length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d%nbuffer</a:t>
            </a:r>
            <a:r>
              <a:rPr lang="it-IT" sz="1400" dirty="0">
                <a:latin typeface="Courier" pitchFamily="2" charset="0"/>
              </a:rPr>
              <a:t> = %</a:t>
            </a:r>
            <a:r>
              <a:rPr lang="it-IT" sz="1400" dirty="0" err="1">
                <a:latin typeface="Courier" pitchFamily="2" charset="0"/>
              </a:rPr>
              <a:t>s%n</a:t>
            </a:r>
            <a:r>
              <a:rPr lang="it-IT" sz="1400" dirty="0">
                <a:latin typeface="Courier" pitchFamily="2" charset="0"/>
              </a:rPr>
              <a:t>",</a:t>
            </a:r>
          </a:p>
          <a:p>
            <a:r>
              <a:rPr lang="it-IT" sz="1400" dirty="0">
                <a:latin typeface="Courier" pitchFamily="2" charset="0"/>
              </a:rPr>
              <a:t>        	</a:t>
            </a:r>
            <a:r>
              <a:rPr lang="it-IT" sz="1400" dirty="0" err="1">
                <a:latin typeface="Courier" pitchFamily="2" charset="0"/>
              </a:rPr>
              <a:t>buffer.length</a:t>
            </a:r>
            <a:r>
              <a:rPr lang="it-IT" sz="1400" dirty="0">
                <a:latin typeface="Courier" pitchFamily="2" charset="0"/>
              </a:rPr>
              <a:t>(), </a:t>
            </a:r>
            <a:r>
              <a:rPr lang="it-IT" sz="1400" dirty="0" err="1">
                <a:latin typeface="Courier" pitchFamily="2" charset="0"/>
              </a:rPr>
              <a:t>buffer.toString</a:t>
            </a:r>
            <a:r>
              <a:rPr lang="it-IT" sz="1400" dirty="0">
                <a:latin typeface="Courier" pitchFamily="2" charset="0"/>
              </a:rPr>
              <a:t>());</a:t>
            </a:r>
          </a:p>
          <a:p>
            <a:r>
              <a:rPr lang="it-IT" sz="1400" dirty="0">
                <a:latin typeface="Courier" pitchFamily="2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D04AC9-403D-4C1F-6C1C-3BD48E375755}"/>
              </a:ext>
            </a:extLst>
          </p:cNvPr>
          <p:cNvSpPr txBox="1"/>
          <p:nvPr/>
        </p:nvSpPr>
        <p:spPr>
          <a:xfrm>
            <a:off x="161764" y="4363075"/>
            <a:ext cx="4122204" cy="2062103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 = Diego Armando Maradona</a:t>
            </a:r>
          </a:p>
          <a:p>
            <a:pPr algn="l"/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length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22</a:t>
            </a:r>
          </a:p>
          <a:p>
            <a:pPr algn="l"/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capacity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38</a:t>
            </a:r>
          </a:p>
          <a:p>
            <a:pPr algn="l"/>
            <a:endParaRPr lang="it-IT" sz="1600" b="0" i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New </a:t>
            </a:r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capacity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78</a:t>
            </a:r>
          </a:p>
          <a:p>
            <a:pPr algn="l"/>
            <a:endParaRPr lang="it-IT" sz="1600" b="0" i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New </a:t>
            </a:r>
            <a:r>
              <a:rPr lang="it-IT" sz="1600" b="0" i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length</a:t>
            </a:r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5</a:t>
            </a:r>
          </a:p>
          <a:p>
            <a:pPr algn="l"/>
            <a:r>
              <a:rPr lang="it-IT" sz="1600" b="0" i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 = Diego</a:t>
            </a:r>
            <a:endParaRPr lang="it-IT" b="0" i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5DF09DB-12C4-5A89-93D5-F8ADBBFA2328}"/>
              </a:ext>
            </a:extLst>
          </p:cNvPr>
          <p:cNvSpPr txBox="1"/>
          <p:nvPr/>
        </p:nvSpPr>
        <p:spPr>
          <a:xfrm>
            <a:off x="107504" y="3993743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/>
              <a:t>Output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47AC22B-5879-581A-88F5-24300B06D238}"/>
              </a:ext>
            </a:extLst>
          </p:cNvPr>
          <p:cNvSpPr txBox="1"/>
          <p:nvPr/>
        </p:nvSpPr>
        <p:spPr>
          <a:xfrm>
            <a:off x="4572000" y="3717032"/>
            <a:ext cx="4464496" cy="295465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550" dirty="0">
                <a:solidFill>
                  <a:srgbClr val="333333"/>
                </a:solidFill>
                <a:latin typeface="system-ui"/>
              </a:rPr>
              <a:t>I</a:t>
            </a:r>
            <a:r>
              <a:rPr lang="it-IT" sz="1550" b="0" i="0" dirty="0">
                <a:solidFill>
                  <a:srgbClr val="333333"/>
                </a:solidFill>
                <a:effectLst/>
                <a:latin typeface="system-ui"/>
              </a:rPr>
              <a:t>mposta la lunghezza dello </a:t>
            </a:r>
            <a:r>
              <a:rPr lang="it-IT" sz="1550" dirty="0" err="1"/>
              <a:t>StringBuilder</a:t>
            </a:r>
            <a:r>
              <a:rPr lang="it-IT" sz="1550" b="0" i="0" dirty="0">
                <a:solidFill>
                  <a:srgbClr val="333333"/>
                </a:solidFill>
                <a:effectLst/>
                <a:latin typeface="system-ui"/>
              </a:rPr>
              <a:t> a </a:t>
            </a:r>
            <a:r>
              <a:rPr lang="it-IT" sz="1550" dirty="0">
                <a:solidFill>
                  <a:srgbClr val="333333"/>
                </a:solidFill>
                <a:latin typeface="system-ui"/>
              </a:rPr>
              <a:t>5</a:t>
            </a:r>
            <a:r>
              <a:rPr lang="it-IT" sz="1550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550" b="0" i="0" dirty="0">
                <a:solidFill>
                  <a:srgbClr val="333333"/>
                </a:solidFill>
                <a:effectLst/>
                <a:latin typeface="system-ui"/>
              </a:rPr>
              <a:t>Se la lunghezza specificata è minore del numero di caratteri corrente nello </a:t>
            </a:r>
            <a:r>
              <a:rPr lang="it-IT" sz="1550" dirty="0" err="1"/>
              <a:t>StringBuilder</a:t>
            </a:r>
            <a:r>
              <a:rPr lang="it-IT" sz="1550" b="0" i="0" dirty="0">
                <a:solidFill>
                  <a:srgbClr val="333333"/>
                </a:solidFill>
                <a:effectLst/>
                <a:latin typeface="system-ui"/>
              </a:rPr>
              <a:t>, il suo contenuto viene ridotto alla lunghezza specificata (ovvero i caratteri nello </a:t>
            </a:r>
            <a:r>
              <a:rPr lang="it-IT" sz="1550" dirty="0" err="1"/>
              <a:t>StringBuilder</a:t>
            </a:r>
            <a:r>
              <a:rPr lang="it-IT" sz="1550" b="0" i="0" dirty="0">
                <a:solidFill>
                  <a:srgbClr val="333333"/>
                </a:solidFill>
                <a:effectLst/>
                <a:latin typeface="system-ui"/>
              </a:rPr>
              <a:t> eccedenti la lunghezza specificata vengono eliminati).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550" b="0" i="0" dirty="0">
                <a:solidFill>
                  <a:srgbClr val="333333"/>
                </a:solidFill>
                <a:effectLst/>
                <a:latin typeface="system-ui"/>
              </a:rPr>
              <a:t>Se la lunghezza specificata è maggiore del numero di caratteri esistente nello </a:t>
            </a:r>
            <a:r>
              <a:rPr lang="it-IT" sz="1550" dirty="0" err="1"/>
              <a:t>StringBuilder</a:t>
            </a:r>
            <a:r>
              <a:rPr lang="it-IT" sz="1550" b="0" i="0" dirty="0">
                <a:solidFill>
                  <a:srgbClr val="333333"/>
                </a:solidFill>
                <a:effectLst/>
                <a:latin typeface="system-ui"/>
              </a:rPr>
              <a:t>, vengono aggiunti caratteri </a:t>
            </a:r>
            <a:r>
              <a:rPr lang="it-IT" sz="1550" dirty="0" err="1"/>
              <a:t>null</a:t>
            </a:r>
            <a:r>
              <a:rPr lang="it-IT" sz="1550" b="0" i="0" dirty="0">
                <a:solidFill>
                  <a:srgbClr val="333333"/>
                </a:solidFill>
                <a:effectLst/>
                <a:latin typeface="system-ui"/>
              </a:rPr>
              <a:t> (caratteri con rappresentazione numerica 0) finché il numero totale dei caratteri non diventa uguale alla lunghezza specificata.</a:t>
            </a:r>
          </a:p>
        </p:txBody>
      </p:sp>
    </p:spTree>
    <p:extLst>
      <p:ext uri="{BB962C8B-B14F-4D97-AF65-F5344CB8AC3E}">
        <p14:creationId xmlns:p14="http://schemas.microsoft.com/office/powerpoint/2010/main" val="3396796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3CFBD6-01B2-351E-97D0-721F6AB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523938"/>
            <a:ext cx="7543800" cy="1295400"/>
          </a:xfrm>
        </p:spPr>
        <p:txBody>
          <a:bodyPr/>
          <a:lstStyle/>
          <a:p>
            <a:r>
              <a:rPr lang="it-IT" dirty="0"/>
              <a:t>Alcuni metodi per la modifica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B3CDBB-0322-6A66-7F8B-8924272E9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5823"/>
            <a:ext cx="8229600" cy="4411662"/>
          </a:xfrm>
        </p:spPr>
        <p:txBody>
          <a:bodyPr/>
          <a:lstStyle/>
          <a:p>
            <a:r>
              <a:rPr lang="it-IT" dirty="0"/>
              <a:t>Inserimento</a:t>
            </a:r>
          </a:p>
          <a:p>
            <a:pPr lvl="1"/>
            <a:r>
              <a:rPr lang="it-IT" b="1" dirty="0" err="1"/>
              <a:t>Append</a:t>
            </a:r>
            <a:r>
              <a:rPr lang="it-IT" dirty="0"/>
              <a:t> – metodi </a:t>
            </a:r>
            <a:r>
              <a:rPr lang="it-IT" dirty="0" err="1"/>
              <a:t>overloaded</a:t>
            </a:r>
            <a:r>
              <a:rPr lang="it-IT" dirty="0"/>
              <a:t> </a:t>
            </a:r>
            <a:r>
              <a:rPr lang="it-IT" i="1" dirty="0">
                <a:effectLst/>
                <a:latin typeface="Helvetica" pitchFamily="2" charset="0"/>
              </a:rPr>
              <a:t>che consentono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di aggiungere valori di diverso tipo alla fine di uno </a:t>
            </a:r>
            <a:r>
              <a:rPr lang="it-IT" i="1" dirty="0" err="1">
                <a:effectLst/>
                <a:latin typeface="Times" pitchFamily="2" charset="0"/>
              </a:rPr>
              <a:t>StringBuilder</a:t>
            </a:r>
            <a:r>
              <a:rPr lang="it-IT" i="1" dirty="0">
                <a:effectLst/>
                <a:latin typeface="Times" pitchFamily="2" charset="0"/>
              </a:rPr>
              <a:t>, sono utilizzati per realizzare + e +=</a:t>
            </a:r>
            <a:endParaRPr lang="it-IT" dirty="0"/>
          </a:p>
          <a:p>
            <a:pPr lvl="1"/>
            <a:r>
              <a:rPr lang="it-IT" b="1" dirty="0" err="1"/>
              <a:t>Insert</a:t>
            </a:r>
            <a:r>
              <a:rPr lang="it-IT" dirty="0"/>
              <a:t> - metodi </a:t>
            </a:r>
            <a:r>
              <a:rPr lang="it-IT" dirty="0" err="1"/>
              <a:t>overloaded</a:t>
            </a:r>
            <a:r>
              <a:rPr lang="it-IT" dirty="0"/>
              <a:t> </a:t>
            </a:r>
            <a:r>
              <a:rPr lang="it-IT" i="1" dirty="0">
                <a:effectLst/>
                <a:latin typeface="Helvetica" pitchFamily="2" charset="0"/>
              </a:rPr>
              <a:t>per inserire valori di diverso tipo</a:t>
            </a:r>
            <a:r>
              <a:rPr lang="it-IT" dirty="0">
                <a:latin typeface="Helvetica" pitchFamily="2" charset="0"/>
              </a:rPr>
              <a:t> </a:t>
            </a:r>
            <a:r>
              <a:rPr lang="it-IT" i="1" dirty="0">
                <a:effectLst/>
                <a:latin typeface="Helvetica" pitchFamily="2" charset="0"/>
              </a:rPr>
              <a:t>in qualsiasi posizione in uno </a:t>
            </a:r>
            <a:r>
              <a:rPr lang="it-IT" i="1" dirty="0" err="1">
                <a:effectLst/>
                <a:latin typeface="Times" pitchFamily="2" charset="0"/>
              </a:rPr>
              <a:t>StringBuilder</a:t>
            </a:r>
            <a:endParaRPr lang="it-IT" dirty="0"/>
          </a:p>
          <a:p>
            <a:r>
              <a:rPr lang="it-IT" dirty="0"/>
              <a:t>Cancellazione</a:t>
            </a:r>
          </a:p>
          <a:p>
            <a:pPr lvl="1"/>
            <a:r>
              <a:rPr lang="it-IT" b="1" dirty="0" err="1">
                <a:effectLst/>
                <a:latin typeface="Times" pitchFamily="2" charset="0"/>
              </a:rPr>
              <a:t>deleteCharAt</a:t>
            </a:r>
            <a:r>
              <a:rPr lang="it-IT" b="1" dirty="0">
                <a:effectLst/>
                <a:latin typeface="Times" pitchFamily="2" charset="0"/>
              </a:rPr>
              <a:t> </a:t>
            </a:r>
            <a:r>
              <a:rPr lang="it-IT" dirty="0">
                <a:effectLst/>
                <a:latin typeface="Times" pitchFamily="2" charset="0"/>
              </a:rPr>
              <a:t>- </a:t>
            </a:r>
            <a:r>
              <a:rPr lang="it-IT" i="1" dirty="0">
                <a:effectLst/>
                <a:latin typeface="Helvetica" pitchFamily="2" charset="0"/>
              </a:rPr>
              <a:t>prende un unico argomento l’indice del carattere da eliminare</a:t>
            </a:r>
            <a:endParaRPr lang="it-IT" dirty="0">
              <a:effectLst/>
              <a:latin typeface="Times" pitchFamily="2" charset="0"/>
            </a:endParaRPr>
          </a:p>
          <a:p>
            <a:pPr lvl="1"/>
            <a:r>
              <a:rPr lang="it-IT" b="1" dirty="0">
                <a:latin typeface="Times" pitchFamily="2" charset="0"/>
              </a:rPr>
              <a:t>d</a:t>
            </a:r>
            <a:r>
              <a:rPr lang="it-IT" b="1" dirty="0">
                <a:effectLst/>
                <a:latin typeface="Times" pitchFamily="2" charset="0"/>
              </a:rPr>
              <a:t>elete </a:t>
            </a:r>
            <a:r>
              <a:rPr lang="it-IT" dirty="0">
                <a:effectLst/>
                <a:latin typeface="Times" pitchFamily="2" charset="0"/>
              </a:rPr>
              <a:t>– </a:t>
            </a:r>
            <a:r>
              <a:rPr lang="it-IT" i="1" dirty="0">
                <a:latin typeface="Helvetica" pitchFamily="2" charset="0"/>
              </a:rPr>
              <a:t>prende due argomenti: tutti i caratteri compresi tra l’indice di inizio (incluso) e quello finale (escluso) vengono eliminati</a:t>
            </a:r>
          </a:p>
          <a:p>
            <a:pPr lvl="1"/>
            <a:endParaRPr lang="it-IT" dirty="0">
              <a:effectLst/>
              <a:latin typeface="Times" pitchFamily="2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913281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3F46D9-9297-E02A-CF3F-E96DB163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Altri metodi di </a:t>
            </a:r>
            <a:r>
              <a:rPr lang="it-IT" err="1"/>
              <a:t>StringBuilder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331C45-C2A5-6E60-A449-B5A673B44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b="1" dirty="0" err="1"/>
              <a:t>setCharAt</a:t>
            </a:r>
            <a:r>
              <a:rPr lang="it-IT" dirty="0"/>
              <a:t> 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prende come argomenti un intero e un carattere e imposta il carattere dello 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alla posizione specificata al carattere passato come secondo argomento.</a:t>
            </a:r>
          </a:p>
          <a:p>
            <a:r>
              <a:rPr lang="it-IT" b="1" dirty="0"/>
              <a:t>reverse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 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inverte il contenuto dello 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Tentare di accedere a un carattere che si trova al di fuori dei limiti di uno </a:t>
            </a:r>
            <a:r>
              <a:rPr lang="it-IT" dirty="0" err="1"/>
              <a:t>StringBuilder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genera un errore (</a:t>
            </a:r>
            <a:r>
              <a:rPr lang="it-IT" dirty="0" err="1"/>
              <a:t>StringIndexOutOfBoundsException</a:t>
            </a:r>
            <a:r>
              <a:rPr lang="it-IT" dirty="0"/>
              <a:t>)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.</a:t>
            </a:r>
          </a:p>
          <a:p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length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charAt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e 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getChars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sono disponibili anche per 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StringBuilder</a:t>
            </a:r>
            <a:endParaRPr lang="it-IT" b="0" i="0" dirty="0">
              <a:solidFill>
                <a:srgbClr val="333333"/>
              </a:solidFill>
              <a:effectLst/>
              <a:latin typeface="system-ui"/>
            </a:endParaRP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81406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CCD548-16C3-073D-D6C5-25FD3418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-320063"/>
            <a:ext cx="7543800" cy="1295400"/>
          </a:xfrm>
        </p:spPr>
        <p:txBody>
          <a:bodyPr/>
          <a:lstStyle/>
          <a:p>
            <a:r>
              <a:rPr lang="it-IT" dirty="0"/>
              <a:t>Esempio </a:t>
            </a:r>
            <a:r>
              <a:rPr lang="it-IT" dirty="0" err="1"/>
              <a:t>Replace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3D0B08-5FC2-4067-8526-DC4BED6F5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259490"/>
            <a:ext cx="8855902" cy="2264014"/>
          </a:xfrm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it-IT" sz="1800" dirty="0">
                <a:latin typeface="Courier" pitchFamily="2" charset="0"/>
              </a:rPr>
              <a:t>public </a:t>
            </a:r>
            <a:r>
              <a:rPr lang="it-IT" sz="1800" dirty="0" err="1">
                <a:latin typeface="Courier" pitchFamily="2" charset="0"/>
              </a:rPr>
              <a:t>static</a:t>
            </a:r>
            <a:r>
              <a:rPr lang="it-IT" sz="1800" dirty="0">
                <a:latin typeface="Courier" pitchFamily="2" charset="0"/>
              </a:rPr>
              <a:t> </a:t>
            </a:r>
            <a:r>
              <a:rPr lang="it-IT" sz="1800" dirty="0" err="1">
                <a:latin typeface="Courier" pitchFamily="2" charset="0"/>
              </a:rPr>
              <a:t>void</a:t>
            </a:r>
            <a:r>
              <a:rPr lang="it-IT" sz="1800" dirty="0">
                <a:latin typeface="Courier" pitchFamily="2" charset="0"/>
              </a:rPr>
              <a:t> </a:t>
            </a:r>
            <a:r>
              <a:rPr lang="it-IT" sz="1800" dirty="0" err="1">
                <a:latin typeface="Courier" pitchFamily="2" charset="0"/>
              </a:rPr>
              <a:t>main</a:t>
            </a:r>
            <a:r>
              <a:rPr lang="it-IT" sz="1800" dirty="0">
                <a:latin typeface="Courier" pitchFamily="2" charset="0"/>
              </a:rPr>
              <a:t>(</a:t>
            </a:r>
            <a:r>
              <a:rPr lang="it-IT" sz="1800" dirty="0" err="1">
                <a:latin typeface="Courier" pitchFamily="2" charset="0"/>
              </a:rPr>
              <a:t>String</a:t>
            </a:r>
            <a:r>
              <a:rPr lang="it-IT" sz="1800" dirty="0">
                <a:latin typeface="Courier" pitchFamily="2" charset="0"/>
              </a:rPr>
              <a:t>[] </a:t>
            </a:r>
            <a:r>
              <a:rPr lang="it-IT" sz="1800" dirty="0" err="1">
                <a:latin typeface="Courier" pitchFamily="2" charset="0"/>
              </a:rPr>
              <a:t>args</a:t>
            </a:r>
            <a:r>
              <a:rPr lang="it-IT" sz="1800" dirty="0">
                <a:latin typeface="Courier" pitchFamily="2" charset="0"/>
              </a:rPr>
              <a:t>) {</a:t>
            </a:r>
          </a:p>
          <a:p>
            <a:pPr marL="0" indent="0">
              <a:buNone/>
            </a:pPr>
            <a:r>
              <a:rPr lang="it-IT" sz="1800" dirty="0">
                <a:latin typeface="Courier" pitchFamily="2" charset="0"/>
              </a:rPr>
              <a:t>        </a:t>
            </a:r>
            <a:r>
              <a:rPr lang="it-IT" sz="1800" dirty="0" err="1">
                <a:latin typeface="Courier" pitchFamily="2" charset="0"/>
              </a:rPr>
              <a:t>StringBuilder</a:t>
            </a:r>
            <a:r>
              <a:rPr lang="it-IT" sz="1800" dirty="0">
                <a:latin typeface="Courier" pitchFamily="2" charset="0"/>
              </a:rPr>
              <a:t> buffer = new </a:t>
            </a:r>
            <a:r>
              <a:rPr lang="it-IT" sz="1800" dirty="0" err="1">
                <a:latin typeface="Courier" pitchFamily="2" charset="0"/>
              </a:rPr>
              <a:t>StringBuilder</a:t>
            </a:r>
            <a:r>
              <a:rPr lang="it-IT" sz="1800" dirty="0">
                <a:latin typeface="Courier" pitchFamily="2" charset="0"/>
              </a:rPr>
              <a:t>("Diego Armando Maradona");</a:t>
            </a:r>
          </a:p>
          <a:p>
            <a:pPr marL="0" indent="0">
              <a:buNone/>
            </a:pPr>
            <a:r>
              <a:rPr lang="it-IT" sz="1800" dirty="0">
                <a:latin typeface="Courier" pitchFamily="2" charset="0"/>
              </a:rPr>
              <a:t>        </a:t>
            </a:r>
            <a:r>
              <a:rPr lang="it-IT" sz="1800" dirty="0" err="1">
                <a:latin typeface="Courier" pitchFamily="2" charset="0"/>
              </a:rPr>
              <a:t>buffer.replace</a:t>
            </a:r>
            <a:r>
              <a:rPr lang="it-IT" sz="1800" dirty="0">
                <a:latin typeface="Courier" pitchFamily="2" charset="0"/>
              </a:rPr>
              <a:t>(0, </a:t>
            </a:r>
            <a:r>
              <a:rPr lang="it-IT" sz="1800" dirty="0" err="1">
                <a:latin typeface="Courier" pitchFamily="2" charset="0"/>
              </a:rPr>
              <a:t>buffer.length</a:t>
            </a:r>
            <a:r>
              <a:rPr lang="it-IT" sz="1800" dirty="0">
                <a:latin typeface="Courier" pitchFamily="2" charset="0"/>
              </a:rPr>
              <a:t>(), "Careca");</a:t>
            </a:r>
          </a:p>
          <a:p>
            <a:pPr marL="0" indent="0">
              <a:buNone/>
            </a:pPr>
            <a:r>
              <a:rPr lang="it-IT" sz="1800" dirty="0">
                <a:latin typeface="Courier" pitchFamily="2" charset="0"/>
              </a:rPr>
              <a:t>        </a:t>
            </a:r>
            <a:r>
              <a:rPr lang="it-IT" sz="1800" dirty="0" err="1">
                <a:latin typeface="Courier" pitchFamily="2" charset="0"/>
              </a:rPr>
              <a:t>System.out.printf</a:t>
            </a:r>
            <a:r>
              <a:rPr lang="it-IT" sz="1800" dirty="0">
                <a:latin typeface="Courier" pitchFamily="2" charset="0"/>
              </a:rPr>
              <a:t>("buffer = %</a:t>
            </a:r>
            <a:r>
              <a:rPr lang="it-IT" sz="1800" dirty="0" err="1">
                <a:latin typeface="Courier" pitchFamily="2" charset="0"/>
              </a:rPr>
              <a:t>s%n</a:t>
            </a:r>
            <a:r>
              <a:rPr lang="it-IT" sz="1800" dirty="0">
                <a:latin typeface="Courier" pitchFamily="2" charset="0"/>
              </a:rPr>
              <a:t>", </a:t>
            </a:r>
            <a:r>
              <a:rPr lang="it-IT" sz="1800" dirty="0" err="1">
                <a:latin typeface="Courier" pitchFamily="2" charset="0"/>
              </a:rPr>
              <a:t>buffer.toString</a:t>
            </a:r>
            <a:r>
              <a:rPr lang="it-IT" sz="1800" dirty="0">
                <a:latin typeface="Courier" pitchFamily="2" charset="0"/>
              </a:rPr>
              <a:t>());</a:t>
            </a:r>
          </a:p>
          <a:p>
            <a:pPr marL="0" indent="0">
              <a:buNone/>
            </a:pPr>
            <a:r>
              <a:rPr lang="it-IT" sz="1800" dirty="0">
                <a:latin typeface="Courier" pitchFamily="2" charset="0"/>
              </a:rPr>
              <a:t>}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C17CF1A-86F8-8103-8B0F-07B9D30AEF88}"/>
              </a:ext>
            </a:extLst>
          </p:cNvPr>
          <p:cNvSpPr txBox="1"/>
          <p:nvPr/>
        </p:nvSpPr>
        <p:spPr>
          <a:xfrm>
            <a:off x="125260" y="4606618"/>
            <a:ext cx="2155551" cy="33855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buffer = Careca</a:t>
            </a:r>
            <a:endParaRPr lang="it-IT" b="0" i="0" dirty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D9FC9F0-4043-ADD8-C08C-75DD923FDD0E}"/>
              </a:ext>
            </a:extLst>
          </p:cNvPr>
          <p:cNvSpPr txBox="1"/>
          <p:nvPr/>
        </p:nvSpPr>
        <p:spPr>
          <a:xfrm>
            <a:off x="145615" y="4207137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/>
              <a:t>Output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10BA728-4F26-27D6-2286-B14281805142}"/>
              </a:ext>
            </a:extLst>
          </p:cNvPr>
          <p:cNvSpPr txBox="1"/>
          <p:nvPr/>
        </p:nvSpPr>
        <p:spPr>
          <a:xfrm>
            <a:off x="2671132" y="3807657"/>
            <a:ext cx="5968653" cy="2585323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/>
              <a:t>Il metodo Java </a:t>
            </a:r>
            <a:r>
              <a:rPr lang="it-IT" dirty="0">
                <a:latin typeface="Courier" pitchFamily="2" charset="0"/>
              </a:rPr>
              <a:t>public </a:t>
            </a:r>
            <a:r>
              <a:rPr lang="it-IT" b="1" dirty="0" err="1">
                <a:latin typeface="Courier" pitchFamily="2" charset="0"/>
              </a:rPr>
              <a:t>StringBuilder</a:t>
            </a:r>
            <a:r>
              <a:rPr lang="it-IT" b="1" dirty="0">
                <a:latin typeface="Courier" pitchFamily="2" charset="0"/>
              </a:rPr>
              <a:t> </a:t>
            </a:r>
            <a:r>
              <a:rPr lang="it-IT" b="1" dirty="0" err="1">
                <a:latin typeface="Courier" pitchFamily="2" charset="0"/>
              </a:rPr>
              <a:t>replace</a:t>
            </a:r>
            <a:r>
              <a:rPr lang="it-IT" b="1" dirty="0">
                <a:latin typeface="Courier" pitchFamily="2" charset="0"/>
              </a:rPr>
              <a:t>(</a:t>
            </a:r>
            <a:r>
              <a:rPr lang="it-IT" b="1" dirty="0" err="1">
                <a:latin typeface="Courier" pitchFamily="2" charset="0"/>
              </a:rPr>
              <a:t>int</a:t>
            </a:r>
            <a:r>
              <a:rPr lang="it-IT" b="1" dirty="0">
                <a:latin typeface="Courier" pitchFamily="2" charset="0"/>
              </a:rPr>
              <a:t> start, </a:t>
            </a:r>
            <a:r>
              <a:rPr lang="it-IT" b="1" dirty="0" err="1">
                <a:latin typeface="Courier" pitchFamily="2" charset="0"/>
              </a:rPr>
              <a:t>int</a:t>
            </a:r>
            <a:r>
              <a:rPr lang="it-IT" b="1" dirty="0">
                <a:latin typeface="Courier" pitchFamily="2" charset="0"/>
              </a:rPr>
              <a:t> end, </a:t>
            </a:r>
            <a:r>
              <a:rPr lang="it-IT" b="1" dirty="0" err="1">
                <a:latin typeface="Courier" pitchFamily="2" charset="0"/>
              </a:rPr>
              <a:t>String</a:t>
            </a:r>
            <a:r>
              <a:rPr lang="it-IT" b="1" dirty="0">
                <a:latin typeface="Courier" pitchFamily="2" charset="0"/>
              </a:rPr>
              <a:t> </a:t>
            </a:r>
            <a:r>
              <a:rPr lang="it-IT" b="1" dirty="0" err="1">
                <a:latin typeface="Courier" pitchFamily="2" charset="0"/>
              </a:rPr>
              <a:t>str</a:t>
            </a:r>
            <a:r>
              <a:rPr lang="it-IT" b="1" dirty="0">
                <a:latin typeface="Courier" pitchFamily="2" charset="0"/>
              </a:rPr>
              <a:t>)</a:t>
            </a:r>
            <a:r>
              <a:rPr lang="it-IT" dirty="0"/>
              <a:t> viene utilizzato per sostituire i caratteri in una sottostringa di un oggetto </a:t>
            </a:r>
            <a:r>
              <a:rPr lang="it-IT" dirty="0" err="1"/>
              <a:t>StringBuilder</a:t>
            </a:r>
            <a:r>
              <a:rPr lang="it-IT" dirty="0"/>
              <a:t> con i caratteri nella stringa specificata.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/>
              <a:t>Nell’esempio si è cambiato il valore di tutto il buffer.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it-IT" dirty="0"/>
              <a:t>Usando opportunamente i valori di start ed end è possibile cambiare una sottostringa dello </a:t>
            </a:r>
            <a:r>
              <a:rPr lang="it-IT" dirty="0" err="1"/>
              <a:t>StringBuilder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33402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CB421-3055-B4DE-4989-BA94B9DA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5B64D3-990B-5BF0-F32D-B74C92E1B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en-US" dirty="0"/>
              <a:t>Programmare in Java: </a:t>
            </a:r>
            <a:r>
              <a:rPr lang="it-IT" dirty="0"/>
              <a:t>Capitolo 14, </a:t>
            </a:r>
            <a:br>
              <a:rPr lang="it-IT" dirty="0"/>
            </a:br>
            <a:r>
              <a:rPr lang="it-IT" dirty="0"/>
              <a:t>§14.2, §14.3</a:t>
            </a:r>
          </a:p>
          <a:p>
            <a:r>
              <a:rPr lang="it-IT" dirty="0"/>
              <a:t>Capitolo 14, §14.4 (</a:t>
            </a:r>
            <a:r>
              <a:rPr lang="it-IT" dirty="0" err="1"/>
              <a:t>StringBuilder</a:t>
            </a:r>
            <a:r>
              <a:rPr lang="it-IT" dirty="0"/>
              <a:t>)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 err="1"/>
              <a:t>Savitch</a:t>
            </a:r>
            <a:r>
              <a:rPr lang="it-IT" dirty="0"/>
              <a:t>: Capitolo 2, §2.2</a:t>
            </a:r>
          </a:p>
        </p:txBody>
      </p:sp>
    </p:spTree>
    <p:extLst>
      <p:ext uri="{BB962C8B-B14F-4D97-AF65-F5344CB8AC3E}">
        <p14:creationId xmlns:p14="http://schemas.microsoft.com/office/powerpoint/2010/main" val="227406494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D4B529-96AF-4837-9F13-6D64FFF00511}"/>
</file>

<file path=customXml/itemProps2.xml><?xml version="1.0" encoding="utf-8"?>
<ds:datastoreItem xmlns:ds="http://schemas.openxmlformats.org/officeDocument/2006/customXml" ds:itemID="{02F9C156-B927-4DE9-BA8D-6D1E1B7D32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97C0B1-6858-4C37-A999-DB61E96BA8F9}">
  <ds:schemaRefs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5387fd40-4559-49a3-8457-9f9a85abe1c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1414</TotalTime>
  <Words>4615</Words>
  <Application>Microsoft Macintosh PowerPoint</Application>
  <PresentationFormat>Presentazione su schermo (4:3)</PresentationFormat>
  <Paragraphs>465</Paragraphs>
  <Slides>44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44</vt:i4>
      </vt:variant>
    </vt:vector>
  </HeadingPairs>
  <TitlesOfParts>
    <vt:vector size="57" baseType="lpstr">
      <vt:lpstr>Arial</vt:lpstr>
      <vt:lpstr>Calibri</vt:lpstr>
      <vt:lpstr>Courier</vt:lpstr>
      <vt:lpstr>Courier New</vt:lpstr>
      <vt:lpstr>Helvetica</vt:lpstr>
      <vt:lpstr>Menlo</vt:lpstr>
      <vt:lpstr>system-ui</vt:lpstr>
      <vt:lpstr>Times</vt:lpstr>
      <vt:lpstr>Times New Roman</vt:lpstr>
      <vt:lpstr>ui-monospace</vt:lpstr>
      <vt:lpstr>Verdana</vt:lpstr>
      <vt:lpstr>Wingdings</vt:lpstr>
      <vt:lpstr>Rete</vt:lpstr>
      <vt:lpstr>  Corso di Programmazione</vt:lpstr>
      <vt:lpstr>Lavorare con le stringhe</vt:lpstr>
      <vt:lpstr>Stringhe di caratteri</vt:lpstr>
      <vt:lpstr>Ancora su letterali</vt:lpstr>
      <vt:lpstr>Costruttori di Stringa</vt:lpstr>
      <vt:lpstr>Esempi di costruttori di String</vt:lpstr>
      <vt:lpstr>Esempi di costruttori di String</vt:lpstr>
      <vt:lpstr>Esempi di costruttori di String</vt:lpstr>
      <vt:lpstr>I  metodi length , charAt e getChars</vt:lpstr>
      <vt:lpstr>Esempio</vt:lpstr>
      <vt:lpstr>Confronto tra Stringhe</vt:lpstr>
      <vt:lpstr>Metodi per il confronto</vt:lpstr>
      <vt:lpstr>Esempio di confronto</vt:lpstr>
      <vt:lpstr>Esempio di confronto</vt:lpstr>
      <vt:lpstr>Esempio di confronto</vt:lpstr>
      <vt:lpstr>Concatenazione di stringhe</vt:lpstr>
      <vt:lpstr>Operatori + e +=</vt:lpstr>
      <vt:lpstr>Il metodo toString</vt:lpstr>
      <vt:lpstr>(Alcuni) altri metodi di String</vt:lpstr>
      <vt:lpstr>(Alcuni) altri metodi di String</vt:lpstr>
      <vt:lpstr>Il metodo valueOf</vt:lpstr>
      <vt:lpstr>📦 Come Java gestisce le stringhe</vt:lpstr>
      <vt:lpstr>🆕 Cosa fa new String()</vt:lpstr>
      <vt:lpstr>🧠 Differenze a livello di memoria</vt:lpstr>
      <vt:lpstr>🔍 Confronti: == vs .equals()</vt:lpstr>
      <vt:lpstr>⚡ Impatto su performance</vt:lpstr>
      <vt:lpstr>✅ Quando usare new String()?</vt:lpstr>
      <vt:lpstr>🧑‍🏫 Regola d’oro per gli studenti</vt:lpstr>
      <vt:lpstr>💬 Recap finale</vt:lpstr>
      <vt:lpstr>La classe StringBuilder</vt:lpstr>
      <vt:lpstr>Costruttori di StringBuilder</vt:lpstr>
      <vt:lpstr>Costruttori di StringBuilder</vt:lpstr>
      <vt:lpstr>Costruttori di StringBuilder</vt:lpstr>
      <vt:lpstr>Costruttori di StringBuilder</vt:lpstr>
      <vt:lpstr>Costruttori di StringBuilder</vt:lpstr>
      <vt:lpstr>I metodi length , capacity , setLength ed ensureCapacity</vt:lpstr>
      <vt:lpstr>I metodi length , capacity , setLength ed ensureCapacity</vt:lpstr>
      <vt:lpstr>Esempi </vt:lpstr>
      <vt:lpstr>Esempi</vt:lpstr>
      <vt:lpstr>Esempi</vt:lpstr>
      <vt:lpstr>Alcuni metodi per la modifica</vt:lpstr>
      <vt:lpstr>Altri metodi di StringBuilder</vt:lpstr>
      <vt:lpstr>Esempio Replace</vt:lpstr>
      <vt:lpstr>Riferimenti</vt:lpstr>
    </vt:vector>
  </TitlesOfParts>
  <Company>la pulce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creator>domenique</dc:creator>
  <cp:lastModifiedBy>DOMENICO AMALFITANO</cp:lastModifiedBy>
  <cp:revision>18</cp:revision>
  <cp:lastPrinted>1999-11-19T14:12:44Z</cp:lastPrinted>
  <dcterms:created xsi:type="dcterms:W3CDTF">1999-10-30T10:20:48Z</dcterms:created>
  <dcterms:modified xsi:type="dcterms:W3CDTF">2025-04-03T09:27:43Z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2023-11-30T08:44:01Z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c4a52107-c177-479a-bcd7-dbf9d4e988dd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  <property fmtid="{D5CDD505-2E9C-101B-9397-08002B2CF9AE}" pid="10" name="MediaServiceImageTags">
    <vt:lpwstr/>
  </property>
</Properties>
</file>