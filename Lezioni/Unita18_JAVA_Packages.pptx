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4" r:id="rId4"/>
  </p:sldMasterIdLst>
  <p:notesMasterIdLst>
    <p:notesMasterId r:id="rId24"/>
  </p:notesMasterIdLst>
  <p:handoutMasterIdLst>
    <p:handoutMasterId r:id="rId25"/>
  </p:handoutMasterIdLst>
  <p:sldIdLst>
    <p:sldId id="265" r:id="rId5"/>
    <p:sldId id="335" r:id="rId6"/>
    <p:sldId id="344" r:id="rId7"/>
    <p:sldId id="345" r:id="rId8"/>
    <p:sldId id="378" r:id="rId9"/>
    <p:sldId id="379" r:id="rId10"/>
    <p:sldId id="380" r:id="rId11"/>
    <p:sldId id="349" r:id="rId12"/>
    <p:sldId id="347" r:id="rId13"/>
    <p:sldId id="346" r:id="rId14"/>
    <p:sldId id="348" r:id="rId15"/>
    <p:sldId id="350" r:id="rId16"/>
    <p:sldId id="372" r:id="rId17"/>
    <p:sldId id="371" r:id="rId18"/>
    <p:sldId id="373" r:id="rId19"/>
    <p:sldId id="381" r:id="rId20"/>
    <p:sldId id="376" r:id="rId21"/>
    <p:sldId id="375" r:id="rId22"/>
    <p:sldId id="343" r:id="rId23"/>
  </p:sldIdLst>
  <p:sldSz cx="9144000" cy="6858000" type="screen4x3"/>
  <p:notesSz cx="7099300" cy="10234613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C45244-414D-416A-B6EC-EF718CC3FA1B}" v="29" dt="2024-05-03T06:24:29.7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1"/>
  </p:normalViewPr>
  <p:slideViewPr>
    <p:cSldViewPr snapToGrid="0">
      <p:cViewPr varScale="1">
        <p:scale>
          <a:sx n="103" d="100"/>
          <a:sy n="103" d="100"/>
        </p:scale>
        <p:origin x="178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ENICO AMALFITANO" userId="S::domenico.amalfitano@unina.it::fb6cf861-3113-480d-b8cc-6c34b43a24f9" providerId="AD" clId="Web-{A607270A-79D5-4654-915C-6A8BA9C71CDC}"/>
    <pc:docChg chg="modSld">
      <pc:chgData name="DOMENICO AMALFITANO" userId="S::domenico.amalfitano@unina.it::fb6cf861-3113-480d-b8cc-6c34b43a24f9" providerId="AD" clId="Web-{A607270A-79D5-4654-915C-6A8BA9C71CDC}" dt="2024-04-30T14:55:58.726" v="116" actId="20577"/>
      <pc:docMkLst>
        <pc:docMk/>
      </pc:docMkLst>
      <pc:sldChg chg="modSp">
        <pc:chgData name="DOMENICO AMALFITANO" userId="S::domenico.amalfitano@unina.it::fb6cf861-3113-480d-b8cc-6c34b43a24f9" providerId="AD" clId="Web-{A607270A-79D5-4654-915C-6A8BA9C71CDC}" dt="2024-04-30T14:55:58.726" v="116" actId="20577"/>
        <pc:sldMkLst>
          <pc:docMk/>
          <pc:sldMk cId="227406494" sldId="343"/>
        </pc:sldMkLst>
        <pc:spChg chg="mod">
          <ac:chgData name="DOMENICO AMALFITANO" userId="S::domenico.amalfitano@unina.it::fb6cf861-3113-480d-b8cc-6c34b43a24f9" providerId="AD" clId="Web-{A607270A-79D5-4654-915C-6A8BA9C71CDC}" dt="2024-04-30T14:55:58.726" v="116" actId="20577"/>
          <ac:spMkLst>
            <pc:docMk/>
            <pc:sldMk cId="227406494" sldId="343"/>
            <ac:spMk id="3" creationId="{DB5B64D3-990B-5BF0-F32D-B74C92E1B5B7}"/>
          </ac:spMkLst>
        </pc:spChg>
      </pc:sldChg>
    </pc:docChg>
  </pc:docChgLst>
  <pc:docChgLst>
    <pc:chgData name="DOMENICO AMALFITANO" userId="S::domenico.amalfitano@unina.it::fb6cf861-3113-480d-b8cc-6c34b43a24f9" providerId="AD" clId="Web-{01EF18F8-9B93-48A6-A20C-5F2DFCFB0EDD}"/>
    <pc:docChg chg="modSld">
      <pc:chgData name="DOMENICO AMALFITANO" userId="S::domenico.amalfitano@unina.it::fb6cf861-3113-480d-b8cc-6c34b43a24f9" providerId="AD" clId="Web-{01EF18F8-9B93-48A6-A20C-5F2DFCFB0EDD}" dt="2024-04-30T14:51:43.749" v="63"/>
      <pc:docMkLst>
        <pc:docMk/>
      </pc:docMkLst>
      <pc:sldChg chg="modSp">
        <pc:chgData name="DOMENICO AMALFITANO" userId="S::domenico.amalfitano@unina.it::fb6cf861-3113-480d-b8cc-6c34b43a24f9" providerId="AD" clId="Web-{01EF18F8-9B93-48A6-A20C-5F2DFCFB0EDD}" dt="2024-04-30T14:49:25.197" v="39" actId="20577"/>
        <pc:sldMkLst>
          <pc:docMk/>
          <pc:sldMk cId="2832159097" sldId="347"/>
        </pc:sldMkLst>
        <pc:spChg chg="mod">
          <ac:chgData name="DOMENICO AMALFITANO" userId="S::domenico.amalfitano@unina.it::fb6cf861-3113-480d-b8cc-6c34b43a24f9" providerId="AD" clId="Web-{01EF18F8-9B93-48A6-A20C-5F2DFCFB0EDD}" dt="2024-04-30T14:49:25.197" v="39" actId="20577"/>
          <ac:spMkLst>
            <pc:docMk/>
            <pc:sldMk cId="2832159097" sldId="347"/>
            <ac:spMk id="3" creationId="{54D6F36D-0706-6557-3F08-47593E18A0CD}"/>
          </ac:spMkLst>
        </pc:spChg>
      </pc:sldChg>
      <pc:sldChg chg="modSp">
        <pc:chgData name="DOMENICO AMALFITANO" userId="S::domenico.amalfitano@unina.it::fb6cf861-3113-480d-b8cc-6c34b43a24f9" providerId="AD" clId="Web-{01EF18F8-9B93-48A6-A20C-5F2DFCFB0EDD}" dt="2024-04-30T14:49:15.790" v="28" actId="20577"/>
        <pc:sldMkLst>
          <pc:docMk/>
          <pc:sldMk cId="806412865" sldId="349"/>
        </pc:sldMkLst>
        <pc:spChg chg="mod">
          <ac:chgData name="DOMENICO AMALFITANO" userId="S::domenico.amalfitano@unina.it::fb6cf861-3113-480d-b8cc-6c34b43a24f9" providerId="AD" clId="Web-{01EF18F8-9B93-48A6-A20C-5F2DFCFB0EDD}" dt="2024-04-30T14:49:15.790" v="28" actId="20577"/>
          <ac:spMkLst>
            <pc:docMk/>
            <pc:sldMk cId="806412865" sldId="349"/>
            <ac:spMk id="3" creationId="{9D4A3519-7692-30CF-9291-1B2DC109DD11}"/>
          </ac:spMkLst>
        </pc:spChg>
      </pc:sldChg>
      <pc:sldChg chg="modSp">
        <pc:chgData name="DOMENICO AMALFITANO" userId="S::domenico.amalfitano@unina.it::fb6cf861-3113-480d-b8cc-6c34b43a24f9" providerId="AD" clId="Web-{01EF18F8-9B93-48A6-A20C-5F2DFCFB0EDD}" dt="2024-04-30T14:51:01.216" v="53" actId="20577"/>
        <pc:sldMkLst>
          <pc:docMk/>
          <pc:sldMk cId="2355721897" sldId="372"/>
        </pc:sldMkLst>
        <pc:spChg chg="mod">
          <ac:chgData name="DOMENICO AMALFITANO" userId="S::domenico.amalfitano@unina.it::fb6cf861-3113-480d-b8cc-6c34b43a24f9" providerId="AD" clId="Web-{01EF18F8-9B93-48A6-A20C-5F2DFCFB0EDD}" dt="2024-04-30T14:51:01.216" v="53" actId="20577"/>
          <ac:spMkLst>
            <pc:docMk/>
            <pc:sldMk cId="2355721897" sldId="372"/>
            <ac:spMk id="3" creationId="{0B655E3B-C448-614E-1C04-DD23CC9F657D}"/>
          </ac:spMkLst>
        </pc:spChg>
      </pc:sldChg>
      <pc:sldChg chg="addSp modSp">
        <pc:chgData name="DOMENICO AMALFITANO" userId="S::domenico.amalfitano@unina.it::fb6cf861-3113-480d-b8cc-6c34b43a24f9" providerId="AD" clId="Web-{01EF18F8-9B93-48A6-A20C-5F2DFCFB0EDD}" dt="2024-04-30T14:51:43.749" v="63"/>
        <pc:sldMkLst>
          <pc:docMk/>
          <pc:sldMk cId="133296942" sldId="381"/>
        </pc:sldMkLst>
        <pc:spChg chg="add mod">
          <ac:chgData name="DOMENICO AMALFITANO" userId="S::domenico.amalfitano@unina.it::fb6cf861-3113-480d-b8cc-6c34b43a24f9" providerId="AD" clId="Web-{01EF18F8-9B93-48A6-A20C-5F2DFCFB0EDD}" dt="2024-04-30T14:51:43.749" v="63"/>
          <ac:spMkLst>
            <pc:docMk/>
            <pc:sldMk cId="133296942" sldId="381"/>
            <ac:spMk id="3" creationId="{2E30A533-69CB-29A8-69B1-B5C9878BBCC6}"/>
          </ac:spMkLst>
        </pc:spChg>
      </pc:sldChg>
    </pc:docChg>
  </pc:docChgLst>
  <pc:docChgLst>
    <pc:chgData name="VALERIA VITTORINI" userId="8c590808-2c0b-4c77-aa35-c80ef3354ea7" providerId="ADAL" clId="{795C2C52-2BA9-8F41-BB93-86CEA009CA0C}"/>
    <pc:docChg chg="delSld">
      <pc:chgData name="VALERIA VITTORINI" userId="8c590808-2c0b-4c77-aa35-c80ef3354ea7" providerId="ADAL" clId="{795C2C52-2BA9-8F41-BB93-86CEA009CA0C}" dt="2024-03-08T08:50:04.848" v="0" actId="2696"/>
      <pc:docMkLst>
        <pc:docMk/>
      </pc:docMkLst>
      <pc:sldChg chg="del">
        <pc:chgData name="VALERIA VITTORINI" userId="8c590808-2c0b-4c77-aa35-c80ef3354ea7" providerId="ADAL" clId="{795C2C52-2BA9-8F41-BB93-86CEA009CA0C}" dt="2024-03-08T08:50:04.848" v="0" actId="2696"/>
        <pc:sldMkLst>
          <pc:docMk/>
          <pc:sldMk cId="4256265456" sldId="374"/>
        </pc:sldMkLst>
      </pc:sldChg>
    </pc:docChg>
  </pc:docChgLst>
  <pc:docChgLst>
    <pc:chgData name="DOMENICO AMALFITANO" userId="S::domenico.amalfitano@unina.it::fb6cf861-3113-480d-b8cc-6c34b43a24f9" providerId="AD" clId="Web-{EBC45244-414D-416A-B6EC-EF718CC3FA1B}"/>
    <pc:docChg chg="modSld">
      <pc:chgData name="DOMENICO AMALFITANO" userId="S::domenico.amalfitano@unina.it::fb6cf861-3113-480d-b8cc-6c34b43a24f9" providerId="AD" clId="Web-{EBC45244-414D-416A-B6EC-EF718CC3FA1B}" dt="2024-05-03T06:24:29.769" v="28" actId="20577"/>
      <pc:docMkLst>
        <pc:docMk/>
      </pc:docMkLst>
      <pc:sldChg chg="modSp">
        <pc:chgData name="DOMENICO AMALFITANO" userId="S::domenico.amalfitano@unina.it::fb6cf861-3113-480d-b8cc-6c34b43a24f9" providerId="AD" clId="Web-{EBC45244-414D-416A-B6EC-EF718CC3FA1B}" dt="2024-05-03T06:24:29.769" v="28" actId="20577"/>
        <pc:sldMkLst>
          <pc:docMk/>
          <pc:sldMk cId="806412865" sldId="349"/>
        </pc:sldMkLst>
        <pc:spChg chg="mod">
          <ac:chgData name="DOMENICO AMALFITANO" userId="S::domenico.amalfitano@unina.it::fb6cf861-3113-480d-b8cc-6c34b43a24f9" providerId="AD" clId="Web-{EBC45244-414D-416A-B6EC-EF718CC3FA1B}" dt="2024-05-03T06:24:29.769" v="28" actId="20577"/>
          <ac:spMkLst>
            <pc:docMk/>
            <pc:sldMk cId="806412865" sldId="349"/>
            <ac:spMk id="3" creationId="{9D4A3519-7692-30CF-9291-1B2DC109DD1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D207D78-5015-8475-54C2-0A9B46ADAA1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84513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t" anchorCtr="0" compatLnSpc="1">
            <a:prstTxWarp prst="textNoShape">
              <a:avLst/>
            </a:prstTxWarp>
          </a:bodyPr>
          <a:lstStyle>
            <a:lvl1pPr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9822A352-A7D7-027B-AD15-9DBC932BD7A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59238" y="0"/>
            <a:ext cx="3003550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t" anchorCtr="0" compatLnSpc="1">
            <a:prstTxWarp prst="textNoShape">
              <a:avLst/>
            </a:prstTxWarp>
          </a:bodyPr>
          <a:lstStyle>
            <a:lvl1pPr algn="r"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2921BFE9-C9D8-1C38-3838-EC1FE748462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84513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b" anchorCtr="0" compatLnSpc="1">
            <a:prstTxWarp prst="textNoShape">
              <a:avLst/>
            </a:prstTxWarp>
          </a:bodyPr>
          <a:lstStyle>
            <a:lvl1pPr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214275AA-9546-0FE4-B537-4855F5E1438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59238" y="9721850"/>
            <a:ext cx="3003550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b" anchorCtr="0" compatLnSpc="1">
            <a:prstTxWarp prst="textNoShape">
              <a:avLst/>
            </a:prstTxWarp>
          </a:bodyPr>
          <a:lstStyle>
            <a:lvl1pPr algn="r" defTabSz="949325" eaLnBrk="0" hangingPunct="0">
              <a:defRPr sz="1200">
                <a:latin typeface="Verdana" panose="020B0604030504040204" pitchFamily="34" charset="0"/>
              </a:defRPr>
            </a:lvl1pPr>
          </a:lstStyle>
          <a:p>
            <a:fld id="{2993C5AB-CE10-C94B-82A8-3847F79289AD}" type="slidenum">
              <a:rPr lang="it-IT" altLang="it-IT"/>
              <a:pPr/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E33C1-1FAE-ED41-A3D6-CD02F3B367D8}" type="datetimeFigureOut">
              <a:rPr lang="it-IT" smtClean="0"/>
              <a:t>30/04/25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31BA5-3816-174C-B7A9-A8BBEA3C2A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2047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13A92D85-8CAA-49AF-BE8D-CEECBCD97772}" type="slidenum">
              <a:rPr lang="en-US" altLang="it-IT">
                <a:latin typeface="Times New Roman" pitchFamily="18" charset="0"/>
              </a:rPr>
              <a:pPr/>
              <a:t>1</a:t>
            </a:fld>
            <a:endParaRPr lang="en-US" altLang="it-IT">
              <a:latin typeface="Times New Roman" pitchFamily="18" charset="0"/>
            </a:endParaRPr>
          </a:p>
        </p:txBody>
      </p:sp>
      <p:sp>
        <p:nvSpPr>
          <p:cNvPr id="14339" name="Rectangle 2"/>
          <p:cNvSpPr txBox="1">
            <a:spLocks noGrp="1" noChangeArrowheads="1"/>
          </p:cNvSpPr>
          <p:nvPr/>
        </p:nvSpPr>
        <p:spPr bwMode="auto">
          <a:xfrm>
            <a:off x="0" y="1"/>
            <a:ext cx="3078048" cy="51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it-IT" sz="1200"/>
              <a:t>Università di Napoli Federico II - Facoltà di Ingegneria - Corso di Laurea in Ingegneria Informatica</a:t>
            </a:r>
          </a:p>
        </p:txBody>
      </p:sp>
      <p:sp>
        <p:nvSpPr>
          <p:cNvPr id="143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>
            <a:extLst>
              <a:ext uri="{FF2B5EF4-FFF2-40B4-BE49-F238E27FC236}">
                <a16:creationId xmlns:a16="http://schemas.microsoft.com/office/drawing/2014/main" id="{EDFB8E36-2692-9471-EECA-AA61B7A6D7F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0260E3BE-B81E-7C4D-1F34-F0D3085ECB86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4" name="Oval 9">
              <a:extLst>
                <a:ext uri="{FF2B5EF4-FFF2-40B4-BE49-F238E27FC236}">
                  <a16:creationId xmlns:a16="http://schemas.microsoft.com/office/drawing/2014/main" id="{C4259D16-DEFD-027C-00D8-3A2E8BF1C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5" name="Oval 10">
              <a:extLst>
                <a:ext uri="{FF2B5EF4-FFF2-40B4-BE49-F238E27FC236}">
                  <a16:creationId xmlns:a16="http://schemas.microsoft.com/office/drawing/2014/main" id="{AD783EDC-DD0A-A35A-1F67-0271D9CF4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6" name="Oval 11">
              <a:extLst>
                <a:ext uri="{FF2B5EF4-FFF2-40B4-BE49-F238E27FC236}">
                  <a16:creationId xmlns:a16="http://schemas.microsoft.com/office/drawing/2014/main" id="{B8DD6095-01B2-14AB-C09E-5AC7F8FCE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7" name="Oval 12">
              <a:extLst>
                <a:ext uri="{FF2B5EF4-FFF2-40B4-BE49-F238E27FC236}">
                  <a16:creationId xmlns:a16="http://schemas.microsoft.com/office/drawing/2014/main" id="{A8CC8D34-A6F6-6FBC-E306-651CD229A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8" name="Oval 13">
              <a:extLst>
                <a:ext uri="{FF2B5EF4-FFF2-40B4-BE49-F238E27FC236}">
                  <a16:creationId xmlns:a16="http://schemas.microsoft.com/office/drawing/2014/main" id="{542DB62A-02AF-010E-6938-3AEE62E6D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9" name="Oval 14">
              <a:extLst>
                <a:ext uri="{FF2B5EF4-FFF2-40B4-BE49-F238E27FC236}">
                  <a16:creationId xmlns:a16="http://schemas.microsoft.com/office/drawing/2014/main" id="{AE010F5C-5AF7-E68D-CF2E-CA01AC2BA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0" name="Oval 15">
              <a:extLst>
                <a:ext uri="{FF2B5EF4-FFF2-40B4-BE49-F238E27FC236}">
                  <a16:creationId xmlns:a16="http://schemas.microsoft.com/office/drawing/2014/main" id="{8C779B22-3271-BC34-3025-A5D63D14E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1" name="Oval 16">
              <a:extLst>
                <a:ext uri="{FF2B5EF4-FFF2-40B4-BE49-F238E27FC236}">
                  <a16:creationId xmlns:a16="http://schemas.microsoft.com/office/drawing/2014/main" id="{99FCA170-A778-8F8B-1728-AF6FD4FBE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" name="Oval 17">
              <a:extLst>
                <a:ext uri="{FF2B5EF4-FFF2-40B4-BE49-F238E27FC236}">
                  <a16:creationId xmlns:a16="http://schemas.microsoft.com/office/drawing/2014/main" id="{BB691FF7-E84E-84B9-5AB5-E565A5255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3" name="Oval 18">
              <a:extLst>
                <a:ext uri="{FF2B5EF4-FFF2-40B4-BE49-F238E27FC236}">
                  <a16:creationId xmlns:a16="http://schemas.microsoft.com/office/drawing/2014/main" id="{E57164C9-E297-D2B3-8152-40E66F162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4" name="Oval 19">
              <a:extLst>
                <a:ext uri="{FF2B5EF4-FFF2-40B4-BE49-F238E27FC236}">
                  <a16:creationId xmlns:a16="http://schemas.microsoft.com/office/drawing/2014/main" id="{F0FEB2EE-0ED2-85C2-85F1-83A1BB6E8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5" name="Oval 20">
              <a:extLst>
                <a:ext uri="{FF2B5EF4-FFF2-40B4-BE49-F238E27FC236}">
                  <a16:creationId xmlns:a16="http://schemas.microsoft.com/office/drawing/2014/main" id="{49A3026D-6EB7-1E81-AEF6-4979F5EC9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6" name="Oval 21">
              <a:extLst>
                <a:ext uri="{FF2B5EF4-FFF2-40B4-BE49-F238E27FC236}">
                  <a16:creationId xmlns:a16="http://schemas.microsoft.com/office/drawing/2014/main" id="{92F59D63-53F1-080B-7142-39B65BAE0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7" name="Oval 22">
              <a:extLst>
                <a:ext uri="{FF2B5EF4-FFF2-40B4-BE49-F238E27FC236}">
                  <a16:creationId xmlns:a16="http://schemas.microsoft.com/office/drawing/2014/main" id="{2F054441-EC9C-B07B-75BB-2D08F53AA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8" name="Oval 23">
              <a:extLst>
                <a:ext uri="{FF2B5EF4-FFF2-40B4-BE49-F238E27FC236}">
                  <a16:creationId xmlns:a16="http://schemas.microsoft.com/office/drawing/2014/main" id="{E3B97A58-18DB-0DF0-CA1A-31169D30A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9" name="Oval 24">
              <a:extLst>
                <a:ext uri="{FF2B5EF4-FFF2-40B4-BE49-F238E27FC236}">
                  <a16:creationId xmlns:a16="http://schemas.microsoft.com/office/drawing/2014/main" id="{888DF6CF-3E0A-8611-1A78-1D288081E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0" name="Oval 25">
              <a:extLst>
                <a:ext uri="{FF2B5EF4-FFF2-40B4-BE49-F238E27FC236}">
                  <a16:creationId xmlns:a16="http://schemas.microsoft.com/office/drawing/2014/main" id="{C32031F4-1263-B0FB-2B55-5D4BD1074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1" name="Oval 26">
              <a:extLst>
                <a:ext uri="{FF2B5EF4-FFF2-40B4-BE49-F238E27FC236}">
                  <a16:creationId xmlns:a16="http://schemas.microsoft.com/office/drawing/2014/main" id="{76A419EE-5229-9FE5-E748-520534AEE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2" name="Oval 27">
              <a:extLst>
                <a:ext uri="{FF2B5EF4-FFF2-40B4-BE49-F238E27FC236}">
                  <a16:creationId xmlns:a16="http://schemas.microsoft.com/office/drawing/2014/main" id="{9627FAA7-CEF8-A621-0C1F-570876CE7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3" name="Oval 28">
              <a:extLst>
                <a:ext uri="{FF2B5EF4-FFF2-40B4-BE49-F238E27FC236}">
                  <a16:creationId xmlns:a16="http://schemas.microsoft.com/office/drawing/2014/main" id="{1EDA2367-81CD-DEAC-7E02-B1C0519A2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4" name="Oval 29">
              <a:extLst>
                <a:ext uri="{FF2B5EF4-FFF2-40B4-BE49-F238E27FC236}">
                  <a16:creationId xmlns:a16="http://schemas.microsoft.com/office/drawing/2014/main" id="{75DCDEE2-83B3-536E-6123-004E0BFA8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5" name="Oval 30">
              <a:extLst>
                <a:ext uri="{FF2B5EF4-FFF2-40B4-BE49-F238E27FC236}">
                  <a16:creationId xmlns:a16="http://schemas.microsoft.com/office/drawing/2014/main" id="{B9ADC3D3-B430-3D9A-7AF0-EBB2F85C2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6" name="Oval 31">
              <a:extLst>
                <a:ext uri="{FF2B5EF4-FFF2-40B4-BE49-F238E27FC236}">
                  <a16:creationId xmlns:a16="http://schemas.microsoft.com/office/drawing/2014/main" id="{71AE266B-6D1B-166C-6474-3A27D5FCA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7" name="Oval 32">
              <a:extLst>
                <a:ext uri="{FF2B5EF4-FFF2-40B4-BE49-F238E27FC236}">
                  <a16:creationId xmlns:a16="http://schemas.microsoft.com/office/drawing/2014/main" id="{BD55B242-AB5F-2401-9701-41ACCCEBD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8" name="Oval 33">
              <a:extLst>
                <a:ext uri="{FF2B5EF4-FFF2-40B4-BE49-F238E27FC236}">
                  <a16:creationId xmlns:a16="http://schemas.microsoft.com/office/drawing/2014/main" id="{9DB4E7FD-8EA2-A662-9B6D-97427264B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9" name="Oval 34">
              <a:extLst>
                <a:ext uri="{FF2B5EF4-FFF2-40B4-BE49-F238E27FC236}">
                  <a16:creationId xmlns:a16="http://schemas.microsoft.com/office/drawing/2014/main" id="{7EE16CBA-D536-A892-BE2D-F1B598088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0" name="Oval 35">
              <a:extLst>
                <a:ext uri="{FF2B5EF4-FFF2-40B4-BE49-F238E27FC236}">
                  <a16:creationId xmlns:a16="http://schemas.microsoft.com/office/drawing/2014/main" id="{DB4E9432-8633-35E7-4E11-437B5B28E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1" name="Oval 36">
              <a:extLst>
                <a:ext uri="{FF2B5EF4-FFF2-40B4-BE49-F238E27FC236}">
                  <a16:creationId xmlns:a16="http://schemas.microsoft.com/office/drawing/2014/main" id="{CD2BB0AB-815A-5DDA-5E4B-6789CA42F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2" name="Oval 37">
              <a:extLst>
                <a:ext uri="{FF2B5EF4-FFF2-40B4-BE49-F238E27FC236}">
                  <a16:creationId xmlns:a16="http://schemas.microsoft.com/office/drawing/2014/main" id="{A6EA0308-12B1-3EB3-3907-EF3F7AAC3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3" name="Oval 38">
              <a:extLst>
                <a:ext uri="{FF2B5EF4-FFF2-40B4-BE49-F238E27FC236}">
                  <a16:creationId xmlns:a16="http://schemas.microsoft.com/office/drawing/2014/main" id="{AA8F3A92-6AB1-2F62-4BBD-D41DC8918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4" name="Oval 39">
              <a:extLst>
                <a:ext uri="{FF2B5EF4-FFF2-40B4-BE49-F238E27FC236}">
                  <a16:creationId xmlns:a16="http://schemas.microsoft.com/office/drawing/2014/main" id="{03A31CF4-50B7-629F-B52C-50EA5006A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</p:grpSp>
      <p:sp>
        <p:nvSpPr>
          <p:cNvPr id="35" name="Line 40">
            <a:extLst>
              <a:ext uri="{FF2B5EF4-FFF2-40B4-BE49-F238E27FC236}">
                <a16:creationId xmlns:a16="http://schemas.microsoft.com/office/drawing/2014/main" id="{8B7EAAE9-3BF6-0C31-F5C4-2C0F97DAAC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Fare clic per modificare lo stile del titolo</a:t>
            </a:r>
          </a:p>
        </p:txBody>
      </p:sp>
      <p:sp>
        <p:nvSpPr>
          <p:cNvPr id="12800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Fare clic per modificare lo stile del sottotitolo dello schema</a:t>
            </a: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52FE5966-D775-3B11-7827-48722D2473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6DEA5970-F6FB-6FA9-E48E-0B51FBC596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8" name="Rectangle 7">
            <a:extLst>
              <a:ext uri="{FF2B5EF4-FFF2-40B4-BE49-F238E27FC236}">
                <a16:creationId xmlns:a16="http://schemas.microsoft.com/office/drawing/2014/main" id="{BA53554F-80D1-21F4-9987-92A6A12374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259C2B-F7FC-894A-A5CE-3A355566020C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6501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BFD8F56-330C-0DFF-7EA5-ECA50C8680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A3548D-F7D7-5837-C8A5-0A9C5809FF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637D6A2-E719-6297-E26C-3BF9C2C24E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77A2BB-1426-7940-AF0E-EE4E29273AE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4310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F73A563-6027-417E-CA97-E19B258A02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7E5D0DD-E42A-76B8-C2FB-2D2A9B01AC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53B55BA-0823-B634-AC39-EEEA7AF447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EDBACB-E365-024E-8DDD-EE008340169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9239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3F66DE-EDD0-F0F2-8577-76FAE75902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192FEB-B604-47A1-0075-C41AD53180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83D859C-9F71-8DF9-FBB4-1C0445764B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2A83B4-F1DF-4E4F-AFF4-9C3CF4F2EE23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7803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7D42D32-0621-8886-9371-F7120B9BF0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8B44152-4BA3-7266-A04B-D335016E2B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B95D3AC-EBB1-FA5C-DF4C-D37CFABE54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9AD412-AFBC-C94F-B6D8-900608A6D289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5156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CE6213C-10B3-BEF7-3A61-E42ED37B61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4E22DD4-22EB-98B3-FE75-208718E635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E96E866-9E98-E4BA-F841-51305A0EE8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D09F61-55F9-6F4A-8175-A32FE726ADBB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6636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9441F79-35C1-AFF2-0708-F85EC7AD73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9000A7E-D812-EDF3-0364-49AD895A5C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CB2BA7C5-B5D6-6375-8DB4-0A1D52B9B2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4D88D2-B4F4-C54E-A11C-7867C43B62F9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4048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E1E842-7E67-81CD-A5D3-D9B08709E2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C25817-0234-9637-49C9-4232ADCFA6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08BFAF4-2AF6-18D4-2785-20165B45BC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907342-6BA4-894D-B109-9E49F17A1124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597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9CFEF3A-02C8-DD78-F338-9F2A34E15C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5638AD8-6FF8-D888-FB09-9C37E16817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23D5E3C-2ACF-28C6-DBA0-AFB717CF25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1AC580-8BE5-F743-8E8E-F69DF682E6D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530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C3BF3F4-009A-DDD1-8C88-42798690F8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7AAA62B-33A2-4415-863C-046DB60ABB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43B5BA7-12E7-1A57-C171-35598BC01B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73340D-9F62-2745-A3EF-6420F06DF7CE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1293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72EC48A-2092-7B54-D2AA-889BA9C6A2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29B5314-B07B-4F0A-2AD8-CB77E42950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AC837E0-0F2D-0A1C-0E2C-402978B1AD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CC9615-8AFF-D943-AC5A-34CC66FE437F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5795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Line 2">
            <a:extLst>
              <a:ext uri="{FF2B5EF4-FFF2-40B4-BE49-F238E27FC236}">
                <a16:creationId xmlns:a16="http://schemas.microsoft.com/office/drawing/2014/main" id="{540C9EE9-F88F-0FCE-D63A-BD6403DA705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D8BF64B-CABB-23F6-B464-30E708F6B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Fare clic per modificare lo stile del titolo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1757F452-E11B-F73F-9D31-9E64F7BCF0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Fare clic per modificare gli stili del testo dello schema</a:t>
            </a:r>
          </a:p>
          <a:p>
            <a:pPr lvl="1"/>
            <a:r>
              <a:rPr lang="en-US" altLang="en-US"/>
              <a:t>Secondo livello</a:t>
            </a:r>
          </a:p>
          <a:p>
            <a:pPr lvl="2"/>
            <a:r>
              <a:rPr lang="en-US" altLang="en-US"/>
              <a:t>Terzo livello</a:t>
            </a:r>
          </a:p>
          <a:p>
            <a:pPr lvl="3"/>
            <a:r>
              <a:rPr lang="en-US" altLang="en-US"/>
              <a:t>Quarto livello</a:t>
            </a:r>
          </a:p>
          <a:p>
            <a:pPr lvl="4"/>
            <a:r>
              <a:rPr lang="en-US" altLang="en-US"/>
              <a:t>Quinto livello</a:t>
            </a:r>
          </a:p>
        </p:txBody>
      </p:sp>
      <p:sp>
        <p:nvSpPr>
          <p:cNvPr id="126981" name="Rectangle 5">
            <a:extLst>
              <a:ext uri="{FF2B5EF4-FFF2-40B4-BE49-F238E27FC236}">
                <a16:creationId xmlns:a16="http://schemas.microsoft.com/office/drawing/2014/main" id="{E6E10625-B6F2-4C53-9CCC-6419A01A347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6982" name="Rectangle 6">
            <a:extLst>
              <a:ext uri="{FF2B5EF4-FFF2-40B4-BE49-F238E27FC236}">
                <a16:creationId xmlns:a16="http://schemas.microsoft.com/office/drawing/2014/main" id="{C7332706-7FFA-54A1-EC44-C94B73721F8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6983" name="Rectangle 7">
            <a:extLst>
              <a:ext uri="{FF2B5EF4-FFF2-40B4-BE49-F238E27FC236}">
                <a16:creationId xmlns:a16="http://schemas.microsoft.com/office/drawing/2014/main" id="{0C95B491-8644-1183-0E63-D7A1B6E66B5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BB36E27F-A467-C343-A682-197048FF27E3}" type="slidenum">
              <a:rPr lang="en-US" altLang="en-US"/>
              <a:pPr/>
              <a:t>‹N›</a:t>
            </a:fld>
            <a:endParaRPr lang="en-US" altLang="en-US"/>
          </a:p>
        </p:txBody>
      </p:sp>
      <p:grpSp>
        <p:nvGrpSpPr>
          <p:cNvPr id="5128" name="Group 8">
            <a:extLst>
              <a:ext uri="{FF2B5EF4-FFF2-40B4-BE49-F238E27FC236}">
                <a16:creationId xmlns:a16="http://schemas.microsoft.com/office/drawing/2014/main" id="{87E611C9-A6DF-E642-A92D-7350DE5CB4ED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26985" name="Oval 9">
              <a:extLst>
                <a:ext uri="{FF2B5EF4-FFF2-40B4-BE49-F238E27FC236}">
                  <a16:creationId xmlns:a16="http://schemas.microsoft.com/office/drawing/2014/main" id="{458D5DA2-D63A-BCA2-4131-9337A9F53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6" name="Oval 10">
              <a:extLst>
                <a:ext uri="{FF2B5EF4-FFF2-40B4-BE49-F238E27FC236}">
                  <a16:creationId xmlns:a16="http://schemas.microsoft.com/office/drawing/2014/main" id="{8890EB0F-7369-8915-F4A5-1ABAFF6DF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7" name="Oval 11">
              <a:extLst>
                <a:ext uri="{FF2B5EF4-FFF2-40B4-BE49-F238E27FC236}">
                  <a16:creationId xmlns:a16="http://schemas.microsoft.com/office/drawing/2014/main" id="{E4F63A04-47F0-7C06-3808-CB8141CE7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8" name="Oval 12">
              <a:extLst>
                <a:ext uri="{FF2B5EF4-FFF2-40B4-BE49-F238E27FC236}">
                  <a16:creationId xmlns:a16="http://schemas.microsoft.com/office/drawing/2014/main" id="{CBD03CE4-70F6-E7AF-484F-7B3A19CDC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9" name="Oval 13">
              <a:extLst>
                <a:ext uri="{FF2B5EF4-FFF2-40B4-BE49-F238E27FC236}">
                  <a16:creationId xmlns:a16="http://schemas.microsoft.com/office/drawing/2014/main" id="{122C697E-12A5-96C9-3160-E711DA983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0" name="Oval 14">
              <a:extLst>
                <a:ext uri="{FF2B5EF4-FFF2-40B4-BE49-F238E27FC236}">
                  <a16:creationId xmlns:a16="http://schemas.microsoft.com/office/drawing/2014/main" id="{3582F47B-BA78-75EC-BA11-733D26F13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1" name="Oval 15">
              <a:extLst>
                <a:ext uri="{FF2B5EF4-FFF2-40B4-BE49-F238E27FC236}">
                  <a16:creationId xmlns:a16="http://schemas.microsoft.com/office/drawing/2014/main" id="{E4A13053-C19F-F749-4FC6-0834BB3E1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2" name="Oval 16">
              <a:extLst>
                <a:ext uri="{FF2B5EF4-FFF2-40B4-BE49-F238E27FC236}">
                  <a16:creationId xmlns:a16="http://schemas.microsoft.com/office/drawing/2014/main" id="{F39340F1-2AD8-DD98-83D4-1A092CD31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3" name="Oval 17">
              <a:extLst>
                <a:ext uri="{FF2B5EF4-FFF2-40B4-BE49-F238E27FC236}">
                  <a16:creationId xmlns:a16="http://schemas.microsoft.com/office/drawing/2014/main" id="{B294C5ED-458D-6FC0-9242-727420D4C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4" name="Oval 18">
              <a:extLst>
                <a:ext uri="{FF2B5EF4-FFF2-40B4-BE49-F238E27FC236}">
                  <a16:creationId xmlns:a16="http://schemas.microsoft.com/office/drawing/2014/main" id="{3ADB9F1A-BAEB-E633-420A-C49EEBFDF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5" name="Oval 19">
              <a:extLst>
                <a:ext uri="{FF2B5EF4-FFF2-40B4-BE49-F238E27FC236}">
                  <a16:creationId xmlns:a16="http://schemas.microsoft.com/office/drawing/2014/main" id="{4D7FD144-559C-A9A8-B783-6F3C8C1AD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6" name="Oval 20">
              <a:extLst>
                <a:ext uri="{FF2B5EF4-FFF2-40B4-BE49-F238E27FC236}">
                  <a16:creationId xmlns:a16="http://schemas.microsoft.com/office/drawing/2014/main" id="{598E7249-26AB-193F-D1E8-83E0BB499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7" name="Oval 21">
              <a:extLst>
                <a:ext uri="{FF2B5EF4-FFF2-40B4-BE49-F238E27FC236}">
                  <a16:creationId xmlns:a16="http://schemas.microsoft.com/office/drawing/2014/main" id="{9C12A3DE-C91F-BC4E-628C-84B979154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8" name="Oval 22">
              <a:extLst>
                <a:ext uri="{FF2B5EF4-FFF2-40B4-BE49-F238E27FC236}">
                  <a16:creationId xmlns:a16="http://schemas.microsoft.com/office/drawing/2014/main" id="{8BC5A21A-9F25-DAB9-43EB-B51E736AF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9" name="Oval 23">
              <a:extLst>
                <a:ext uri="{FF2B5EF4-FFF2-40B4-BE49-F238E27FC236}">
                  <a16:creationId xmlns:a16="http://schemas.microsoft.com/office/drawing/2014/main" id="{7F64B40F-951B-2C62-6BCE-9ED069F21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0" name="Oval 24">
              <a:extLst>
                <a:ext uri="{FF2B5EF4-FFF2-40B4-BE49-F238E27FC236}">
                  <a16:creationId xmlns:a16="http://schemas.microsoft.com/office/drawing/2014/main" id="{CA178D50-6275-0362-E00C-1CA73A48C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1" name="Oval 25">
              <a:extLst>
                <a:ext uri="{FF2B5EF4-FFF2-40B4-BE49-F238E27FC236}">
                  <a16:creationId xmlns:a16="http://schemas.microsoft.com/office/drawing/2014/main" id="{281982FD-F23F-8D3A-3E1C-E1DD238A7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2" name="Oval 26">
              <a:extLst>
                <a:ext uri="{FF2B5EF4-FFF2-40B4-BE49-F238E27FC236}">
                  <a16:creationId xmlns:a16="http://schemas.microsoft.com/office/drawing/2014/main" id="{C8D7E381-17EC-2A89-CD07-B648B12E4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3" name="Oval 27">
              <a:extLst>
                <a:ext uri="{FF2B5EF4-FFF2-40B4-BE49-F238E27FC236}">
                  <a16:creationId xmlns:a16="http://schemas.microsoft.com/office/drawing/2014/main" id="{32DD81C6-B5B4-9147-3851-21E281145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4" name="Oval 28">
              <a:extLst>
                <a:ext uri="{FF2B5EF4-FFF2-40B4-BE49-F238E27FC236}">
                  <a16:creationId xmlns:a16="http://schemas.microsoft.com/office/drawing/2014/main" id="{72A66D00-BE9F-69EA-1631-391C47D4A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5" name="Oval 29">
              <a:extLst>
                <a:ext uri="{FF2B5EF4-FFF2-40B4-BE49-F238E27FC236}">
                  <a16:creationId xmlns:a16="http://schemas.microsoft.com/office/drawing/2014/main" id="{4C144CCF-2806-BF73-1213-3BD291D67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6" name="Oval 30">
              <a:extLst>
                <a:ext uri="{FF2B5EF4-FFF2-40B4-BE49-F238E27FC236}">
                  <a16:creationId xmlns:a16="http://schemas.microsoft.com/office/drawing/2014/main" id="{158CC9C8-184C-9D09-DC3D-D6F8628B2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7" name="Oval 31">
              <a:extLst>
                <a:ext uri="{FF2B5EF4-FFF2-40B4-BE49-F238E27FC236}">
                  <a16:creationId xmlns:a16="http://schemas.microsoft.com/office/drawing/2014/main" id="{A2309C93-ECEF-5DD8-56EA-69EB76E34B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8" name="Oval 32">
              <a:extLst>
                <a:ext uri="{FF2B5EF4-FFF2-40B4-BE49-F238E27FC236}">
                  <a16:creationId xmlns:a16="http://schemas.microsoft.com/office/drawing/2014/main" id="{1EE4CEBC-BED7-E548-7FD1-EA407310A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9" name="Oval 33">
              <a:extLst>
                <a:ext uri="{FF2B5EF4-FFF2-40B4-BE49-F238E27FC236}">
                  <a16:creationId xmlns:a16="http://schemas.microsoft.com/office/drawing/2014/main" id="{15ADF64A-190F-BB60-3CCD-4BE3E5B73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0" name="Oval 34">
              <a:extLst>
                <a:ext uri="{FF2B5EF4-FFF2-40B4-BE49-F238E27FC236}">
                  <a16:creationId xmlns:a16="http://schemas.microsoft.com/office/drawing/2014/main" id="{C7D2FB20-9F35-8F71-8BD9-786281D14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1" name="Oval 35">
              <a:extLst>
                <a:ext uri="{FF2B5EF4-FFF2-40B4-BE49-F238E27FC236}">
                  <a16:creationId xmlns:a16="http://schemas.microsoft.com/office/drawing/2014/main" id="{5890642F-1E56-8F36-DBB7-B71269DE7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2" name="Oval 36">
              <a:extLst>
                <a:ext uri="{FF2B5EF4-FFF2-40B4-BE49-F238E27FC236}">
                  <a16:creationId xmlns:a16="http://schemas.microsoft.com/office/drawing/2014/main" id="{5F10B179-9CAF-6B7F-6F27-C4938A33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3" name="Oval 37">
              <a:extLst>
                <a:ext uri="{FF2B5EF4-FFF2-40B4-BE49-F238E27FC236}">
                  <a16:creationId xmlns:a16="http://schemas.microsoft.com/office/drawing/2014/main" id="{DACD2D39-EA14-9019-44C2-236A45B61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4" name="Oval 38">
              <a:extLst>
                <a:ext uri="{FF2B5EF4-FFF2-40B4-BE49-F238E27FC236}">
                  <a16:creationId xmlns:a16="http://schemas.microsoft.com/office/drawing/2014/main" id="{0BE3EBF9-755C-1F41-6924-622E229F3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5" name="Oval 39">
              <a:extLst>
                <a:ext uri="{FF2B5EF4-FFF2-40B4-BE49-F238E27FC236}">
                  <a16:creationId xmlns:a16="http://schemas.microsoft.com/office/drawing/2014/main" id="{B69D5D9E-9F51-7F63-AD38-956B5A997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6" r:id="rId2"/>
    <p:sldLayoutId id="2147483705" r:id="rId3"/>
    <p:sldLayoutId id="2147483704" r:id="rId4"/>
    <p:sldLayoutId id="2147483703" r:id="rId5"/>
    <p:sldLayoutId id="2147483702" r:id="rId6"/>
    <p:sldLayoutId id="2147483701" r:id="rId7"/>
    <p:sldLayoutId id="2147483700" r:id="rId8"/>
    <p:sldLayoutId id="2147483699" r:id="rId9"/>
    <p:sldLayoutId id="2147483698" r:id="rId10"/>
    <p:sldLayoutId id="214748369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4829" y="1563216"/>
            <a:ext cx="7235825" cy="1152525"/>
          </a:xfrm>
        </p:spPr>
        <p:txBody>
          <a:bodyPr/>
          <a:lstStyle/>
          <a:p>
            <a:pPr algn="ctr" eaLnBrk="1" hangingPunct="1"/>
            <a:br>
              <a:rPr lang="en-US" altLang="it-IT" sz="4000">
                <a:latin typeface="Times New Roman" pitchFamily="18" charset="0"/>
              </a:rPr>
            </a:br>
            <a:r>
              <a:rPr lang="en-US" altLang="it-IT" sz="4000">
                <a:latin typeface="Times New Roman" pitchFamily="18" charset="0"/>
              </a:rPr>
              <a:t> Corso di </a:t>
            </a:r>
            <a:r>
              <a:rPr lang="en-US" altLang="it-IT" sz="4000" err="1">
                <a:latin typeface="Times New Roman" pitchFamily="18" charset="0"/>
              </a:rPr>
              <a:t>Programmazione</a:t>
            </a:r>
            <a:endParaRPr lang="en-US" altLang="it-IT" sz="4000" b="0" i="1">
              <a:latin typeface="Times New Roman" pitchFamily="18" charset="0"/>
            </a:endParaRP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it-IT" sz="3600" b="1" i="1">
                <a:latin typeface="Times New Roman" pitchFamily="18" charset="0"/>
              </a:rPr>
              <a:t>Packages</a:t>
            </a:r>
          </a:p>
          <a:p>
            <a:pPr eaLnBrk="1" hangingPunct="1"/>
            <a:endParaRPr lang="en-US" altLang="it-IT" sz="4100" b="1" i="1">
              <a:latin typeface="Times New Roman" pitchFamily="18" charset="0"/>
            </a:endParaRPr>
          </a:p>
          <a:p>
            <a:pPr eaLnBrk="1" hangingPunct="1"/>
            <a:endParaRPr lang="en-US" altLang="it-IT" sz="4100" b="1" i="1">
              <a:latin typeface="Times New Roman" pitchFamily="18" charset="0"/>
            </a:endParaRPr>
          </a:p>
        </p:txBody>
      </p:sp>
      <p:sp>
        <p:nvSpPr>
          <p:cNvPr id="3077" name="Text Box 6"/>
          <p:cNvSpPr txBox="1">
            <a:spLocks noChangeArrowheads="1"/>
          </p:cNvSpPr>
          <p:nvPr/>
        </p:nvSpPr>
        <p:spPr bwMode="auto">
          <a:xfrm>
            <a:off x="539750" y="260350"/>
            <a:ext cx="67195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it-IT" altLang="it-IT" sz="1200"/>
              <a:t>Università di Napoli Federico II - </a:t>
            </a:r>
            <a:r>
              <a:rPr lang="en-GB" altLang="it-IT" sz="1200"/>
              <a:t>Dip. di </a:t>
            </a:r>
            <a:r>
              <a:rPr lang="en-GB" altLang="it-IT" sz="1200" err="1"/>
              <a:t>Ingegneria</a:t>
            </a:r>
            <a:r>
              <a:rPr lang="en-GB" altLang="it-IT" sz="1200"/>
              <a:t> </a:t>
            </a:r>
            <a:r>
              <a:rPr lang="en-GB" altLang="it-IT" sz="1200" err="1"/>
              <a:t>Elettrica</a:t>
            </a:r>
            <a:r>
              <a:rPr lang="en-GB" altLang="it-IT" sz="1200"/>
              <a:t> e </a:t>
            </a:r>
            <a:r>
              <a:rPr lang="en-GB" altLang="it-IT" sz="1200" err="1"/>
              <a:t>delle</a:t>
            </a:r>
            <a:r>
              <a:rPr lang="en-GB" altLang="it-IT" sz="1200"/>
              <a:t> </a:t>
            </a:r>
            <a:r>
              <a:rPr lang="en-GB" altLang="it-IT" sz="1200" err="1"/>
              <a:t>Tecnologie</a:t>
            </a:r>
            <a:r>
              <a:rPr lang="en-GB" altLang="it-IT" sz="1200"/>
              <a:t> </a:t>
            </a:r>
            <a:r>
              <a:rPr lang="en-GB" altLang="it-IT" sz="1200" err="1"/>
              <a:t>dell’Informazione</a:t>
            </a:r>
            <a:r>
              <a:rPr lang="en-GB" altLang="it-IT" sz="1200"/>
              <a:t> </a:t>
            </a:r>
          </a:p>
          <a:p>
            <a:pPr eaLnBrk="1" hangingPunct="1"/>
            <a:r>
              <a:rPr lang="it-IT" altLang="it-IT" sz="1200"/>
              <a:t>Corso di Laurea in Ingegneria Informatica</a:t>
            </a:r>
            <a:endParaRPr lang="en-US" altLang="it-IT" sz="120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194" y="373448"/>
            <a:ext cx="846916" cy="895311"/>
          </a:xfrm>
          <a:prstGeom prst="rect">
            <a:avLst/>
          </a:prstGeom>
        </p:spPr>
      </p:pic>
      <p:pic>
        <p:nvPicPr>
          <p:cNvPr id="1026" name="Picture 2" descr="Java, logo, logos icon - Free download on Iconfinder">
            <a:extLst>
              <a:ext uri="{FF2B5EF4-FFF2-40B4-BE49-F238E27FC236}">
                <a16:creationId xmlns:a16="http://schemas.microsoft.com/office/drawing/2014/main" id="{8F51CA07-A1A5-AA38-5BB4-4B67B1526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014466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522B56-8A32-CD19-4C7F-2448D3047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757" y="-243408"/>
            <a:ext cx="7543800" cy="1295400"/>
          </a:xfrm>
        </p:spPr>
        <p:txBody>
          <a:bodyPr/>
          <a:lstStyle/>
          <a:p>
            <a:r>
              <a:rPr lang="it-IT" i="1"/>
              <a:t>Moduli in Java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879C023-0EB9-D640-54FC-4531F80C9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757" y="1340768"/>
            <a:ext cx="8229600" cy="4411662"/>
          </a:xfrm>
        </p:spPr>
        <p:txBody>
          <a:bodyPr/>
          <a:lstStyle/>
          <a:p>
            <a:r>
              <a:rPr lang="it-IT" sz="2400"/>
              <a:t>Java </a:t>
            </a:r>
            <a:r>
              <a:rPr lang="it-IT" sz="2400" b="1"/>
              <a:t>non è</a:t>
            </a:r>
            <a:r>
              <a:rPr lang="it-IT" sz="2400"/>
              <a:t> un linguaggio modulare, cioè non offre meccanismi espliciti per la creazione di moduli come visto nella lezione relativa alla programmazione modulare, sebbene qualcosa sia stata introdotta nelle ultime versioni</a:t>
            </a:r>
          </a:p>
          <a:p>
            <a:r>
              <a:rPr lang="it-IT" sz="2400"/>
              <a:t>Come per altri linguaggi (C, C++) è possibile però adottare una disciplina di programmazione che consente la organizzazione del software secondo alcuni principi tipici della </a:t>
            </a:r>
            <a:r>
              <a:rPr lang="it-IT" sz="2400" err="1"/>
              <a:t>modularizzazione</a:t>
            </a:r>
            <a:endParaRPr lang="it-IT" sz="2400"/>
          </a:p>
          <a:p>
            <a:r>
              <a:rPr lang="it-IT" sz="2400"/>
              <a:t>In particolare le </a:t>
            </a:r>
            <a:r>
              <a:rPr lang="it-IT" sz="2400" i="1"/>
              <a:t>classi consentono di realizzare una certa astrazione sui dati </a:t>
            </a:r>
            <a:r>
              <a:rPr lang="it-IT" sz="2400"/>
              <a:t>e favoriscono l’adozione di uno stile modulare (information </a:t>
            </a:r>
            <a:r>
              <a:rPr lang="it-IT" sz="2400" err="1"/>
              <a:t>hiding</a:t>
            </a:r>
            <a:r>
              <a:rPr lang="it-IT" sz="2400"/>
              <a:t>, coesione)</a:t>
            </a:r>
          </a:p>
          <a:p>
            <a:r>
              <a:rPr lang="it-IT" sz="2400"/>
              <a:t>Inoltre Java introduce il concetto di package… </a:t>
            </a:r>
          </a:p>
        </p:txBody>
      </p:sp>
    </p:spTree>
    <p:extLst>
      <p:ext uri="{BB962C8B-B14F-4D97-AF65-F5344CB8AC3E}">
        <p14:creationId xmlns:p14="http://schemas.microsoft.com/office/powerpoint/2010/main" val="3445503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45CA93-B7E5-FCCE-F342-54CC2353B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71400"/>
            <a:ext cx="7543800" cy="1295400"/>
          </a:xfrm>
        </p:spPr>
        <p:txBody>
          <a:bodyPr/>
          <a:lstStyle/>
          <a:p>
            <a:r>
              <a:rPr lang="it-IT"/>
              <a:t>Il concetto di package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FCCF6E6-B92A-9EED-B654-7557DDACB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757" y="1340768"/>
            <a:ext cx="8229600" cy="4411662"/>
          </a:xfrm>
        </p:spPr>
        <p:txBody>
          <a:bodyPr/>
          <a:lstStyle/>
          <a:p>
            <a:r>
              <a:rPr lang="it-IT"/>
              <a:t>Un insieme di classi tra loro correlate (che cioè contribuiscono alla realizzazione di una unità concettuale) vengono generalmente raggruppate all’interno di un package</a:t>
            </a:r>
          </a:p>
          <a:p>
            <a:r>
              <a:rPr lang="it-IT"/>
              <a:t>Un package quindi è costituito da (molte) classi ciascuna delle quali può essere implementata su un file separato</a:t>
            </a:r>
          </a:p>
          <a:p>
            <a:r>
              <a:rPr lang="it-IT"/>
              <a:t>Il package favorisce </a:t>
            </a:r>
            <a:r>
              <a:rPr lang="it-IT" b="1" i="1"/>
              <a:t>l’organizzazione del software in componenti,</a:t>
            </a:r>
            <a:r>
              <a:rPr lang="it-IT"/>
              <a:t> il loro </a:t>
            </a:r>
            <a:r>
              <a:rPr lang="it-IT" b="1" i="1"/>
              <a:t>riuso e la realizzazione di librerie</a:t>
            </a:r>
          </a:p>
          <a:p>
            <a:pPr marL="0" indent="0">
              <a:buNone/>
            </a:pPr>
            <a:endParaRPr lang="it-IT" b="1" i="1"/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3462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50078F-C729-C98B-CD80-B684C6C41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15416"/>
            <a:ext cx="7543800" cy="1295400"/>
          </a:xfrm>
        </p:spPr>
        <p:txBody>
          <a:bodyPr/>
          <a:lstStyle/>
          <a:p>
            <a:r>
              <a:rPr lang="it-IT"/>
              <a:t>Dichiarazione di package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88A019A-325F-4A5B-08FC-38CF0A113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23169"/>
            <a:ext cx="8229600" cy="4411662"/>
          </a:xfrm>
        </p:spPr>
        <p:txBody>
          <a:bodyPr/>
          <a:lstStyle/>
          <a:p>
            <a:pPr algn="ctr"/>
            <a:r>
              <a:rPr lang="it-IT"/>
              <a:t>Una dichiarazione di package ha la forma: </a:t>
            </a:r>
            <a:r>
              <a:rPr lang="it-IT" b="1"/>
              <a:t>package</a:t>
            </a:r>
            <a:r>
              <a:rPr lang="it-IT"/>
              <a:t> &lt;</a:t>
            </a:r>
            <a:r>
              <a:rPr lang="it-IT" i="1" err="1"/>
              <a:t>nomepackage</a:t>
            </a:r>
            <a:r>
              <a:rPr lang="it-IT"/>
              <a:t>&gt;</a:t>
            </a:r>
            <a:r>
              <a:rPr lang="it-IT" b="1"/>
              <a:t>; </a:t>
            </a:r>
          </a:p>
          <a:p>
            <a:r>
              <a:rPr lang="it-IT"/>
              <a:t>Se presente, deve essere all’inizio del file, può essere preceduta solo da linee vuote e commenti</a:t>
            </a:r>
          </a:p>
          <a:p>
            <a:r>
              <a:rPr lang="it-IT"/>
              <a:t>Esiste una corrispondenza biunivoca fra il nome del package e posizione nel file system delle classi del package</a:t>
            </a:r>
          </a:p>
          <a:p>
            <a:pPr lvl="1"/>
            <a:r>
              <a:rPr lang="it-IT"/>
              <a:t>Tutte le classi di un package devono trovarsi in una directory (cartella) che ha lo stesso nome del package</a:t>
            </a:r>
          </a:p>
        </p:txBody>
      </p:sp>
    </p:spTree>
    <p:extLst>
      <p:ext uri="{BB962C8B-B14F-4D97-AF65-F5344CB8AC3E}">
        <p14:creationId xmlns:p14="http://schemas.microsoft.com/office/powerpoint/2010/main" val="267911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D50CDF-2168-DAAD-475D-2D3111875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/>
              <a:t>Uso dei package per la gestione di sistemi di grandi dimensioni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93AF3F6-A2F3-EB4E-7699-2B640B201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3"/>
            <a:ext cx="8075240" cy="1205681"/>
          </a:xfrm>
        </p:spPr>
        <p:txBody>
          <a:bodyPr/>
          <a:lstStyle/>
          <a:p>
            <a:r>
              <a:rPr lang="it-IT" sz="2400"/>
              <a:t>Un sistema software per la gestione di una biblioteca potrebbe essere stato sviluppato implementando le seguenti classi.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A1076DCB-82D1-536F-9B5A-959ED107C10F}"/>
              </a:ext>
            </a:extLst>
          </p:cNvPr>
          <p:cNvSpPr/>
          <p:nvPr/>
        </p:nvSpPr>
        <p:spPr bwMode="auto">
          <a:xfrm>
            <a:off x="827584" y="3018657"/>
            <a:ext cx="1872208" cy="369332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GestoreP</a:t>
            </a:r>
            <a:r>
              <a:rPr lang="it-IT" err="1"/>
              <a:t>restiti</a:t>
            </a: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930821DD-9A03-6AF4-CBF0-EE6EB483701B}"/>
              </a:ext>
            </a:extLst>
          </p:cNvPr>
          <p:cNvSpPr/>
          <p:nvPr/>
        </p:nvSpPr>
        <p:spPr bwMode="auto">
          <a:xfrm>
            <a:off x="6948264" y="5517232"/>
            <a:ext cx="1872208" cy="369332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GestoreSca</a:t>
            </a:r>
            <a:r>
              <a:rPr lang="it-IT" err="1"/>
              <a:t>ffali</a:t>
            </a: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DA22F82-87A0-19D7-9CB4-365ADFA80848}"/>
              </a:ext>
            </a:extLst>
          </p:cNvPr>
          <p:cNvSpPr/>
          <p:nvPr/>
        </p:nvSpPr>
        <p:spPr bwMode="auto">
          <a:xfrm>
            <a:off x="1115616" y="5147900"/>
            <a:ext cx="1872208" cy="369332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err="1"/>
              <a:t>CopiaDiLibro</a:t>
            </a: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A89D3C43-212A-462E-78E0-594020A0DB5A}"/>
              </a:ext>
            </a:extLst>
          </p:cNvPr>
          <p:cNvSpPr/>
          <p:nvPr/>
        </p:nvSpPr>
        <p:spPr bwMode="auto">
          <a:xfrm>
            <a:off x="2303748" y="4083278"/>
            <a:ext cx="792088" cy="369332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/>
              <a:t>Libro</a:t>
            </a: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4074168E-015E-4EA3-0A04-00524CE48A8F}"/>
              </a:ext>
            </a:extLst>
          </p:cNvPr>
          <p:cNvSpPr/>
          <p:nvPr/>
        </p:nvSpPr>
        <p:spPr bwMode="auto">
          <a:xfrm>
            <a:off x="6669958" y="4649701"/>
            <a:ext cx="1070394" cy="369332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Scaffale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8AD97FB6-0D58-3A64-4811-D04A4DD00B45}"/>
              </a:ext>
            </a:extLst>
          </p:cNvPr>
          <p:cNvSpPr/>
          <p:nvPr/>
        </p:nvSpPr>
        <p:spPr bwMode="auto">
          <a:xfrm>
            <a:off x="3275856" y="3036550"/>
            <a:ext cx="3394102" cy="369332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err="1"/>
              <a:t>InterfacciaGraficaBibliotecario</a:t>
            </a: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EFCE8CCD-95C5-FC18-D028-D7BE2AC2C253}"/>
              </a:ext>
            </a:extLst>
          </p:cNvPr>
          <p:cNvSpPr/>
          <p:nvPr/>
        </p:nvSpPr>
        <p:spPr bwMode="auto">
          <a:xfrm>
            <a:off x="1763688" y="6093296"/>
            <a:ext cx="3394102" cy="369332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err="1"/>
              <a:t>InterfacciaGraficaPrestiti</a:t>
            </a: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8EC8C34D-35DC-609F-4080-3DEAEC2603DA}"/>
              </a:ext>
            </a:extLst>
          </p:cNvPr>
          <p:cNvSpPr/>
          <p:nvPr/>
        </p:nvSpPr>
        <p:spPr bwMode="auto">
          <a:xfrm>
            <a:off x="3617331" y="3799431"/>
            <a:ext cx="2304256" cy="369332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err="1"/>
              <a:t>UtilityStampaLocale</a:t>
            </a: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A2E4E8FB-C823-21C1-0B66-E57B00170121}"/>
              </a:ext>
            </a:extLst>
          </p:cNvPr>
          <p:cNvSpPr/>
          <p:nvPr/>
        </p:nvSpPr>
        <p:spPr bwMode="auto">
          <a:xfrm>
            <a:off x="4483719" y="5147900"/>
            <a:ext cx="1960490" cy="369332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err="1"/>
              <a:t>UtilityReteLocale</a:t>
            </a: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62EB12CF-1019-F25D-2015-018AAE6EF43F}"/>
              </a:ext>
            </a:extLst>
          </p:cNvPr>
          <p:cNvSpPr/>
          <p:nvPr/>
        </p:nvSpPr>
        <p:spPr bwMode="auto">
          <a:xfrm>
            <a:off x="6408204" y="3799431"/>
            <a:ext cx="2412268" cy="369332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err="1"/>
              <a:t>UtilityAccessoInternet</a:t>
            </a: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30ADCC1D-20B9-F5B5-08AD-BE982A8AED7E}"/>
              </a:ext>
            </a:extLst>
          </p:cNvPr>
          <p:cNvSpPr/>
          <p:nvPr/>
        </p:nvSpPr>
        <p:spPr bwMode="auto">
          <a:xfrm>
            <a:off x="5868144" y="6200097"/>
            <a:ext cx="2520280" cy="369332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err="1"/>
              <a:t>UtilityStampaEtichetta</a:t>
            </a: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699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BEE61-186A-CAA0-E376-46FAD3335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F5CF20-F70C-D223-9C4F-BCBCE0366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/>
              <a:t>Uso dei package per la gestione di sistemi di grandi dimensioni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9FB397C-9E9E-206F-1AF7-71B175ED0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3"/>
            <a:ext cx="8075240" cy="1205681"/>
          </a:xfrm>
        </p:spPr>
        <p:txBody>
          <a:bodyPr/>
          <a:lstStyle/>
          <a:p>
            <a:r>
              <a:rPr lang="it-IT" sz="2400"/>
              <a:t>Ecco come si presenta il progetto in </a:t>
            </a:r>
            <a:r>
              <a:rPr lang="it-IT" sz="2400" err="1"/>
              <a:t>Netbeans</a:t>
            </a:r>
            <a:r>
              <a:rPr lang="it-IT" sz="2400"/>
              <a:t> e su memoria di massa senza l’uso di package.</a:t>
            </a:r>
          </a:p>
        </p:txBody>
      </p:sp>
      <p:pic>
        <p:nvPicPr>
          <p:cNvPr id="16" name="Immagine 15" descr="Immagine che contiene testo, schermata, software, Carattere&#10;&#10;Descrizione generata automaticamente">
            <a:extLst>
              <a:ext uri="{FF2B5EF4-FFF2-40B4-BE49-F238E27FC236}">
                <a16:creationId xmlns:a16="http://schemas.microsoft.com/office/drawing/2014/main" id="{72F1B7DE-BA28-A9B5-8AF3-EFAEFD7258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37" y="2765212"/>
            <a:ext cx="4303763" cy="3363861"/>
          </a:xfrm>
          <a:prstGeom prst="rect">
            <a:avLst/>
          </a:prstGeom>
        </p:spPr>
      </p:pic>
      <p:pic>
        <p:nvPicPr>
          <p:cNvPr id="18" name="Immagine 17" descr="Immagine che contiene testo, schermata, Carattere&#10;&#10;Descrizione generata automaticamente">
            <a:extLst>
              <a:ext uri="{FF2B5EF4-FFF2-40B4-BE49-F238E27FC236}">
                <a16:creationId xmlns:a16="http://schemas.microsoft.com/office/drawing/2014/main" id="{1B427B58-4C15-4CB5-CE23-09F869551E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0963" y="2742433"/>
            <a:ext cx="3240037" cy="287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317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8E0D5-D75D-B534-3252-CC7E00C73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71A086-B945-7F9E-45C2-3ECCD70B3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/>
              <a:t>Uso dei package per la gestione di sistemi di grandi dimensioni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486B91F-CC9D-ED90-7EBC-42284695C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3"/>
            <a:ext cx="8075240" cy="1205681"/>
          </a:xfrm>
        </p:spPr>
        <p:txBody>
          <a:bodyPr/>
          <a:lstStyle/>
          <a:p>
            <a:r>
              <a:rPr lang="it-IT" sz="2400"/>
              <a:t>Ma se utilizzassimo i package per "organizzare" il progetto?</a:t>
            </a:r>
          </a:p>
        </p:txBody>
      </p:sp>
      <p:pic>
        <p:nvPicPr>
          <p:cNvPr id="5" name="Immagine 4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4A94916B-F3A1-41BC-A9F2-1EAC6A9B7E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0" y="2636912"/>
            <a:ext cx="3794235" cy="3816424"/>
          </a:xfrm>
          <a:prstGeom prst="rect">
            <a:avLst/>
          </a:prstGeom>
        </p:spPr>
      </p:pic>
      <p:pic>
        <p:nvPicPr>
          <p:cNvPr id="7" name="Immagine 6" descr="Immagine che contiene testo, schermata, software, Carattere&#10;&#10;Descrizione generata automaticamente">
            <a:extLst>
              <a:ext uri="{FF2B5EF4-FFF2-40B4-BE49-F238E27FC236}">
                <a16:creationId xmlns:a16="http://schemas.microsoft.com/office/drawing/2014/main" id="{1928F3E5-D386-5DD2-7A9B-6C782B672C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834" y="2294749"/>
            <a:ext cx="3641735" cy="450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334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7911CC-6A40-9B62-003E-51497759A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Nome assoluto (qualificato) di una classe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D4A3519-7692-30CF-9291-1B2DC10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Il nome completo di una classe che fa parte di un package comprende il nome del package, ed è detto </a:t>
            </a:r>
            <a:r>
              <a:rPr lang="it-IT" b="1" dirty="0"/>
              <a:t>nome assoluto o nome qualificato della classe. </a:t>
            </a:r>
          </a:p>
          <a:p>
            <a:pPr lvl="1" indent="-347345"/>
            <a:r>
              <a:rPr lang="it-IT" dirty="0"/>
              <a:t>Se la classe C appartiene al package </a:t>
            </a:r>
            <a:r>
              <a:rPr lang="it-IT" dirty="0" err="1"/>
              <a:t>P</a:t>
            </a:r>
            <a:r>
              <a:rPr lang="it-IT" dirty="0"/>
              <a:t> il suo nome assoluto è </a:t>
            </a:r>
            <a:r>
              <a:rPr lang="it-IT" b="1" dirty="0"/>
              <a:t>P.C</a:t>
            </a:r>
            <a:endParaRPr lang="it-IT" b="1" dirty="0">
              <a:cs typeface="Arial"/>
            </a:endParaRPr>
          </a:p>
          <a:p>
            <a:pPr lvl="1" indent="-347345"/>
            <a:r>
              <a:rPr lang="it-IT" dirty="0"/>
              <a:t>Ad esempio </a:t>
            </a:r>
            <a:r>
              <a:rPr lang="it-IT" dirty="0" err="1"/>
              <a:t>persona.Persona</a:t>
            </a:r>
            <a:r>
              <a:rPr lang="it-IT" dirty="0"/>
              <a:t> o </a:t>
            </a:r>
            <a:r>
              <a:rPr lang="it-IT" dirty="0" err="1"/>
              <a:t>impiegato.Impiegato</a:t>
            </a:r>
            <a:endParaRPr lang="it-IT" dirty="0"/>
          </a:p>
          <a:p>
            <a:pPr lvl="1" indent="-347345"/>
            <a:r>
              <a:rPr lang="it-IT" dirty="0"/>
              <a:t>In questo modo è possibile anche distinguere classi diverse con lo stesso nome che appartengono a diversi package perché i loro nomi assoluti sono diversi.</a:t>
            </a:r>
            <a:endParaRPr lang="it-IT" dirty="0">
              <a:cs typeface="Arial"/>
            </a:endParaRPr>
          </a:p>
          <a:p>
            <a:pPr>
              <a:buClr>
                <a:srgbClr val="330066"/>
              </a:buClr>
            </a:pPr>
            <a:endParaRPr lang="it-IT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06412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C5EED2-58D4-F99A-182A-B091842E3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43408"/>
            <a:ext cx="7543800" cy="1295400"/>
          </a:xfrm>
        </p:spPr>
        <p:txBody>
          <a:bodyPr/>
          <a:lstStyle/>
          <a:p>
            <a:r>
              <a:rPr lang="it-IT"/>
              <a:t>Compilazione ed esecuzione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4D6F36D-0706-6557-3F08-47593E18A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43" y="1340768"/>
            <a:ext cx="8229600" cy="5197818"/>
          </a:xfrm>
        </p:spPr>
        <p:txBody>
          <a:bodyPr>
            <a:normAutofit fontScale="92500" lnSpcReduction="20000"/>
          </a:bodyPr>
          <a:lstStyle/>
          <a:p>
            <a:r>
              <a:rPr lang="it-IT" dirty="0"/>
              <a:t>Per </a:t>
            </a:r>
            <a:r>
              <a:rPr lang="it-IT" u="sng" dirty="0"/>
              <a:t>compilare </a:t>
            </a:r>
            <a:r>
              <a:rPr lang="it-IT" dirty="0"/>
              <a:t>una classe C che fa parte di un package </a:t>
            </a:r>
            <a:r>
              <a:rPr lang="it-IT" dirty="0" err="1"/>
              <a:t>P</a:t>
            </a:r>
            <a:r>
              <a:rPr lang="it-IT" dirty="0"/>
              <a:t> si può: </a:t>
            </a:r>
          </a:p>
          <a:p>
            <a:pPr lvl="1" indent="-347345"/>
            <a:r>
              <a:rPr lang="it-IT" dirty="0"/>
              <a:t>porsi nella cartella superiore a </a:t>
            </a:r>
            <a:r>
              <a:rPr lang="it-IT" dirty="0" err="1"/>
              <a:t>P</a:t>
            </a:r>
            <a:r>
              <a:rPr lang="it-IT" dirty="0"/>
              <a:t> </a:t>
            </a:r>
            <a:endParaRPr lang="it-IT" dirty="0">
              <a:cs typeface="Arial"/>
            </a:endParaRPr>
          </a:p>
          <a:p>
            <a:pPr lvl="1" indent="-347345"/>
            <a:r>
              <a:rPr lang="it-IT" dirty="0"/>
              <a:t>lì invocare il </a:t>
            </a:r>
            <a:r>
              <a:rPr lang="it-IT" dirty="0">
                <a:solidFill>
                  <a:srgbClr val="FF0000"/>
                </a:solidFill>
              </a:rPr>
              <a:t>compilatore</a:t>
            </a:r>
            <a:r>
              <a:rPr lang="it-IT" dirty="0"/>
              <a:t> con il </a:t>
            </a:r>
            <a:r>
              <a:rPr lang="it-IT" dirty="0">
                <a:solidFill>
                  <a:srgbClr val="FF0000"/>
                </a:solidFill>
              </a:rPr>
              <a:t>percorso</a:t>
            </a:r>
            <a:r>
              <a:rPr lang="it-IT" dirty="0"/>
              <a:t> completo della classe: </a:t>
            </a:r>
            <a:r>
              <a:rPr lang="it-IT" b="1" i="1" dirty="0" err="1"/>
              <a:t>javac</a:t>
            </a:r>
            <a:r>
              <a:rPr lang="it-IT" b="1" i="1" dirty="0"/>
              <a:t> </a:t>
            </a:r>
            <a:r>
              <a:rPr lang="it-IT" b="1" i="1" dirty="0" err="1"/>
              <a:t>P</a:t>
            </a:r>
            <a:r>
              <a:rPr lang="it-IT" b="1" i="1" dirty="0"/>
              <a:t>/</a:t>
            </a:r>
            <a:r>
              <a:rPr lang="it-IT" b="1" i="1" dirty="0" err="1"/>
              <a:t>C.java</a:t>
            </a:r>
            <a:endParaRPr lang="it-IT" b="1" i="1" dirty="0"/>
          </a:p>
          <a:p>
            <a:pPr lvl="1" indent="-347345"/>
            <a:r>
              <a:rPr lang="it-IT" b="1" i="1" dirty="0">
                <a:cs typeface="Arial"/>
              </a:rPr>
              <a:t>Come visto in esecuzione: </a:t>
            </a:r>
          </a:p>
          <a:p>
            <a:pPr lvl="2" indent="-347345"/>
            <a:r>
              <a:rPr lang="it-IT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javac</a:t>
            </a:r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./eseguibile/Unita17Package.java</a:t>
            </a:r>
            <a:endParaRPr lang="it-IT" b="1" i="1" dirty="0">
              <a:cs typeface="Arial"/>
            </a:endParaRPr>
          </a:p>
          <a:p>
            <a:r>
              <a:rPr lang="it-IT" dirty="0"/>
              <a:t>Per </a:t>
            </a:r>
            <a:r>
              <a:rPr lang="it-IT" u="sng" dirty="0"/>
              <a:t>eseguire</a:t>
            </a:r>
            <a:r>
              <a:rPr lang="it-IT" dirty="0"/>
              <a:t> una classe E che fa parte di un package </a:t>
            </a:r>
            <a:r>
              <a:rPr lang="it-IT" dirty="0" err="1"/>
              <a:t>P</a:t>
            </a:r>
            <a:r>
              <a:rPr lang="it-IT" dirty="0"/>
              <a:t> occorre: </a:t>
            </a:r>
          </a:p>
          <a:p>
            <a:pPr lvl="1" indent="-347345"/>
            <a:r>
              <a:rPr lang="it-IT" dirty="0"/>
              <a:t>porsi nella cartella superiore a </a:t>
            </a:r>
            <a:r>
              <a:rPr lang="it-IT" dirty="0" err="1"/>
              <a:t>P</a:t>
            </a:r>
            <a:endParaRPr lang="it-IT" dirty="0">
              <a:cs typeface="Arial"/>
            </a:endParaRPr>
          </a:p>
          <a:p>
            <a:pPr lvl="1" indent="-347345"/>
            <a:r>
              <a:rPr lang="it-IT" dirty="0"/>
              <a:t>lì invocare l’</a:t>
            </a:r>
            <a:r>
              <a:rPr lang="it-IT" dirty="0">
                <a:solidFill>
                  <a:srgbClr val="FF0000"/>
                </a:solidFill>
              </a:rPr>
              <a:t>interprete</a:t>
            </a:r>
            <a:r>
              <a:rPr lang="it-IT" dirty="0"/>
              <a:t> con il </a:t>
            </a:r>
            <a:r>
              <a:rPr lang="it-IT" dirty="0">
                <a:solidFill>
                  <a:srgbClr val="FF0000"/>
                </a:solidFill>
              </a:rPr>
              <a:t>nome assoluto della classe</a:t>
            </a:r>
            <a:r>
              <a:rPr lang="it-IT" dirty="0"/>
              <a:t>: </a:t>
            </a:r>
            <a:r>
              <a:rPr lang="it-IT" b="1" dirty="0"/>
              <a:t>java P.E</a:t>
            </a:r>
          </a:p>
          <a:p>
            <a:pPr lvl="1" indent="-347345"/>
            <a:r>
              <a:rPr lang="it-IT" b="1" i="1" dirty="0">
                <a:cs typeface="Arial"/>
              </a:rPr>
              <a:t>Come visto in esecuzione</a:t>
            </a:r>
            <a:r>
              <a:rPr lang="it-IT" b="1" dirty="0">
                <a:highlight>
                  <a:srgbClr val="FFFF00"/>
                </a:highlight>
                <a:cs typeface="Arial"/>
              </a:rPr>
              <a:t> </a:t>
            </a:r>
          </a:p>
          <a:p>
            <a:pPr lvl="2" indent="-347345"/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java eseguibile.Unita17Package</a:t>
            </a:r>
          </a:p>
        </p:txBody>
      </p:sp>
    </p:spTree>
    <p:extLst>
      <p:ext uri="{BB962C8B-B14F-4D97-AF65-F5344CB8AC3E}">
        <p14:creationId xmlns:p14="http://schemas.microsoft.com/office/powerpoint/2010/main" val="2832159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352D0E-3360-0B88-C823-7F393BF10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Package di default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7CA8D1-53D5-BDA6-5579-0C6FBDC15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Ogni classe in genere dichiara di appartenere ad un package</a:t>
            </a:r>
          </a:p>
          <a:p>
            <a:r>
              <a:rPr lang="it-IT"/>
              <a:t>In caso contrario è automaticamente assegnata al </a:t>
            </a:r>
            <a:r>
              <a:rPr lang="it-IT" b="1" i="1"/>
              <a:t>package di default </a:t>
            </a:r>
          </a:p>
          <a:p>
            <a:pPr lvl="1"/>
            <a:r>
              <a:rPr lang="it-IT"/>
              <a:t>Per convenzione, questo package fa riferimento alla cartella (directory) corrente</a:t>
            </a:r>
          </a:p>
          <a:p>
            <a:pPr lvl="1"/>
            <a:r>
              <a:rPr lang="it-IT"/>
              <a:t>Si possono compilare ed eseguire i file nella cartella in cui si trovano, senza premettere percorsi o nomi assoluti</a:t>
            </a:r>
          </a:p>
        </p:txBody>
      </p:sp>
    </p:spTree>
    <p:extLst>
      <p:ext uri="{BB962C8B-B14F-4D97-AF65-F5344CB8AC3E}">
        <p14:creationId xmlns:p14="http://schemas.microsoft.com/office/powerpoint/2010/main" val="1068507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389504-B799-8CE1-976A-CF4047838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126" y="-315416"/>
            <a:ext cx="7543800" cy="1295400"/>
          </a:xfrm>
        </p:spPr>
        <p:txBody>
          <a:bodyPr/>
          <a:lstStyle/>
          <a:p>
            <a:r>
              <a:rPr lang="it-IT"/>
              <a:t>Sistema dei nomi dei package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9842D18-8413-E0A9-8C79-A9687E434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23168"/>
            <a:ext cx="8229600" cy="5102475"/>
          </a:xfrm>
        </p:spPr>
        <p:txBody>
          <a:bodyPr>
            <a:normAutofit/>
          </a:bodyPr>
          <a:lstStyle/>
          <a:p>
            <a:r>
              <a:rPr lang="it-IT" sz="2400" dirty="0"/>
              <a:t>I package possono essere innestati, cioè un package può contenere altri package. Ovviamente questa organizzazione si deve rispecchiare nella organizzazione delle cartelle</a:t>
            </a:r>
          </a:p>
          <a:p>
            <a:pPr lvl="1"/>
            <a:r>
              <a:rPr lang="it-IT" sz="2000" dirty="0"/>
              <a:t>Se il package </a:t>
            </a:r>
            <a:r>
              <a:rPr lang="it-IT" sz="2000" dirty="0" err="1"/>
              <a:t>P</a:t>
            </a:r>
            <a:r>
              <a:rPr lang="it-IT" sz="2000" dirty="0"/>
              <a:t> contiene il package P1 nella cartella </a:t>
            </a:r>
            <a:r>
              <a:rPr lang="it-IT" sz="2000" dirty="0" err="1"/>
              <a:t>P</a:t>
            </a:r>
            <a:r>
              <a:rPr lang="it-IT" sz="2000" dirty="0"/>
              <a:t> dovrà essere presente la cartella P1.</a:t>
            </a:r>
          </a:p>
          <a:p>
            <a:r>
              <a:rPr lang="it-IT" sz="2400" dirty="0"/>
              <a:t>Il sistema dei </a:t>
            </a:r>
            <a:r>
              <a:rPr lang="it-IT" sz="2400" b="1" dirty="0"/>
              <a:t>nomi dei package </a:t>
            </a:r>
            <a:r>
              <a:rPr lang="it-IT" sz="2400" dirty="0"/>
              <a:t>perciò è strutturato e sono possibili nomi di package come: P.P1 o </a:t>
            </a:r>
            <a:r>
              <a:rPr lang="it-IT" sz="2400" dirty="0" err="1"/>
              <a:t>java.awt.print</a:t>
            </a:r>
            <a:endParaRPr lang="it-IT" sz="2400" dirty="0"/>
          </a:p>
          <a:p>
            <a:r>
              <a:rPr lang="it-IT" sz="2400" dirty="0"/>
              <a:t>Di conseguenza anche i nomi assoluti delle classi possono essere strutturati, ad esempio il nome assoluto della classe E che si trova nel package P1 sarà: P.P1.E</a:t>
            </a:r>
          </a:p>
        </p:txBody>
      </p:sp>
    </p:spTree>
    <p:extLst>
      <p:ext uri="{BB962C8B-B14F-4D97-AF65-F5344CB8AC3E}">
        <p14:creationId xmlns:p14="http://schemas.microsoft.com/office/powerpoint/2010/main" val="631367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85403F-9817-E0DE-2631-19D2D342E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Importazione dei nomi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B6C2EF-97B9-C0E5-36A1-4A6CA24E9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In Java ogni volta che si usa una classe è necessario denotarla con il suo nome assoluto!</a:t>
            </a:r>
          </a:p>
          <a:p>
            <a:r>
              <a:rPr lang="it-IT"/>
              <a:t>Se il nome assoluto è molto lungo questo sistema può risultare </a:t>
            </a:r>
            <a:r>
              <a:rPr lang="it-IT" i="1"/>
              <a:t>molto</a:t>
            </a:r>
            <a:r>
              <a:rPr lang="it-IT"/>
              <a:t> pesante…</a:t>
            </a:r>
          </a:p>
          <a:p>
            <a:r>
              <a:rPr lang="it-IT"/>
              <a:t>Per tale motivo si introduce il concetto di importazione di nome.</a:t>
            </a:r>
          </a:p>
        </p:txBody>
      </p:sp>
    </p:spTree>
    <p:extLst>
      <p:ext uri="{BB962C8B-B14F-4D97-AF65-F5344CB8AC3E}">
        <p14:creationId xmlns:p14="http://schemas.microsoft.com/office/powerpoint/2010/main" val="3946430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F17A3E-A6E1-0C30-AB30-C022F57EC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115" y="-387424"/>
            <a:ext cx="7543800" cy="1295400"/>
          </a:xfrm>
        </p:spPr>
        <p:txBody>
          <a:bodyPr/>
          <a:lstStyle/>
          <a:p>
            <a:r>
              <a:rPr lang="it-IT"/>
              <a:t>Dichiarazione </a:t>
            </a:r>
            <a:r>
              <a:rPr lang="it-IT" b="0" i="1"/>
              <a:t>import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B655E3B-C448-614E-1C04-DD23CC9F6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124744"/>
            <a:ext cx="8229600" cy="5616624"/>
          </a:xfrm>
        </p:spPr>
        <p:txBody>
          <a:bodyPr>
            <a:normAutofit fontScale="92500" lnSpcReduction="10000"/>
          </a:bodyPr>
          <a:lstStyle/>
          <a:p>
            <a:r>
              <a:rPr lang="it-IT" sz="2800" dirty="0"/>
              <a:t>Per evitare di specificare ogni volta il nome assoluto di una classe, si può importarlo:  </a:t>
            </a:r>
          </a:p>
          <a:p>
            <a:pPr marL="0" indent="0" algn="ctr">
              <a:buNone/>
            </a:pPr>
            <a:r>
              <a:rPr lang="it-IT" sz="2800" dirty="0"/>
              <a:t>    </a:t>
            </a:r>
            <a:r>
              <a:rPr lang="it-IT" sz="2800" b="1" dirty="0"/>
              <a:t>import</a:t>
            </a:r>
            <a:r>
              <a:rPr lang="it-IT" sz="2800" dirty="0"/>
              <a:t> </a:t>
            </a:r>
            <a:r>
              <a:rPr lang="it-IT" sz="2800" i="1" dirty="0" err="1"/>
              <a:t>nomeassoluto</a:t>
            </a:r>
            <a:r>
              <a:rPr lang="it-IT" sz="2800" dirty="0"/>
              <a:t>;</a:t>
            </a:r>
            <a:endParaRPr lang="it-IT" sz="2800" dirty="0">
              <a:cs typeface="Arial"/>
            </a:endParaRPr>
          </a:p>
          <a:p>
            <a:r>
              <a:rPr lang="it-IT" sz="2800" dirty="0"/>
              <a:t>Ad esempio se la classe E si trova nel package P1 che a sua volta si trova in </a:t>
            </a:r>
            <a:r>
              <a:rPr lang="it-IT" sz="2800" dirty="0" err="1"/>
              <a:t>P</a:t>
            </a:r>
            <a:r>
              <a:rPr lang="it-IT" sz="2800" dirty="0"/>
              <a:t>:</a:t>
            </a:r>
            <a:endParaRPr lang="it-IT" sz="2800" dirty="0">
              <a:cs typeface="Arial"/>
            </a:endParaRPr>
          </a:p>
          <a:p>
            <a:pPr marL="0" indent="0" algn="ctr">
              <a:buNone/>
            </a:pPr>
            <a:r>
              <a:rPr lang="it-IT" sz="2800" b="1" dirty="0"/>
              <a:t>import</a:t>
            </a:r>
            <a:r>
              <a:rPr lang="it-IT" sz="2800" dirty="0"/>
              <a:t> </a:t>
            </a:r>
            <a:r>
              <a:rPr lang="it-IT" sz="2800" i="1" dirty="0"/>
              <a:t>P.P1.E</a:t>
            </a:r>
            <a:r>
              <a:rPr lang="it-IT" sz="2800" dirty="0"/>
              <a:t>;</a:t>
            </a:r>
            <a:endParaRPr lang="it-IT" sz="2800" dirty="0">
              <a:cs typeface="Arial"/>
            </a:endParaRPr>
          </a:p>
          <a:p>
            <a:r>
              <a:rPr lang="it-IT" sz="2800" dirty="0"/>
              <a:t>In questo modo nel codice ci si può riferire alla classe semplicemente con E.</a:t>
            </a:r>
            <a:endParaRPr lang="it-IT" sz="2800" dirty="0">
              <a:cs typeface="Arial"/>
            </a:endParaRPr>
          </a:p>
          <a:p>
            <a:r>
              <a:rPr lang="it-IT" sz="2800" dirty="0"/>
              <a:t>E’ possibile importare tutte le classi di un package in un colpo solo usando *, ad esempio: </a:t>
            </a:r>
            <a:endParaRPr lang="it-IT" sz="2800" dirty="0">
              <a:cs typeface="Arial"/>
            </a:endParaRPr>
          </a:p>
          <a:p>
            <a:pPr marL="0" indent="0" algn="ctr">
              <a:buNone/>
            </a:pPr>
            <a:r>
              <a:rPr lang="it-IT" b="1" dirty="0"/>
              <a:t>import </a:t>
            </a:r>
            <a:r>
              <a:rPr lang="it-IT" dirty="0" err="1"/>
              <a:t>java.lang</a:t>
            </a:r>
            <a:r>
              <a:rPr lang="it-IT" dirty="0"/>
              <a:t>.*</a:t>
            </a:r>
            <a:endParaRPr lang="it-IT" dirty="0">
              <a:cs typeface="Arial"/>
            </a:endParaRPr>
          </a:p>
          <a:p>
            <a:pPr marL="0" indent="0" algn="ctr">
              <a:buNone/>
            </a:pPr>
            <a:r>
              <a:rPr lang="it-IT" b="1" dirty="0"/>
              <a:t>import </a:t>
            </a:r>
            <a:r>
              <a:rPr lang="it-IT" dirty="0"/>
              <a:t>P.*</a:t>
            </a:r>
            <a:endParaRPr lang="it-IT" dirty="0">
              <a:cs typeface="Arial"/>
            </a:endParaRPr>
          </a:p>
          <a:p>
            <a:pPr marL="0" indent="0" algn="ctr">
              <a:buNone/>
            </a:pPr>
            <a:r>
              <a:rPr lang="it-IT" b="1" dirty="0"/>
              <a:t>import </a:t>
            </a:r>
            <a:r>
              <a:rPr lang="it-IT" dirty="0"/>
              <a:t>P.P1.*</a:t>
            </a:r>
            <a:endParaRPr lang="it-IT" dirty="0">
              <a:cs typeface="Arial"/>
            </a:endParaRPr>
          </a:p>
          <a:p>
            <a:pPr marL="0" indent="0">
              <a:buNone/>
            </a:pPr>
            <a:endParaRPr lang="it-IT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5721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426D00-B555-3082-5B33-2F050BD52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0"/>
            <a:ext cx="7543800" cy="1295400"/>
          </a:xfrm>
        </p:spPr>
        <p:txBody>
          <a:bodyPr/>
          <a:lstStyle/>
          <a:p>
            <a:r>
              <a:rPr lang="it-IT" sz="3200" dirty="0"/>
              <a:t>Quando può essere omessa l’importazione dei nomi?</a:t>
            </a:r>
            <a:endParaRPr lang="it-IT" sz="3200" i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2C0104-F803-F3BE-ADED-17AEA9B6D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411662"/>
          </a:xfrm>
        </p:spPr>
        <p:txBody>
          <a:bodyPr/>
          <a:lstStyle/>
          <a:p>
            <a:r>
              <a:rPr lang="it-IT" sz="2400" dirty="0"/>
              <a:t>Alcuni packages sono importati implicitamente, ad esempio il package </a:t>
            </a:r>
            <a:r>
              <a:rPr lang="it-IT" sz="2400" dirty="0" err="1"/>
              <a:t>java.lang</a:t>
            </a:r>
            <a:r>
              <a:rPr lang="it-IT" sz="2400" dirty="0"/>
              <a:t> è implicitamente importato in ogni progetto Java e quindi si possono utilizzare classi come System e </a:t>
            </a:r>
            <a:r>
              <a:rPr lang="it-IT" sz="2400" dirty="0" err="1"/>
              <a:t>String</a:t>
            </a:r>
            <a:r>
              <a:rPr lang="it-IT" sz="2400" dirty="0"/>
              <a:t> senza dovere importare esplicitamente i loro nomi assoluti</a:t>
            </a:r>
          </a:p>
          <a:p>
            <a:r>
              <a:rPr lang="it-IT" sz="2400"/>
              <a:t>Inoltre </a:t>
            </a:r>
            <a:r>
              <a:rPr lang="it-IT" sz="2400" dirty="0"/>
              <a:t>ovviamente non è necessaria la dichiarazione di import se tutte le volte che viene usata la classe viene specificato il suo nome assoluto (ad esempio </a:t>
            </a:r>
            <a:r>
              <a:rPr lang="it-IT" sz="2400" dirty="0" err="1"/>
              <a:t>java.util.Scanner</a:t>
            </a:r>
            <a:r>
              <a:rPr lang="it-IT" sz="2400" dirty="0"/>
              <a:t>)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92697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93E20B-D7DF-FE4E-65FF-43396AAD9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71400"/>
            <a:ext cx="7543800" cy="1295400"/>
          </a:xfrm>
        </p:spPr>
        <p:txBody>
          <a:bodyPr/>
          <a:lstStyle/>
          <a:p>
            <a:r>
              <a:rPr lang="it-IT"/>
              <a:t>Package e visibilità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B2F2162-4E0D-43D6-0349-1F69C2F86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411662"/>
          </a:xfrm>
        </p:spPr>
        <p:txBody>
          <a:bodyPr/>
          <a:lstStyle/>
          <a:p>
            <a:r>
              <a:rPr lang="it-IT"/>
              <a:t>in Java esiste la </a:t>
            </a:r>
            <a:r>
              <a:rPr lang="it-IT" b="1">
                <a:solidFill>
                  <a:srgbClr val="FF0000"/>
                </a:solidFill>
              </a:rPr>
              <a:t>visibilità package:</a:t>
            </a:r>
          </a:p>
          <a:p>
            <a:pPr lvl="1"/>
            <a:r>
              <a:rPr lang="it-IT">
                <a:solidFill>
                  <a:srgbClr val="FF0000"/>
                </a:solidFill>
              </a:rPr>
              <a:t>di default, una classe può essere utilizzata solo da altre classi del suo stesso package</a:t>
            </a:r>
            <a:r>
              <a:rPr lang="it-IT"/>
              <a:t>.</a:t>
            </a:r>
          </a:p>
          <a:p>
            <a:pPr lvl="1"/>
            <a:r>
              <a:rPr lang="it-IT"/>
              <a:t>classi definite in </a:t>
            </a:r>
            <a:r>
              <a:rPr lang="it-IT" i="1"/>
              <a:t>altri </a:t>
            </a:r>
            <a:r>
              <a:rPr lang="it-IT"/>
              <a:t>package, non possono accedere a dati e metodi del package. Tuttavia è possibile dire che alcune classi possono essere visibili all’esterno: public.</a:t>
            </a:r>
          </a:p>
          <a:p>
            <a:pPr lvl="1"/>
            <a:r>
              <a:rPr lang="it-IT"/>
              <a:t>Non è possibile definire una classe visibile in un solo file, la visibilità è a livello di package.</a:t>
            </a:r>
          </a:p>
          <a:p>
            <a:r>
              <a:rPr lang="it-IT"/>
              <a:t>NOTA: Il file in Java NON definisce un ambiente di visibilità come in C/C++</a:t>
            </a:r>
          </a:p>
        </p:txBody>
      </p:sp>
    </p:spTree>
    <p:extLst>
      <p:ext uri="{BB962C8B-B14F-4D97-AF65-F5344CB8AC3E}">
        <p14:creationId xmlns:p14="http://schemas.microsoft.com/office/powerpoint/2010/main" val="2084726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891109-C69A-B4B4-3653-60F230399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Riepilogo modificatori in Java</a:t>
            </a:r>
          </a:p>
        </p:txBody>
      </p:sp>
      <p:pic>
        <p:nvPicPr>
          <p:cNvPr id="5" name="Immagine 4" descr="Immagine che contiene testo, schermata, numero, Carattere&#10;&#10;Descrizione generata automaticamente">
            <a:extLst>
              <a:ext uri="{FF2B5EF4-FFF2-40B4-BE49-F238E27FC236}">
                <a16:creationId xmlns:a16="http://schemas.microsoft.com/office/drawing/2014/main" id="{4EA0F504-4B48-1830-9C2F-38EAD79CF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31" y="1718261"/>
            <a:ext cx="8914138" cy="445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96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870AFF-44E7-0F22-7686-25BB91A11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15416"/>
            <a:ext cx="7543800" cy="1295400"/>
          </a:xfrm>
        </p:spPr>
        <p:txBody>
          <a:bodyPr/>
          <a:lstStyle/>
          <a:p>
            <a:r>
              <a:rPr lang="it-IT"/>
              <a:t>Package di Java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3B8135A-F464-5B96-0875-C08B0829C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684" y="1484784"/>
            <a:ext cx="8229600" cy="4411662"/>
          </a:xfrm>
        </p:spPr>
        <p:txBody>
          <a:bodyPr/>
          <a:lstStyle/>
          <a:p>
            <a:pPr marL="0" indent="0">
              <a:buNone/>
            </a:pPr>
            <a:r>
              <a:rPr lang="it-IT" sz="2800"/>
              <a:t>I package che iniziano con </a:t>
            </a:r>
            <a:r>
              <a:rPr lang="it-IT" sz="2800" b="1"/>
              <a:t>java. </a:t>
            </a:r>
            <a:r>
              <a:rPr lang="it-IT" sz="2800"/>
              <a:t>contengono classi che fanno parte delle Java API.  Alcuni tra i principali package: </a:t>
            </a:r>
          </a:p>
          <a:p>
            <a:r>
              <a:rPr lang="it-IT" sz="2400" b="1" err="1"/>
              <a:t>lang</a:t>
            </a:r>
            <a:r>
              <a:rPr lang="it-IT" sz="2400"/>
              <a:t>: funzioni comuni del linguaggio </a:t>
            </a:r>
          </a:p>
          <a:p>
            <a:r>
              <a:rPr lang="it-IT" sz="2400" b="1" err="1"/>
              <a:t>util</a:t>
            </a:r>
            <a:r>
              <a:rPr lang="it-IT" sz="2400"/>
              <a:t>: altre funzioni di servizio </a:t>
            </a:r>
          </a:p>
          <a:p>
            <a:r>
              <a:rPr lang="it-IT" sz="2400" b="1"/>
              <a:t>io</a:t>
            </a:r>
            <a:r>
              <a:rPr lang="it-IT" sz="2400"/>
              <a:t>: input/output </a:t>
            </a:r>
          </a:p>
          <a:p>
            <a:r>
              <a:rPr lang="it-IT" sz="2400" b="1"/>
              <a:t>text</a:t>
            </a:r>
            <a:r>
              <a:rPr lang="it-IT" sz="2400"/>
              <a:t>: formattazione testi </a:t>
            </a:r>
          </a:p>
          <a:p>
            <a:r>
              <a:rPr lang="it-IT" sz="2400" b="1" err="1"/>
              <a:t>awt</a:t>
            </a:r>
            <a:r>
              <a:rPr lang="it-IT" sz="2400" b="1"/>
              <a:t>, </a:t>
            </a:r>
            <a:r>
              <a:rPr lang="it-IT" sz="2400" b="1" err="1"/>
              <a:t>javax.swing</a:t>
            </a:r>
            <a:r>
              <a:rPr lang="it-IT" sz="2400"/>
              <a:t>: grafica, interfacce grafiche </a:t>
            </a:r>
          </a:p>
          <a:p>
            <a:r>
              <a:rPr lang="it-IT" sz="2400" b="1" err="1"/>
              <a:t>awt.event</a:t>
            </a:r>
            <a:r>
              <a:rPr lang="it-IT" sz="2400"/>
              <a:t>: gestione eventi </a:t>
            </a:r>
          </a:p>
          <a:p>
            <a:r>
              <a:rPr lang="it-IT" sz="2400" b="1"/>
              <a:t>applet</a:t>
            </a:r>
            <a:r>
              <a:rPr lang="it-IT" sz="2400"/>
              <a:t>: programmi da eseguire in un browser </a:t>
            </a:r>
          </a:p>
          <a:p>
            <a:r>
              <a:rPr lang="it-IT" sz="2400" b="1"/>
              <a:t>net</a:t>
            </a:r>
            <a:r>
              <a:rPr lang="it-IT" sz="2400"/>
              <a:t>: gestione di rete</a:t>
            </a:r>
          </a:p>
        </p:txBody>
      </p:sp>
    </p:spTree>
    <p:extLst>
      <p:ext uri="{BB962C8B-B14F-4D97-AF65-F5344CB8AC3E}">
        <p14:creationId xmlns:p14="http://schemas.microsoft.com/office/powerpoint/2010/main" val="3095198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8FC030-3477-4CB5-5052-842DE56B0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Il package </a:t>
            </a:r>
            <a:r>
              <a:rPr lang="it-IT" b="0" i="1" err="1"/>
              <a:t>java.lang</a:t>
            </a:r>
            <a:endParaRPr lang="it-IT" b="0" i="1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AC91B3-6121-694F-BE2F-B7A4100C4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Il nucleo centrale dal linguaggio Java è definito nel package </a:t>
            </a:r>
            <a:r>
              <a:rPr lang="it-IT" err="1"/>
              <a:t>java.lang</a:t>
            </a:r>
            <a:endParaRPr lang="it-IT"/>
          </a:p>
          <a:p>
            <a:r>
              <a:rPr lang="it-IT"/>
              <a:t>È sempre importato automaticamente:</a:t>
            </a:r>
          </a:p>
          <a:p>
            <a:pPr marL="0" indent="0">
              <a:buNone/>
            </a:pPr>
            <a:r>
              <a:rPr lang="it-IT"/>
              <a:t>   import </a:t>
            </a:r>
            <a:r>
              <a:rPr lang="it-IT" err="1"/>
              <a:t>java.lang</a:t>
            </a:r>
            <a:r>
              <a:rPr lang="it-IT"/>
              <a:t>.* è sottintesa </a:t>
            </a:r>
          </a:p>
          <a:p>
            <a:r>
              <a:rPr lang="it-IT"/>
              <a:t>Definisce i tipi primitivi e parte della classi di sistema</a:t>
            </a:r>
          </a:p>
          <a:p>
            <a:r>
              <a:rPr lang="it-IT"/>
              <a:t>Molte altre classi standard sono definite altrove: </a:t>
            </a:r>
            <a:r>
              <a:rPr lang="it-IT" err="1"/>
              <a:t>java.awt</a:t>
            </a:r>
            <a:r>
              <a:rPr lang="it-IT"/>
              <a:t>, </a:t>
            </a:r>
            <a:r>
              <a:rPr lang="it-IT" err="1"/>
              <a:t>java.util</a:t>
            </a:r>
            <a:r>
              <a:rPr lang="it-IT"/>
              <a:t>, </a:t>
            </a:r>
            <a:r>
              <a:rPr lang="it-IT" err="1"/>
              <a:t>java.io</a:t>
            </a:r>
            <a:r>
              <a:rPr lang="it-IT"/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2743103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DCB421-3055-B4DE-4989-BA94B9DAB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Riferimenti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5B64D3-990B-5BF0-F32D-B74C92E1B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>
                <a:cs typeface="Arial"/>
              </a:rPr>
              <a:t>Programmare in Java: §2.5.1, §3.2.5, §6.2, §6.8, </a:t>
            </a:r>
          </a:p>
          <a:p>
            <a:r>
              <a:rPr lang="it-IT" dirty="0" err="1">
                <a:cs typeface="Arial"/>
              </a:rPr>
              <a:t>Savitch</a:t>
            </a:r>
            <a:r>
              <a:rPr lang="it-IT">
                <a:cs typeface="Arial"/>
              </a:rPr>
              <a:t>: §9.8</a:t>
            </a:r>
            <a:endParaRPr lang="it-IT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406494"/>
      </p:ext>
    </p:extLst>
  </p:cSld>
  <p:clrMapOvr>
    <a:masterClrMapping/>
  </p:clrMapOvr>
</p:sld>
</file>

<file path=ppt/theme/theme1.xml><?xml version="1.0" encoding="utf-8"?>
<a:theme xmlns:a="http://schemas.openxmlformats.org/drawingml/2006/main" name="Rete">
  <a:themeElements>
    <a:clrScheme name="Rete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Re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Rete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te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075877EE1B70A4284EAAAD4F5DAB5A8" ma:contentTypeVersion="3" ma:contentTypeDescription="Creare un nuovo documento." ma:contentTypeScope="" ma:versionID="a7e46084dffff10b7d5d732bbf6e018f">
  <xsd:schema xmlns:xsd="http://www.w3.org/2001/XMLSchema" xmlns:xs="http://www.w3.org/2001/XMLSchema" xmlns:p="http://schemas.microsoft.com/office/2006/metadata/properties" xmlns:ns2="26b08820-12d9-4581-8254-4e993db2160e" targetNamespace="http://schemas.microsoft.com/office/2006/metadata/properties" ma:root="true" ma:fieldsID="34eb380c37454f35a11a7abcb447a341" ns2:_="">
    <xsd:import namespace="26b08820-12d9-4581-8254-4e993db216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b08820-12d9-4581-8254-4e993db216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45E600A-F66F-48C8-A0B2-8921633ABA0D}"/>
</file>

<file path=customXml/itemProps2.xml><?xml version="1.0" encoding="utf-8"?>
<ds:datastoreItem xmlns:ds="http://schemas.openxmlformats.org/officeDocument/2006/customXml" ds:itemID="{A911D9F3-0829-48FD-8569-E776FC11939B}">
  <ds:schemaRefs>
    <ds:schemaRef ds:uri="17cb46fe-fb09-4fdf-a472-4e2c88d31c8c"/>
    <ds:schemaRef ds:uri="35be80a6-5618-4845-bacd-cf0098900a47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C0702D8-C9D7-401D-8C4C-1EA2BA0A1B1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795</TotalTime>
  <Words>1198</Words>
  <Application>Microsoft Macintosh PowerPoint</Application>
  <PresentationFormat>Presentazione su schermo (4:3)</PresentationFormat>
  <Paragraphs>106</Paragraphs>
  <Slides>19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6" baseType="lpstr">
      <vt:lpstr>Arial</vt:lpstr>
      <vt:lpstr>Calibri</vt:lpstr>
      <vt:lpstr>Menlo</vt:lpstr>
      <vt:lpstr>Times New Roman</vt:lpstr>
      <vt:lpstr>Verdana</vt:lpstr>
      <vt:lpstr>Wingdings</vt:lpstr>
      <vt:lpstr>Rete</vt:lpstr>
      <vt:lpstr>  Corso di Programmazione</vt:lpstr>
      <vt:lpstr>Moduli in Java</vt:lpstr>
      <vt:lpstr>Il concetto di package</vt:lpstr>
      <vt:lpstr>Dichiarazione di package</vt:lpstr>
      <vt:lpstr>Uso dei package per la gestione di sistemi di grandi dimensioni</vt:lpstr>
      <vt:lpstr>Uso dei package per la gestione di sistemi di grandi dimensioni</vt:lpstr>
      <vt:lpstr>Uso dei package per la gestione di sistemi di grandi dimensioni</vt:lpstr>
      <vt:lpstr>Nome assoluto (qualificato) di una classe</vt:lpstr>
      <vt:lpstr>Compilazione ed esecuzione</vt:lpstr>
      <vt:lpstr>Package di default</vt:lpstr>
      <vt:lpstr>Sistema dei nomi dei package</vt:lpstr>
      <vt:lpstr>Importazione dei nomi </vt:lpstr>
      <vt:lpstr>Dichiarazione import</vt:lpstr>
      <vt:lpstr>Quando può essere omessa l’importazione dei nomi?</vt:lpstr>
      <vt:lpstr>Package e visibilità</vt:lpstr>
      <vt:lpstr>Riepilogo modificatori in Java</vt:lpstr>
      <vt:lpstr>Package di Java</vt:lpstr>
      <vt:lpstr>Il package java.lang</vt:lpstr>
      <vt:lpstr>Riferimenti</vt:lpstr>
    </vt:vector>
  </TitlesOfParts>
  <Company>la pulce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Nessun titolo diapositiva</dc:title>
  <dc:creator>domenique</dc:creator>
  <cp:lastModifiedBy>DOMENICO AMALFITANO</cp:lastModifiedBy>
  <cp:revision>15</cp:revision>
  <cp:lastPrinted>1999-11-19T14:12:44Z</cp:lastPrinted>
  <dcterms:created xsi:type="dcterms:W3CDTF">1999-10-30T10:20:48Z</dcterms:created>
  <dcterms:modified xsi:type="dcterms:W3CDTF">2025-04-30T06:14:30Z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2023-11-30T08:44:01Z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c4a52107-c177-479a-bcd7-dbf9d4e988dd</vt:lpwstr>
  </property>
  <property fmtid="{D5CDD505-2E9C-101B-9397-08002B2CF9AE}" pid="8" name="MSIP_Label_2ad0b24d-6422-44b0-b3de-abb3a9e8c81a_ContentBits">
    <vt:lpwstr>0</vt:lpwstr>
  </property>
  <property fmtid="{D5CDD505-2E9C-101B-9397-08002B2CF9AE}" pid="9" name="ContentTypeId">
    <vt:lpwstr>0x010100C075877EE1B70A4284EAAAD4F5DAB5A8</vt:lpwstr>
  </property>
  <property fmtid="{D5CDD505-2E9C-101B-9397-08002B2CF9AE}" pid="10" name="MediaServiceImageTags">
    <vt:lpwstr/>
  </property>
</Properties>
</file>