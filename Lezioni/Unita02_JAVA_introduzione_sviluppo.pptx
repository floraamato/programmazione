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4" r:id="rId4"/>
  </p:sldMasterIdLst>
  <p:notesMasterIdLst>
    <p:notesMasterId r:id="rId33"/>
  </p:notesMasterIdLst>
  <p:handoutMasterIdLst>
    <p:handoutMasterId r:id="rId34"/>
  </p:handoutMasterIdLst>
  <p:sldIdLst>
    <p:sldId id="265" r:id="rId5"/>
    <p:sldId id="263" r:id="rId6"/>
    <p:sldId id="293" r:id="rId7"/>
    <p:sldId id="351" r:id="rId8"/>
    <p:sldId id="348" r:id="rId9"/>
    <p:sldId id="311" r:id="rId10"/>
    <p:sldId id="307" r:id="rId11"/>
    <p:sldId id="319" r:id="rId12"/>
    <p:sldId id="320" r:id="rId13"/>
    <p:sldId id="321" r:id="rId14"/>
    <p:sldId id="322" r:id="rId15"/>
    <p:sldId id="323" r:id="rId16"/>
    <p:sldId id="324" r:id="rId17"/>
    <p:sldId id="357" r:id="rId18"/>
    <p:sldId id="353" r:id="rId19"/>
    <p:sldId id="358" r:id="rId20"/>
    <p:sldId id="326" r:id="rId21"/>
    <p:sldId id="346" r:id="rId22"/>
    <p:sldId id="356" r:id="rId23"/>
    <p:sldId id="298" r:id="rId24"/>
    <p:sldId id="359" r:id="rId25"/>
    <p:sldId id="354" r:id="rId26"/>
    <p:sldId id="345" r:id="rId27"/>
    <p:sldId id="294" r:id="rId28"/>
    <p:sldId id="295" r:id="rId29"/>
    <p:sldId id="296" r:id="rId30"/>
    <p:sldId id="297" r:id="rId31"/>
    <p:sldId id="355" r:id="rId32"/>
  </p:sldIdLst>
  <p:sldSz cx="9144000" cy="6858000" type="screen4x3"/>
  <p:notesSz cx="7099300" cy="10234613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44" autoAdjust="0"/>
    <p:restoredTop sz="94656"/>
  </p:normalViewPr>
  <p:slideViewPr>
    <p:cSldViewPr>
      <p:cViewPr varScale="1">
        <p:scale>
          <a:sx n="107" d="100"/>
          <a:sy n="107" d="100"/>
        </p:scale>
        <p:origin x="149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9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D207D78-5015-8475-54C2-0A9B46ADAA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451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t" anchorCtr="0" compatLnSpc="1">
            <a:prstTxWarp prst="textNoShape">
              <a:avLst/>
            </a:prstTxWarp>
          </a:bodyPr>
          <a:lstStyle>
            <a:lvl1pPr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9822A352-A7D7-027B-AD15-9DBC932BD7A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9238" y="0"/>
            <a:ext cx="300355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t" anchorCtr="0" compatLnSpc="1">
            <a:prstTxWarp prst="textNoShape">
              <a:avLst/>
            </a:prstTxWarp>
          </a:bodyPr>
          <a:lstStyle>
            <a:lvl1pPr algn="r"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2921BFE9-C9D8-1C38-3838-EC1FE748462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8451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b" anchorCtr="0" compatLnSpc="1">
            <a:prstTxWarp prst="textNoShape">
              <a:avLst/>
            </a:prstTxWarp>
          </a:bodyPr>
          <a:lstStyle>
            <a:lvl1pPr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214275AA-9546-0FE4-B537-4855F5E1438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9238" y="9721850"/>
            <a:ext cx="300355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b" anchorCtr="0" compatLnSpc="1">
            <a:prstTxWarp prst="textNoShape">
              <a:avLst/>
            </a:prstTxWarp>
          </a:bodyPr>
          <a:lstStyle>
            <a:lvl1pPr algn="r" defTabSz="949325" eaLnBrk="0" hangingPunct="0">
              <a:defRPr sz="1200">
                <a:latin typeface="Verdana" panose="020B0604030504040204" pitchFamily="34" charset="0"/>
              </a:defRPr>
            </a:lvl1pPr>
          </a:lstStyle>
          <a:p>
            <a:fld id="{2993C5AB-CE10-C94B-82A8-3847F79289AD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E33C1-1FAE-ED41-A3D6-CD02F3B367D8}" type="datetimeFigureOut">
              <a:rPr lang="it-IT" smtClean="0"/>
              <a:t>28/02/25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31BA5-3816-174C-B7A9-A8BBEA3C2A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2047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3A92D85-8CAA-49AF-BE8D-CEECBCD97772}" type="slidenum">
              <a:rPr lang="en-US" altLang="it-IT">
                <a:latin typeface="Times New Roman" pitchFamily="18" charset="0"/>
              </a:rPr>
              <a:pPr/>
              <a:t>1</a:t>
            </a:fld>
            <a:endParaRPr lang="en-US" altLang="it-IT">
              <a:latin typeface="Times New Roman" pitchFamily="18" charset="0"/>
            </a:endParaRPr>
          </a:p>
        </p:txBody>
      </p:sp>
      <p:sp>
        <p:nvSpPr>
          <p:cNvPr id="14339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it-IT" sz="1200"/>
              <a:t>Università di Napoli Federico II - Facoltà di Ingegneria - Corso di Laurea in Ingegneria Informatica</a:t>
            </a:r>
          </a:p>
        </p:txBody>
      </p:sp>
      <p:sp>
        <p:nvSpPr>
          <p:cNvPr id="143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EDFB8E36-2692-9471-EECA-AA61B7A6D7F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0260E3BE-B81E-7C4D-1F34-F0D3085ECB86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4" name="Oval 9">
              <a:extLst>
                <a:ext uri="{FF2B5EF4-FFF2-40B4-BE49-F238E27FC236}">
                  <a16:creationId xmlns:a16="http://schemas.microsoft.com/office/drawing/2014/main" id="{C4259D16-DEFD-027C-00D8-3A2E8BF1C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5" name="Oval 10">
              <a:extLst>
                <a:ext uri="{FF2B5EF4-FFF2-40B4-BE49-F238E27FC236}">
                  <a16:creationId xmlns:a16="http://schemas.microsoft.com/office/drawing/2014/main" id="{AD783EDC-DD0A-A35A-1F67-0271D9CF4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6" name="Oval 11">
              <a:extLst>
                <a:ext uri="{FF2B5EF4-FFF2-40B4-BE49-F238E27FC236}">
                  <a16:creationId xmlns:a16="http://schemas.microsoft.com/office/drawing/2014/main" id="{B8DD6095-01B2-14AB-C09E-5AC7F8FCE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7" name="Oval 12">
              <a:extLst>
                <a:ext uri="{FF2B5EF4-FFF2-40B4-BE49-F238E27FC236}">
                  <a16:creationId xmlns:a16="http://schemas.microsoft.com/office/drawing/2014/main" id="{A8CC8D34-A6F6-6FBC-E306-651CD229A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542DB62A-02AF-010E-6938-3AEE62E6D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9" name="Oval 14">
              <a:extLst>
                <a:ext uri="{FF2B5EF4-FFF2-40B4-BE49-F238E27FC236}">
                  <a16:creationId xmlns:a16="http://schemas.microsoft.com/office/drawing/2014/main" id="{AE010F5C-5AF7-E68D-CF2E-CA01AC2BA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0" name="Oval 15">
              <a:extLst>
                <a:ext uri="{FF2B5EF4-FFF2-40B4-BE49-F238E27FC236}">
                  <a16:creationId xmlns:a16="http://schemas.microsoft.com/office/drawing/2014/main" id="{8C779B22-3271-BC34-3025-A5D63D14E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1" name="Oval 16">
              <a:extLst>
                <a:ext uri="{FF2B5EF4-FFF2-40B4-BE49-F238E27FC236}">
                  <a16:creationId xmlns:a16="http://schemas.microsoft.com/office/drawing/2014/main" id="{99FCA170-A778-8F8B-1728-AF6FD4FBE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" name="Oval 17">
              <a:extLst>
                <a:ext uri="{FF2B5EF4-FFF2-40B4-BE49-F238E27FC236}">
                  <a16:creationId xmlns:a16="http://schemas.microsoft.com/office/drawing/2014/main" id="{BB691FF7-E84E-84B9-5AB5-E565A5255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3" name="Oval 18">
              <a:extLst>
                <a:ext uri="{FF2B5EF4-FFF2-40B4-BE49-F238E27FC236}">
                  <a16:creationId xmlns:a16="http://schemas.microsoft.com/office/drawing/2014/main" id="{E57164C9-E297-D2B3-8152-40E66F162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4" name="Oval 19">
              <a:extLst>
                <a:ext uri="{FF2B5EF4-FFF2-40B4-BE49-F238E27FC236}">
                  <a16:creationId xmlns:a16="http://schemas.microsoft.com/office/drawing/2014/main" id="{F0FEB2EE-0ED2-85C2-85F1-83A1BB6E8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5" name="Oval 20">
              <a:extLst>
                <a:ext uri="{FF2B5EF4-FFF2-40B4-BE49-F238E27FC236}">
                  <a16:creationId xmlns:a16="http://schemas.microsoft.com/office/drawing/2014/main" id="{49A3026D-6EB7-1E81-AEF6-4979F5EC9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6" name="Oval 21">
              <a:extLst>
                <a:ext uri="{FF2B5EF4-FFF2-40B4-BE49-F238E27FC236}">
                  <a16:creationId xmlns:a16="http://schemas.microsoft.com/office/drawing/2014/main" id="{92F59D63-53F1-080B-7142-39B65BAE0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7" name="Oval 22">
              <a:extLst>
                <a:ext uri="{FF2B5EF4-FFF2-40B4-BE49-F238E27FC236}">
                  <a16:creationId xmlns:a16="http://schemas.microsoft.com/office/drawing/2014/main" id="{2F054441-EC9C-B07B-75BB-2D08F53AA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8" name="Oval 23">
              <a:extLst>
                <a:ext uri="{FF2B5EF4-FFF2-40B4-BE49-F238E27FC236}">
                  <a16:creationId xmlns:a16="http://schemas.microsoft.com/office/drawing/2014/main" id="{E3B97A58-18DB-0DF0-CA1A-31169D30A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9" name="Oval 24">
              <a:extLst>
                <a:ext uri="{FF2B5EF4-FFF2-40B4-BE49-F238E27FC236}">
                  <a16:creationId xmlns:a16="http://schemas.microsoft.com/office/drawing/2014/main" id="{888DF6CF-3E0A-8611-1A78-1D288081E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0" name="Oval 25">
              <a:extLst>
                <a:ext uri="{FF2B5EF4-FFF2-40B4-BE49-F238E27FC236}">
                  <a16:creationId xmlns:a16="http://schemas.microsoft.com/office/drawing/2014/main" id="{C32031F4-1263-B0FB-2B55-5D4BD1074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1" name="Oval 26">
              <a:extLst>
                <a:ext uri="{FF2B5EF4-FFF2-40B4-BE49-F238E27FC236}">
                  <a16:creationId xmlns:a16="http://schemas.microsoft.com/office/drawing/2014/main" id="{76A419EE-5229-9FE5-E748-520534AEE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2" name="Oval 27">
              <a:extLst>
                <a:ext uri="{FF2B5EF4-FFF2-40B4-BE49-F238E27FC236}">
                  <a16:creationId xmlns:a16="http://schemas.microsoft.com/office/drawing/2014/main" id="{9627FAA7-CEF8-A621-0C1F-570876CE7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3" name="Oval 28">
              <a:extLst>
                <a:ext uri="{FF2B5EF4-FFF2-40B4-BE49-F238E27FC236}">
                  <a16:creationId xmlns:a16="http://schemas.microsoft.com/office/drawing/2014/main" id="{1EDA2367-81CD-DEAC-7E02-B1C0519A2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4" name="Oval 29">
              <a:extLst>
                <a:ext uri="{FF2B5EF4-FFF2-40B4-BE49-F238E27FC236}">
                  <a16:creationId xmlns:a16="http://schemas.microsoft.com/office/drawing/2014/main" id="{75DCDEE2-83B3-536E-6123-004E0BFA8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5" name="Oval 30">
              <a:extLst>
                <a:ext uri="{FF2B5EF4-FFF2-40B4-BE49-F238E27FC236}">
                  <a16:creationId xmlns:a16="http://schemas.microsoft.com/office/drawing/2014/main" id="{B9ADC3D3-B430-3D9A-7AF0-EBB2F85C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6" name="Oval 31">
              <a:extLst>
                <a:ext uri="{FF2B5EF4-FFF2-40B4-BE49-F238E27FC236}">
                  <a16:creationId xmlns:a16="http://schemas.microsoft.com/office/drawing/2014/main" id="{71AE266B-6D1B-166C-6474-3A27D5FCA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7" name="Oval 32">
              <a:extLst>
                <a:ext uri="{FF2B5EF4-FFF2-40B4-BE49-F238E27FC236}">
                  <a16:creationId xmlns:a16="http://schemas.microsoft.com/office/drawing/2014/main" id="{BD55B242-AB5F-2401-9701-41ACCCEBD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8" name="Oval 33">
              <a:extLst>
                <a:ext uri="{FF2B5EF4-FFF2-40B4-BE49-F238E27FC236}">
                  <a16:creationId xmlns:a16="http://schemas.microsoft.com/office/drawing/2014/main" id="{9DB4E7FD-8EA2-A662-9B6D-97427264B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9" name="Oval 34">
              <a:extLst>
                <a:ext uri="{FF2B5EF4-FFF2-40B4-BE49-F238E27FC236}">
                  <a16:creationId xmlns:a16="http://schemas.microsoft.com/office/drawing/2014/main" id="{7EE16CBA-D536-A892-BE2D-F1B598088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0" name="Oval 35">
              <a:extLst>
                <a:ext uri="{FF2B5EF4-FFF2-40B4-BE49-F238E27FC236}">
                  <a16:creationId xmlns:a16="http://schemas.microsoft.com/office/drawing/2014/main" id="{DB4E9432-8633-35E7-4E11-437B5B28E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1" name="Oval 36">
              <a:extLst>
                <a:ext uri="{FF2B5EF4-FFF2-40B4-BE49-F238E27FC236}">
                  <a16:creationId xmlns:a16="http://schemas.microsoft.com/office/drawing/2014/main" id="{CD2BB0AB-815A-5DDA-5E4B-6789CA42F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2" name="Oval 37">
              <a:extLst>
                <a:ext uri="{FF2B5EF4-FFF2-40B4-BE49-F238E27FC236}">
                  <a16:creationId xmlns:a16="http://schemas.microsoft.com/office/drawing/2014/main" id="{A6EA0308-12B1-3EB3-3907-EF3F7AAC3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3" name="Oval 38">
              <a:extLst>
                <a:ext uri="{FF2B5EF4-FFF2-40B4-BE49-F238E27FC236}">
                  <a16:creationId xmlns:a16="http://schemas.microsoft.com/office/drawing/2014/main" id="{AA8F3A92-6AB1-2F62-4BBD-D41DC8918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4" name="Oval 39">
              <a:extLst>
                <a:ext uri="{FF2B5EF4-FFF2-40B4-BE49-F238E27FC236}">
                  <a16:creationId xmlns:a16="http://schemas.microsoft.com/office/drawing/2014/main" id="{03A31CF4-50B7-629F-B52C-50EA5006A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</p:grpSp>
      <p:sp>
        <p:nvSpPr>
          <p:cNvPr id="35" name="Line 40">
            <a:extLst>
              <a:ext uri="{FF2B5EF4-FFF2-40B4-BE49-F238E27FC236}">
                <a16:creationId xmlns:a16="http://schemas.microsoft.com/office/drawing/2014/main" id="{8B7EAAE9-3BF6-0C31-F5C4-2C0F97DAA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Fare clic per modificare lo stile del titolo</a:t>
            </a:r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Fare clic per modificare lo stile del sottotitolo dello schema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52FE5966-D775-3B11-7827-48722D2473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6DEA5970-F6FB-6FA9-E48E-0B51FBC596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BA53554F-80D1-21F4-9987-92A6A12374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259C2B-F7FC-894A-A5CE-3A355566020C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6501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BFD8F56-330C-0DFF-7EA5-ECA50C8680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A3548D-F7D7-5837-C8A5-0A9C5809FF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637D6A2-E719-6297-E26C-3BF9C2C24E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77A2BB-1426-7940-AF0E-EE4E29273AE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31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F73A563-6027-417E-CA97-E19B258A02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E5D0DD-E42A-76B8-C2FB-2D2A9B01AC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53B55BA-0823-B634-AC39-EEEA7AF447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EDBACB-E365-024E-8DDD-EE008340169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9239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3F66DE-EDD0-F0F2-8577-76FAE75902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192FEB-B604-47A1-0075-C41AD53180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83D859C-9F71-8DF9-FBB4-1C0445764B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2A83B4-F1DF-4E4F-AFF4-9C3CF4F2EE23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7803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7D42D32-0621-8886-9371-F7120B9BF0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8B44152-4BA3-7266-A04B-D335016E2B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B95D3AC-EBB1-FA5C-DF4C-D37CFABE54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9AD412-AFBC-C94F-B6D8-900608A6D289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515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CE6213C-10B3-BEF7-3A61-E42ED37B61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4E22DD4-22EB-98B3-FE75-208718E635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E96E866-9E98-E4BA-F841-51305A0EE8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D09F61-55F9-6F4A-8175-A32FE726ADBB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6636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9441F79-35C1-AFF2-0708-F85EC7AD73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9000A7E-D812-EDF3-0364-49AD895A5C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CB2BA7C5-B5D6-6375-8DB4-0A1D52B9B2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4D88D2-B4F4-C54E-A11C-7867C43B62F9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048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E1E842-7E67-81CD-A5D3-D9B08709E2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C25817-0234-9637-49C9-4232ADCFA6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08BFAF4-2AF6-18D4-2785-20165B45BC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907342-6BA4-894D-B109-9E49F17A1124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597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CFEF3A-02C8-DD78-F338-9F2A34E15C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638AD8-6FF8-D888-FB09-9C37E16817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23D5E3C-2ACF-28C6-DBA0-AFB717CF25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1AC580-8BE5-F743-8E8E-F69DF682E6D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530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C3BF3F4-009A-DDD1-8C88-42798690F8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7AAA62B-33A2-4415-863C-046DB60ABB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43B5BA7-12E7-1A57-C171-35598BC01B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73340D-9F62-2745-A3EF-6420F06DF7CE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129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72EC48A-2092-7B54-D2AA-889BA9C6A2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29B5314-B07B-4F0A-2AD8-CB77E4295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AC837E0-0F2D-0A1C-0E2C-402978B1AD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CC9615-8AFF-D943-AC5A-34CC66FE437F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5795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Line 2">
            <a:extLst>
              <a:ext uri="{FF2B5EF4-FFF2-40B4-BE49-F238E27FC236}">
                <a16:creationId xmlns:a16="http://schemas.microsoft.com/office/drawing/2014/main" id="{540C9EE9-F88F-0FCE-D63A-BD6403DA705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D8BF64B-CABB-23F6-B464-30E708F6B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lo stile del titolo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1757F452-E11B-F73F-9D31-9E64F7BCF0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gli stili del testo dello schema</a:t>
            </a:r>
          </a:p>
          <a:p>
            <a:pPr lvl="1"/>
            <a:r>
              <a:rPr lang="en-US" altLang="en-US"/>
              <a:t>Secondo livello</a:t>
            </a:r>
          </a:p>
          <a:p>
            <a:pPr lvl="2"/>
            <a:r>
              <a:rPr lang="en-US" altLang="en-US"/>
              <a:t>Terzo livello</a:t>
            </a:r>
          </a:p>
          <a:p>
            <a:pPr lvl="3"/>
            <a:r>
              <a:rPr lang="en-US" altLang="en-US"/>
              <a:t>Quarto livello</a:t>
            </a:r>
          </a:p>
          <a:p>
            <a:pPr lvl="4"/>
            <a:r>
              <a:rPr lang="en-US" altLang="en-US"/>
              <a:t>Quinto livello</a:t>
            </a:r>
          </a:p>
        </p:txBody>
      </p:sp>
      <p:sp>
        <p:nvSpPr>
          <p:cNvPr id="126981" name="Rectangle 5">
            <a:extLst>
              <a:ext uri="{FF2B5EF4-FFF2-40B4-BE49-F238E27FC236}">
                <a16:creationId xmlns:a16="http://schemas.microsoft.com/office/drawing/2014/main" id="{E6E10625-B6F2-4C53-9CCC-6419A01A34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6982" name="Rectangle 6">
            <a:extLst>
              <a:ext uri="{FF2B5EF4-FFF2-40B4-BE49-F238E27FC236}">
                <a16:creationId xmlns:a16="http://schemas.microsoft.com/office/drawing/2014/main" id="{C7332706-7FFA-54A1-EC44-C94B73721F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6983" name="Rectangle 7">
            <a:extLst>
              <a:ext uri="{FF2B5EF4-FFF2-40B4-BE49-F238E27FC236}">
                <a16:creationId xmlns:a16="http://schemas.microsoft.com/office/drawing/2014/main" id="{0C95B491-8644-1183-0E63-D7A1B6E66B5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BB36E27F-A467-C343-A682-197048FF27E3}" type="slidenum">
              <a:rPr lang="en-US" altLang="en-US"/>
              <a:pPr/>
              <a:t>‹N›</a:t>
            </a:fld>
            <a:endParaRPr lang="en-US" altLang="en-US"/>
          </a:p>
        </p:txBody>
      </p:sp>
      <p:grpSp>
        <p:nvGrpSpPr>
          <p:cNvPr id="5128" name="Group 8">
            <a:extLst>
              <a:ext uri="{FF2B5EF4-FFF2-40B4-BE49-F238E27FC236}">
                <a16:creationId xmlns:a16="http://schemas.microsoft.com/office/drawing/2014/main" id="{87E611C9-A6DF-E642-A92D-7350DE5CB4ED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26985" name="Oval 9">
              <a:extLst>
                <a:ext uri="{FF2B5EF4-FFF2-40B4-BE49-F238E27FC236}">
                  <a16:creationId xmlns:a16="http://schemas.microsoft.com/office/drawing/2014/main" id="{458D5DA2-D63A-BCA2-4131-9337A9F53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6" name="Oval 10">
              <a:extLst>
                <a:ext uri="{FF2B5EF4-FFF2-40B4-BE49-F238E27FC236}">
                  <a16:creationId xmlns:a16="http://schemas.microsoft.com/office/drawing/2014/main" id="{8890EB0F-7369-8915-F4A5-1ABAFF6DF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7" name="Oval 11">
              <a:extLst>
                <a:ext uri="{FF2B5EF4-FFF2-40B4-BE49-F238E27FC236}">
                  <a16:creationId xmlns:a16="http://schemas.microsoft.com/office/drawing/2014/main" id="{E4F63A04-47F0-7C06-3808-CB8141CE7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8" name="Oval 12">
              <a:extLst>
                <a:ext uri="{FF2B5EF4-FFF2-40B4-BE49-F238E27FC236}">
                  <a16:creationId xmlns:a16="http://schemas.microsoft.com/office/drawing/2014/main" id="{CBD03CE4-70F6-E7AF-484F-7B3A19CDC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9" name="Oval 13">
              <a:extLst>
                <a:ext uri="{FF2B5EF4-FFF2-40B4-BE49-F238E27FC236}">
                  <a16:creationId xmlns:a16="http://schemas.microsoft.com/office/drawing/2014/main" id="{122C697E-12A5-96C9-3160-E711DA983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0" name="Oval 14">
              <a:extLst>
                <a:ext uri="{FF2B5EF4-FFF2-40B4-BE49-F238E27FC236}">
                  <a16:creationId xmlns:a16="http://schemas.microsoft.com/office/drawing/2014/main" id="{3582F47B-BA78-75EC-BA11-733D26F13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1" name="Oval 15">
              <a:extLst>
                <a:ext uri="{FF2B5EF4-FFF2-40B4-BE49-F238E27FC236}">
                  <a16:creationId xmlns:a16="http://schemas.microsoft.com/office/drawing/2014/main" id="{E4A13053-C19F-F749-4FC6-0834BB3E1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2" name="Oval 16">
              <a:extLst>
                <a:ext uri="{FF2B5EF4-FFF2-40B4-BE49-F238E27FC236}">
                  <a16:creationId xmlns:a16="http://schemas.microsoft.com/office/drawing/2014/main" id="{F39340F1-2AD8-DD98-83D4-1A092CD31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3" name="Oval 17">
              <a:extLst>
                <a:ext uri="{FF2B5EF4-FFF2-40B4-BE49-F238E27FC236}">
                  <a16:creationId xmlns:a16="http://schemas.microsoft.com/office/drawing/2014/main" id="{B294C5ED-458D-6FC0-9242-727420D4C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4" name="Oval 18">
              <a:extLst>
                <a:ext uri="{FF2B5EF4-FFF2-40B4-BE49-F238E27FC236}">
                  <a16:creationId xmlns:a16="http://schemas.microsoft.com/office/drawing/2014/main" id="{3ADB9F1A-BAEB-E633-420A-C49EEBFDF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5" name="Oval 19">
              <a:extLst>
                <a:ext uri="{FF2B5EF4-FFF2-40B4-BE49-F238E27FC236}">
                  <a16:creationId xmlns:a16="http://schemas.microsoft.com/office/drawing/2014/main" id="{4D7FD144-559C-A9A8-B783-6F3C8C1AD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6" name="Oval 20">
              <a:extLst>
                <a:ext uri="{FF2B5EF4-FFF2-40B4-BE49-F238E27FC236}">
                  <a16:creationId xmlns:a16="http://schemas.microsoft.com/office/drawing/2014/main" id="{598E7249-26AB-193F-D1E8-83E0BB499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7" name="Oval 21">
              <a:extLst>
                <a:ext uri="{FF2B5EF4-FFF2-40B4-BE49-F238E27FC236}">
                  <a16:creationId xmlns:a16="http://schemas.microsoft.com/office/drawing/2014/main" id="{9C12A3DE-C91F-BC4E-628C-84B979154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8" name="Oval 22">
              <a:extLst>
                <a:ext uri="{FF2B5EF4-FFF2-40B4-BE49-F238E27FC236}">
                  <a16:creationId xmlns:a16="http://schemas.microsoft.com/office/drawing/2014/main" id="{8BC5A21A-9F25-DAB9-43EB-B51E736AF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9" name="Oval 23">
              <a:extLst>
                <a:ext uri="{FF2B5EF4-FFF2-40B4-BE49-F238E27FC236}">
                  <a16:creationId xmlns:a16="http://schemas.microsoft.com/office/drawing/2014/main" id="{7F64B40F-951B-2C62-6BCE-9ED069F21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0" name="Oval 24">
              <a:extLst>
                <a:ext uri="{FF2B5EF4-FFF2-40B4-BE49-F238E27FC236}">
                  <a16:creationId xmlns:a16="http://schemas.microsoft.com/office/drawing/2014/main" id="{CA178D50-6275-0362-E00C-1CA73A48C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1" name="Oval 25">
              <a:extLst>
                <a:ext uri="{FF2B5EF4-FFF2-40B4-BE49-F238E27FC236}">
                  <a16:creationId xmlns:a16="http://schemas.microsoft.com/office/drawing/2014/main" id="{281982FD-F23F-8D3A-3E1C-E1DD238A7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2" name="Oval 26">
              <a:extLst>
                <a:ext uri="{FF2B5EF4-FFF2-40B4-BE49-F238E27FC236}">
                  <a16:creationId xmlns:a16="http://schemas.microsoft.com/office/drawing/2014/main" id="{C8D7E381-17EC-2A89-CD07-B648B12E4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3" name="Oval 27">
              <a:extLst>
                <a:ext uri="{FF2B5EF4-FFF2-40B4-BE49-F238E27FC236}">
                  <a16:creationId xmlns:a16="http://schemas.microsoft.com/office/drawing/2014/main" id="{32DD81C6-B5B4-9147-3851-21E281145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4" name="Oval 28">
              <a:extLst>
                <a:ext uri="{FF2B5EF4-FFF2-40B4-BE49-F238E27FC236}">
                  <a16:creationId xmlns:a16="http://schemas.microsoft.com/office/drawing/2014/main" id="{72A66D00-BE9F-69EA-1631-391C47D4A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5" name="Oval 29">
              <a:extLst>
                <a:ext uri="{FF2B5EF4-FFF2-40B4-BE49-F238E27FC236}">
                  <a16:creationId xmlns:a16="http://schemas.microsoft.com/office/drawing/2014/main" id="{4C144CCF-2806-BF73-1213-3BD291D67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6" name="Oval 30">
              <a:extLst>
                <a:ext uri="{FF2B5EF4-FFF2-40B4-BE49-F238E27FC236}">
                  <a16:creationId xmlns:a16="http://schemas.microsoft.com/office/drawing/2014/main" id="{158CC9C8-184C-9D09-DC3D-D6F8628B2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7" name="Oval 31">
              <a:extLst>
                <a:ext uri="{FF2B5EF4-FFF2-40B4-BE49-F238E27FC236}">
                  <a16:creationId xmlns:a16="http://schemas.microsoft.com/office/drawing/2014/main" id="{A2309C93-ECEF-5DD8-56EA-69EB76E34B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8" name="Oval 32">
              <a:extLst>
                <a:ext uri="{FF2B5EF4-FFF2-40B4-BE49-F238E27FC236}">
                  <a16:creationId xmlns:a16="http://schemas.microsoft.com/office/drawing/2014/main" id="{1EE4CEBC-BED7-E548-7FD1-EA407310A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9" name="Oval 33">
              <a:extLst>
                <a:ext uri="{FF2B5EF4-FFF2-40B4-BE49-F238E27FC236}">
                  <a16:creationId xmlns:a16="http://schemas.microsoft.com/office/drawing/2014/main" id="{15ADF64A-190F-BB60-3CCD-4BE3E5B73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0" name="Oval 34">
              <a:extLst>
                <a:ext uri="{FF2B5EF4-FFF2-40B4-BE49-F238E27FC236}">
                  <a16:creationId xmlns:a16="http://schemas.microsoft.com/office/drawing/2014/main" id="{C7D2FB20-9F35-8F71-8BD9-786281D14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1" name="Oval 35">
              <a:extLst>
                <a:ext uri="{FF2B5EF4-FFF2-40B4-BE49-F238E27FC236}">
                  <a16:creationId xmlns:a16="http://schemas.microsoft.com/office/drawing/2014/main" id="{5890642F-1E56-8F36-DBB7-B71269DE7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2" name="Oval 36">
              <a:extLst>
                <a:ext uri="{FF2B5EF4-FFF2-40B4-BE49-F238E27FC236}">
                  <a16:creationId xmlns:a16="http://schemas.microsoft.com/office/drawing/2014/main" id="{5F10B179-9CAF-6B7F-6F27-C4938A33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3" name="Oval 37">
              <a:extLst>
                <a:ext uri="{FF2B5EF4-FFF2-40B4-BE49-F238E27FC236}">
                  <a16:creationId xmlns:a16="http://schemas.microsoft.com/office/drawing/2014/main" id="{DACD2D39-EA14-9019-44C2-236A45B61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4" name="Oval 38">
              <a:extLst>
                <a:ext uri="{FF2B5EF4-FFF2-40B4-BE49-F238E27FC236}">
                  <a16:creationId xmlns:a16="http://schemas.microsoft.com/office/drawing/2014/main" id="{0BE3EBF9-755C-1F41-6924-622E229F3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5" name="Oval 39">
              <a:extLst>
                <a:ext uri="{FF2B5EF4-FFF2-40B4-BE49-F238E27FC236}">
                  <a16:creationId xmlns:a16="http://schemas.microsoft.com/office/drawing/2014/main" id="{B69D5D9E-9F51-7F63-AD38-956B5A997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6" r:id="rId2"/>
    <p:sldLayoutId id="2147483705" r:id="rId3"/>
    <p:sldLayoutId id="2147483704" r:id="rId4"/>
    <p:sldLayoutId id="2147483703" r:id="rId5"/>
    <p:sldLayoutId id="2147483702" r:id="rId6"/>
    <p:sldLayoutId id="2147483701" r:id="rId7"/>
    <p:sldLayoutId id="2147483700" r:id="rId8"/>
    <p:sldLayoutId id="2147483699" r:id="rId9"/>
    <p:sldLayoutId id="2147483698" r:id="rId10"/>
    <p:sldLayoutId id="214748369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tutorial/getStarted/intro/definition.html" TargetMode="External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9.emf"/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8.emf"/><Relationship Id="rId5" Type="http://schemas.openxmlformats.org/officeDocument/2006/relationships/image" Target="../media/image5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6.emf"/><Relationship Id="rId3" Type="http://schemas.openxmlformats.org/officeDocument/2006/relationships/image" Target="../media/image4.emf"/><Relationship Id="rId7" Type="http://schemas.openxmlformats.org/officeDocument/2006/relationships/image" Target="../media/image7.emf"/><Relationship Id="rId12" Type="http://schemas.openxmlformats.org/officeDocument/2006/relationships/oleObject" Target="../embeddings/oleObject12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9.emf"/><Relationship Id="rId5" Type="http://schemas.openxmlformats.org/officeDocument/2006/relationships/image" Target="../media/image5.e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it.wikipedia.org/wiki/Anni_novanta" TargetMode="External"/><Relationship Id="rId7" Type="http://schemas.openxmlformats.org/officeDocument/2006/relationships/hyperlink" Target="https://it.wikipedia.org/wiki/Java_(linguaggio_di_programmazione)" TargetMode="External"/><Relationship Id="rId2" Type="http://schemas.openxmlformats.org/officeDocument/2006/relationships/hyperlink" Target="https://it.wikipedia.org/wiki/Stanford_Universit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t.wikipedia.org/wiki/James_Gosling" TargetMode="External"/><Relationship Id="rId5" Type="http://schemas.openxmlformats.org/officeDocument/2006/relationships/hyperlink" Target="https://it.wikipedia.org/wiki/Sun_Microsystems" TargetMode="External"/><Relationship Id="rId4" Type="http://schemas.openxmlformats.org/officeDocument/2006/relationships/hyperlink" Target="https://it.wikipedia.org/wiki/1992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it.wikipedia.org/wiki/Java_(linguaggio_di_programmazione)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Java_(programming_language)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Java_version_history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tutorial/getStarted/intro/definition.html" TargetMode="External"/><Relationship Id="rId7" Type="http://schemas.openxmlformats.org/officeDocument/2006/relationships/hyperlink" Target="https://docs.oracle.com/javase/8/docs/index.html" TargetMode="External"/><Relationship Id="rId2" Type="http://schemas.openxmlformats.org/officeDocument/2006/relationships/hyperlink" Target="http://java.sun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Java_version_history" TargetMode="External"/><Relationship Id="rId5" Type="http://schemas.openxmlformats.org/officeDocument/2006/relationships/hyperlink" Target="https://en.wikipedia.org/wiki/Java_(programming_language)" TargetMode="External"/><Relationship Id="rId4" Type="http://schemas.openxmlformats.org/officeDocument/2006/relationships/hyperlink" Target="https://it.wikipedia.org/wiki/Java_(linguaggio_di_programmazione)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4829" y="1563216"/>
            <a:ext cx="7235825" cy="1152525"/>
          </a:xfrm>
        </p:spPr>
        <p:txBody>
          <a:bodyPr/>
          <a:lstStyle/>
          <a:p>
            <a:pPr algn="ctr" eaLnBrk="1" hangingPunct="1"/>
            <a:br>
              <a:rPr lang="en-US" altLang="it-IT" sz="4000" dirty="0">
                <a:latin typeface="Times New Roman" pitchFamily="18" charset="0"/>
              </a:rPr>
            </a:br>
            <a:r>
              <a:rPr lang="en-US" altLang="it-IT" sz="4000" dirty="0">
                <a:latin typeface="Times New Roman" pitchFamily="18" charset="0"/>
              </a:rPr>
              <a:t> Corso di </a:t>
            </a:r>
            <a:r>
              <a:rPr lang="en-US" altLang="it-IT" sz="4000" dirty="0" err="1">
                <a:latin typeface="Times New Roman" pitchFamily="18" charset="0"/>
              </a:rPr>
              <a:t>Programmazione</a:t>
            </a:r>
            <a:endParaRPr lang="en-US" altLang="it-IT" sz="4000" b="0" i="1" dirty="0">
              <a:latin typeface="Times New Roman" pitchFamily="18" charset="0"/>
            </a:endParaRP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it-IT" sz="3600" b="1" i="1" dirty="0" err="1">
                <a:latin typeface="Times New Roman" pitchFamily="18" charset="0"/>
              </a:rPr>
              <a:t>Linguaggio</a:t>
            </a:r>
            <a:r>
              <a:rPr lang="en-US" altLang="it-IT" sz="3600" b="1" i="1" dirty="0">
                <a:latin typeface="Times New Roman" pitchFamily="18" charset="0"/>
              </a:rPr>
              <a:t> JAVA</a:t>
            </a:r>
          </a:p>
          <a:p>
            <a:pPr eaLnBrk="1" hangingPunct="1"/>
            <a:endParaRPr lang="en-US" altLang="it-IT" sz="4100" b="1" i="1" dirty="0">
              <a:latin typeface="Times New Roman" pitchFamily="18" charset="0"/>
            </a:endParaRPr>
          </a:p>
          <a:p>
            <a:pPr eaLnBrk="1" hangingPunct="1"/>
            <a:endParaRPr lang="en-US" altLang="it-IT" sz="4100" b="1" i="1" dirty="0">
              <a:latin typeface="Times New Roman" pitchFamily="18" charset="0"/>
            </a:endParaRPr>
          </a:p>
        </p:txBody>
      </p:sp>
      <p:sp>
        <p:nvSpPr>
          <p:cNvPr id="3077" name="Text Box 6"/>
          <p:cNvSpPr txBox="1">
            <a:spLocks noChangeArrowheads="1"/>
          </p:cNvSpPr>
          <p:nvPr/>
        </p:nvSpPr>
        <p:spPr bwMode="auto">
          <a:xfrm>
            <a:off x="539750" y="260350"/>
            <a:ext cx="67195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it-IT" altLang="it-IT" sz="1200" dirty="0"/>
              <a:t>Università di Napoli Federico II - </a:t>
            </a:r>
            <a:r>
              <a:rPr lang="en-GB" altLang="it-IT" sz="1200" dirty="0"/>
              <a:t>Dip. di </a:t>
            </a:r>
            <a:r>
              <a:rPr lang="en-GB" altLang="it-IT" sz="1200" dirty="0" err="1"/>
              <a:t>Ingegneria</a:t>
            </a:r>
            <a:r>
              <a:rPr lang="en-GB" altLang="it-IT" sz="1200" dirty="0"/>
              <a:t> </a:t>
            </a:r>
            <a:r>
              <a:rPr lang="en-GB" altLang="it-IT" sz="1200" dirty="0" err="1"/>
              <a:t>Elettrica</a:t>
            </a:r>
            <a:r>
              <a:rPr lang="en-GB" altLang="it-IT" sz="1200" dirty="0"/>
              <a:t> e </a:t>
            </a:r>
            <a:r>
              <a:rPr lang="en-GB" altLang="it-IT" sz="1200" dirty="0" err="1"/>
              <a:t>delle</a:t>
            </a:r>
            <a:r>
              <a:rPr lang="en-GB" altLang="it-IT" sz="1200" dirty="0"/>
              <a:t> </a:t>
            </a:r>
            <a:r>
              <a:rPr lang="en-GB" altLang="it-IT" sz="1200" dirty="0" err="1"/>
              <a:t>Tecnologie</a:t>
            </a:r>
            <a:r>
              <a:rPr lang="en-GB" altLang="it-IT" sz="1200" dirty="0"/>
              <a:t> </a:t>
            </a:r>
            <a:r>
              <a:rPr lang="en-GB" altLang="it-IT" sz="1200" dirty="0" err="1"/>
              <a:t>dell’Informazione</a:t>
            </a:r>
            <a:r>
              <a:rPr lang="en-GB" altLang="it-IT" sz="1200" dirty="0"/>
              <a:t> </a:t>
            </a:r>
          </a:p>
          <a:p>
            <a:pPr eaLnBrk="1" hangingPunct="1"/>
            <a:r>
              <a:rPr lang="it-IT" altLang="it-IT" sz="1200" dirty="0"/>
              <a:t>Corso di Laurea in Ingegneria Informatica</a:t>
            </a:r>
            <a:endParaRPr lang="en-US" altLang="it-IT" sz="1200" dirty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194" y="373448"/>
            <a:ext cx="846916" cy="895311"/>
          </a:xfrm>
          <a:prstGeom prst="rect">
            <a:avLst/>
          </a:prstGeom>
        </p:spPr>
      </p:pic>
      <p:pic>
        <p:nvPicPr>
          <p:cNvPr id="1026" name="Picture 2" descr="Java, logo, logos icon - Free download on Iconfinder">
            <a:extLst>
              <a:ext uri="{FF2B5EF4-FFF2-40B4-BE49-F238E27FC236}">
                <a16:creationId xmlns:a16="http://schemas.microsoft.com/office/drawing/2014/main" id="{8F51CA07-A1A5-AA38-5BB4-4B67B1526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014466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B2D675A-FB14-0A52-9197-9C22CEF802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" y="-369612"/>
            <a:ext cx="7543800" cy="1295400"/>
          </a:xfrm>
        </p:spPr>
        <p:txBody>
          <a:bodyPr/>
          <a:lstStyle/>
          <a:p>
            <a:pPr eaLnBrk="1" hangingPunct="1"/>
            <a:r>
              <a:rPr lang="it-IT" altLang="it-IT" dirty="0"/>
              <a:t>Caratteristiche principali (1/2)</a:t>
            </a:r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AE007B4B-6393-BBE9-F314-D3FC62C59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367721"/>
            <a:ext cx="74072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Tx/>
              <a:buChar char="•"/>
            </a:pPr>
            <a:r>
              <a:rPr lang="it-IT" altLang="it-IT" sz="2000" dirty="0">
                <a:latin typeface="Times New Roman" panose="02020603050405020304" pitchFamily="18" charset="0"/>
              </a:rPr>
              <a:t> Originario di un progetto di Sun Microsystem, “Green”, è stato ufficializzato nel 1995.</a:t>
            </a:r>
          </a:p>
        </p:txBody>
      </p:sp>
      <p:sp>
        <p:nvSpPr>
          <p:cNvPr id="8196" name="Text Box 7">
            <a:extLst>
              <a:ext uri="{FF2B5EF4-FFF2-40B4-BE49-F238E27FC236}">
                <a16:creationId xmlns:a16="http://schemas.microsoft.com/office/drawing/2014/main" id="{096D58CD-5D20-3026-F5F4-E38CC0A63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3" y="2373313"/>
            <a:ext cx="4645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2000" dirty="0">
                <a:latin typeface="Times New Roman" panose="02020603050405020304" pitchFamily="18" charset="0"/>
              </a:rPr>
              <a:t>JAVA è un linguaggio di programmazione..</a:t>
            </a:r>
          </a:p>
        </p:txBody>
      </p:sp>
      <p:sp>
        <p:nvSpPr>
          <p:cNvPr id="9224" name="Text Box 8">
            <a:extLst>
              <a:ext uri="{FF2B5EF4-FFF2-40B4-BE49-F238E27FC236}">
                <a16:creationId xmlns:a16="http://schemas.microsoft.com/office/drawing/2014/main" id="{ADED448D-CFD6-4F3C-E0F5-859F68141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997" y="3155146"/>
            <a:ext cx="2971800" cy="415925"/>
          </a:xfrm>
          <a:prstGeom prst="rect">
            <a:avLst/>
          </a:prstGeom>
          <a:solidFill>
            <a:srgbClr val="DDDDDD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it-IT" sz="2000" b="1" i="1">
                <a:latin typeface="Times New Roman" pitchFamily="18" charset="0"/>
              </a:rPr>
              <a:t>Object Oriented	</a:t>
            </a:r>
          </a:p>
        </p:txBody>
      </p:sp>
      <p:sp>
        <p:nvSpPr>
          <p:cNvPr id="9226" name="Text Box 10">
            <a:extLst>
              <a:ext uri="{FF2B5EF4-FFF2-40B4-BE49-F238E27FC236}">
                <a16:creationId xmlns:a16="http://schemas.microsoft.com/office/drawing/2014/main" id="{4691A1AF-86FE-6F56-9270-8732B1C700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2797" y="3147208"/>
            <a:ext cx="2960688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it-IT" sz="2000" i="1">
                <a:latin typeface="Times New Roman" pitchFamily="18" charset="0"/>
              </a:rPr>
              <a:t>Utilizzabilità e riusabilità</a:t>
            </a:r>
          </a:p>
        </p:txBody>
      </p:sp>
      <p:sp>
        <p:nvSpPr>
          <p:cNvPr id="9227" name="Text Box 11">
            <a:extLst>
              <a:ext uri="{FF2B5EF4-FFF2-40B4-BE49-F238E27FC236}">
                <a16:creationId xmlns:a16="http://schemas.microsoft.com/office/drawing/2014/main" id="{3B9CF314-0D37-806E-A26C-26D46D3A7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997" y="3783796"/>
            <a:ext cx="2946400" cy="415925"/>
          </a:xfrm>
          <a:prstGeom prst="rect">
            <a:avLst/>
          </a:prstGeom>
          <a:solidFill>
            <a:srgbClr val="DDDDDD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it-IT" sz="2000" b="1" i="1">
                <a:latin typeface="Times New Roman" pitchFamily="18" charset="0"/>
              </a:rPr>
              <a:t>Indip dall’architettura	</a:t>
            </a:r>
          </a:p>
        </p:txBody>
      </p:sp>
      <p:sp>
        <p:nvSpPr>
          <p:cNvPr id="9228" name="Text Box 12">
            <a:extLst>
              <a:ext uri="{FF2B5EF4-FFF2-40B4-BE49-F238E27FC236}">
                <a16:creationId xmlns:a16="http://schemas.microsoft.com/office/drawing/2014/main" id="{D197A670-3FA3-91B4-9F28-E2E92F59E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7885" y="3859996"/>
            <a:ext cx="2895600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it-IT" sz="2000" i="1">
                <a:latin typeface="Times New Roman" pitchFamily="18" charset="0"/>
              </a:rPr>
              <a:t>Portabilità e longevità</a:t>
            </a:r>
          </a:p>
        </p:txBody>
      </p:sp>
      <p:sp>
        <p:nvSpPr>
          <p:cNvPr id="9229" name="AutoShape 13">
            <a:extLst>
              <a:ext uri="{FF2B5EF4-FFF2-40B4-BE49-F238E27FC236}">
                <a16:creationId xmlns:a16="http://schemas.microsoft.com/office/drawing/2014/main" id="{C6AC7F19-4CAC-EBAE-199D-FE845703E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8397" y="3223408"/>
            <a:ext cx="762000" cy="304800"/>
          </a:xfrm>
          <a:prstGeom prst="notchedRightArrow">
            <a:avLst>
              <a:gd name="adj1" fmla="val 50000"/>
              <a:gd name="adj2" fmla="val 62500"/>
            </a:avLst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9230" name="AutoShape 14">
            <a:extLst>
              <a:ext uri="{FF2B5EF4-FFF2-40B4-BE49-F238E27FC236}">
                <a16:creationId xmlns:a16="http://schemas.microsoft.com/office/drawing/2014/main" id="{C2B42D46-C2F2-5A8F-290A-382867478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8397" y="3833008"/>
            <a:ext cx="762000" cy="304800"/>
          </a:xfrm>
          <a:prstGeom prst="notchedRightArrow">
            <a:avLst>
              <a:gd name="adj1" fmla="val 50000"/>
              <a:gd name="adj2" fmla="val 62500"/>
            </a:avLst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9231" name="Text Box 15">
            <a:extLst>
              <a:ext uri="{FF2B5EF4-FFF2-40B4-BE49-F238E27FC236}">
                <a16:creationId xmlns:a16="http://schemas.microsoft.com/office/drawing/2014/main" id="{4556627F-F941-ACC3-8F92-4F79654A9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997" y="4442608"/>
            <a:ext cx="2884488" cy="415925"/>
          </a:xfrm>
          <a:prstGeom prst="rect">
            <a:avLst/>
          </a:prstGeom>
          <a:solidFill>
            <a:srgbClr val="DDDDDD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it-IT" sz="2000" b="1" i="1">
                <a:latin typeface="Times New Roman" pitchFamily="18" charset="0"/>
              </a:rPr>
              <a:t>Distribuito e Multithread.</a:t>
            </a:r>
          </a:p>
        </p:txBody>
      </p:sp>
      <p:sp>
        <p:nvSpPr>
          <p:cNvPr id="9232" name="AutoShape 16">
            <a:extLst>
              <a:ext uri="{FF2B5EF4-FFF2-40B4-BE49-F238E27FC236}">
                <a16:creationId xmlns:a16="http://schemas.microsoft.com/office/drawing/2014/main" id="{243699FD-395C-7AB6-0258-E57E5BF61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8397" y="4518808"/>
            <a:ext cx="762000" cy="304800"/>
          </a:xfrm>
          <a:prstGeom prst="notchedRightArrow">
            <a:avLst>
              <a:gd name="adj1" fmla="val 50000"/>
              <a:gd name="adj2" fmla="val 62500"/>
            </a:avLst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9233" name="Text Box 17">
            <a:extLst>
              <a:ext uri="{FF2B5EF4-FFF2-40B4-BE49-F238E27FC236}">
                <a16:creationId xmlns:a16="http://schemas.microsoft.com/office/drawing/2014/main" id="{EC3FB591-9277-FA3E-D766-670A7E5C2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8997" y="4518808"/>
            <a:ext cx="2895600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it-IT" sz="2000" i="1">
                <a:latin typeface="Times New Roman" pitchFamily="18" charset="0"/>
              </a:rPr>
              <a:t>Applicazioni Web-based</a:t>
            </a:r>
          </a:p>
        </p:txBody>
      </p:sp>
      <p:sp>
        <p:nvSpPr>
          <p:cNvPr id="8206" name="Text Box 18">
            <a:extLst>
              <a:ext uri="{FF2B5EF4-FFF2-40B4-BE49-F238E27FC236}">
                <a16:creationId xmlns:a16="http://schemas.microsoft.com/office/drawing/2014/main" id="{CCE207C5-C804-EECC-5545-752A4A8BD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852" y="5426858"/>
            <a:ext cx="63214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2000" dirty="0">
                <a:latin typeface="Times New Roman" panose="02020603050405020304" pitchFamily="18" charset="0"/>
              </a:rPr>
              <a:t>Versioni più aggiornate di Java SUN (</a:t>
            </a:r>
            <a:r>
              <a:rPr lang="it-IT" altLang="it-IT" sz="2000" u="sng" dirty="0">
                <a:latin typeface="Times New Roman" panose="02020603050405020304" pitchFamily="18" charset="0"/>
              </a:rPr>
              <a:t>http://</a:t>
            </a:r>
            <a:r>
              <a:rPr lang="it-IT" altLang="it-IT" sz="2000" u="sng" dirty="0" err="1">
                <a:latin typeface="Times New Roman" panose="02020603050405020304" pitchFamily="18" charset="0"/>
              </a:rPr>
              <a:t>java.sun.com</a:t>
            </a:r>
            <a:r>
              <a:rPr lang="it-IT" altLang="it-IT" sz="2000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8207" name="Text Box 19">
            <a:extLst>
              <a:ext uri="{FF2B5EF4-FFF2-40B4-BE49-F238E27FC236}">
                <a16:creationId xmlns:a16="http://schemas.microsoft.com/office/drawing/2014/main" id="{3FCAF030-424F-1883-7ACB-A6A252976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177" y="572372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it-IT" sz="2400">
              <a:latin typeface="Times New Roman" panose="02020603050405020304" pitchFamily="18" charset="0"/>
            </a:endParaRPr>
          </a:p>
        </p:txBody>
      </p:sp>
      <p:sp>
        <p:nvSpPr>
          <p:cNvPr id="8208" name="Text Box 20">
            <a:extLst>
              <a:ext uri="{FF2B5EF4-FFF2-40B4-BE49-F238E27FC236}">
                <a16:creationId xmlns:a16="http://schemas.microsoft.com/office/drawing/2014/main" id="{1C5B9078-6F40-7FA1-C257-A26DD8BE3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748" y="5924710"/>
            <a:ext cx="39791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2000" dirty="0">
                <a:latin typeface="Times New Roman" panose="02020603050405020304" pitchFamily="18" charset="0"/>
              </a:rPr>
              <a:t>Java SE 11,  Java SE 17,  Java SE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4778C60-DBF3-1100-9350-7C3997B90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La filosofia di Java.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6A0DE2A-97CC-AC91-3D87-71054805F4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b="1" dirty="0"/>
              <a:t>Il Computer è la rete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dirty="0"/>
              <a:t>Le applicazioni Java dovranno poter essere eseguite su nodi di elaborazioni distribuiti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b="1" dirty="0"/>
              <a:t>Scrivi una volta…esegui ovunque </a:t>
            </a:r>
            <a:br>
              <a:rPr lang="it-IT" altLang="it-IT" dirty="0"/>
            </a:br>
            <a:r>
              <a:rPr lang="it-IT" altLang="it-IT" dirty="0"/>
              <a:t>(</a:t>
            </a:r>
            <a:r>
              <a:rPr lang="it-IT" dirty="0"/>
              <a:t>Write Once, </a:t>
            </a:r>
            <a:r>
              <a:rPr lang="it-IT" dirty="0" err="1"/>
              <a:t>Run</a:t>
            </a:r>
            <a:r>
              <a:rPr lang="it-IT" dirty="0"/>
              <a:t> </a:t>
            </a:r>
            <a:r>
              <a:rPr lang="it-IT" dirty="0" err="1"/>
              <a:t>Anywhere</a:t>
            </a:r>
            <a:r>
              <a:rPr lang="it-IT" dirty="0"/>
              <a:t> - WORA)</a:t>
            </a:r>
            <a:endParaRPr lang="it-IT" altLang="it-IT" dirty="0"/>
          </a:p>
          <a:p>
            <a:pPr lvl="1" eaLnBrk="1" hangingPunct="1">
              <a:lnSpc>
                <a:spcPct val="90000"/>
              </a:lnSpc>
            </a:pPr>
            <a:r>
              <a:rPr lang="it-IT" altLang="it-IT" dirty="0"/>
              <a:t>Le applicazioni dovranno poter essere realizzate “una tantum” per poi essere eseguite su un qualsiasi calcolatore (</a:t>
            </a:r>
            <a:r>
              <a:rPr lang="it-IT" altLang="it-IT" u="sng" dirty="0"/>
              <a:t>portabilità</a:t>
            </a:r>
            <a:r>
              <a:rPr lang="it-IT" altLang="it-IT" dirty="0"/>
              <a:t> del codice)</a:t>
            </a:r>
          </a:p>
          <a:p>
            <a:pPr marL="344487" lvl="1" indent="0" eaLnBrk="1" hangingPunct="1">
              <a:buNone/>
            </a:pPr>
            <a:endParaRPr lang="it-IT" altLang="it-IT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BD6ACB-04C6-C377-34F3-D4B66204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-315416"/>
            <a:ext cx="7543800" cy="1295400"/>
          </a:xfrm>
        </p:spPr>
        <p:txBody>
          <a:bodyPr/>
          <a:lstStyle/>
          <a:p>
            <a:r>
              <a:rPr lang="it-IT" dirty="0"/>
              <a:t>Processo di sviluppo in JAVA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BC4909-6279-D3F7-35CA-7B6DE5D2E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000" y="1124744"/>
            <a:ext cx="7704856" cy="3417418"/>
          </a:xfrm>
        </p:spPr>
        <p:txBody>
          <a:bodyPr/>
          <a:lstStyle/>
          <a:p>
            <a:r>
              <a:rPr lang="it-IT" sz="2000" b="0" i="0" dirty="0">
                <a:solidFill>
                  <a:srgbClr val="374151"/>
                </a:solidFill>
                <a:effectLst/>
              </a:rPr>
              <a:t>In Java, il </a:t>
            </a:r>
            <a:r>
              <a:rPr lang="it-IT" sz="2000" b="0" i="0" dirty="0">
                <a:solidFill>
                  <a:srgbClr val="FF0000"/>
                </a:solidFill>
                <a:effectLst/>
              </a:rPr>
              <a:t>codice sorgente </a:t>
            </a:r>
            <a:r>
              <a:rPr lang="it-IT" sz="2000" b="0" i="0" dirty="0">
                <a:solidFill>
                  <a:srgbClr val="374151"/>
                </a:solidFill>
                <a:effectLst/>
              </a:rPr>
              <a:t>viene scritto in file di testo con estensione </a:t>
            </a:r>
            <a:r>
              <a:rPr lang="it-IT" sz="2000" b="1" i="1" dirty="0">
                <a:solidFill>
                  <a:srgbClr val="FF0000"/>
                </a:solidFill>
                <a:effectLst/>
              </a:rPr>
              <a:t>.java</a:t>
            </a:r>
          </a:p>
          <a:p>
            <a:r>
              <a:rPr lang="it-IT" sz="2000" dirty="0">
                <a:solidFill>
                  <a:srgbClr val="374151"/>
                </a:solidFill>
              </a:rPr>
              <a:t>Viene compilato ma la </a:t>
            </a:r>
            <a:r>
              <a:rPr lang="it-IT" sz="2000" u="sng" dirty="0">
                <a:solidFill>
                  <a:srgbClr val="374151"/>
                </a:solidFill>
              </a:rPr>
              <a:t>compilazione</a:t>
            </a:r>
            <a:r>
              <a:rPr lang="it-IT" sz="2000" dirty="0">
                <a:solidFill>
                  <a:srgbClr val="374151"/>
                </a:solidFill>
              </a:rPr>
              <a:t> NON produce un file oggetto per la macchina su cui è stata fatta la compilazione bensì un oggetto in </a:t>
            </a:r>
            <a:r>
              <a:rPr lang="it-IT" sz="2000" dirty="0" err="1">
                <a:solidFill>
                  <a:srgbClr val="FF0000"/>
                </a:solidFill>
              </a:rPr>
              <a:t>bytecode</a:t>
            </a:r>
            <a:r>
              <a:rPr lang="it-IT" sz="2000" dirty="0">
                <a:solidFill>
                  <a:srgbClr val="374151"/>
                </a:solidFill>
              </a:rPr>
              <a:t> in un file con estensione </a:t>
            </a:r>
            <a:r>
              <a:rPr lang="it-IT" sz="2000" b="1" i="1" dirty="0">
                <a:solidFill>
                  <a:srgbClr val="FF0000"/>
                </a:solidFill>
              </a:rPr>
              <a:t>.class</a:t>
            </a:r>
          </a:p>
          <a:p>
            <a:r>
              <a:rPr lang="it-IT" sz="2000" dirty="0">
                <a:solidFill>
                  <a:srgbClr val="374151"/>
                </a:solidFill>
              </a:rPr>
              <a:t>In questo modo si ottiene la portabilità, </a:t>
            </a:r>
            <a:r>
              <a:rPr lang="it-IT" sz="2000" b="1" i="1" dirty="0">
                <a:solidFill>
                  <a:srgbClr val="374151"/>
                </a:solidFill>
              </a:rPr>
              <a:t>il </a:t>
            </a:r>
            <a:r>
              <a:rPr lang="it-IT" sz="2000" b="1" i="1" dirty="0" err="1">
                <a:solidFill>
                  <a:srgbClr val="374151"/>
                </a:solidFill>
              </a:rPr>
              <a:t>bytecode</a:t>
            </a:r>
            <a:r>
              <a:rPr lang="it-IT" sz="2000" b="1" i="1" dirty="0">
                <a:solidFill>
                  <a:srgbClr val="374151"/>
                </a:solidFill>
              </a:rPr>
              <a:t> generato è lo stesso per tutte le architetture</a:t>
            </a:r>
          </a:p>
          <a:p>
            <a:r>
              <a:rPr lang="it-IT" sz="2000" dirty="0">
                <a:solidFill>
                  <a:srgbClr val="374151"/>
                </a:solidFill>
              </a:rPr>
              <a:t>Per ottenere un codice eseguibile è necessario che sulla macchina sia presente la </a:t>
            </a:r>
            <a:r>
              <a:rPr lang="it-IT" sz="2000" b="1" i="1" dirty="0">
                <a:solidFill>
                  <a:srgbClr val="374151"/>
                </a:solidFill>
              </a:rPr>
              <a:t>Virtual Machine Java (Java VM) </a:t>
            </a:r>
            <a:r>
              <a:rPr lang="it-IT" sz="2000" dirty="0">
                <a:solidFill>
                  <a:srgbClr val="374151"/>
                </a:solidFill>
              </a:rPr>
              <a:t>che è </a:t>
            </a:r>
            <a:r>
              <a:rPr lang="it-IT" sz="2000" i="1" dirty="0">
                <a:solidFill>
                  <a:srgbClr val="374151"/>
                </a:solidFill>
              </a:rPr>
              <a:t>disponibile per diversi sistemi operativi </a:t>
            </a:r>
            <a:r>
              <a:rPr lang="it-IT" sz="2000" dirty="0">
                <a:solidFill>
                  <a:srgbClr val="374151"/>
                </a:solidFill>
              </a:rPr>
              <a:t>e ha il compito di </a:t>
            </a:r>
            <a:r>
              <a:rPr lang="it-IT" sz="2000" u="sng" dirty="0">
                <a:solidFill>
                  <a:srgbClr val="374151"/>
                </a:solidFill>
              </a:rPr>
              <a:t>interpretare</a:t>
            </a:r>
            <a:r>
              <a:rPr lang="it-IT" sz="2000" dirty="0">
                <a:solidFill>
                  <a:srgbClr val="374151"/>
                </a:solidFill>
              </a:rPr>
              <a:t> il </a:t>
            </a:r>
            <a:r>
              <a:rPr lang="it-IT" sz="2000" dirty="0" err="1">
                <a:solidFill>
                  <a:srgbClr val="374151"/>
                </a:solidFill>
              </a:rPr>
              <a:t>bytecode</a:t>
            </a:r>
            <a:r>
              <a:rPr lang="it-IT" sz="2000" dirty="0">
                <a:solidFill>
                  <a:srgbClr val="374151"/>
                </a:solidFill>
              </a:rPr>
              <a:t> per la macchina su cui si trova</a:t>
            </a:r>
            <a:endParaRPr lang="it-IT" sz="2000" dirty="0"/>
          </a:p>
        </p:txBody>
      </p:sp>
      <p:pic>
        <p:nvPicPr>
          <p:cNvPr id="4" name="Picture 2" descr="Figure showing MyProgram.java, compiler, MyProgram.class, Java VM, and My Program running on a computer.">
            <a:extLst>
              <a:ext uri="{FF2B5EF4-FFF2-40B4-BE49-F238E27FC236}">
                <a16:creationId xmlns:a16="http://schemas.microsoft.com/office/drawing/2014/main" id="{0F3761AF-70E5-C2B1-7C97-D1EF9D1E4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03648" y="4987379"/>
            <a:ext cx="5541427" cy="1294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C722445E-BA0A-5993-35D0-FDA2848A8E11}"/>
              </a:ext>
            </a:extLst>
          </p:cNvPr>
          <p:cNvSpPr txBox="1"/>
          <p:nvPr/>
        </p:nvSpPr>
        <p:spPr>
          <a:xfrm>
            <a:off x="1734430" y="6265835"/>
            <a:ext cx="48798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hlinkClick r:id="rId3"/>
              </a:rPr>
              <a:t> https://docs.oracle.com/javase/tutorial/getStarted/intro/definition.html</a:t>
            </a:r>
            <a:endParaRPr lang="it-IT" sz="1200" dirty="0"/>
          </a:p>
          <a:p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622359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0B1F06-9124-2262-66A1-EAAD2FF00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-342900"/>
            <a:ext cx="7543800" cy="1295400"/>
          </a:xfrm>
        </p:spPr>
        <p:txBody>
          <a:bodyPr/>
          <a:lstStyle/>
          <a:p>
            <a:r>
              <a:rPr lang="it-IT" dirty="0"/>
              <a:t>Compilazione e traduzione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FE1E476E-4459-AFC8-9DA2-17FFADF977F6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752600"/>
            <a:ext cx="8023226" cy="4486275"/>
            <a:chOff x="384" y="1104"/>
            <a:chExt cx="5054" cy="2826"/>
          </a:xfrm>
        </p:grpSpPr>
        <p:graphicFrame>
          <p:nvGraphicFramePr>
            <p:cNvPr id="5" name="Object 3">
              <a:extLst>
                <a:ext uri="{FF2B5EF4-FFF2-40B4-BE49-F238E27FC236}">
                  <a16:creationId xmlns:a16="http://schemas.microsoft.com/office/drawing/2014/main" id="{946DB6B0-4BF0-90A2-7631-5DC0AA2C5D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6" y="1968"/>
            <a:ext cx="567" cy="8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2" imgW="13563600" imgH="19570700" progId="MS_ClipArt_Gallery.2">
                    <p:embed/>
                  </p:oleObj>
                </mc:Choice>
                <mc:Fallback>
                  <p:oleObj name="Clip" r:id="rId2" imgW="13563600" imgH="19570700" progId="MS_ClipArt_Gallery.2">
                    <p:embed/>
                    <p:pic>
                      <p:nvPicPr>
                        <p:cNvPr id="2050" name="Object 3">
                          <a:extLst>
                            <a:ext uri="{FF2B5EF4-FFF2-40B4-BE49-F238E27FC236}">
                              <a16:creationId xmlns:a16="http://schemas.microsoft.com/office/drawing/2014/main" id="{16DBD31C-8CED-E62B-696C-06A8FD8FEA4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1968"/>
                          <a:ext cx="567" cy="8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AutoShape 4">
              <a:extLst>
                <a:ext uri="{FF2B5EF4-FFF2-40B4-BE49-F238E27FC236}">
                  <a16:creationId xmlns:a16="http://schemas.microsoft.com/office/drawing/2014/main" id="{D63223C2-9325-803D-66A2-E2FB1ED45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304"/>
              <a:ext cx="576" cy="192"/>
            </a:xfrm>
            <a:prstGeom prst="notchedRightArrow">
              <a:avLst>
                <a:gd name="adj1" fmla="val 50000"/>
                <a:gd name="adj2" fmla="val 7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graphicFrame>
          <p:nvGraphicFramePr>
            <p:cNvPr id="7" name="Object 5">
              <a:extLst>
                <a:ext uri="{FF2B5EF4-FFF2-40B4-BE49-F238E27FC236}">
                  <a16:creationId xmlns:a16="http://schemas.microsoft.com/office/drawing/2014/main" id="{55023BE5-7284-1BC5-8733-72565C8442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04" y="1104"/>
            <a:ext cx="528" cy="5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7620000" imgH="7302500" progId="MS_ClipArt_Gallery.2">
                    <p:embed/>
                  </p:oleObj>
                </mc:Choice>
                <mc:Fallback>
                  <p:oleObj name="Clip" r:id="rId4" imgW="7620000" imgH="7302500" progId="MS_ClipArt_Gallery.2">
                    <p:embed/>
                    <p:pic>
                      <p:nvPicPr>
                        <p:cNvPr id="2051" name="Object 5">
                          <a:extLst>
                            <a:ext uri="{FF2B5EF4-FFF2-40B4-BE49-F238E27FC236}">
                              <a16:creationId xmlns:a16="http://schemas.microsoft.com/office/drawing/2014/main" id="{35E59B06-BCB3-B991-2297-4EA40B8C4BE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1104"/>
                          <a:ext cx="528" cy="5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6">
              <a:extLst>
                <a:ext uri="{FF2B5EF4-FFF2-40B4-BE49-F238E27FC236}">
                  <a16:creationId xmlns:a16="http://schemas.microsoft.com/office/drawing/2014/main" id="{0E355DAF-A9EB-7988-C70B-7469895863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20" y="2304"/>
            <a:ext cx="561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14871700" imgH="6083300" progId="MS_ClipArt_Gallery.2">
                    <p:embed/>
                  </p:oleObj>
                </mc:Choice>
                <mc:Fallback>
                  <p:oleObj name="Clip" r:id="rId6" imgW="14871700" imgH="6083300" progId="MS_ClipArt_Gallery.2">
                    <p:embed/>
                    <p:pic>
                      <p:nvPicPr>
                        <p:cNvPr id="2052" name="Object 6">
                          <a:extLst>
                            <a:ext uri="{FF2B5EF4-FFF2-40B4-BE49-F238E27FC236}">
                              <a16:creationId xmlns:a16="http://schemas.microsoft.com/office/drawing/2014/main" id="{66BDE795-5608-B862-D9A3-961A54A17D5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2304"/>
                          <a:ext cx="561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C92AAE8D-BA61-8162-1F5E-84C7071AA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304"/>
              <a:ext cx="576" cy="192"/>
            </a:xfrm>
            <a:prstGeom prst="notchedRightArrow">
              <a:avLst>
                <a:gd name="adj1" fmla="val 50000"/>
                <a:gd name="adj2" fmla="val 7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091FEC8D-D350-4886-220B-BEFFAB71A6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35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6588DC4C-9635-4697-3066-53ADCE8213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352"/>
              <a:ext cx="91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03EEE6AE-A00A-E6B7-6E96-48AF72156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728"/>
              <a:ext cx="9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1600">
                  <a:latin typeface="Verdana" panose="020B0604030504040204" pitchFamily="34" charset="0"/>
                </a:rPr>
                <a:t>Codice JAVA</a:t>
              </a: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1DCD57A2-92DC-FEDE-6481-782E1CCE31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7" y="2784"/>
              <a:ext cx="100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600" b="1" dirty="0">
                  <a:latin typeface="Verdana" panose="020B0604030504040204" pitchFamily="34" charset="0"/>
                </a:rPr>
                <a:t>Compilatore</a:t>
              </a:r>
            </a:p>
            <a:p>
              <a:pPr algn="ctr"/>
              <a:r>
                <a:rPr lang="it-IT" altLang="it-IT" sz="1600" dirty="0">
                  <a:latin typeface="Verdana" panose="020B0604030504040204" pitchFamily="34" charset="0"/>
                </a:rPr>
                <a:t>JAVA</a:t>
              </a:r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B95C95AC-1826-9BD2-280F-6689C3BF7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2064"/>
              <a:ext cx="70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600">
                  <a:latin typeface="Verdana" panose="020B0604030504040204" pitchFamily="34" charset="0"/>
                </a:rPr>
                <a:t>Bytecode</a:t>
              </a:r>
            </a:p>
          </p:txBody>
        </p:sp>
        <p:graphicFrame>
          <p:nvGraphicFramePr>
            <p:cNvPr id="15" name="Object 13">
              <a:extLst>
                <a:ext uri="{FF2B5EF4-FFF2-40B4-BE49-F238E27FC236}">
                  <a16:creationId xmlns:a16="http://schemas.microsoft.com/office/drawing/2014/main" id="{D0642B5C-EF55-0DC6-6143-B6B62F0B3D6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56" y="2016"/>
            <a:ext cx="624" cy="5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8" imgW="17614900" imgH="15849600" progId="MS_ClipArt_Gallery.2">
                    <p:embed/>
                  </p:oleObj>
                </mc:Choice>
                <mc:Fallback>
                  <p:oleObj name="Clip" r:id="rId8" imgW="17614900" imgH="15849600" progId="MS_ClipArt_Gallery.2">
                    <p:embed/>
                    <p:pic>
                      <p:nvPicPr>
                        <p:cNvPr id="2053" name="Object 13">
                          <a:extLst>
                            <a:ext uri="{FF2B5EF4-FFF2-40B4-BE49-F238E27FC236}">
                              <a16:creationId xmlns:a16="http://schemas.microsoft.com/office/drawing/2014/main" id="{185DAADD-0CAB-15BD-27D0-B3A6A5184A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2016"/>
                          <a:ext cx="624" cy="5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4">
              <a:extLst>
                <a:ext uri="{FF2B5EF4-FFF2-40B4-BE49-F238E27FC236}">
                  <a16:creationId xmlns:a16="http://schemas.microsoft.com/office/drawing/2014/main" id="{5A567F50-A61B-4097-4E3A-3AEB8419F7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56" y="2928"/>
            <a:ext cx="720" cy="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0" imgW="23291800" imgH="23253700" progId="MS_ClipArt_Gallery.2">
                    <p:embed/>
                  </p:oleObj>
                </mc:Choice>
                <mc:Fallback>
                  <p:oleObj name="Clip" r:id="rId10" imgW="23291800" imgH="23253700" progId="MS_ClipArt_Gallery.2">
                    <p:embed/>
                    <p:pic>
                      <p:nvPicPr>
                        <p:cNvPr id="2054" name="Object 14">
                          <a:extLst>
                            <a:ext uri="{FF2B5EF4-FFF2-40B4-BE49-F238E27FC236}">
                              <a16:creationId xmlns:a16="http://schemas.microsoft.com/office/drawing/2014/main" id="{0229C340-FAF7-B7E6-7260-2ACD3A64FD8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2928"/>
                          <a:ext cx="720" cy="7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AE1866C6-2EAB-83C6-517C-A85238100C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2" y="1584"/>
              <a:ext cx="77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400" b="1" dirty="0">
                  <a:latin typeface="Verdana" panose="020B0604030504040204" pitchFamily="34" charset="0"/>
                </a:rPr>
                <a:t>Interprete</a:t>
              </a:r>
            </a:p>
            <a:p>
              <a:pPr algn="ctr"/>
              <a:r>
                <a:rPr lang="it-IT" altLang="it-IT" sz="1400" dirty="0">
                  <a:latin typeface="Verdana" panose="020B0604030504040204" pitchFamily="34" charset="0"/>
                </a:rPr>
                <a:t>Pentium</a:t>
              </a:r>
            </a:p>
          </p:txBody>
        </p:sp>
        <p:sp>
          <p:nvSpPr>
            <p:cNvPr id="18" name="Text Box 16">
              <a:extLst>
                <a:ext uri="{FF2B5EF4-FFF2-40B4-BE49-F238E27FC236}">
                  <a16:creationId xmlns:a16="http://schemas.microsoft.com/office/drawing/2014/main" id="{05E8F930-753D-6C20-2912-1079625991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2" y="2544"/>
              <a:ext cx="77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400" b="1" dirty="0">
                  <a:latin typeface="Verdana" panose="020B0604030504040204" pitchFamily="34" charset="0"/>
                </a:rPr>
                <a:t>Interprete</a:t>
              </a:r>
            </a:p>
            <a:p>
              <a:pPr algn="ctr"/>
              <a:r>
                <a:rPr lang="it-IT" altLang="it-IT" sz="1400" dirty="0">
                  <a:latin typeface="Verdana" panose="020B0604030504040204" pitchFamily="34" charset="0"/>
                </a:rPr>
                <a:t>PowerPC</a:t>
              </a:r>
            </a:p>
          </p:txBody>
        </p:sp>
        <p:graphicFrame>
          <p:nvGraphicFramePr>
            <p:cNvPr id="19" name="Object 17">
              <a:extLst>
                <a:ext uri="{FF2B5EF4-FFF2-40B4-BE49-F238E27FC236}">
                  <a16:creationId xmlns:a16="http://schemas.microsoft.com/office/drawing/2014/main" id="{B62782A9-1E7B-49A3-9EF2-288EA203E0A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824" y="2016"/>
            <a:ext cx="672" cy="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icrosoft ClipArt Gallery" r:id="rId12" imgW="20891500" imgH="22923500" progId="MS_ClipArt_Gallery">
                    <p:embed/>
                  </p:oleObj>
                </mc:Choice>
                <mc:Fallback>
                  <p:oleObj name="Microsoft ClipArt Gallery" r:id="rId12" imgW="20891500" imgH="22923500" progId="MS_ClipArt_Gallery">
                    <p:embed/>
                    <p:pic>
                      <p:nvPicPr>
                        <p:cNvPr id="2055" name="Object 17">
                          <a:extLst>
                            <a:ext uri="{FF2B5EF4-FFF2-40B4-BE49-F238E27FC236}">
                              <a16:creationId xmlns:a16="http://schemas.microsoft.com/office/drawing/2014/main" id="{BEB1E4A8-B82E-F7B8-92D8-F2377FCF3B7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016"/>
                          <a:ext cx="672" cy="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FC6D9EFC-3699-21C5-EE18-F4E2DC4431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1488"/>
              <a:ext cx="96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1" name="Text Box 19">
              <a:extLst>
                <a:ext uri="{FF2B5EF4-FFF2-40B4-BE49-F238E27FC236}">
                  <a16:creationId xmlns:a16="http://schemas.microsoft.com/office/drawing/2014/main" id="{27EC3150-A24F-5AD5-80D8-DEF4299152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0" y="3600"/>
              <a:ext cx="77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400" b="1" dirty="0">
                  <a:latin typeface="Verdana" panose="020B0604030504040204" pitchFamily="34" charset="0"/>
                </a:rPr>
                <a:t>Interprete</a:t>
              </a:r>
            </a:p>
            <a:p>
              <a:pPr algn="ctr"/>
              <a:r>
                <a:rPr lang="it-IT" altLang="it-IT" sz="1400" dirty="0">
                  <a:latin typeface="Verdana" panose="020B0604030504040204" pitchFamily="34" charset="0"/>
                </a:rPr>
                <a:t>SPARC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1278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Rectangle 2">
            <a:extLst>
              <a:ext uri="{FF2B5EF4-FFF2-40B4-BE49-F238E27FC236}">
                <a16:creationId xmlns:a16="http://schemas.microsoft.com/office/drawing/2014/main" id="{BFF4F808-7692-88D7-E6B4-874CD6AF58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-92075"/>
            <a:ext cx="8839200" cy="1143000"/>
          </a:xfrm>
        </p:spPr>
        <p:txBody>
          <a:bodyPr/>
          <a:lstStyle/>
          <a:p>
            <a:pPr eaLnBrk="1" hangingPunct="1"/>
            <a:r>
              <a:rPr lang="it-IT" altLang="it-IT" dirty="0"/>
              <a:t>Confronto con il linguaggio C++</a:t>
            </a:r>
          </a:p>
        </p:txBody>
      </p:sp>
      <p:grpSp>
        <p:nvGrpSpPr>
          <p:cNvPr id="3085" name="Group 3">
            <a:extLst>
              <a:ext uri="{FF2B5EF4-FFF2-40B4-BE49-F238E27FC236}">
                <a16:creationId xmlns:a16="http://schemas.microsoft.com/office/drawing/2014/main" id="{D07533F6-A22A-73EC-FE19-070C3AAC2B18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905000"/>
            <a:ext cx="7924800" cy="4419600"/>
            <a:chOff x="384" y="1200"/>
            <a:chExt cx="4992" cy="2784"/>
          </a:xfrm>
        </p:grpSpPr>
        <p:graphicFrame>
          <p:nvGraphicFramePr>
            <p:cNvPr id="3074" name="Object 4">
              <a:extLst>
                <a:ext uri="{FF2B5EF4-FFF2-40B4-BE49-F238E27FC236}">
                  <a16:creationId xmlns:a16="http://schemas.microsoft.com/office/drawing/2014/main" id="{B34733EA-2A58-AC6F-9FCD-CB9850A18B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2160"/>
            <a:ext cx="567" cy="8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2" imgW="13563600" imgH="19570700" progId="MS_ClipArt_Gallery.2">
                    <p:embed/>
                  </p:oleObj>
                </mc:Choice>
                <mc:Fallback>
                  <p:oleObj name="Clip" r:id="rId2" imgW="13563600" imgH="19570700" progId="MS_ClipArt_Gallery.2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2160"/>
                          <a:ext cx="567" cy="8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" name="Object 5">
              <a:extLst>
                <a:ext uri="{FF2B5EF4-FFF2-40B4-BE49-F238E27FC236}">
                  <a16:creationId xmlns:a16="http://schemas.microsoft.com/office/drawing/2014/main" id="{3D3BCF85-756F-31E9-9C99-6CC7377BAD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04" y="1296"/>
            <a:ext cx="528" cy="5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7620000" imgH="7302500" progId="MS_ClipArt_Gallery.2">
                    <p:embed/>
                  </p:oleObj>
                </mc:Choice>
                <mc:Fallback>
                  <p:oleObj name="Clip" r:id="rId4" imgW="7620000" imgH="7302500" progId="MS_ClipArt_Gallery.2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1296"/>
                          <a:ext cx="528" cy="5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6" name="Text Box 6">
              <a:extLst>
                <a:ext uri="{FF2B5EF4-FFF2-40B4-BE49-F238E27FC236}">
                  <a16:creationId xmlns:a16="http://schemas.microsoft.com/office/drawing/2014/main" id="{B996BBEE-32B3-4033-8015-2481E53573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920"/>
              <a:ext cx="88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1600">
                  <a:latin typeface="Verdana" panose="020B0604030504040204" pitchFamily="34" charset="0"/>
                </a:rPr>
                <a:t>Codice C++</a:t>
              </a:r>
            </a:p>
          </p:txBody>
        </p:sp>
        <p:sp>
          <p:nvSpPr>
            <p:cNvPr id="3087" name="Text Box 7">
              <a:extLst>
                <a:ext uri="{FF2B5EF4-FFF2-40B4-BE49-F238E27FC236}">
                  <a16:creationId xmlns:a16="http://schemas.microsoft.com/office/drawing/2014/main" id="{E74FC2E9-A742-4D79-7E3A-0EA3F24773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1" y="1920"/>
              <a:ext cx="17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600">
                  <a:latin typeface="Verdana" panose="020B0604030504040204" pitchFamily="34" charset="0"/>
                </a:rPr>
                <a:t>Compilatore per Pentium</a:t>
              </a:r>
            </a:p>
          </p:txBody>
        </p:sp>
        <p:graphicFrame>
          <p:nvGraphicFramePr>
            <p:cNvPr id="3076" name="Object 8">
              <a:extLst>
                <a:ext uri="{FF2B5EF4-FFF2-40B4-BE49-F238E27FC236}">
                  <a16:creationId xmlns:a16="http://schemas.microsoft.com/office/drawing/2014/main" id="{53D423A2-7206-9ED0-7B7B-03A178D07D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56" y="2208"/>
            <a:ext cx="624" cy="5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17614900" imgH="15849600" progId="MS_ClipArt_Gallery.2">
                    <p:embed/>
                  </p:oleObj>
                </mc:Choice>
                <mc:Fallback>
                  <p:oleObj name="Clip" r:id="rId6" imgW="17614900" imgH="15849600" progId="MS_ClipArt_Gallery.2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2208"/>
                          <a:ext cx="624" cy="5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7" name="Object 9">
              <a:extLst>
                <a:ext uri="{FF2B5EF4-FFF2-40B4-BE49-F238E27FC236}">
                  <a16:creationId xmlns:a16="http://schemas.microsoft.com/office/drawing/2014/main" id="{E05DFF89-4F2C-D290-F49B-67DDA348D1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56" y="3120"/>
            <a:ext cx="720" cy="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8" imgW="23291800" imgH="23253700" progId="MS_ClipArt_Gallery.2">
                    <p:embed/>
                  </p:oleObj>
                </mc:Choice>
                <mc:Fallback>
                  <p:oleObj name="Clip" r:id="rId8" imgW="23291800" imgH="23253700" progId="MS_ClipArt_Gallery.2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3120"/>
                          <a:ext cx="720" cy="7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8" name="Text Box 10">
              <a:extLst>
                <a:ext uri="{FF2B5EF4-FFF2-40B4-BE49-F238E27FC236}">
                  <a16:creationId xmlns:a16="http://schemas.microsoft.com/office/drawing/2014/main" id="{097F5DD8-802F-C0F5-05C3-6A9C79E90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2" y="1776"/>
              <a:ext cx="57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400">
                  <a:latin typeface="Verdana" panose="020B0604030504040204" pitchFamily="34" charset="0"/>
                </a:rPr>
                <a:t>Pentium</a:t>
              </a:r>
            </a:p>
          </p:txBody>
        </p:sp>
        <p:sp>
          <p:nvSpPr>
            <p:cNvPr id="3089" name="Text Box 11">
              <a:extLst>
                <a:ext uri="{FF2B5EF4-FFF2-40B4-BE49-F238E27FC236}">
                  <a16:creationId xmlns:a16="http://schemas.microsoft.com/office/drawing/2014/main" id="{E24DFAF6-B34F-73E7-848E-2EBCA4EBD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8" y="2736"/>
              <a:ext cx="6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400">
                  <a:latin typeface="Verdana" panose="020B0604030504040204" pitchFamily="34" charset="0"/>
                </a:rPr>
                <a:t>PowerPC</a:t>
              </a:r>
            </a:p>
          </p:txBody>
        </p:sp>
        <p:graphicFrame>
          <p:nvGraphicFramePr>
            <p:cNvPr id="3078" name="Object 12">
              <a:extLst>
                <a:ext uri="{FF2B5EF4-FFF2-40B4-BE49-F238E27FC236}">
                  <a16:creationId xmlns:a16="http://schemas.microsoft.com/office/drawing/2014/main" id="{E6FC2293-4A2C-6DD9-11AB-EAD4FC0C0F8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016" y="1200"/>
            <a:ext cx="672" cy="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icrosoft ClipArt Gallery" r:id="rId10" imgW="20891500" imgH="22923500" progId="MS_ClipArt_Gallery">
                    <p:embed/>
                  </p:oleObj>
                </mc:Choice>
                <mc:Fallback>
                  <p:oleObj name="Microsoft ClipArt Gallery" r:id="rId10" imgW="20891500" imgH="22923500" progId="MS_ClipArt_Gallery">
                    <p:embed/>
                    <p:pic>
                      <p:nvPicPr>
                        <p:cNvPr id="0" name="Object 1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1200"/>
                          <a:ext cx="672" cy="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90" name="Text Box 13">
              <a:extLst>
                <a:ext uri="{FF2B5EF4-FFF2-40B4-BE49-F238E27FC236}">
                  <a16:creationId xmlns:a16="http://schemas.microsoft.com/office/drawing/2014/main" id="{70F2E502-35BE-8D6F-6A57-0E2672A5D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1" y="3792"/>
              <a:ext cx="49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400">
                  <a:latin typeface="Verdana" panose="020B0604030504040204" pitchFamily="34" charset="0"/>
                </a:rPr>
                <a:t>SPARC</a:t>
              </a:r>
            </a:p>
          </p:txBody>
        </p:sp>
        <p:sp>
          <p:nvSpPr>
            <p:cNvPr id="3091" name="Line 14">
              <a:extLst>
                <a:ext uri="{FF2B5EF4-FFF2-40B4-BE49-F238E27FC236}">
                  <a16:creationId xmlns:a16="http://schemas.microsoft.com/office/drawing/2014/main" id="{BC27658D-9130-9903-2A31-272863B27A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" y="1680"/>
              <a:ext cx="115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graphicFrame>
          <p:nvGraphicFramePr>
            <p:cNvPr id="3079" name="Object 15">
              <a:extLst>
                <a:ext uri="{FF2B5EF4-FFF2-40B4-BE49-F238E27FC236}">
                  <a16:creationId xmlns:a16="http://schemas.microsoft.com/office/drawing/2014/main" id="{7EFF7E29-D80D-3685-B1DF-19C067EE72D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016" y="2160"/>
            <a:ext cx="672" cy="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icrosoft ClipArt Gallery" r:id="rId10" imgW="20891500" imgH="22923500" progId="MS_ClipArt_Gallery">
                    <p:embed/>
                  </p:oleObj>
                </mc:Choice>
                <mc:Fallback>
                  <p:oleObj name="Microsoft ClipArt Gallery" r:id="rId10" imgW="20891500" imgH="22923500" progId="MS_ClipArt_Gallery">
                    <p:embed/>
                    <p:pic>
                      <p:nvPicPr>
                        <p:cNvPr id="0" name="Object 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2160"/>
                          <a:ext cx="672" cy="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92" name="Text Box 16">
              <a:extLst>
                <a:ext uri="{FF2B5EF4-FFF2-40B4-BE49-F238E27FC236}">
                  <a16:creationId xmlns:a16="http://schemas.microsoft.com/office/drawing/2014/main" id="{297BEEF6-72A6-295C-28EC-8E8FE61D3A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5" y="2784"/>
              <a:ext cx="173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600">
                  <a:latin typeface="Verdana" panose="020B0604030504040204" pitchFamily="34" charset="0"/>
                </a:rPr>
                <a:t>Compilatore per PowerPc</a:t>
              </a:r>
            </a:p>
          </p:txBody>
        </p:sp>
        <p:graphicFrame>
          <p:nvGraphicFramePr>
            <p:cNvPr id="3080" name="Object 17">
              <a:extLst>
                <a:ext uri="{FF2B5EF4-FFF2-40B4-BE49-F238E27FC236}">
                  <a16:creationId xmlns:a16="http://schemas.microsoft.com/office/drawing/2014/main" id="{4927B56E-8595-62A7-2686-5313F1B5A97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016" y="3024"/>
            <a:ext cx="672" cy="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icrosoft ClipArt Gallery" r:id="rId10" imgW="20891500" imgH="22923500" progId="MS_ClipArt_Gallery">
                    <p:embed/>
                  </p:oleObj>
                </mc:Choice>
                <mc:Fallback>
                  <p:oleObj name="Microsoft ClipArt Gallery" r:id="rId10" imgW="20891500" imgH="22923500" progId="MS_ClipArt_Gallery">
                    <p:embed/>
                    <p:pic>
                      <p:nvPicPr>
                        <p:cNvPr id="0" name="Object 1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3024"/>
                          <a:ext cx="672" cy="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93" name="Text Box 18">
              <a:extLst>
                <a:ext uri="{FF2B5EF4-FFF2-40B4-BE49-F238E27FC236}">
                  <a16:creationId xmlns:a16="http://schemas.microsoft.com/office/drawing/2014/main" id="{A55FEB45-0E2A-D209-4E7E-E13DA447E5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4" y="3676"/>
              <a:ext cx="16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600">
                  <a:latin typeface="Verdana" panose="020B0604030504040204" pitchFamily="34" charset="0"/>
                </a:rPr>
                <a:t>Compilatore per SPARC</a:t>
              </a:r>
            </a:p>
          </p:txBody>
        </p:sp>
        <p:sp>
          <p:nvSpPr>
            <p:cNvPr id="3094" name="Line 19">
              <a:extLst>
                <a:ext uri="{FF2B5EF4-FFF2-40B4-BE49-F238E27FC236}">
                  <a16:creationId xmlns:a16="http://schemas.microsoft.com/office/drawing/2014/main" id="{5B1E6031-17D3-B957-5164-D956E2E5AA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544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095" name="Line 20">
              <a:extLst>
                <a:ext uri="{FF2B5EF4-FFF2-40B4-BE49-F238E27FC236}">
                  <a16:creationId xmlns:a16="http://schemas.microsoft.com/office/drawing/2014/main" id="{9F62A777-6D7A-03F4-F132-05A99B96D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592"/>
              <a:ext cx="1104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graphicFrame>
          <p:nvGraphicFramePr>
            <p:cNvPr id="3081" name="Object 21">
              <a:extLst>
                <a:ext uri="{FF2B5EF4-FFF2-40B4-BE49-F238E27FC236}">
                  <a16:creationId xmlns:a16="http://schemas.microsoft.com/office/drawing/2014/main" id="{FBA267D2-8011-793E-59EF-479A2008AD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6" y="1488"/>
            <a:ext cx="561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2" imgW="14871700" imgH="6083300" progId="MS_ClipArt_Gallery.2">
                    <p:embed/>
                  </p:oleObj>
                </mc:Choice>
                <mc:Fallback>
                  <p:oleObj name="Clip" r:id="rId12" imgW="14871700" imgH="6083300" progId="MS_ClipArt_Gallery.2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1488"/>
                          <a:ext cx="561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2" name="Object 22">
              <a:extLst>
                <a:ext uri="{FF2B5EF4-FFF2-40B4-BE49-F238E27FC236}">
                  <a16:creationId xmlns:a16="http://schemas.microsoft.com/office/drawing/2014/main" id="{C7FF2DCB-6D1E-4515-441C-8B670996D3A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7" y="3332"/>
            <a:ext cx="561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2" imgW="14871700" imgH="6083300" progId="MS_ClipArt_Gallery.2">
                    <p:embed/>
                  </p:oleObj>
                </mc:Choice>
                <mc:Fallback>
                  <p:oleObj name="Clip" r:id="rId12" imgW="14871700" imgH="6083300" progId="MS_ClipArt_Gallery.2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7" y="3332"/>
                          <a:ext cx="561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3" name="Object 23">
              <a:extLst>
                <a:ext uri="{FF2B5EF4-FFF2-40B4-BE49-F238E27FC236}">
                  <a16:creationId xmlns:a16="http://schemas.microsoft.com/office/drawing/2014/main" id="{CC35AB1D-1454-E91F-A727-FA0749D09A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19" y="2468"/>
            <a:ext cx="561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2" imgW="14871700" imgH="6083300" progId="MS_ClipArt_Gallery.2">
                    <p:embed/>
                  </p:oleObj>
                </mc:Choice>
                <mc:Fallback>
                  <p:oleObj name="Clip" r:id="rId12" imgW="14871700" imgH="6083300" progId="MS_ClipArt_Gallery.2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9" y="2468"/>
                          <a:ext cx="561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96" name="Text Box 24">
              <a:extLst>
                <a:ext uri="{FF2B5EF4-FFF2-40B4-BE49-F238E27FC236}">
                  <a16:creationId xmlns:a16="http://schemas.microsoft.com/office/drawing/2014/main" id="{530D1D9A-02BC-3811-9CD9-54A4B51FDA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728"/>
              <a:ext cx="9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400">
                  <a:latin typeface="Verdana" panose="020B0604030504040204" pitchFamily="34" charset="0"/>
                </a:rPr>
                <a:t>Codice Oggetto</a:t>
              </a:r>
            </a:p>
          </p:txBody>
        </p:sp>
        <p:sp>
          <p:nvSpPr>
            <p:cNvPr id="3097" name="Text Box 25">
              <a:extLst>
                <a:ext uri="{FF2B5EF4-FFF2-40B4-BE49-F238E27FC236}">
                  <a16:creationId xmlns:a16="http://schemas.microsoft.com/office/drawing/2014/main" id="{E5348C01-8974-2034-33AF-4C411ECF91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3552"/>
              <a:ext cx="9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400">
                  <a:latin typeface="Verdana" panose="020B0604030504040204" pitchFamily="34" charset="0"/>
                </a:rPr>
                <a:t>Codice Oggetto</a:t>
              </a:r>
            </a:p>
          </p:txBody>
        </p:sp>
        <p:sp>
          <p:nvSpPr>
            <p:cNvPr id="3098" name="Text Box 26">
              <a:extLst>
                <a:ext uri="{FF2B5EF4-FFF2-40B4-BE49-F238E27FC236}">
                  <a16:creationId xmlns:a16="http://schemas.microsoft.com/office/drawing/2014/main" id="{35A2F449-0919-E969-191A-7BF4E315ED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688"/>
              <a:ext cx="9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400">
                  <a:latin typeface="Verdana" panose="020B0604030504040204" pitchFamily="34" charset="0"/>
                </a:rPr>
                <a:t>Codice Oggetto</a:t>
              </a:r>
            </a:p>
          </p:txBody>
        </p:sp>
        <p:sp>
          <p:nvSpPr>
            <p:cNvPr id="3099" name="Line 27">
              <a:extLst>
                <a:ext uri="{FF2B5EF4-FFF2-40B4-BE49-F238E27FC236}">
                  <a16:creationId xmlns:a16="http://schemas.microsoft.com/office/drawing/2014/main" id="{512E8872-C7E6-4BE5-D712-E3F1C9DC33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40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100" name="Line 28">
              <a:extLst>
                <a:ext uri="{FF2B5EF4-FFF2-40B4-BE49-F238E27FC236}">
                  <a16:creationId xmlns:a16="http://schemas.microsoft.com/office/drawing/2014/main" id="{F7A6C7C6-1842-F01D-FB07-33357FB702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536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101" name="Line 29">
              <a:extLst>
                <a:ext uri="{FF2B5EF4-FFF2-40B4-BE49-F238E27FC236}">
                  <a16:creationId xmlns:a16="http://schemas.microsoft.com/office/drawing/2014/main" id="{A613496E-63A0-50A8-6DF1-0AEE71D646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544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102" name="Line 30">
              <a:extLst>
                <a:ext uri="{FF2B5EF4-FFF2-40B4-BE49-F238E27FC236}">
                  <a16:creationId xmlns:a16="http://schemas.microsoft.com/office/drawing/2014/main" id="{3E31F70B-EB1C-8102-77E9-90336FE1AE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536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103" name="Line 31">
              <a:extLst>
                <a:ext uri="{FF2B5EF4-FFF2-40B4-BE49-F238E27FC236}">
                  <a16:creationId xmlns:a16="http://schemas.microsoft.com/office/drawing/2014/main" id="{B10D8737-78C5-6B81-06D9-2B4855EF73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544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104" name="Line 32">
              <a:extLst>
                <a:ext uri="{FF2B5EF4-FFF2-40B4-BE49-F238E27FC236}">
                  <a16:creationId xmlns:a16="http://schemas.microsoft.com/office/drawing/2014/main" id="{F41ACB58-BA37-25E2-6F39-115D48F3E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40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1D51480-F776-453E-A971-654F364F6E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3063" y="-419100"/>
            <a:ext cx="7543800" cy="1295400"/>
          </a:xfrm>
        </p:spPr>
        <p:txBody>
          <a:bodyPr/>
          <a:lstStyle/>
          <a:p>
            <a:pPr eaLnBrk="1" hangingPunct="1"/>
            <a:r>
              <a:rPr lang="it-IT" altLang="it-IT" sz="3600" dirty="0"/>
              <a:t>La macchina virtuale….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E8A89A3-F3DA-C84E-555A-B8C49C933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9625" y="1052736"/>
            <a:ext cx="4038600" cy="5616624"/>
          </a:xfrm>
        </p:spPr>
        <p:txBody>
          <a:bodyPr/>
          <a:lstStyle/>
          <a:p>
            <a:pPr eaLnBrk="1" hangingPunct="1"/>
            <a:r>
              <a:rPr lang="it-IT" altLang="it-IT" sz="2000" dirty="0"/>
              <a:t>In realtà la Java Virtual Machine è più di un semplice interprete….è – appunto - una «macchina virtuale» costituita da:</a:t>
            </a:r>
          </a:p>
          <a:p>
            <a:pPr lvl="1" eaLnBrk="1" hangingPunct="1"/>
            <a:r>
              <a:rPr lang="it-IT" altLang="it-IT" sz="1600" dirty="0"/>
              <a:t>Un processore virtuale</a:t>
            </a:r>
          </a:p>
          <a:p>
            <a:pPr lvl="1" eaLnBrk="1" hangingPunct="1"/>
            <a:r>
              <a:rPr lang="it-IT" altLang="it-IT" sz="1600" dirty="0"/>
              <a:t>un sistema operativo virtuale</a:t>
            </a:r>
          </a:p>
          <a:p>
            <a:pPr marL="349250" lvl="1" indent="-4763" eaLnBrk="1" hangingPunct="1">
              <a:buNone/>
            </a:pPr>
            <a:r>
              <a:rPr lang="it-IT" altLang="it-IT" sz="1600" dirty="0"/>
              <a:t>che  costituiscono, nel loro insieme, un ambiente virtuale in cui eseguire il codice Java</a:t>
            </a:r>
          </a:p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r>
              <a:rPr lang="it-IT" altLang="it-IT" sz="2000" dirty="0"/>
              <a:t>In altre parole il compilatore Java genera il codice per un processore “virtuale”. Il codice Java è compilato riferendosi a questo processore “campione” (“tipo”) che non è quello reale.</a:t>
            </a:r>
          </a:p>
          <a:p>
            <a:pPr eaLnBrk="1" hangingPunct="1"/>
            <a:endParaRPr lang="it-IT" altLang="it-IT" sz="2400" dirty="0">
              <a:latin typeface="Comic Sans MS" panose="030F0902030302020204" pitchFamily="66" charset="0"/>
            </a:endParaRPr>
          </a:p>
        </p:txBody>
      </p:sp>
      <p:grpSp>
        <p:nvGrpSpPr>
          <p:cNvPr id="17412" name="Group 4">
            <a:extLst>
              <a:ext uri="{FF2B5EF4-FFF2-40B4-BE49-F238E27FC236}">
                <a16:creationId xmlns:a16="http://schemas.microsoft.com/office/drawing/2014/main" id="{EEE3BC31-F68D-B567-814C-1C9B23B08E07}"/>
              </a:ext>
            </a:extLst>
          </p:cNvPr>
          <p:cNvGrpSpPr>
            <a:grpSpLocks/>
          </p:cNvGrpSpPr>
          <p:nvPr/>
        </p:nvGrpSpPr>
        <p:grpSpPr bwMode="auto">
          <a:xfrm>
            <a:off x="4112048" y="1340768"/>
            <a:ext cx="4876800" cy="4724400"/>
            <a:chOff x="1824" y="1008"/>
            <a:chExt cx="3072" cy="2976"/>
          </a:xfrm>
        </p:grpSpPr>
        <p:sp>
          <p:nvSpPr>
            <p:cNvPr id="17413" name="AutoShape 5">
              <a:extLst>
                <a:ext uri="{FF2B5EF4-FFF2-40B4-BE49-F238E27FC236}">
                  <a16:creationId xmlns:a16="http://schemas.microsoft.com/office/drawing/2014/main" id="{A6B8AB48-1208-7F2F-ECC2-A612CA785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008"/>
              <a:ext cx="3072" cy="2976"/>
            </a:xfrm>
            <a:prstGeom prst="parallelogram">
              <a:avLst>
                <a:gd name="adj" fmla="val 25806"/>
              </a:avLst>
            </a:prstGeom>
            <a:solidFill>
              <a:srgbClr val="00808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it-IT" altLang="it-IT" sz="2400">
                <a:latin typeface="Times New Roman" panose="02020603050405020304" pitchFamily="18" charset="0"/>
              </a:endParaRPr>
            </a:p>
            <a:p>
              <a:pPr algn="ctr"/>
              <a:endParaRPr lang="it-IT" altLang="it-IT" sz="2400">
                <a:latin typeface="Times New Roman" panose="02020603050405020304" pitchFamily="18" charset="0"/>
              </a:endParaRPr>
            </a:p>
            <a:p>
              <a:pPr algn="ctr"/>
              <a:endParaRPr lang="it-IT" altLang="it-IT" sz="2400">
                <a:latin typeface="Times New Roman" panose="02020603050405020304" pitchFamily="18" charset="0"/>
              </a:endParaRPr>
            </a:p>
            <a:p>
              <a:pPr algn="ctr"/>
              <a:endParaRPr lang="it-IT" altLang="it-IT" sz="2400">
                <a:latin typeface="Times New Roman" panose="02020603050405020304" pitchFamily="18" charset="0"/>
              </a:endParaRPr>
            </a:p>
            <a:p>
              <a:pPr algn="ctr"/>
              <a:endParaRPr lang="it-IT" altLang="it-IT" sz="2400">
                <a:latin typeface="Times New Roman" panose="02020603050405020304" pitchFamily="18" charset="0"/>
              </a:endParaRPr>
            </a:p>
            <a:p>
              <a:pPr algn="ctr"/>
              <a:endParaRPr lang="it-IT" altLang="it-IT" sz="2400">
                <a:latin typeface="Times New Roman" panose="02020603050405020304" pitchFamily="18" charset="0"/>
              </a:endParaRPr>
            </a:p>
            <a:p>
              <a:pPr algn="ctr"/>
              <a:endParaRPr lang="it-IT" altLang="it-IT" sz="2400">
                <a:latin typeface="Times New Roman" panose="02020603050405020304" pitchFamily="18" charset="0"/>
              </a:endParaRPr>
            </a:p>
            <a:p>
              <a:pPr algn="ctr"/>
              <a:endParaRPr lang="it-IT" altLang="it-IT" sz="2400">
                <a:latin typeface="Times New Roman" panose="02020603050405020304" pitchFamily="18" charset="0"/>
              </a:endParaRPr>
            </a:p>
            <a:p>
              <a:pPr algn="ctr"/>
              <a:endParaRPr lang="it-IT" altLang="it-IT" sz="2400">
                <a:latin typeface="Times New Roman" panose="02020603050405020304" pitchFamily="18" charset="0"/>
              </a:endParaRPr>
            </a:p>
            <a:p>
              <a:pPr algn="ctr"/>
              <a:endParaRPr lang="it-IT" altLang="it-IT" sz="2400">
                <a:latin typeface="Times New Roman" panose="02020603050405020304" pitchFamily="18" charset="0"/>
              </a:endParaRPr>
            </a:p>
            <a:p>
              <a:pPr algn="ctr"/>
              <a:r>
                <a:rPr lang="it-IT" altLang="it-IT" sz="2400">
                  <a:latin typeface="Times New Roman" panose="02020603050405020304" pitchFamily="18" charset="0"/>
                </a:rPr>
                <a:t>Java Virtual Machine           </a:t>
              </a:r>
            </a:p>
          </p:txBody>
        </p:sp>
        <p:sp>
          <p:nvSpPr>
            <p:cNvPr id="17414" name="Oval 6">
              <a:extLst>
                <a:ext uri="{FF2B5EF4-FFF2-40B4-BE49-F238E27FC236}">
                  <a16:creationId xmlns:a16="http://schemas.microsoft.com/office/drawing/2014/main" id="{391D070A-B1CB-86DF-EFDE-4EA8E6985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104"/>
              <a:ext cx="1243" cy="115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2000">
                  <a:latin typeface="Times New Roman" panose="02020603050405020304" pitchFamily="18" charset="0"/>
                </a:rPr>
                <a:t>Processore</a:t>
              </a:r>
            </a:p>
            <a:p>
              <a:pPr algn="ctr"/>
              <a:r>
                <a:rPr lang="it-IT" altLang="it-IT" sz="2000">
                  <a:latin typeface="Times New Roman" panose="02020603050405020304" pitchFamily="18" charset="0"/>
                </a:rPr>
                <a:t>Virtuale</a:t>
              </a:r>
              <a:endParaRPr lang="it-IT" altLang="it-IT" sz="2400">
                <a:latin typeface="Times New Roman" panose="02020603050405020304" pitchFamily="18" charset="0"/>
              </a:endParaRPr>
            </a:p>
          </p:txBody>
        </p:sp>
        <p:sp>
          <p:nvSpPr>
            <p:cNvPr id="17415" name="Oval 7">
              <a:extLst>
                <a:ext uri="{FF2B5EF4-FFF2-40B4-BE49-F238E27FC236}">
                  <a16:creationId xmlns:a16="http://schemas.microsoft.com/office/drawing/2014/main" id="{403622AE-98E7-39BC-914D-4FF877EDC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304"/>
              <a:ext cx="1243" cy="115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2000">
                  <a:latin typeface="Times New Roman" panose="02020603050405020304" pitchFamily="18" charset="0"/>
                </a:rPr>
                <a:t>S.O.</a:t>
              </a:r>
            </a:p>
            <a:p>
              <a:pPr algn="ctr"/>
              <a:r>
                <a:rPr lang="it-IT" altLang="it-IT" sz="2000">
                  <a:latin typeface="Times New Roman" panose="02020603050405020304" pitchFamily="18" charset="0"/>
                </a:rPr>
                <a:t> virtuale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179A7D4-CC90-5C51-AB49-D68C8A1B30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333375"/>
            <a:ext cx="7326312" cy="1168400"/>
          </a:xfrm>
        </p:spPr>
        <p:txBody>
          <a:bodyPr/>
          <a:lstStyle/>
          <a:p>
            <a:pPr eaLnBrk="1" hangingPunct="1"/>
            <a:br>
              <a:rPr lang="it-IT" altLang="it-IT" sz="3500"/>
            </a:br>
            <a:br>
              <a:rPr lang="it-IT" altLang="it-IT" sz="3500"/>
            </a:br>
            <a:br>
              <a:rPr lang="it-IT" altLang="it-IT" sz="3500"/>
            </a:br>
            <a:r>
              <a:rPr lang="it-IT" altLang="it-IT" sz="3500"/>
              <a:t>Sviluppo di una applicazione Java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4226F3D-A4C7-5A91-9E30-DE119AE9EE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 sz="2600" dirty="0"/>
              <a:t>La preparazione e l’esecuzione di un programma Java consiste di 5 fasi</a:t>
            </a:r>
          </a:p>
          <a:p>
            <a:pPr eaLnBrk="1" hangingPunct="1"/>
            <a:r>
              <a:rPr lang="it-IT" altLang="it-IT" dirty="0" err="1"/>
              <a:t>Editazione</a:t>
            </a:r>
            <a:r>
              <a:rPr lang="it-IT" altLang="it-IT" dirty="0"/>
              <a:t> (va bene un qualsiasi editor)</a:t>
            </a:r>
          </a:p>
          <a:p>
            <a:pPr eaLnBrk="1" hangingPunct="1"/>
            <a:r>
              <a:rPr lang="it-IT" altLang="it-IT" dirty="0"/>
              <a:t>Compilazione </a:t>
            </a:r>
          </a:p>
          <a:p>
            <a:pPr eaLnBrk="1" hangingPunct="1"/>
            <a:r>
              <a:rPr lang="it-IT" altLang="it-IT" dirty="0"/>
              <a:t>Caricamento</a:t>
            </a:r>
          </a:p>
          <a:p>
            <a:pPr eaLnBrk="1" hangingPunct="1"/>
            <a:r>
              <a:rPr lang="it-IT" altLang="it-IT" dirty="0"/>
              <a:t>Verifica</a:t>
            </a:r>
          </a:p>
          <a:p>
            <a:pPr eaLnBrk="1" hangingPunct="1"/>
            <a:r>
              <a:rPr lang="it-IT" altLang="it-IT" dirty="0"/>
              <a:t>Interpretazione e Esecuzione</a:t>
            </a:r>
          </a:p>
          <a:p>
            <a:pPr lvl="1" eaLnBrk="1" hangingPunct="1"/>
            <a:endParaRPr lang="it-IT" altLang="it-IT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F2BFD5-749C-12BF-45A2-7AE0F7C475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7543800" cy="774700"/>
          </a:xfrm>
        </p:spPr>
        <p:txBody>
          <a:bodyPr/>
          <a:lstStyle/>
          <a:p>
            <a:pPr eaLnBrk="1" hangingPunct="1"/>
            <a:r>
              <a:rPr lang="it-IT" altLang="it-IT" sz="3500"/>
              <a:t>Sviluppo di una applicazione Java</a:t>
            </a:r>
          </a:p>
        </p:txBody>
      </p:sp>
      <p:sp>
        <p:nvSpPr>
          <p:cNvPr id="25603" name="Text Box 3">
            <a:extLst>
              <a:ext uri="{FF2B5EF4-FFF2-40B4-BE49-F238E27FC236}">
                <a16:creationId xmlns:a16="http://schemas.microsoft.com/office/drawing/2014/main" id="{F111376D-97FE-92EF-0F17-41429F0C8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1614488"/>
            <a:ext cx="7415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2000">
                <a:latin typeface="Times New Roman" panose="02020603050405020304" pitchFamily="18" charset="0"/>
              </a:rPr>
              <a:t>La preparazione e l’esecuzione di un programma Java consiste di 5 fasi</a:t>
            </a:r>
          </a:p>
        </p:txBody>
      </p:sp>
      <p:sp>
        <p:nvSpPr>
          <p:cNvPr id="71684" name="Text Box 4">
            <a:extLst>
              <a:ext uri="{FF2B5EF4-FFF2-40B4-BE49-F238E27FC236}">
                <a16:creationId xmlns:a16="http://schemas.microsoft.com/office/drawing/2014/main" id="{6E0B01E3-99BB-4793-28B1-E90AC1E9E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" y="2290763"/>
            <a:ext cx="7874000" cy="415925"/>
          </a:xfrm>
          <a:prstGeom prst="rect">
            <a:avLst/>
          </a:prstGeom>
          <a:solidFill>
            <a:srgbClr val="EAEAEA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it-IT" sz="2000" b="1" i="1">
                <a:latin typeface="Times New Roman" pitchFamily="18" charset="0"/>
              </a:rPr>
              <a:t>1) La fase di EDIT</a:t>
            </a:r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34BC873E-5E94-4C27-8FE0-417D91DF3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962400"/>
            <a:ext cx="1209675" cy="682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Verdana" panose="020B0604030504040204" pitchFamily="34" charset="0"/>
              </a:rPr>
              <a:t>Editor</a:t>
            </a:r>
            <a:endParaRPr lang="it-IT" altLang="it-IT" sz="2000">
              <a:latin typeface="Times New Roman" panose="02020603050405020304" pitchFamily="18" charset="0"/>
            </a:endParaRPr>
          </a:p>
        </p:txBody>
      </p:sp>
      <p:sp>
        <p:nvSpPr>
          <p:cNvPr id="25606" name="AutoShape 6">
            <a:extLst>
              <a:ext uri="{FF2B5EF4-FFF2-40B4-BE49-F238E27FC236}">
                <a16:creationId xmlns:a16="http://schemas.microsoft.com/office/drawing/2014/main" id="{75BF6C06-358C-BDCF-61B8-7FC10967A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191000"/>
            <a:ext cx="990600" cy="228600"/>
          </a:xfrm>
          <a:prstGeom prst="leftRightArrow">
            <a:avLst>
              <a:gd name="adj1" fmla="val 50000"/>
              <a:gd name="adj2" fmla="val 8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5607" name="AutoShape 7">
            <a:extLst>
              <a:ext uri="{FF2B5EF4-FFF2-40B4-BE49-F238E27FC236}">
                <a16:creationId xmlns:a16="http://schemas.microsoft.com/office/drawing/2014/main" id="{3E9057B8-BE51-5D07-D2A8-8CBFDAA83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962400"/>
            <a:ext cx="2514600" cy="914400"/>
          </a:xfrm>
          <a:prstGeom prst="can">
            <a:avLst>
              <a:gd name="adj" fmla="val 29514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it-IT" sz="2000">
              <a:latin typeface="Verdana" panose="020B0604030504040204" pitchFamily="34" charset="0"/>
            </a:endParaRPr>
          </a:p>
        </p:txBody>
      </p:sp>
      <p:sp>
        <p:nvSpPr>
          <p:cNvPr id="25608" name="Text Box 8">
            <a:extLst>
              <a:ext uri="{FF2B5EF4-FFF2-40B4-BE49-F238E27FC236}">
                <a16:creationId xmlns:a16="http://schemas.microsoft.com/office/drawing/2014/main" id="{4110EFAF-7AD2-8329-8880-6804AA50E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048000"/>
            <a:ext cx="41529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>
                <a:latin typeface="Courier New" panose="02070309020205020404" pitchFamily="49" charset="0"/>
              </a:rPr>
              <a:t>C:\PRG&gt;edit PrimoEsempio.java</a:t>
            </a:r>
            <a:endParaRPr lang="it-IT" altLang="it-IT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25609" name="Text Box 9">
            <a:extLst>
              <a:ext uri="{FF2B5EF4-FFF2-40B4-BE49-F238E27FC236}">
                <a16:creationId xmlns:a16="http://schemas.microsoft.com/office/drawing/2014/main" id="{0CE22AE1-F696-2810-CB42-07A9F2F15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5257800"/>
            <a:ext cx="903649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i="1" dirty="0">
                <a:latin typeface="+mn-lt"/>
              </a:rPr>
              <a:t>Viene creato il file contenente il programma e, successivamente memorizzato nel disco.</a:t>
            </a:r>
          </a:p>
          <a:p>
            <a:r>
              <a:rPr lang="it-IT" altLang="it-IT" i="1" dirty="0">
                <a:latin typeface="+mn-lt"/>
              </a:rPr>
              <a:t>ATTENZIONE:  </a:t>
            </a:r>
            <a:r>
              <a:rPr lang="it-IT" altLang="it-IT" b="1" i="1" dirty="0">
                <a:solidFill>
                  <a:srgbClr val="FF0000"/>
                </a:solidFill>
                <a:latin typeface="+mn-lt"/>
              </a:rPr>
              <a:t>Il nome del file deve coincidere con  quello della classe (case sensitive !)</a:t>
            </a:r>
          </a:p>
        </p:txBody>
      </p:sp>
      <p:sp>
        <p:nvSpPr>
          <p:cNvPr id="25610" name="Text Box 10">
            <a:extLst>
              <a:ext uri="{FF2B5EF4-FFF2-40B4-BE49-F238E27FC236}">
                <a16:creationId xmlns:a16="http://schemas.microsoft.com/office/drawing/2014/main" id="{103618BE-5D18-F4C9-9501-FA592040C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886200"/>
            <a:ext cx="677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>
                <a:latin typeface="Verdana" panose="020B0604030504040204" pitchFamily="34" charset="0"/>
              </a:rPr>
              <a:t>Disk</a:t>
            </a:r>
          </a:p>
        </p:txBody>
      </p:sp>
      <p:sp>
        <p:nvSpPr>
          <p:cNvPr id="25611" name="Text Box 11">
            <a:extLst>
              <a:ext uri="{FF2B5EF4-FFF2-40B4-BE49-F238E27FC236}">
                <a16:creationId xmlns:a16="http://schemas.microsoft.com/office/drawing/2014/main" id="{65F98CDE-73F7-836A-B34F-BC5DD5226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267200"/>
            <a:ext cx="22621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600">
                <a:latin typeface="Courier New" panose="02070309020205020404" pitchFamily="49" charset="0"/>
              </a:rPr>
              <a:t>PrimoEsempio.java</a:t>
            </a:r>
            <a:endParaRPr lang="it-IT" altLang="it-IT" sz="160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25612" name="Picture 12">
            <a:extLst>
              <a:ext uri="{FF2B5EF4-FFF2-40B4-BE49-F238E27FC236}">
                <a16:creationId xmlns:a16="http://schemas.microsoft.com/office/drawing/2014/main" id="{5B299CD7-EBCD-6F99-109E-ADF6F6051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4267200"/>
            <a:ext cx="323850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>
            <a:extLst>
              <a:ext uri="{FF2B5EF4-FFF2-40B4-BE49-F238E27FC236}">
                <a16:creationId xmlns:a16="http://schemas.microsoft.com/office/drawing/2014/main" id="{7570F7F7-E1D9-C454-FE46-26F97C8B3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752600"/>
            <a:ext cx="8001000" cy="415925"/>
          </a:xfrm>
          <a:prstGeom prst="rect">
            <a:avLst/>
          </a:prstGeom>
          <a:solidFill>
            <a:srgbClr val="EAEAEA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it-IT" sz="2000" b="1" i="1">
                <a:latin typeface="Times New Roman" pitchFamily="18" charset="0"/>
              </a:rPr>
              <a:t>2) La fase di COMPILAZIONE</a:t>
            </a: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8340AF60-6A36-5CB6-78D5-A6C1F14C9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514600"/>
            <a:ext cx="428942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>
                <a:latin typeface="Courier New" panose="02070309020205020404" pitchFamily="49" charset="0"/>
              </a:rPr>
              <a:t>C:\PRG&gt;javac </a:t>
            </a:r>
            <a:r>
              <a:rPr lang="it-IT" altLang="it-IT">
                <a:solidFill>
                  <a:srgbClr val="000000"/>
                </a:solidFill>
                <a:latin typeface="Courier New" panose="02070309020205020404" pitchFamily="49" charset="0"/>
              </a:rPr>
              <a:t>PrimoEsempio.java</a:t>
            </a:r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ECEB41D6-A7EE-4375-2C91-B2187FDF2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953000"/>
            <a:ext cx="8153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i="1" dirty="0">
                <a:latin typeface="+mn-lt"/>
              </a:rPr>
              <a:t>Il compilatore JAVA traduce il programma nel corrispondente </a:t>
            </a:r>
            <a:r>
              <a:rPr lang="it-IT" altLang="it-IT" i="1" dirty="0" err="1">
                <a:latin typeface="+mn-lt"/>
              </a:rPr>
              <a:t>bytecode</a:t>
            </a:r>
            <a:r>
              <a:rPr lang="it-IT" altLang="it-IT" i="1" dirty="0">
                <a:latin typeface="+mn-lt"/>
              </a:rPr>
              <a:t>, il linguaggio compreso dall’interprete java, e lo salva su disco</a:t>
            </a:r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E7AEBF0D-A8D2-84BC-4F7A-94D3C82E6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505200"/>
            <a:ext cx="1362075" cy="682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Verdana" panose="020B0604030504040204" pitchFamily="34" charset="0"/>
              </a:rPr>
              <a:t>Compiler</a:t>
            </a:r>
            <a:endParaRPr lang="it-IT" altLang="it-IT" sz="2000">
              <a:latin typeface="Times New Roman" panose="02020603050405020304" pitchFamily="18" charset="0"/>
            </a:endParaRPr>
          </a:p>
        </p:txBody>
      </p:sp>
      <p:sp>
        <p:nvSpPr>
          <p:cNvPr id="26630" name="AutoShape 6">
            <a:extLst>
              <a:ext uri="{FF2B5EF4-FFF2-40B4-BE49-F238E27FC236}">
                <a16:creationId xmlns:a16="http://schemas.microsoft.com/office/drawing/2014/main" id="{1082F1DB-983C-0B93-EB92-C60E4E755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733800"/>
            <a:ext cx="990600" cy="228600"/>
          </a:xfrm>
          <a:prstGeom prst="leftRightArrow">
            <a:avLst>
              <a:gd name="adj1" fmla="val 50000"/>
              <a:gd name="adj2" fmla="val 8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6631" name="AutoShape 7">
            <a:extLst>
              <a:ext uri="{FF2B5EF4-FFF2-40B4-BE49-F238E27FC236}">
                <a16:creationId xmlns:a16="http://schemas.microsoft.com/office/drawing/2014/main" id="{DF356046-E51E-9E74-34AA-3F19C3D3D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200400"/>
            <a:ext cx="2819400" cy="1295400"/>
          </a:xfrm>
          <a:prstGeom prst="can">
            <a:avLst>
              <a:gd name="adj" fmla="val 23282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it-IT" sz="2000">
              <a:latin typeface="Verdana" panose="020B0604030504040204" pitchFamily="34" charset="0"/>
            </a:endParaRPr>
          </a:p>
        </p:txBody>
      </p:sp>
      <p:sp>
        <p:nvSpPr>
          <p:cNvPr id="26632" name="Text Box 8">
            <a:extLst>
              <a:ext uri="{FF2B5EF4-FFF2-40B4-BE49-F238E27FC236}">
                <a16:creationId xmlns:a16="http://schemas.microsoft.com/office/drawing/2014/main" id="{61EBB043-FA52-30B0-FCC0-96D158F3C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200400"/>
            <a:ext cx="677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>
                <a:latin typeface="Verdana" panose="020B0604030504040204" pitchFamily="34" charset="0"/>
              </a:rPr>
              <a:t>Disk</a:t>
            </a:r>
          </a:p>
        </p:txBody>
      </p:sp>
      <p:sp>
        <p:nvSpPr>
          <p:cNvPr id="26633" name="Text Box 9">
            <a:extLst>
              <a:ext uri="{FF2B5EF4-FFF2-40B4-BE49-F238E27FC236}">
                <a16:creationId xmlns:a16="http://schemas.microsoft.com/office/drawing/2014/main" id="{364E3AD8-E96D-623E-D0CD-AD45E8C45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505200"/>
            <a:ext cx="22621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600">
                <a:latin typeface="Courier New" panose="02070309020205020404" pitchFamily="49" charset="0"/>
              </a:rPr>
              <a:t>PrimoEsempio.java</a:t>
            </a:r>
            <a:endParaRPr lang="it-IT" altLang="it-IT" sz="160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26634" name="Picture 10">
            <a:extLst>
              <a:ext uri="{FF2B5EF4-FFF2-40B4-BE49-F238E27FC236}">
                <a16:creationId xmlns:a16="http://schemas.microsoft.com/office/drawing/2014/main" id="{8FAE9C70-AA22-898E-1B64-6EC3C12B8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505200"/>
            <a:ext cx="323850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5" name="Picture 11">
            <a:extLst>
              <a:ext uri="{FF2B5EF4-FFF2-40B4-BE49-F238E27FC236}">
                <a16:creationId xmlns:a16="http://schemas.microsoft.com/office/drawing/2014/main" id="{14959FE1-B5AB-FB66-03D9-4E407D881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886200"/>
            <a:ext cx="269875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6" name="Text Box 12">
            <a:extLst>
              <a:ext uri="{FF2B5EF4-FFF2-40B4-BE49-F238E27FC236}">
                <a16:creationId xmlns:a16="http://schemas.microsoft.com/office/drawing/2014/main" id="{F04E968C-D3D2-A6F2-653F-74B798880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886200"/>
            <a:ext cx="23844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600">
                <a:latin typeface="Courier New" panose="02070309020205020404" pitchFamily="49" charset="0"/>
              </a:rPr>
              <a:t>PrimoEsempio</a:t>
            </a:r>
            <a:r>
              <a:rPr lang="it-IT" altLang="it-IT" sz="1600">
                <a:solidFill>
                  <a:srgbClr val="000000"/>
                </a:solidFill>
                <a:latin typeface="Courier New" panose="02070309020205020404" pitchFamily="49" charset="0"/>
              </a:rPr>
              <a:t>.class</a:t>
            </a:r>
          </a:p>
        </p:txBody>
      </p:sp>
      <p:sp>
        <p:nvSpPr>
          <p:cNvPr id="26637" name="Rectangle 13">
            <a:extLst>
              <a:ext uri="{FF2B5EF4-FFF2-40B4-BE49-F238E27FC236}">
                <a16:creationId xmlns:a16="http://schemas.microsoft.com/office/drawing/2014/main" id="{E45B9D83-A5AF-21A2-1F86-77C4E9F6D1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22238"/>
            <a:ext cx="7469188" cy="1079500"/>
          </a:xfrm>
          <a:noFill/>
        </p:spPr>
        <p:txBody>
          <a:bodyPr anchor="ctr"/>
          <a:lstStyle/>
          <a:p>
            <a:pPr eaLnBrk="1" hangingPunct="1"/>
            <a:r>
              <a:rPr lang="it-IT" altLang="it-IT" sz="3500"/>
              <a:t>Sviluppo di una applicazione Java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>
            <a:extLst>
              <a:ext uri="{FF2B5EF4-FFF2-40B4-BE49-F238E27FC236}">
                <a16:creationId xmlns:a16="http://schemas.microsoft.com/office/drawing/2014/main" id="{045D152A-3F8B-8713-FEA2-B77262AA3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752600"/>
            <a:ext cx="8001000" cy="415925"/>
          </a:xfrm>
          <a:prstGeom prst="rect">
            <a:avLst/>
          </a:prstGeom>
          <a:solidFill>
            <a:srgbClr val="EAEAEA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it-IT" sz="2000" b="1" i="1" dirty="0">
                <a:latin typeface="Times New Roman" pitchFamily="18" charset="0"/>
              </a:rPr>
              <a:t>3) La fase di CARICAMENTO</a:t>
            </a:r>
          </a:p>
        </p:txBody>
      </p:sp>
      <p:sp>
        <p:nvSpPr>
          <p:cNvPr id="27651" name="Text Box 3">
            <a:extLst>
              <a:ext uri="{FF2B5EF4-FFF2-40B4-BE49-F238E27FC236}">
                <a16:creationId xmlns:a16="http://schemas.microsoft.com/office/drawing/2014/main" id="{70307857-2DEF-EBBD-D556-69ACAA939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438400"/>
            <a:ext cx="34702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>
                <a:latin typeface="Courier New" panose="02070309020205020404" pitchFamily="49" charset="0"/>
              </a:rPr>
              <a:t>C:\PRG&gt;java </a:t>
            </a:r>
            <a:r>
              <a:rPr lang="it-IT" altLang="it-IT">
                <a:solidFill>
                  <a:srgbClr val="000000"/>
                </a:solidFill>
                <a:latin typeface="Courier New" panose="02070309020205020404" pitchFamily="49" charset="0"/>
              </a:rPr>
              <a:t>PrimoEsempio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E8A8C59A-6E27-8EE5-2F0B-BFD7CDBAA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505200"/>
            <a:ext cx="2057400" cy="682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Verdana" panose="020B0604030504040204" pitchFamily="34" charset="0"/>
              </a:rPr>
              <a:t>Class Loader</a:t>
            </a:r>
            <a:endParaRPr lang="it-IT" altLang="it-IT" sz="2000">
              <a:latin typeface="Times New Roman" panose="02020603050405020304" pitchFamily="18" charset="0"/>
            </a:endParaRPr>
          </a:p>
        </p:txBody>
      </p:sp>
      <p:sp>
        <p:nvSpPr>
          <p:cNvPr id="27653" name="AutoShape 5">
            <a:extLst>
              <a:ext uri="{FF2B5EF4-FFF2-40B4-BE49-F238E27FC236}">
                <a16:creationId xmlns:a16="http://schemas.microsoft.com/office/drawing/2014/main" id="{D6545D4D-07C6-AD25-6D58-111669772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76800"/>
            <a:ext cx="2667000" cy="990600"/>
          </a:xfrm>
          <a:prstGeom prst="can">
            <a:avLst>
              <a:gd name="adj" fmla="val 23282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it-IT" sz="2000">
              <a:latin typeface="Verdana" panose="020B0604030504040204" pitchFamily="34" charset="0"/>
            </a:endParaRPr>
          </a:p>
        </p:txBody>
      </p:sp>
      <p:sp>
        <p:nvSpPr>
          <p:cNvPr id="27654" name="Text Box 6">
            <a:extLst>
              <a:ext uri="{FF2B5EF4-FFF2-40B4-BE49-F238E27FC236}">
                <a16:creationId xmlns:a16="http://schemas.microsoft.com/office/drawing/2014/main" id="{67157DBE-B884-C8D0-2AEE-D18C91308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800600"/>
            <a:ext cx="677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>
                <a:latin typeface="Verdana" panose="020B0604030504040204" pitchFamily="34" charset="0"/>
              </a:rPr>
              <a:t>Disk</a:t>
            </a:r>
          </a:p>
        </p:txBody>
      </p:sp>
      <p:pic>
        <p:nvPicPr>
          <p:cNvPr id="27655" name="Picture 7">
            <a:extLst>
              <a:ext uri="{FF2B5EF4-FFF2-40B4-BE49-F238E27FC236}">
                <a16:creationId xmlns:a16="http://schemas.microsoft.com/office/drawing/2014/main" id="{A1AC6DCF-5E13-0272-EE38-BBB91A658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334000"/>
            <a:ext cx="269875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6" name="Text Box 8">
            <a:extLst>
              <a:ext uri="{FF2B5EF4-FFF2-40B4-BE49-F238E27FC236}">
                <a16:creationId xmlns:a16="http://schemas.microsoft.com/office/drawing/2014/main" id="{674A3571-4533-D331-1389-2DAE4B11D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0"/>
            <a:ext cx="23844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600">
                <a:solidFill>
                  <a:srgbClr val="000000"/>
                </a:solidFill>
                <a:latin typeface="Courier New" panose="02070309020205020404" pitchFamily="49" charset="0"/>
              </a:rPr>
              <a:t>PrimoEsempio.class</a:t>
            </a:r>
          </a:p>
        </p:txBody>
      </p:sp>
      <p:sp>
        <p:nvSpPr>
          <p:cNvPr id="27657" name="Rectangle 9">
            <a:extLst>
              <a:ext uri="{FF2B5EF4-FFF2-40B4-BE49-F238E27FC236}">
                <a16:creationId xmlns:a16="http://schemas.microsoft.com/office/drawing/2014/main" id="{15A6184D-22AD-116C-0DA8-E7AA85AD0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3581400"/>
            <a:ext cx="1219200" cy="1981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it-IT" sz="2000">
              <a:latin typeface="Courier New" panose="02070309020205020404" pitchFamily="49" charset="0"/>
            </a:endParaRPr>
          </a:p>
        </p:txBody>
      </p:sp>
      <p:sp>
        <p:nvSpPr>
          <p:cNvPr id="27658" name="Line 10">
            <a:extLst>
              <a:ext uri="{FF2B5EF4-FFF2-40B4-BE49-F238E27FC236}">
                <a16:creationId xmlns:a16="http://schemas.microsoft.com/office/drawing/2014/main" id="{69094C43-98D7-D089-BF94-FEE05657EC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8100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7659" name="Line 11">
            <a:extLst>
              <a:ext uri="{FF2B5EF4-FFF2-40B4-BE49-F238E27FC236}">
                <a16:creationId xmlns:a16="http://schemas.microsoft.com/office/drawing/2014/main" id="{0211A2CD-E8BC-0853-2FB7-E99BC931D3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2672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7660" name="Line 12">
            <a:extLst>
              <a:ext uri="{FF2B5EF4-FFF2-40B4-BE49-F238E27FC236}">
                <a16:creationId xmlns:a16="http://schemas.microsoft.com/office/drawing/2014/main" id="{B0F8A99F-FC4C-CEA7-988F-412B485D62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038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7661" name="Line 13">
            <a:extLst>
              <a:ext uri="{FF2B5EF4-FFF2-40B4-BE49-F238E27FC236}">
                <a16:creationId xmlns:a16="http://schemas.microsoft.com/office/drawing/2014/main" id="{6EB83E95-41C5-F4CD-5EEA-76718F87629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4958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7662" name="Line 14">
            <a:extLst>
              <a:ext uri="{FF2B5EF4-FFF2-40B4-BE49-F238E27FC236}">
                <a16:creationId xmlns:a16="http://schemas.microsoft.com/office/drawing/2014/main" id="{3052EFCE-9CEF-F401-E8C4-4572B1C6368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52578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7663" name="Text Box 15">
            <a:extLst>
              <a:ext uri="{FF2B5EF4-FFF2-40B4-BE49-F238E27FC236}">
                <a16:creationId xmlns:a16="http://schemas.microsoft.com/office/drawing/2014/main" id="{1C966CFD-3AA6-EDE1-D314-5D1519F42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724400"/>
            <a:ext cx="641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2000">
                <a:latin typeface="Courier New" panose="02070309020205020404" pitchFamily="49" charset="0"/>
              </a:rPr>
              <a:t>...</a:t>
            </a:r>
          </a:p>
        </p:txBody>
      </p:sp>
      <p:sp>
        <p:nvSpPr>
          <p:cNvPr id="27664" name="Text Box 16">
            <a:extLst>
              <a:ext uri="{FF2B5EF4-FFF2-40B4-BE49-F238E27FC236}">
                <a16:creationId xmlns:a16="http://schemas.microsoft.com/office/drawing/2014/main" id="{5C27285F-ECD1-9786-C070-BE45D4166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997200"/>
            <a:ext cx="10064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600">
                <a:latin typeface="Verdana" panose="020B0604030504040204" pitchFamily="34" charset="0"/>
              </a:rPr>
              <a:t>Primary</a:t>
            </a:r>
          </a:p>
          <a:p>
            <a:r>
              <a:rPr lang="it-IT" altLang="it-IT" sz="1600">
                <a:latin typeface="Verdana" panose="020B0604030504040204" pitchFamily="34" charset="0"/>
              </a:rPr>
              <a:t>Memory</a:t>
            </a:r>
          </a:p>
        </p:txBody>
      </p:sp>
      <p:sp>
        <p:nvSpPr>
          <p:cNvPr id="27665" name="AutoShape 17">
            <a:extLst>
              <a:ext uri="{FF2B5EF4-FFF2-40B4-BE49-F238E27FC236}">
                <a16:creationId xmlns:a16="http://schemas.microsoft.com/office/drawing/2014/main" id="{CE6A377F-212C-28BD-F29D-CE3EC6E35DB8}"/>
              </a:ext>
            </a:extLst>
          </p:cNvPr>
          <p:cNvSpPr>
            <a:spLocks/>
          </p:cNvSpPr>
          <p:nvPr/>
        </p:nvSpPr>
        <p:spPr bwMode="auto">
          <a:xfrm>
            <a:off x="5867400" y="3429000"/>
            <a:ext cx="152400" cy="2743200"/>
          </a:xfrm>
          <a:prstGeom prst="rightBrace">
            <a:avLst>
              <a:gd name="adj1" fmla="val 1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7666" name="Text Box 18">
            <a:extLst>
              <a:ext uri="{FF2B5EF4-FFF2-40B4-BE49-F238E27FC236}">
                <a16:creationId xmlns:a16="http://schemas.microsoft.com/office/drawing/2014/main" id="{C8F00E4A-3D18-DE4E-E92D-7591A41B5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191000"/>
            <a:ext cx="2971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2000" i="1" dirty="0">
                <a:latin typeface="+mn-lt"/>
              </a:rPr>
              <a:t>Il Class loader carica il </a:t>
            </a:r>
            <a:r>
              <a:rPr lang="it-IT" altLang="it-IT" sz="2000" i="1" dirty="0" err="1">
                <a:latin typeface="+mn-lt"/>
              </a:rPr>
              <a:t>bytecode</a:t>
            </a:r>
            <a:r>
              <a:rPr lang="it-IT" altLang="it-IT" sz="2000" i="1" dirty="0">
                <a:latin typeface="+mn-lt"/>
              </a:rPr>
              <a:t> nella memoria principale</a:t>
            </a:r>
          </a:p>
        </p:txBody>
      </p:sp>
      <p:sp>
        <p:nvSpPr>
          <p:cNvPr id="27667" name="AutoShape 19">
            <a:extLst>
              <a:ext uri="{FF2B5EF4-FFF2-40B4-BE49-F238E27FC236}">
                <a16:creationId xmlns:a16="http://schemas.microsoft.com/office/drawing/2014/main" id="{C08F5957-1FA6-C989-CD8A-B54CA10E1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191000"/>
            <a:ext cx="381000" cy="533400"/>
          </a:xfrm>
          <a:prstGeom prst="upArrow">
            <a:avLst>
              <a:gd name="adj1" fmla="val 50000"/>
              <a:gd name="adj2" fmla="val 3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7668" name="AutoShape 20">
            <a:extLst>
              <a:ext uri="{FF2B5EF4-FFF2-40B4-BE49-F238E27FC236}">
                <a16:creationId xmlns:a16="http://schemas.microsoft.com/office/drawing/2014/main" id="{09C21AE4-45F0-6BA7-EE66-C286AC2D7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733800"/>
            <a:ext cx="1219200" cy="3048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7669" name="Rectangle 21">
            <a:extLst>
              <a:ext uri="{FF2B5EF4-FFF2-40B4-BE49-F238E27FC236}">
                <a16:creationId xmlns:a16="http://schemas.microsoft.com/office/drawing/2014/main" id="{9E8B3952-BD3A-8BDF-5E36-243CD22491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7543800" cy="1295400"/>
          </a:xfrm>
          <a:noFill/>
        </p:spPr>
        <p:txBody>
          <a:bodyPr anchor="ctr"/>
          <a:lstStyle/>
          <a:p>
            <a:pPr eaLnBrk="1" hangingPunct="1"/>
            <a:r>
              <a:rPr lang="it-IT" altLang="it-IT" sz="3500"/>
              <a:t>Sviluppo di una applicazione Java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>
            <a:extLst>
              <a:ext uri="{FF2B5EF4-FFF2-40B4-BE49-F238E27FC236}">
                <a16:creationId xmlns:a16="http://schemas.microsoft.com/office/drawing/2014/main" id="{159C1266-C86E-4742-94D0-4F40BE007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2347913"/>
            <a:ext cx="8001000" cy="415925"/>
          </a:xfrm>
          <a:prstGeom prst="rect">
            <a:avLst/>
          </a:prstGeom>
          <a:solidFill>
            <a:srgbClr val="EAEAEA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it-IT" sz="2000" b="1" i="1">
                <a:latin typeface="Times New Roman" pitchFamily="18" charset="0"/>
              </a:rPr>
              <a:t>4) La fase di VERIFICA del bytecode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B6391683-E577-5D12-0FEB-594C7150A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3871913"/>
            <a:ext cx="2590800" cy="682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Verdana" panose="020B0604030504040204" pitchFamily="34" charset="0"/>
              </a:rPr>
              <a:t>Bytecode verifier</a:t>
            </a:r>
            <a:endParaRPr lang="it-IT" altLang="it-IT" sz="2000">
              <a:latin typeface="Times New Roman" panose="02020603050405020304" pitchFamily="18" charset="0"/>
            </a:endParaRP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50D7EAEC-98AB-F1B9-EC0C-C1E888AE2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4475" y="3567113"/>
            <a:ext cx="1219200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it-IT" sz="2000">
              <a:latin typeface="Courier New" panose="02070309020205020404" pitchFamily="49" charset="0"/>
            </a:endParaRPr>
          </a:p>
        </p:txBody>
      </p:sp>
      <p:sp>
        <p:nvSpPr>
          <p:cNvPr id="28677" name="Line 5">
            <a:extLst>
              <a:ext uri="{FF2B5EF4-FFF2-40B4-BE49-F238E27FC236}">
                <a16:creationId xmlns:a16="http://schemas.microsoft.com/office/drawing/2014/main" id="{492E41A3-E613-D475-D607-8DBB6BA9308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4475" y="3795713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8678" name="Line 6">
            <a:extLst>
              <a:ext uri="{FF2B5EF4-FFF2-40B4-BE49-F238E27FC236}">
                <a16:creationId xmlns:a16="http://schemas.microsoft.com/office/drawing/2014/main" id="{669EE543-6CCB-042F-051E-83A837610C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4475" y="4252913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8679" name="Line 7">
            <a:extLst>
              <a:ext uri="{FF2B5EF4-FFF2-40B4-BE49-F238E27FC236}">
                <a16:creationId xmlns:a16="http://schemas.microsoft.com/office/drawing/2014/main" id="{2B89DB26-19DF-162C-7C5C-7DC9FC290FE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4475" y="4024313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8680" name="Text Box 8">
            <a:extLst>
              <a:ext uri="{FF2B5EF4-FFF2-40B4-BE49-F238E27FC236}">
                <a16:creationId xmlns:a16="http://schemas.microsoft.com/office/drawing/2014/main" id="{70455DB1-DC04-22F7-F03C-B80CA57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9275" y="4252913"/>
            <a:ext cx="641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2000">
                <a:latin typeface="Courier New" panose="02070309020205020404" pitchFamily="49" charset="0"/>
              </a:rPr>
              <a:t>...</a:t>
            </a:r>
          </a:p>
        </p:txBody>
      </p:sp>
      <p:sp>
        <p:nvSpPr>
          <p:cNvPr id="28681" name="Text Box 9">
            <a:extLst>
              <a:ext uri="{FF2B5EF4-FFF2-40B4-BE49-F238E27FC236}">
                <a16:creationId xmlns:a16="http://schemas.microsoft.com/office/drawing/2014/main" id="{4D485593-AC7B-C49B-F0A5-6F0BEBC18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0675" y="2982913"/>
            <a:ext cx="10064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600">
                <a:latin typeface="Verdana" panose="020B0604030504040204" pitchFamily="34" charset="0"/>
              </a:rPr>
              <a:t>Primary</a:t>
            </a:r>
          </a:p>
          <a:p>
            <a:r>
              <a:rPr lang="it-IT" altLang="it-IT" sz="1600">
                <a:latin typeface="Verdana" panose="020B0604030504040204" pitchFamily="34" charset="0"/>
              </a:rPr>
              <a:t>Memory</a:t>
            </a:r>
          </a:p>
        </p:txBody>
      </p:sp>
      <p:sp>
        <p:nvSpPr>
          <p:cNvPr id="28682" name="AutoShape 10">
            <a:extLst>
              <a:ext uri="{FF2B5EF4-FFF2-40B4-BE49-F238E27FC236}">
                <a16:creationId xmlns:a16="http://schemas.microsoft.com/office/drawing/2014/main" id="{74202906-79A9-F322-0902-7AAFC3E4F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5" y="4100513"/>
            <a:ext cx="685800" cy="304800"/>
          </a:xfrm>
          <a:prstGeom prst="leftRightArrow">
            <a:avLst>
              <a:gd name="adj1" fmla="val 50000"/>
              <a:gd name="adj2" fmla="val 4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8683" name="AutoShape 11">
            <a:extLst>
              <a:ext uri="{FF2B5EF4-FFF2-40B4-BE49-F238E27FC236}">
                <a16:creationId xmlns:a16="http://schemas.microsoft.com/office/drawing/2014/main" id="{B1F5F1B0-41F4-B3A3-0DD1-BC1B039FB9C4}"/>
              </a:ext>
            </a:extLst>
          </p:cNvPr>
          <p:cNvSpPr>
            <a:spLocks/>
          </p:cNvSpPr>
          <p:nvPr/>
        </p:nvSpPr>
        <p:spPr bwMode="auto">
          <a:xfrm>
            <a:off x="5502275" y="3338513"/>
            <a:ext cx="228600" cy="1371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8684" name="Text Box 12">
            <a:extLst>
              <a:ext uri="{FF2B5EF4-FFF2-40B4-BE49-F238E27FC236}">
                <a16:creationId xmlns:a16="http://schemas.microsoft.com/office/drawing/2014/main" id="{D5921080-9FC0-A370-FBF2-E07FFE9AC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276600"/>
            <a:ext cx="3063875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it-IT" altLang="it-IT" i="1">
                <a:latin typeface="Times New Roman" panose="02020603050405020304" pitchFamily="18" charset="0"/>
              </a:rPr>
              <a:t>Il “bytecode verifier” ha il compito di validare il bytecode e assicurarsi che non si violino i vincoli di sicurezza dell’ambiente JAVA</a:t>
            </a:r>
          </a:p>
        </p:txBody>
      </p:sp>
      <p:sp>
        <p:nvSpPr>
          <p:cNvPr id="28685" name="Rectangle 13">
            <a:extLst>
              <a:ext uri="{FF2B5EF4-FFF2-40B4-BE49-F238E27FC236}">
                <a16:creationId xmlns:a16="http://schemas.microsoft.com/office/drawing/2014/main" id="{7AE13000-4812-C296-B4C1-3288334CF5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1975" y="366713"/>
            <a:ext cx="7112000" cy="1052512"/>
          </a:xfrm>
          <a:noFill/>
        </p:spPr>
        <p:txBody>
          <a:bodyPr anchor="ctr"/>
          <a:lstStyle/>
          <a:p>
            <a:pPr eaLnBrk="1" hangingPunct="1"/>
            <a:r>
              <a:rPr lang="it-IT" altLang="it-IT" sz="3100"/>
              <a:t>Sviluppo di una applicazione Java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2">
            <a:extLst>
              <a:ext uri="{FF2B5EF4-FFF2-40B4-BE49-F238E27FC236}">
                <a16:creationId xmlns:a16="http://schemas.microsoft.com/office/drawing/2014/main" id="{4617DF00-0CE0-5272-4C0C-EFEA0B8D5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438400"/>
            <a:ext cx="8001000" cy="415925"/>
          </a:xfrm>
          <a:prstGeom prst="rect">
            <a:avLst/>
          </a:prstGeom>
          <a:solidFill>
            <a:srgbClr val="EAEAEA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it-IT" sz="2000" b="1" i="1">
                <a:latin typeface="Times New Roman" pitchFamily="18" charset="0"/>
              </a:rPr>
              <a:t>5) La fase di ESECUZIONE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B0141832-ACBB-4D5E-BFBB-ADB2187B5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" y="3948113"/>
            <a:ext cx="2803525" cy="682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Verdana" panose="020B0604030504040204" pitchFamily="34" charset="0"/>
              </a:rPr>
              <a:t>Bytecode Interpreter</a:t>
            </a:r>
            <a:endParaRPr lang="it-IT" altLang="it-IT" sz="2000">
              <a:latin typeface="Times New Roman" panose="02020603050405020304" pitchFamily="18" charset="0"/>
            </a:endParaRP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76AF7722-DEAB-8031-B729-482D79C35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0675" y="3643313"/>
            <a:ext cx="1219200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it-IT" sz="2000">
              <a:latin typeface="Courier New" panose="02070309020205020404" pitchFamily="49" charset="0"/>
            </a:endParaRPr>
          </a:p>
        </p:txBody>
      </p:sp>
      <p:sp>
        <p:nvSpPr>
          <p:cNvPr id="29701" name="Line 5">
            <a:extLst>
              <a:ext uri="{FF2B5EF4-FFF2-40B4-BE49-F238E27FC236}">
                <a16:creationId xmlns:a16="http://schemas.microsoft.com/office/drawing/2014/main" id="{4ACD0203-5947-52FC-484D-046CB844C7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0675" y="3871913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9702" name="Line 6">
            <a:extLst>
              <a:ext uri="{FF2B5EF4-FFF2-40B4-BE49-F238E27FC236}">
                <a16:creationId xmlns:a16="http://schemas.microsoft.com/office/drawing/2014/main" id="{D2DB56DE-BEB0-8F64-1E60-730BC435FD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0675" y="4329113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9703" name="Line 7">
            <a:extLst>
              <a:ext uri="{FF2B5EF4-FFF2-40B4-BE49-F238E27FC236}">
                <a16:creationId xmlns:a16="http://schemas.microsoft.com/office/drawing/2014/main" id="{C7D7F688-806D-AAD9-DAB2-9210B62615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0675" y="4100513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9704" name="Text Box 8">
            <a:extLst>
              <a:ext uri="{FF2B5EF4-FFF2-40B4-BE49-F238E27FC236}">
                <a16:creationId xmlns:a16="http://schemas.microsoft.com/office/drawing/2014/main" id="{A07F2E95-68FD-0B8B-DDCA-FC6942E94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475" y="4329113"/>
            <a:ext cx="641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2000">
                <a:latin typeface="Courier New" panose="02070309020205020404" pitchFamily="49" charset="0"/>
              </a:rPr>
              <a:t>...</a:t>
            </a:r>
          </a:p>
        </p:txBody>
      </p:sp>
      <p:sp>
        <p:nvSpPr>
          <p:cNvPr id="29705" name="Text Box 9">
            <a:extLst>
              <a:ext uri="{FF2B5EF4-FFF2-40B4-BE49-F238E27FC236}">
                <a16:creationId xmlns:a16="http://schemas.microsoft.com/office/drawing/2014/main" id="{6287D4D1-B166-357B-6D15-3B5610138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875" y="3059113"/>
            <a:ext cx="10064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600">
                <a:latin typeface="Verdana" panose="020B0604030504040204" pitchFamily="34" charset="0"/>
              </a:rPr>
              <a:t>Primary</a:t>
            </a:r>
          </a:p>
          <a:p>
            <a:r>
              <a:rPr lang="it-IT" altLang="it-IT" sz="1600">
                <a:latin typeface="Verdana" panose="020B0604030504040204" pitchFamily="34" charset="0"/>
              </a:rPr>
              <a:t>Memory</a:t>
            </a:r>
          </a:p>
        </p:txBody>
      </p:sp>
      <p:sp>
        <p:nvSpPr>
          <p:cNvPr id="29706" name="AutoShape 10">
            <a:extLst>
              <a:ext uri="{FF2B5EF4-FFF2-40B4-BE49-F238E27FC236}">
                <a16:creationId xmlns:a16="http://schemas.microsoft.com/office/drawing/2014/main" id="{5B1498BD-11B1-4186-128C-D6554C7E6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191000"/>
            <a:ext cx="685800" cy="304800"/>
          </a:xfrm>
          <a:prstGeom prst="leftRightArrow">
            <a:avLst>
              <a:gd name="adj1" fmla="val 50000"/>
              <a:gd name="adj2" fmla="val 4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9707" name="AutoShape 11">
            <a:extLst>
              <a:ext uri="{FF2B5EF4-FFF2-40B4-BE49-F238E27FC236}">
                <a16:creationId xmlns:a16="http://schemas.microsoft.com/office/drawing/2014/main" id="{17B529CF-CEF4-3E6E-35B3-D1C15BAB6518}"/>
              </a:ext>
            </a:extLst>
          </p:cNvPr>
          <p:cNvSpPr>
            <a:spLocks/>
          </p:cNvSpPr>
          <p:nvPr/>
        </p:nvSpPr>
        <p:spPr bwMode="auto">
          <a:xfrm>
            <a:off x="5578475" y="3414713"/>
            <a:ext cx="228600" cy="1447800"/>
          </a:xfrm>
          <a:prstGeom prst="rightBrace">
            <a:avLst>
              <a:gd name="adj1" fmla="val 5277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9708" name="Text Box 12">
            <a:extLst>
              <a:ext uri="{FF2B5EF4-FFF2-40B4-BE49-F238E27FC236}">
                <a16:creationId xmlns:a16="http://schemas.microsoft.com/office/drawing/2014/main" id="{901F8D11-946C-3696-C9D9-D3E6C90D5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352800"/>
            <a:ext cx="306387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it-IT" altLang="it-IT" i="1">
                <a:latin typeface="Times New Roman" panose="02020603050405020304" pitchFamily="18" charset="0"/>
              </a:rPr>
              <a:t>L’interprete del bytecode traduce le istruzioni del bytecode nelle istruzioni compatibili con il processore.</a:t>
            </a:r>
          </a:p>
        </p:txBody>
      </p:sp>
      <p:sp>
        <p:nvSpPr>
          <p:cNvPr id="29709" name="Rectangle 13">
            <a:extLst>
              <a:ext uri="{FF2B5EF4-FFF2-40B4-BE49-F238E27FC236}">
                <a16:creationId xmlns:a16="http://schemas.microsoft.com/office/drawing/2014/main" id="{DC48CD3A-6305-18BC-AEFA-6F63DD9ECF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1138"/>
            <a:ext cx="7323138" cy="774700"/>
          </a:xfrm>
          <a:noFill/>
        </p:spPr>
        <p:txBody>
          <a:bodyPr anchor="ctr"/>
          <a:lstStyle/>
          <a:p>
            <a:pPr eaLnBrk="1" hangingPunct="1"/>
            <a:r>
              <a:rPr lang="it-IT" altLang="it-IT" sz="3100"/>
              <a:t>Sviluppo di una applicazione Java</a:t>
            </a:r>
            <a:br>
              <a:rPr lang="it-IT" altLang="it-IT" sz="3100"/>
            </a:br>
            <a:endParaRPr lang="it-IT" altLang="it-IT" sz="3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1CEAA6-9F08-13AA-E4BF-C77F59C99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 il collegamento?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1982F7-6A11-324E-5195-4103BEAB5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Non è statico ma dinamico ed è a carico della JVM (Class Loader):</a:t>
            </a:r>
          </a:p>
          <a:p>
            <a:pPr lvl="1">
              <a:buFont typeface="+mj-lt"/>
              <a:buAutoNum type="arabicPeriod"/>
            </a:pPr>
            <a:r>
              <a:rPr lang="it-IT" sz="2400" dirty="0"/>
              <a:t>Carica la classe principale (ad es. java </a:t>
            </a:r>
            <a:r>
              <a:rPr lang="it-IT" sz="2400" dirty="0" err="1"/>
              <a:t>MainClass</a:t>
            </a:r>
            <a:r>
              <a:rPr lang="it-IT" sz="2400" dirty="0"/>
              <a:t>).</a:t>
            </a:r>
          </a:p>
          <a:p>
            <a:pPr lvl="1">
              <a:buFont typeface="+mj-lt"/>
              <a:buAutoNum type="arabicPeriod"/>
            </a:pPr>
            <a:r>
              <a:rPr lang="it-IT" sz="2400" dirty="0"/>
              <a:t>Se </a:t>
            </a:r>
            <a:r>
              <a:rPr lang="it-IT" sz="2400" dirty="0" err="1"/>
              <a:t>MainClass</a:t>
            </a:r>
            <a:r>
              <a:rPr lang="it-IT" sz="2400" dirty="0"/>
              <a:t> usa </a:t>
            </a:r>
            <a:r>
              <a:rPr lang="it-IT" sz="2400" dirty="0" err="1"/>
              <a:t>A.class</a:t>
            </a:r>
            <a:r>
              <a:rPr lang="it-IT" sz="2400" dirty="0"/>
              <a:t>, la JVM lo cerca e lo carica.</a:t>
            </a:r>
          </a:p>
          <a:p>
            <a:pPr lvl="1">
              <a:buFont typeface="+mj-lt"/>
              <a:buAutoNum type="arabicPeriod"/>
            </a:pPr>
            <a:r>
              <a:rPr lang="it-IT" sz="2400" dirty="0"/>
              <a:t>Se </a:t>
            </a:r>
            <a:r>
              <a:rPr lang="it-IT" sz="2400" dirty="0" err="1"/>
              <a:t>A.class</a:t>
            </a:r>
            <a:r>
              <a:rPr lang="it-IT" sz="2400" dirty="0"/>
              <a:t> usa </a:t>
            </a:r>
            <a:r>
              <a:rPr lang="it-IT" sz="2400" dirty="0" err="1"/>
              <a:t>B.class</a:t>
            </a:r>
            <a:r>
              <a:rPr lang="it-IT" sz="2400" dirty="0"/>
              <a:t>, viene caricato anche </a:t>
            </a:r>
            <a:r>
              <a:rPr lang="it-IT" sz="2400" dirty="0" err="1"/>
              <a:t>B.class</a:t>
            </a:r>
            <a:r>
              <a:rPr lang="it-IT" sz="24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it-IT" sz="2400" dirty="0"/>
              <a:t>Collega i riferimenti tra classi e metodi</a:t>
            </a:r>
            <a:r>
              <a:rPr lang="it-IT" sz="1600" dirty="0"/>
              <a:t>.</a:t>
            </a:r>
            <a:endParaRPr lang="it-IT" sz="2400" dirty="0"/>
          </a:p>
          <a:p>
            <a:pPr lvl="1">
              <a:buFont typeface="+mj-lt"/>
              <a:buAutoNum type="arabicPeriod"/>
            </a:pPr>
            <a:r>
              <a:rPr lang="it-IT" sz="2400" dirty="0"/>
              <a:t>Ogni classe viene </a:t>
            </a:r>
            <a:r>
              <a:rPr lang="it-IT" sz="2400" b="1" dirty="0"/>
              <a:t>verificata</a:t>
            </a:r>
            <a:r>
              <a:rPr lang="it-IT" sz="2400" dirty="0"/>
              <a:t> (</a:t>
            </a:r>
            <a:r>
              <a:rPr lang="it-IT" sz="2400" dirty="0" err="1"/>
              <a:t>bytecode</a:t>
            </a:r>
            <a:r>
              <a:rPr lang="it-IT" sz="2400" dirty="0"/>
              <a:t> </a:t>
            </a:r>
            <a:r>
              <a:rPr lang="it-IT" sz="2400" dirty="0" err="1"/>
              <a:t>verification</a:t>
            </a:r>
            <a:r>
              <a:rPr lang="it-IT" sz="2400" dirty="0"/>
              <a:t>).</a:t>
            </a:r>
          </a:p>
          <a:p>
            <a:pPr marL="344487" lvl="1" indent="0">
              <a:buNone/>
            </a:pPr>
            <a:endParaRPr lang="it-IT" sz="2400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95546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B4B9C07A-275C-1D4F-4D32-40F1DA664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Loader e </a:t>
            </a:r>
            <a:r>
              <a:rPr lang="it-IT" dirty="0" err="1"/>
              <a:t>Verifier</a:t>
            </a:r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1641AEB-734D-E849-AC3F-0E1CA6A1E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Il </a:t>
            </a:r>
            <a:r>
              <a:rPr lang="it-IT" b="1" dirty="0"/>
              <a:t>Class Loader</a:t>
            </a:r>
            <a:r>
              <a:rPr lang="it-IT" dirty="0"/>
              <a:t>:  carica solo le classi necessarie per l’esecuzione del programma;</a:t>
            </a:r>
          </a:p>
          <a:p>
            <a:r>
              <a:rPr lang="it-IT" dirty="0"/>
              <a:t>Il </a:t>
            </a:r>
            <a:r>
              <a:rPr lang="it-IT" b="1" dirty="0" err="1"/>
              <a:t>Bytecode</a:t>
            </a:r>
            <a:r>
              <a:rPr lang="it-IT" b="1" dirty="0"/>
              <a:t> </a:t>
            </a:r>
            <a:r>
              <a:rPr lang="it-IT" b="1" dirty="0" err="1"/>
              <a:t>Verifier</a:t>
            </a:r>
            <a:r>
              <a:rPr lang="it-IT" b="1" dirty="0"/>
              <a:t> </a:t>
            </a:r>
            <a:r>
              <a:rPr lang="it-IT" dirty="0"/>
              <a:t>controlla che: </a:t>
            </a:r>
          </a:p>
          <a:p>
            <a:pPr lvl="1"/>
            <a:r>
              <a:rPr lang="it-IT" dirty="0"/>
              <a:t>il codice rispetti le specifiche della JVM; </a:t>
            </a:r>
          </a:p>
          <a:p>
            <a:pPr lvl="1"/>
            <a:r>
              <a:rPr lang="it-IT" dirty="0"/>
              <a:t>il codice non violi l’integrità del sistema; </a:t>
            </a:r>
          </a:p>
          <a:p>
            <a:pPr lvl="1"/>
            <a:r>
              <a:rPr lang="it-IT" dirty="0"/>
              <a:t>il codice non generi stack overflow o </a:t>
            </a:r>
            <a:r>
              <a:rPr lang="it-IT" dirty="0" err="1"/>
              <a:t>underflow</a:t>
            </a:r>
            <a:r>
              <a:rPr lang="it-IT" dirty="0"/>
              <a:t>; </a:t>
            </a:r>
          </a:p>
          <a:p>
            <a:pPr lvl="1"/>
            <a:r>
              <a:rPr lang="it-IT" dirty="0"/>
              <a:t>non vi siano conversioni di tipo illegali (e.g. la conversione di interi in puntatori).</a:t>
            </a:r>
          </a:p>
        </p:txBody>
      </p:sp>
    </p:spTree>
    <p:extLst>
      <p:ext uri="{BB962C8B-B14F-4D97-AF65-F5344CB8AC3E}">
        <p14:creationId xmlns:p14="http://schemas.microsoft.com/office/powerpoint/2010/main" val="1041240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11067D-FFE0-519C-5ED8-E831C2857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459432"/>
            <a:ext cx="7543800" cy="1295400"/>
          </a:xfrm>
        </p:spPr>
        <p:txBody>
          <a:bodyPr/>
          <a:lstStyle/>
          <a:p>
            <a:r>
              <a:rPr lang="it-IT" dirty="0"/>
              <a:t>Runtime Environment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FC60728-4003-4A8F-DD13-AB2379DD3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23169"/>
            <a:ext cx="8229600" cy="4411662"/>
          </a:xfrm>
        </p:spPr>
        <p:txBody>
          <a:bodyPr/>
          <a:lstStyle/>
          <a:p>
            <a:r>
              <a:rPr lang="it-IT" sz="2400" b="1" dirty="0"/>
              <a:t>Runtime Memory </a:t>
            </a:r>
            <a:r>
              <a:rPr lang="it-IT" sz="2400" b="1" dirty="0" err="1"/>
              <a:t>Allocation</a:t>
            </a:r>
            <a:r>
              <a:rPr lang="it-IT" sz="2400" b="1" dirty="0"/>
              <a:t>: </a:t>
            </a:r>
            <a:r>
              <a:rPr lang="it-IT" sz="2400" dirty="0"/>
              <a:t>la JVM alloca memoria per le variabili e gli oggetti.</a:t>
            </a:r>
          </a:p>
          <a:p>
            <a:r>
              <a:rPr lang="it-IT" sz="2400" dirty="0"/>
              <a:t>La JVM traduce il </a:t>
            </a:r>
            <a:r>
              <a:rPr lang="it-IT" sz="2400" dirty="0" err="1"/>
              <a:t>bytecode</a:t>
            </a:r>
            <a:r>
              <a:rPr lang="it-IT" sz="2400" dirty="0"/>
              <a:t> usando un Interprete o il JIT Compiler per ottimizzare le prestazioni.</a:t>
            </a:r>
          </a:p>
          <a:p>
            <a:pPr lvl="1"/>
            <a:r>
              <a:rPr lang="it-IT" sz="2000" dirty="0"/>
              <a:t>L'Interprete traduce il </a:t>
            </a:r>
            <a:r>
              <a:rPr lang="it-IT" sz="2000" dirty="0" err="1"/>
              <a:t>bytecode</a:t>
            </a:r>
            <a:r>
              <a:rPr lang="it-IT" sz="2000" dirty="0"/>
              <a:t> in codice macchina istruzione per istruzione, inviandolo subito alla CPU.</a:t>
            </a:r>
          </a:p>
          <a:p>
            <a:pPr lvl="1"/>
            <a:r>
              <a:rPr lang="it-IT" sz="2000" dirty="0"/>
              <a:t>Just-In-Time (JIT) Compiler (se abilitato): traduce blocchi di </a:t>
            </a:r>
            <a:r>
              <a:rPr lang="it-IT" sz="2000" dirty="0" err="1"/>
              <a:t>bytecode</a:t>
            </a:r>
            <a:r>
              <a:rPr lang="it-IT" sz="2000" dirty="0"/>
              <a:t> in codice macchina per un'esecuzione più veloce.</a:t>
            </a:r>
          </a:p>
          <a:p>
            <a:r>
              <a:rPr lang="it-IT" sz="2400" b="1" dirty="0" err="1"/>
              <a:t>Execution</a:t>
            </a:r>
            <a:r>
              <a:rPr lang="it-IT" sz="2400" b="1" dirty="0"/>
              <a:t> Engine: </a:t>
            </a:r>
            <a:r>
              <a:rPr lang="it-IT" sz="2400" dirty="0"/>
              <a:t>la JVM coordina Interprete, JIT Compiler e gestione della memoria per eseguire il programma.</a:t>
            </a:r>
          </a:p>
          <a:p>
            <a:r>
              <a:rPr lang="it-IT" sz="2400" dirty="0"/>
              <a:t>La CPU esegue il codice macchina generato dal JIT Compiler o dall'Interprete in tempo reale.</a:t>
            </a:r>
          </a:p>
        </p:txBody>
      </p:sp>
    </p:spTree>
    <p:extLst>
      <p:ext uri="{BB962C8B-B14F-4D97-AF65-F5344CB8AC3E}">
        <p14:creationId xmlns:p14="http://schemas.microsoft.com/office/powerpoint/2010/main" val="2331334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CE53EA8-AF17-CFCB-1369-2581930B49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-77870"/>
            <a:ext cx="7324725" cy="996950"/>
          </a:xfrm>
        </p:spPr>
        <p:txBody>
          <a:bodyPr/>
          <a:lstStyle/>
          <a:p>
            <a:pPr eaLnBrk="1" hangingPunct="1"/>
            <a:r>
              <a:rPr lang="it-IT" altLang="it-IT" sz="3500" dirty="0"/>
              <a:t>Applicazioni JAVA</a:t>
            </a:r>
          </a:p>
        </p:txBody>
      </p:sp>
      <p:sp>
        <p:nvSpPr>
          <p:cNvPr id="30723" name="Text Box 3">
            <a:extLst>
              <a:ext uri="{FF2B5EF4-FFF2-40B4-BE49-F238E27FC236}">
                <a16:creationId xmlns:a16="http://schemas.microsoft.com/office/drawing/2014/main" id="{17D814AA-178B-305B-53E5-2DA3DDF13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78" y="1176055"/>
            <a:ext cx="7305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it-IT" altLang="it-IT" dirty="0">
                <a:latin typeface="Verdana" panose="020B0604030504040204" pitchFamily="34" charset="0"/>
              </a:rPr>
              <a:t>Un applicazione è un programma eseguibile autonomamente</a:t>
            </a:r>
            <a:endParaRPr lang="it-IT" altLang="it-IT" sz="1600" dirty="0">
              <a:latin typeface="Verdana" panose="020B0604030504040204" pitchFamily="34" charset="0"/>
            </a:endParaRPr>
          </a:p>
        </p:txBody>
      </p:sp>
      <p:sp>
        <p:nvSpPr>
          <p:cNvPr id="30724" name="Text Box 4">
            <a:extLst>
              <a:ext uri="{FF2B5EF4-FFF2-40B4-BE49-F238E27FC236}">
                <a16:creationId xmlns:a16="http://schemas.microsoft.com/office/drawing/2014/main" id="{CB45D85A-91AB-2209-33E6-93F1C12EF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099" y="1681559"/>
            <a:ext cx="786447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dirty="0">
                <a:latin typeface="Verdana" panose="020B0604030504040204" pitchFamily="34" charset="0"/>
              </a:rPr>
              <a:t>Per rendere eseguibile un’applicazione Java occorre che una classe faccia da “punto di avvio”.</a:t>
            </a:r>
          </a:p>
          <a:p>
            <a:r>
              <a:rPr lang="it-IT" altLang="it-IT" dirty="0">
                <a:latin typeface="Verdana" panose="020B0604030504040204" pitchFamily="34" charset="0"/>
              </a:rPr>
              <a:t>Questa classe ha solo bisogno di un metodo </a:t>
            </a:r>
            <a:r>
              <a:rPr lang="it-IT" altLang="it-IT" b="1" i="1" dirty="0" err="1">
                <a:latin typeface="Verdana" panose="020B0604030504040204" pitchFamily="34" charset="0"/>
              </a:rPr>
              <a:t>main</a:t>
            </a:r>
            <a:r>
              <a:rPr lang="it-IT" altLang="it-IT" b="1" i="1" dirty="0">
                <a:latin typeface="Verdana" panose="020B0604030504040204" pitchFamily="34" charset="0"/>
              </a:rPr>
              <a:t>()</a:t>
            </a:r>
            <a:r>
              <a:rPr lang="it-IT" altLang="it-IT" dirty="0">
                <a:latin typeface="Verdana" panose="020B0604030504040204" pitchFamily="34" charset="0"/>
              </a:rPr>
              <a:t>, il primo ad essere invocato durante l’esecuzione dell’applicazione.</a:t>
            </a:r>
          </a:p>
        </p:txBody>
      </p:sp>
      <p:sp>
        <p:nvSpPr>
          <p:cNvPr id="77829" name="Text Box 5">
            <a:extLst>
              <a:ext uri="{FF2B5EF4-FFF2-40B4-BE49-F238E27FC236}">
                <a16:creationId xmlns:a16="http://schemas.microsoft.com/office/drawing/2014/main" id="{907D0996-C90E-9639-C1B8-4A97B075B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3171906"/>
            <a:ext cx="5654675" cy="9255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it-IT" b="1">
                <a:latin typeface="Courier New" pitchFamily="49" charset="0"/>
              </a:rPr>
              <a:t>public static void main (String args[]){</a:t>
            </a:r>
          </a:p>
          <a:p>
            <a:pPr eaLnBrk="0" hangingPunct="0">
              <a:defRPr/>
            </a:pPr>
            <a:r>
              <a:rPr lang="it-IT" b="1">
                <a:latin typeface="Courier New" pitchFamily="49" charset="0"/>
              </a:rPr>
              <a:t>	……..</a:t>
            </a:r>
          </a:p>
          <a:p>
            <a:pPr eaLnBrk="0" hangingPunct="0">
              <a:defRPr/>
            </a:pPr>
            <a:r>
              <a:rPr lang="it-IT" b="1">
                <a:latin typeface="Courier New" pitchFamily="49" charset="0"/>
              </a:rPr>
              <a:t>   }</a:t>
            </a:r>
          </a:p>
        </p:txBody>
      </p:sp>
      <p:sp>
        <p:nvSpPr>
          <p:cNvPr id="30726" name="Text Box 6">
            <a:extLst>
              <a:ext uri="{FF2B5EF4-FFF2-40B4-BE49-F238E27FC236}">
                <a16:creationId xmlns:a16="http://schemas.microsoft.com/office/drawing/2014/main" id="{E7EDAFF3-2573-FE8F-DCBD-E7698F555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2" y="4397141"/>
            <a:ext cx="794067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it-IT" altLang="it-IT" sz="1600" b="1" dirty="0">
                <a:latin typeface="Verdana" panose="020B0604030504040204" pitchFamily="34" charset="0"/>
              </a:rPr>
              <a:t>public</a:t>
            </a:r>
            <a:r>
              <a:rPr lang="it-IT" altLang="it-IT" sz="1600" dirty="0">
                <a:latin typeface="Verdana" panose="020B0604030504040204" pitchFamily="34" charset="0"/>
              </a:rPr>
              <a:t> indica che il metodo è a disposizione di altre classi e oggetti</a:t>
            </a:r>
          </a:p>
          <a:p>
            <a:pPr>
              <a:buFontTx/>
              <a:buChar char="•"/>
            </a:pPr>
            <a:endParaRPr lang="it-IT" altLang="it-IT" sz="1600" dirty="0">
              <a:latin typeface="Verdana" panose="020B0604030504040204" pitchFamily="34" charset="0"/>
            </a:endParaRPr>
          </a:p>
          <a:p>
            <a:pPr>
              <a:buFontTx/>
              <a:buChar char="•"/>
            </a:pPr>
            <a:r>
              <a:rPr lang="it-IT" altLang="it-IT" sz="1600" b="1" dirty="0" err="1">
                <a:latin typeface="Verdana" panose="020B0604030504040204" pitchFamily="34" charset="0"/>
              </a:rPr>
              <a:t>static</a:t>
            </a:r>
            <a:r>
              <a:rPr lang="it-IT" altLang="it-IT" sz="1600" b="1" dirty="0">
                <a:latin typeface="Verdana" panose="020B0604030504040204" pitchFamily="34" charset="0"/>
              </a:rPr>
              <a:t> </a:t>
            </a:r>
            <a:r>
              <a:rPr lang="it-IT" altLang="it-IT" sz="1600" dirty="0">
                <a:latin typeface="Verdana" panose="020B0604030504040204" pitchFamily="34" charset="0"/>
              </a:rPr>
              <a:t>indica che </a:t>
            </a:r>
            <a:r>
              <a:rPr lang="it-IT" altLang="it-IT" sz="1600" i="1" dirty="0" err="1">
                <a:latin typeface="Verdana" panose="020B0604030504040204" pitchFamily="34" charset="0"/>
              </a:rPr>
              <a:t>main</a:t>
            </a:r>
            <a:r>
              <a:rPr lang="it-IT" altLang="it-IT" sz="1600" i="1" dirty="0">
                <a:latin typeface="Verdana" panose="020B0604030504040204" pitchFamily="34" charset="0"/>
              </a:rPr>
              <a:t>()</a:t>
            </a:r>
            <a:r>
              <a:rPr lang="it-IT" altLang="it-IT" sz="1600" dirty="0">
                <a:latin typeface="Verdana" panose="020B0604030504040204" pitchFamily="34" charset="0"/>
              </a:rPr>
              <a:t> è un metodo invocabile anche se non esistono oggetti (vedremo meglio poi)</a:t>
            </a:r>
          </a:p>
          <a:p>
            <a:endParaRPr lang="it-IT" altLang="it-IT" sz="1600" dirty="0">
              <a:latin typeface="Verdana" panose="020B0604030504040204" pitchFamily="34" charset="0"/>
            </a:endParaRPr>
          </a:p>
          <a:p>
            <a:pPr>
              <a:buFontTx/>
              <a:buChar char="•"/>
            </a:pPr>
            <a:r>
              <a:rPr lang="it-IT" altLang="it-IT" sz="1600" b="1" dirty="0" err="1">
                <a:latin typeface="Verdana" panose="020B0604030504040204" pitchFamily="34" charset="0"/>
              </a:rPr>
              <a:t>void</a:t>
            </a:r>
            <a:r>
              <a:rPr lang="it-IT" altLang="it-IT" sz="1600" dirty="0">
                <a:latin typeface="Verdana" panose="020B0604030504040204" pitchFamily="34" charset="0"/>
              </a:rPr>
              <a:t> indica che il metodo </a:t>
            </a:r>
            <a:r>
              <a:rPr lang="it-IT" altLang="it-IT" sz="1600" i="1" dirty="0" err="1">
                <a:latin typeface="Verdana" panose="020B0604030504040204" pitchFamily="34" charset="0"/>
              </a:rPr>
              <a:t>main</a:t>
            </a:r>
            <a:r>
              <a:rPr lang="it-IT" altLang="it-IT" sz="1600" i="1" dirty="0">
                <a:latin typeface="Verdana" panose="020B0604030504040204" pitchFamily="34" charset="0"/>
              </a:rPr>
              <a:t>()</a:t>
            </a:r>
            <a:r>
              <a:rPr lang="it-IT" altLang="it-IT" sz="1600" dirty="0">
                <a:latin typeface="Verdana" panose="020B0604030504040204" pitchFamily="34" charset="0"/>
              </a:rPr>
              <a:t> non restituisce un valore</a:t>
            </a:r>
          </a:p>
          <a:p>
            <a:pPr>
              <a:buFontTx/>
              <a:buChar char="•"/>
            </a:pPr>
            <a:endParaRPr lang="it-IT" altLang="it-IT" sz="1600" dirty="0">
              <a:latin typeface="Verdana" panose="020B0604030504040204" pitchFamily="34" charset="0"/>
            </a:endParaRPr>
          </a:p>
          <a:p>
            <a:pPr>
              <a:buFontTx/>
              <a:buChar char="•"/>
            </a:pPr>
            <a:r>
              <a:rPr lang="it-IT" altLang="it-IT" sz="1600" b="1" dirty="0" err="1">
                <a:latin typeface="Verdana" panose="020B0604030504040204" pitchFamily="34" charset="0"/>
              </a:rPr>
              <a:t>main</a:t>
            </a:r>
            <a:r>
              <a:rPr lang="it-IT" altLang="it-IT" sz="1600" b="1" dirty="0">
                <a:latin typeface="Verdana" panose="020B0604030504040204" pitchFamily="34" charset="0"/>
              </a:rPr>
              <a:t>()</a:t>
            </a:r>
            <a:r>
              <a:rPr lang="it-IT" altLang="it-IT" sz="1600" dirty="0">
                <a:latin typeface="Verdana" panose="020B0604030504040204" pitchFamily="34" charset="0"/>
              </a:rPr>
              <a:t> accetta come parametro un array di stringhe, utilizzato per 		 passare argomenti dalla riga di comando</a:t>
            </a:r>
            <a:endParaRPr lang="it-IT" altLang="it-IT" sz="1600" b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A421E2-C36D-833D-31B6-AD379A26B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3408"/>
            <a:ext cx="7543800" cy="1295400"/>
          </a:xfrm>
        </p:spPr>
        <p:txBody>
          <a:bodyPr/>
          <a:lstStyle/>
          <a:p>
            <a:r>
              <a:rPr lang="it-IT" dirty="0"/>
              <a:t>Un po’ di storia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99D5E1-275E-A0DA-C95E-A1BA86C79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484784"/>
            <a:ext cx="8229600" cy="4411662"/>
          </a:xfrm>
        </p:spPr>
        <p:txBody>
          <a:bodyPr>
            <a:normAutofit fontScale="92500" lnSpcReduction="10000"/>
          </a:bodyPr>
          <a:lstStyle/>
          <a:p>
            <a:r>
              <a:rPr lang="it-IT" dirty="0"/>
              <a:t>Da </a:t>
            </a:r>
            <a:r>
              <a:rPr lang="it-IT" dirty="0" err="1"/>
              <a:t>Wikipedia.it</a:t>
            </a:r>
            <a:r>
              <a:rPr lang="it-IT" dirty="0"/>
              <a:t>:</a:t>
            </a:r>
          </a:p>
          <a:p>
            <a:pPr lvl="1" algn="just"/>
            <a:r>
              <a:rPr lang="it-IT" dirty="0">
                <a:solidFill>
                  <a:srgbClr val="202122"/>
                </a:solidFill>
                <a:latin typeface="Arial" panose="020B0604020202020204" pitchFamily="34" charset="0"/>
              </a:rPr>
              <a:t>Java è stato creato a partire da ricerche effettuate alla </a:t>
            </a:r>
            <a:r>
              <a:rPr lang="it-IT" dirty="0">
                <a:solidFill>
                  <a:srgbClr val="202122"/>
                </a:solidFill>
                <a:latin typeface="Arial" panose="020B0604020202020204" pitchFamily="34" charset="0"/>
                <a:hlinkClick r:id="rId2" tooltip="Stanford Univers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Stanford University</a:t>
            </a:r>
            <a:r>
              <a:rPr lang="it-IT" dirty="0">
                <a:solidFill>
                  <a:srgbClr val="202122"/>
                </a:solidFill>
                <a:latin typeface="Arial" panose="020B0604020202020204" pitchFamily="34" charset="0"/>
              </a:rPr>
              <a:t> agli inizi degli </a:t>
            </a:r>
            <a:r>
              <a:rPr lang="it-IT" dirty="0">
                <a:solidFill>
                  <a:srgbClr val="202122"/>
                </a:solidFill>
                <a:latin typeface="Arial" panose="020B0604020202020204" pitchFamily="34" charset="0"/>
                <a:hlinkClick r:id="rId3" tooltip="Anni novan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anni novanta</a:t>
            </a:r>
            <a:r>
              <a:rPr lang="it-IT" dirty="0">
                <a:solidFill>
                  <a:srgbClr val="202122"/>
                </a:solidFill>
                <a:latin typeface="Arial" panose="020B0604020202020204" pitchFamily="34" charset="0"/>
              </a:rPr>
              <a:t>. </a:t>
            </a:r>
          </a:p>
          <a:p>
            <a:pPr lvl="1" algn="just"/>
            <a:r>
              <a:rPr lang="it-IT" dirty="0">
                <a:solidFill>
                  <a:srgbClr val="202122"/>
                </a:solidFill>
                <a:latin typeface="Arial" panose="020B0604020202020204" pitchFamily="34" charset="0"/>
              </a:rPr>
              <a:t>Nel </a:t>
            </a:r>
            <a:r>
              <a:rPr lang="it-IT" dirty="0">
                <a:solidFill>
                  <a:srgbClr val="202122"/>
                </a:solidFill>
                <a:latin typeface="Arial" panose="020B0604020202020204" pitchFamily="34" charset="0"/>
                <a:hlinkClick r:id="rId4" tooltip="199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1992</a:t>
            </a:r>
            <a:r>
              <a:rPr lang="it-IT" dirty="0">
                <a:solidFill>
                  <a:srgbClr val="202122"/>
                </a:solidFill>
                <a:latin typeface="Arial" panose="020B0604020202020204" pitchFamily="34" charset="0"/>
              </a:rPr>
              <a:t> nasce il linguaggio </a:t>
            </a:r>
            <a:r>
              <a:rPr lang="it-IT" dirty="0" err="1">
                <a:solidFill>
                  <a:srgbClr val="202122"/>
                </a:solidFill>
                <a:latin typeface="Arial" panose="020B0604020202020204" pitchFamily="34" charset="0"/>
              </a:rPr>
              <a:t>Oak</a:t>
            </a:r>
            <a:r>
              <a:rPr lang="it-IT" dirty="0">
                <a:solidFill>
                  <a:srgbClr val="202122"/>
                </a:solidFill>
                <a:latin typeface="Arial" panose="020B0604020202020204" pitchFamily="34" charset="0"/>
              </a:rPr>
              <a:t> (in italiano "quercia"), prodotto da </a:t>
            </a:r>
            <a:r>
              <a:rPr lang="it-IT" dirty="0">
                <a:solidFill>
                  <a:srgbClr val="202122"/>
                </a:solidFill>
                <a:latin typeface="Arial" panose="020B0604020202020204" pitchFamily="34" charset="0"/>
                <a:hlinkClick r:id="rId5" tooltip="Sun Microsyste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Sun Microsystems</a:t>
            </a:r>
            <a:r>
              <a:rPr lang="it-IT" dirty="0">
                <a:solidFill>
                  <a:srgbClr val="202122"/>
                </a:solidFill>
                <a:latin typeface="Arial" panose="020B0604020202020204" pitchFamily="34" charset="0"/>
              </a:rPr>
              <a:t> e realizzato da un gruppo di esperti sviluppatori capitanati da </a:t>
            </a:r>
            <a:r>
              <a:rPr lang="it-IT" dirty="0">
                <a:solidFill>
                  <a:srgbClr val="202122"/>
                </a:solidFill>
                <a:latin typeface="Arial" panose="020B0604020202020204" pitchFamily="34" charset="0"/>
                <a:hlinkClick r:id="rId6" tooltip="James Gosl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James Gosling</a:t>
            </a:r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algn="just"/>
            <a:r>
              <a:rPr lang="it-IT" dirty="0"/>
              <a:t>Questo nome fu successivamente cambiato in Java (una varietà di caffè indonesiana; il logo adottato è una tazzina per tale bevanda) per problemi di copyright: il linguaggio di programmazione </a:t>
            </a:r>
            <a:r>
              <a:rPr lang="it-IT" dirty="0" err="1"/>
              <a:t>Oak</a:t>
            </a:r>
            <a:r>
              <a:rPr lang="it-IT" dirty="0"/>
              <a:t> esisteva già.</a:t>
            </a:r>
          </a:p>
          <a:p>
            <a:pPr lvl="1" algn="just"/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E308290-8F0A-14EC-5A96-82D60CEA8EED}"/>
              </a:ext>
            </a:extLst>
          </p:cNvPr>
          <p:cNvSpPr txBox="1"/>
          <p:nvPr/>
        </p:nvSpPr>
        <p:spPr>
          <a:xfrm>
            <a:off x="549896" y="5959906"/>
            <a:ext cx="7776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hlinkClick r:id="rId7"/>
              </a:rPr>
              <a:t>https://it.wikipedia.org/wiki/Java_(linguaggio_di_programmazione)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7837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A421E2-C36D-833D-31B6-AD379A26B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-243408"/>
            <a:ext cx="7543800" cy="1295400"/>
          </a:xfrm>
        </p:spPr>
        <p:txBody>
          <a:bodyPr/>
          <a:lstStyle/>
          <a:p>
            <a:r>
              <a:rPr lang="it-IT" dirty="0"/>
              <a:t>Ancora un po’ di storia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99D5E1-275E-A0DA-C95E-A1BA86C79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556792"/>
            <a:ext cx="8229600" cy="4411662"/>
          </a:xfrm>
        </p:spPr>
        <p:txBody>
          <a:bodyPr>
            <a:normAutofit fontScale="77500" lnSpcReduction="20000"/>
          </a:bodyPr>
          <a:lstStyle/>
          <a:p>
            <a:r>
              <a:rPr lang="it-IT" dirty="0"/>
              <a:t>Da </a:t>
            </a:r>
            <a:r>
              <a:rPr lang="it-IT" dirty="0" err="1"/>
              <a:t>Wikipedia.it</a:t>
            </a:r>
            <a:r>
              <a:rPr lang="it-IT" dirty="0"/>
              <a:t>:</a:t>
            </a:r>
          </a:p>
          <a:p>
            <a:pPr lvl="1" algn="just"/>
            <a:r>
              <a:rPr lang="it-IT" dirty="0">
                <a:solidFill>
                  <a:srgbClr val="202122"/>
                </a:solidFill>
                <a:latin typeface="Arial" panose="020B0604020202020204" pitchFamily="34" charset="0"/>
              </a:rPr>
              <a:t>Java fu annunciato ufficialmente il 23 maggio </a:t>
            </a:r>
            <a:r>
              <a:rPr lang="it-IT" b="1" dirty="0">
                <a:solidFill>
                  <a:srgbClr val="202122"/>
                </a:solidFill>
                <a:latin typeface="Arial" panose="020B0604020202020204" pitchFamily="34" charset="0"/>
              </a:rPr>
              <a:t>1995</a:t>
            </a:r>
            <a:r>
              <a:rPr lang="it-IT" dirty="0">
                <a:solidFill>
                  <a:srgbClr val="202122"/>
                </a:solidFill>
                <a:latin typeface="Arial" panose="020B0604020202020204" pitchFamily="34" charset="0"/>
              </a:rPr>
              <a:t> a </a:t>
            </a:r>
            <a:r>
              <a:rPr lang="it-IT" dirty="0" err="1">
                <a:solidFill>
                  <a:srgbClr val="202122"/>
                </a:solidFill>
                <a:latin typeface="Arial" panose="020B0604020202020204" pitchFamily="34" charset="0"/>
              </a:rPr>
              <a:t>SunWorld</a:t>
            </a:r>
            <a:r>
              <a:rPr lang="it-IT" dirty="0">
                <a:solidFill>
                  <a:srgbClr val="202122"/>
                </a:solidFill>
                <a:latin typeface="Arial" panose="020B0604020202020204" pitchFamily="34" charset="0"/>
              </a:rPr>
              <a:t>.</a:t>
            </a:r>
          </a:p>
          <a:p>
            <a:pPr lvl="1" algn="just"/>
            <a:r>
              <a:rPr lang="it-IT" dirty="0">
                <a:solidFill>
                  <a:srgbClr val="202122"/>
                </a:solidFill>
                <a:latin typeface="Arial" panose="020B0604020202020204" pitchFamily="34" charset="0"/>
              </a:rPr>
              <a:t>Il 13 novembre 2006 la Sun </a:t>
            </a:r>
            <a:r>
              <a:rPr lang="it-IT" dirty="0" err="1">
                <a:solidFill>
                  <a:srgbClr val="202122"/>
                </a:solidFill>
                <a:latin typeface="Arial" panose="020B0604020202020204" pitchFamily="34" charset="0"/>
              </a:rPr>
              <a:t>Microsystems</a:t>
            </a:r>
            <a:r>
              <a:rPr lang="it-IT" dirty="0">
                <a:solidFill>
                  <a:srgbClr val="202122"/>
                </a:solidFill>
                <a:latin typeface="Arial" panose="020B0604020202020204" pitchFamily="34" charset="0"/>
              </a:rPr>
              <a:t> ha distribuito la sua implementazione del compilatore Java e della macchina virtuale sotto licenza GPL. </a:t>
            </a:r>
          </a:p>
          <a:p>
            <a:pPr lvl="1" algn="just"/>
            <a:r>
              <a:rPr lang="it-IT" dirty="0">
                <a:solidFill>
                  <a:srgbClr val="202122"/>
                </a:solidFill>
                <a:latin typeface="Arial" panose="020B0604020202020204" pitchFamily="34" charset="0"/>
              </a:rPr>
              <a:t>L'8 maggio 2007 Sun ha pubblicato anche le librerie, tranne alcuni componenti non di sua proprietà, sotto licenza GPL, rendendo Java un linguaggio di programmazione la cui implementazione di riferimento è libera.</a:t>
            </a:r>
          </a:p>
          <a:p>
            <a:pPr lvl="1" algn="just"/>
            <a:r>
              <a:rPr lang="it-IT" dirty="0">
                <a:solidFill>
                  <a:srgbClr val="202122"/>
                </a:solidFill>
                <a:latin typeface="Arial" panose="020B0604020202020204" pitchFamily="34" charset="0"/>
              </a:rPr>
              <a:t>Il linguaggio è definito da un documento chiamato The Java Language </a:t>
            </a:r>
            <a:r>
              <a:rPr lang="it-IT" dirty="0" err="1">
                <a:solidFill>
                  <a:srgbClr val="202122"/>
                </a:solidFill>
                <a:latin typeface="Arial" panose="020B0604020202020204" pitchFamily="34" charset="0"/>
              </a:rPr>
              <a:t>Specification</a:t>
            </a:r>
            <a:r>
              <a:rPr lang="it-IT" dirty="0">
                <a:solidFill>
                  <a:srgbClr val="202122"/>
                </a:solidFill>
                <a:latin typeface="Arial" panose="020B0604020202020204" pitchFamily="34" charset="0"/>
              </a:rPr>
              <a:t>, spesso abbreviato JLS. La prima edizione del documento è stata pubblicata nel 1996.</a:t>
            </a:r>
          </a:p>
          <a:p>
            <a:pPr lvl="2" algn="just"/>
            <a:r>
              <a:rPr lang="it-IT" dirty="0">
                <a:solidFill>
                  <a:srgbClr val="202122"/>
                </a:solidFill>
                <a:latin typeface="Arial" panose="020B0604020202020204" pitchFamily="34" charset="0"/>
              </a:rPr>
              <a:t>Da allora il linguaggio ha subito numerose modifiche e integrazioni, aggiunte di volta in volta nelle edizioni successive. </a:t>
            </a:r>
          </a:p>
          <a:p>
            <a:pPr lvl="2" algn="just"/>
            <a:r>
              <a:rPr lang="it-IT" dirty="0">
                <a:solidFill>
                  <a:srgbClr val="202122"/>
                </a:solidFill>
                <a:latin typeface="Arial" panose="020B0604020202020204" pitchFamily="34" charset="0"/>
              </a:rPr>
              <a:t>Al Gennaio 2023 la versione più recente delle specifiche è la Java SE 21 Edition.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2F71B3D-BF8E-18B5-541E-5F525BFD0234}"/>
              </a:ext>
            </a:extLst>
          </p:cNvPr>
          <p:cNvSpPr txBox="1"/>
          <p:nvPr/>
        </p:nvSpPr>
        <p:spPr>
          <a:xfrm>
            <a:off x="549896" y="5959906"/>
            <a:ext cx="7776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hlinkClick r:id="rId2"/>
              </a:rPr>
              <a:t>https://it.wikipedia.org/wiki/Java_(linguaggio_di_programmazione)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34252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453AC27-6D3B-B903-7DB3-E18ABB81C3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Un po’ di numeri (e storia…)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F200645-3883-4F37-6F34-8A22C451B7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900113" y="6858000"/>
            <a:ext cx="8229601" cy="4411663"/>
          </a:xfrm>
        </p:spPr>
        <p:txBody>
          <a:bodyPr/>
          <a:lstStyle/>
          <a:p>
            <a:pPr eaLnBrk="1" hangingPunct="1"/>
            <a:r>
              <a:rPr lang="it-IT" altLang="it-IT"/>
              <a:t>Nell’installazione del JDK 1.2 (noto anche come Java 2)</a:t>
            </a:r>
          </a:p>
          <a:p>
            <a:pPr lvl="1" eaLnBrk="1" hangingPunct="1"/>
            <a:r>
              <a:rPr lang="it-IT" altLang="it-IT"/>
              <a:t>60 package</a:t>
            </a:r>
          </a:p>
          <a:p>
            <a:pPr lvl="1" eaLnBrk="1" hangingPunct="1"/>
            <a:r>
              <a:rPr lang="it-IT" altLang="it-IT"/>
              <a:t>1650 (+-10%) classi</a:t>
            </a:r>
          </a:p>
          <a:p>
            <a:pPr lvl="1" eaLnBrk="1" hangingPunct="1"/>
            <a:r>
              <a:rPr lang="it-IT" altLang="it-IT"/>
              <a:t>…??? Metodi??</a:t>
            </a:r>
          </a:p>
          <a:p>
            <a:pPr eaLnBrk="1" hangingPunct="1"/>
            <a:r>
              <a:rPr lang="it-IT" altLang="it-IT"/>
              <a:t>Il tutto è organizzato in maniera gerarchica</a:t>
            </a:r>
          </a:p>
          <a:p>
            <a:pPr lvl="1" eaLnBrk="1" hangingPunct="1">
              <a:buFont typeface="Wingdings" pitchFamily="2" charset="2"/>
              <a:buNone/>
            </a:pPr>
            <a:endParaRPr lang="it-IT" altLang="it-IT"/>
          </a:p>
        </p:txBody>
      </p:sp>
      <p:pic>
        <p:nvPicPr>
          <p:cNvPr id="3" name="Immagine 2" descr="Immagine che contiene linea, Diagramma, diagramma, pendio&#10;&#10;Descrizione generata automaticamente">
            <a:extLst>
              <a:ext uri="{FF2B5EF4-FFF2-40B4-BE49-F238E27FC236}">
                <a16:creationId xmlns:a16="http://schemas.microsoft.com/office/drawing/2014/main" id="{3F5A52DA-A137-B55F-FDA5-0F2C02BF4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1269"/>
            <a:ext cx="9056655" cy="3635462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E3C26A0-11E0-94C5-58BE-027D4E922BCE}"/>
              </a:ext>
            </a:extLst>
          </p:cNvPr>
          <p:cNvSpPr txBox="1"/>
          <p:nvPr/>
        </p:nvSpPr>
        <p:spPr>
          <a:xfrm>
            <a:off x="323528" y="5440362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Grafico ottenuto da: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E56E2AD-56C1-A5C9-E856-C704E57A1D64}"/>
              </a:ext>
            </a:extLst>
          </p:cNvPr>
          <p:cNvSpPr txBox="1"/>
          <p:nvPr/>
        </p:nvSpPr>
        <p:spPr>
          <a:xfrm>
            <a:off x="323528" y="5729200"/>
            <a:ext cx="66247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hlinkClick r:id="rId3"/>
              </a:rPr>
              <a:t>https://en.wikipedia.org/wiki/Java_(programming_language)</a:t>
            </a:r>
            <a:endParaRPr lang="it-IT" dirty="0"/>
          </a:p>
          <a:p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ACB692A-676C-8328-75BB-1562B33D2C86}"/>
              </a:ext>
            </a:extLst>
          </p:cNvPr>
          <p:cNvSpPr txBox="1"/>
          <p:nvPr/>
        </p:nvSpPr>
        <p:spPr>
          <a:xfrm>
            <a:off x="323528" y="6052365"/>
            <a:ext cx="61777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hlinkClick r:id="rId4"/>
              </a:rPr>
              <a:t>https://en.wikipedia.org/wiki/Java_version_history</a:t>
            </a:r>
            <a:endParaRPr lang="it-IT" dirty="0"/>
          </a:p>
          <a:p>
            <a:endParaRPr lang="it-IT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28B5BF-9FFA-6BC1-C79D-0F4C700BB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-315416"/>
            <a:ext cx="7543800" cy="1295400"/>
          </a:xfrm>
        </p:spPr>
        <p:txBody>
          <a:bodyPr/>
          <a:lstStyle/>
          <a:p>
            <a:r>
              <a:rPr lang="it-IT" dirty="0"/>
              <a:t>Piattaforma JAVA 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46AC98E-61CD-0CF6-FB34-396A61263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291" y="1340768"/>
            <a:ext cx="8229600" cy="511256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it-IT" sz="2400" dirty="0"/>
              <a:t>Java SE (Standard Edition) Platform è lo standard ufficiale che definisce: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2400" dirty="0"/>
              <a:t>Le specifiche del linguaggio Java e delle API core.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2400" dirty="0"/>
              <a:t>L'insieme di librerie disponibili (Java SE API).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2400" dirty="0"/>
              <a:t>Le regole che una JVM deve seguire per essere compatibile.</a:t>
            </a:r>
          </a:p>
          <a:p>
            <a:r>
              <a:rPr lang="it-IT" sz="2400" dirty="0"/>
              <a:t>Non è un software ma un insieme di specifiche definite definito dal Java Community </a:t>
            </a:r>
            <a:r>
              <a:rPr lang="it-IT" sz="2400" dirty="0" err="1"/>
              <a:t>Process</a:t>
            </a:r>
            <a:r>
              <a:rPr lang="it-IT" sz="2400" dirty="0"/>
              <a:t> (JCP), che coinvolge molte aziende e sviluppatori</a:t>
            </a:r>
          </a:p>
          <a:p>
            <a:r>
              <a:rPr lang="it-IT" sz="2400" dirty="0"/>
              <a:t>Oracle è il mantenitore principale di Java SE. Il codice sorgente di Java è gestito tramite </a:t>
            </a:r>
            <a:r>
              <a:rPr lang="it-IT" sz="2400" dirty="0" err="1"/>
              <a:t>OpenJDK</a:t>
            </a:r>
            <a:r>
              <a:rPr lang="it-IT" sz="2400" dirty="0"/>
              <a:t>, il progetto open-source.</a:t>
            </a:r>
          </a:p>
          <a:p>
            <a:pPr marL="0" indent="0">
              <a:buNone/>
            </a:pPr>
            <a:endParaRPr lang="it-IT" sz="2400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00480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3C974E-7A5D-CD50-91C0-106165709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15416"/>
            <a:ext cx="7543800" cy="1295400"/>
          </a:xfrm>
        </p:spPr>
        <p:txBody>
          <a:bodyPr/>
          <a:lstStyle/>
          <a:p>
            <a:r>
              <a:rPr lang="it-IT" dirty="0"/>
              <a:t>JDK e JRE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927D354-619F-8F2B-48C2-01E0A68D0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223168"/>
            <a:ext cx="8229600" cy="523016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it-IT" sz="2400" b="1" dirty="0"/>
              <a:t>JDK</a:t>
            </a:r>
            <a:r>
              <a:rPr lang="it-IT" sz="2400" dirty="0"/>
              <a:t> (</a:t>
            </a:r>
            <a:r>
              <a:rPr lang="it-IT" sz="2400" b="1" dirty="0"/>
              <a:t>Java Development Kit</a:t>
            </a:r>
            <a:r>
              <a:rPr lang="it-IT" sz="2400" dirty="0"/>
              <a:t>) è un'implementazione di Java SE, creata da Oracle/</a:t>
            </a:r>
            <a:r>
              <a:rPr lang="it-IT" sz="2400" dirty="0" err="1"/>
              <a:t>OpenJDK</a:t>
            </a:r>
            <a:r>
              <a:rPr lang="it-IT" sz="2400" dirty="0"/>
              <a:t> e altri </a:t>
            </a:r>
            <a:r>
              <a:rPr lang="it-IT" sz="2400" dirty="0" err="1"/>
              <a:t>vendor</a:t>
            </a:r>
            <a:r>
              <a:rPr lang="it-IT" sz="2400" dirty="0"/>
              <a:t>. Comprende tutti gli strumenti necessari sia allo sviluppo che all’esecuzione di applicazioni Java, incluso il compilatore e la Java Virtual Machine. (JSE è la versione Oracle della JDK)</a:t>
            </a:r>
          </a:p>
          <a:p>
            <a:r>
              <a:rPr lang="it-IT" sz="2400" b="1" dirty="0"/>
              <a:t>JRE (Java Runtime Environment) </a:t>
            </a:r>
            <a:r>
              <a:rPr lang="it-IT" sz="2400" dirty="0"/>
              <a:t>è sostanzialmente la Java Virtual Machine e tutto ciò che è necessario alla esecuzione di applicazioni Java</a:t>
            </a:r>
          </a:p>
          <a:p>
            <a:r>
              <a:rPr lang="it-IT" sz="2400" b="1" dirty="0"/>
              <a:t>Per eseguire </a:t>
            </a:r>
            <a:r>
              <a:rPr lang="it-IT" sz="2400" dirty="0"/>
              <a:t>applicazioni Java è sufficiente installare la JRE</a:t>
            </a:r>
          </a:p>
          <a:p>
            <a:r>
              <a:rPr lang="it-IT" sz="2400" b="1" dirty="0"/>
              <a:t>Per sviluppare </a:t>
            </a:r>
            <a:r>
              <a:rPr lang="it-IT" sz="2400" dirty="0"/>
              <a:t>programmi Java è necessario installare la JDK</a:t>
            </a:r>
          </a:p>
        </p:txBody>
      </p:sp>
    </p:spTree>
    <p:extLst>
      <p:ext uri="{BB962C8B-B14F-4D97-AF65-F5344CB8AC3E}">
        <p14:creationId xmlns:p14="http://schemas.microsoft.com/office/powerpoint/2010/main" val="2340552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95A5D4-034E-6894-DEBE-40D0B5689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268" y="-459432"/>
            <a:ext cx="7543800" cy="1295400"/>
          </a:xfrm>
        </p:spPr>
        <p:txBody>
          <a:bodyPr/>
          <a:lstStyle/>
          <a:p>
            <a:r>
              <a:rPr lang="it-IT" dirty="0"/>
              <a:t>Tecnologie Java: JSE</a:t>
            </a:r>
          </a:p>
        </p:txBody>
      </p:sp>
      <p:pic>
        <p:nvPicPr>
          <p:cNvPr id="10" name="Segnaposto contenuto 9" descr="Immagine che contiene testo, schermata, Parallelo, numero&#10;&#10;Descrizione generata automaticamente">
            <a:extLst>
              <a:ext uri="{FF2B5EF4-FFF2-40B4-BE49-F238E27FC236}">
                <a16:creationId xmlns:a16="http://schemas.microsoft.com/office/drawing/2014/main" id="{EA8EDD32-4061-FE35-1E17-FF83E8820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12776"/>
            <a:ext cx="7339937" cy="5040560"/>
          </a:xfr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9796E99-6CDC-DA99-A37C-21E65071C8F2}"/>
              </a:ext>
            </a:extLst>
          </p:cNvPr>
          <p:cNvSpPr txBox="1"/>
          <p:nvPr/>
        </p:nvSpPr>
        <p:spPr>
          <a:xfrm>
            <a:off x="2411760" y="1033124"/>
            <a:ext cx="4532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Oracle Java </a:t>
            </a:r>
            <a:r>
              <a:rPr lang="it-IT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Platform</a:t>
            </a:r>
            <a:r>
              <a:rPr lang="it-IT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Standard Edition (8)</a:t>
            </a:r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DD1F099-A57A-2784-F3A6-CC15DE953D3F}"/>
              </a:ext>
            </a:extLst>
          </p:cNvPr>
          <p:cNvSpPr txBox="1"/>
          <p:nvPr/>
        </p:nvSpPr>
        <p:spPr>
          <a:xfrm>
            <a:off x="1457206" y="6453336"/>
            <a:ext cx="5339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https://</a:t>
            </a:r>
            <a:r>
              <a:rPr lang="it-IT" dirty="0" err="1"/>
              <a:t>docs.oracle.com</a:t>
            </a:r>
            <a:r>
              <a:rPr lang="it-IT" dirty="0"/>
              <a:t>/</a:t>
            </a:r>
            <a:r>
              <a:rPr lang="it-IT" dirty="0" err="1"/>
              <a:t>javase</a:t>
            </a:r>
            <a:r>
              <a:rPr lang="it-IT" dirty="0"/>
              <a:t>/8/</a:t>
            </a:r>
            <a:r>
              <a:rPr lang="it-IT" dirty="0" err="1"/>
              <a:t>docs</a:t>
            </a:r>
            <a:r>
              <a:rPr lang="it-IT" dirty="0"/>
              <a:t>/</a:t>
            </a:r>
            <a:r>
              <a:rPr lang="it-IT" dirty="0" err="1"/>
              <a:t>index.html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25852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CD57B2D-D3F7-7730-973D-72BC2F296D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2997" y="-243408"/>
            <a:ext cx="7543800" cy="1295400"/>
          </a:xfrm>
        </p:spPr>
        <p:txBody>
          <a:bodyPr/>
          <a:lstStyle/>
          <a:p>
            <a:pPr eaLnBrk="1" hangingPunct="1"/>
            <a:r>
              <a:rPr lang="it-IT" altLang="it-IT" dirty="0"/>
              <a:t>Servizi JAVA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B6E13A4-64DC-D556-843F-99D28FF4F2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2997" y="1412776"/>
            <a:ext cx="8229600" cy="4411662"/>
          </a:xfrm>
        </p:spPr>
        <p:txBody>
          <a:bodyPr/>
          <a:lstStyle/>
          <a:p>
            <a:pPr eaLnBrk="1" hangingPunct="1"/>
            <a:r>
              <a:rPr lang="it-IT" altLang="it-IT" dirty="0"/>
              <a:t>L’ambiente Java è corredato da una estesa libreria di classi organizzata in “Pacchetti” (</a:t>
            </a:r>
            <a:r>
              <a:rPr lang="it-IT" altLang="it-IT" i="1" dirty="0">
                <a:solidFill>
                  <a:srgbClr val="FF0000"/>
                </a:solidFill>
              </a:rPr>
              <a:t>packages</a:t>
            </a:r>
            <a:r>
              <a:rPr lang="it-IT" altLang="it-IT" dirty="0"/>
              <a:t>)</a:t>
            </a:r>
          </a:p>
          <a:p>
            <a:pPr lvl="1" eaLnBrk="1" hangingPunct="1"/>
            <a:r>
              <a:rPr lang="it-IT" altLang="it-IT" dirty="0"/>
              <a:t>Possiamo vedere tali librerie come un insieme di servizi “pronti per l’uso”  e possiamo classificarli secondo il livello di supporto che forniscono</a:t>
            </a:r>
          </a:p>
          <a:p>
            <a:pPr lvl="2" eaLnBrk="1" hangingPunct="1"/>
            <a:r>
              <a:rPr lang="it-IT" altLang="it-IT" dirty="0"/>
              <a:t>Servizi di Base:  il linguaggio (Java Core Classes)</a:t>
            </a:r>
          </a:p>
          <a:p>
            <a:pPr lvl="2" eaLnBrk="1" hangingPunct="1"/>
            <a:r>
              <a:rPr lang="it-IT" altLang="it-IT" dirty="0"/>
              <a:t>Servizi di alto livello “orizzontali” </a:t>
            </a:r>
          </a:p>
          <a:p>
            <a:pPr lvl="2" eaLnBrk="1" hangingPunct="1"/>
            <a:r>
              <a:rPr lang="it-IT" altLang="it-IT" dirty="0"/>
              <a:t>Servizi di alto livello “verticali”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93A4C7C-E94F-6DCA-52BD-AC9A8284E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171400"/>
            <a:ext cx="7543800" cy="1295400"/>
          </a:xfrm>
        </p:spPr>
        <p:txBody>
          <a:bodyPr/>
          <a:lstStyle/>
          <a:p>
            <a:pPr eaLnBrk="1" hangingPunct="1"/>
            <a:r>
              <a:rPr lang="it-IT" altLang="it-IT" dirty="0"/>
              <a:t>Servizi di Base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B79905B-E48C-C3F2-CBE7-7B19820827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84784"/>
            <a:ext cx="8229600" cy="4411662"/>
          </a:xfrm>
        </p:spPr>
        <p:txBody>
          <a:bodyPr/>
          <a:lstStyle/>
          <a:p>
            <a:pPr eaLnBrk="1" hangingPunct="1"/>
            <a:r>
              <a:rPr lang="it-IT" altLang="it-IT" sz="3400" b="1" dirty="0"/>
              <a:t>package </a:t>
            </a:r>
            <a:r>
              <a:rPr lang="it-IT" altLang="it-IT" sz="3400" b="1" dirty="0" err="1"/>
              <a:t>java.lang</a:t>
            </a:r>
            <a:endParaRPr lang="it-IT" altLang="it-IT" sz="3400" b="1" dirty="0"/>
          </a:p>
          <a:p>
            <a:pPr lvl="1" eaLnBrk="1" hangingPunct="1"/>
            <a:r>
              <a:rPr lang="it-IT" altLang="it-IT" sz="2200" dirty="0" err="1"/>
              <a:t>Boolean</a:t>
            </a:r>
            <a:r>
              <a:rPr lang="it-IT" altLang="it-IT" sz="2200" dirty="0"/>
              <a:t>, Byte, </a:t>
            </a:r>
            <a:r>
              <a:rPr lang="it-IT" altLang="it-IT" sz="2200" dirty="0" err="1"/>
              <a:t>Character</a:t>
            </a:r>
            <a:r>
              <a:rPr lang="it-IT" altLang="it-IT" sz="2200" dirty="0"/>
              <a:t>, Class, </a:t>
            </a:r>
            <a:r>
              <a:rPr lang="it-IT" altLang="it-IT" sz="2200" dirty="0" err="1"/>
              <a:t>ClassLoader</a:t>
            </a:r>
            <a:r>
              <a:rPr lang="it-IT" altLang="it-IT" sz="2200" dirty="0"/>
              <a:t>, Double, Float, Long, Math, </a:t>
            </a:r>
            <a:r>
              <a:rPr lang="it-IT" altLang="it-IT" sz="2200" dirty="0" err="1"/>
              <a:t>Number</a:t>
            </a:r>
            <a:r>
              <a:rPr lang="it-IT" altLang="it-IT" sz="2200" dirty="0"/>
              <a:t>, Object, </a:t>
            </a:r>
            <a:r>
              <a:rPr lang="it-IT" altLang="it-IT" sz="2200" dirty="0" err="1"/>
              <a:t>Process</a:t>
            </a:r>
            <a:r>
              <a:rPr lang="it-IT" altLang="it-IT" sz="2200" dirty="0"/>
              <a:t>, Runtime, </a:t>
            </a:r>
            <a:r>
              <a:rPr lang="it-IT" altLang="it-IT" sz="2200" dirty="0" err="1"/>
              <a:t>RuntimePermission</a:t>
            </a:r>
            <a:r>
              <a:rPr lang="it-IT" altLang="it-IT" sz="2200" dirty="0"/>
              <a:t>, </a:t>
            </a:r>
            <a:r>
              <a:rPr lang="it-IT" altLang="it-IT" sz="2200" dirty="0" err="1"/>
              <a:t>SecurityManager</a:t>
            </a:r>
            <a:r>
              <a:rPr lang="it-IT" altLang="it-IT" sz="2200" dirty="0"/>
              <a:t>, Short, </a:t>
            </a:r>
            <a:r>
              <a:rPr lang="it-IT" altLang="it-IT" sz="2200" dirty="0" err="1"/>
              <a:t>String</a:t>
            </a:r>
            <a:r>
              <a:rPr lang="it-IT" altLang="it-IT" sz="2200" dirty="0"/>
              <a:t>, </a:t>
            </a:r>
            <a:r>
              <a:rPr lang="it-IT" altLang="it-IT" sz="2200" dirty="0" err="1"/>
              <a:t>StringBuffer</a:t>
            </a:r>
            <a:r>
              <a:rPr lang="it-IT" altLang="it-IT" sz="2200" dirty="0"/>
              <a:t>, System, </a:t>
            </a:r>
            <a:r>
              <a:rPr lang="it-IT" altLang="it-IT" sz="2200" dirty="0" err="1"/>
              <a:t>Thread</a:t>
            </a:r>
            <a:r>
              <a:rPr lang="it-IT" altLang="it-IT" sz="2200" dirty="0"/>
              <a:t>...Void</a:t>
            </a:r>
            <a:r>
              <a:rPr lang="it-IT" altLang="it-IT" sz="3000" dirty="0"/>
              <a:t>	</a:t>
            </a:r>
          </a:p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r>
              <a:rPr lang="it-IT" altLang="it-IT" sz="3400" b="1" dirty="0"/>
              <a:t>package </a:t>
            </a:r>
            <a:r>
              <a:rPr lang="it-IT" altLang="it-IT" sz="3400" b="1" dirty="0" err="1"/>
              <a:t>java.io</a:t>
            </a:r>
            <a:endParaRPr lang="it-IT" altLang="it-IT" sz="3400" b="1" dirty="0"/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it-IT" altLang="it-IT" sz="2200" dirty="0" err="1"/>
              <a:t>BufferedReader</a:t>
            </a:r>
            <a:r>
              <a:rPr lang="it-IT" altLang="it-IT" sz="2200" dirty="0"/>
              <a:t>, </a:t>
            </a:r>
            <a:r>
              <a:rPr lang="it-IT" altLang="it-IT" sz="2200" dirty="0" err="1"/>
              <a:t>BufferedWriter</a:t>
            </a:r>
            <a:r>
              <a:rPr lang="it-IT" altLang="it-IT" sz="2200" dirty="0"/>
              <a:t>, </a:t>
            </a:r>
            <a:r>
              <a:rPr lang="it-IT" altLang="it-IT" sz="2200" dirty="0" err="1"/>
              <a:t>ByteArrayInputStream</a:t>
            </a:r>
            <a:r>
              <a:rPr lang="it-IT" altLang="it-IT" sz="2200" dirty="0"/>
              <a:t>,... File, </a:t>
            </a:r>
            <a:r>
              <a:rPr lang="it-IT" altLang="it-IT" sz="2200" dirty="0" err="1"/>
              <a:t>FileInputStream</a:t>
            </a:r>
            <a:r>
              <a:rPr lang="it-IT" altLang="it-IT" sz="2200" dirty="0"/>
              <a:t>, </a:t>
            </a:r>
            <a:r>
              <a:rPr lang="it-IT" altLang="it-IT" sz="2200" dirty="0" err="1"/>
              <a:t>FileOutputStream</a:t>
            </a:r>
            <a:r>
              <a:rPr lang="it-IT" altLang="it-IT" sz="2200" dirty="0"/>
              <a:t>, </a:t>
            </a:r>
            <a:r>
              <a:rPr lang="it-IT" altLang="it-IT" sz="2200" dirty="0" err="1"/>
              <a:t>FilePermission</a:t>
            </a:r>
            <a:r>
              <a:rPr lang="it-IT" altLang="it-IT" sz="2200" dirty="0"/>
              <a:t>, </a:t>
            </a:r>
            <a:r>
              <a:rPr lang="it-IT" altLang="it-IT" sz="2200" dirty="0" err="1"/>
              <a:t>FileReader</a:t>
            </a:r>
            <a:r>
              <a:rPr lang="it-IT" altLang="it-IT" sz="2200" dirty="0"/>
              <a:t>, </a:t>
            </a:r>
            <a:r>
              <a:rPr lang="it-IT" altLang="it-IT" sz="2200" dirty="0" err="1"/>
              <a:t>FileWriter</a:t>
            </a:r>
            <a:r>
              <a:rPr lang="it-IT" altLang="it-IT" sz="2200" dirty="0"/>
              <a:t>, </a:t>
            </a:r>
            <a:r>
              <a:rPr lang="it-IT" altLang="it-IT" sz="2200" dirty="0" err="1"/>
              <a:t>InputStream</a:t>
            </a:r>
            <a:r>
              <a:rPr lang="it-IT" altLang="it-IT" sz="2200" dirty="0"/>
              <a:t>, </a:t>
            </a:r>
            <a:r>
              <a:rPr lang="it-IT" altLang="it-IT" sz="2200" dirty="0" err="1"/>
              <a:t>LineNumberInputStream</a:t>
            </a:r>
            <a:r>
              <a:rPr lang="it-IT" altLang="it-IT" sz="2200" dirty="0"/>
              <a:t>, </a:t>
            </a:r>
            <a:r>
              <a:rPr lang="it-IT" altLang="it-IT" sz="2200" dirty="0" err="1"/>
              <a:t>RandomAccessFile</a:t>
            </a:r>
            <a:r>
              <a:rPr lang="it-IT" altLang="it-IT" sz="2200" dirty="0"/>
              <a:t> </a:t>
            </a:r>
            <a:br>
              <a:rPr lang="it-IT" altLang="it-IT" sz="2200" dirty="0"/>
            </a:br>
            <a:r>
              <a:rPr lang="it-IT" altLang="it-IT" sz="2200" dirty="0" err="1"/>
              <a:t>Reader,Writer</a:t>
            </a:r>
            <a:endParaRPr lang="it-IT" altLang="it-IT" sz="3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3D1EDB0-AE77-F303-6551-69FD0FBE86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24138"/>
            <a:ext cx="7543800" cy="1295400"/>
          </a:xfrm>
        </p:spPr>
        <p:txBody>
          <a:bodyPr/>
          <a:lstStyle/>
          <a:p>
            <a:pPr eaLnBrk="1" hangingPunct="1"/>
            <a:r>
              <a:rPr lang="it-IT" altLang="it-IT" sz="3500" dirty="0"/>
              <a:t>Servizi di alto livello “orizzontali”</a:t>
            </a:r>
            <a:endParaRPr lang="it-IT" altLang="it-IT" dirty="0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EAE3995-A6AB-8BCF-74C8-70DFBE9A1D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3169" y="1556792"/>
            <a:ext cx="8229600" cy="4411662"/>
          </a:xfrm>
        </p:spPr>
        <p:txBody>
          <a:bodyPr/>
          <a:lstStyle/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r>
              <a:rPr lang="it-IT" altLang="it-IT" dirty="0"/>
              <a:t>Per la costruzione di interfacce grafiche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it-IT" altLang="it-IT" dirty="0"/>
              <a:t>package </a:t>
            </a:r>
            <a:r>
              <a:rPr lang="it-IT" altLang="it-IT" dirty="0" err="1"/>
              <a:t>java.awt</a:t>
            </a:r>
            <a:r>
              <a:rPr lang="it-IT" altLang="it-IT" dirty="0"/>
              <a:t>, </a:t>
            </a:r>
            <a:r>
              <a:rPr lang="it-IT" altLang="it-IT" dirty="0" err="1"/>
              <a:t>javax.swing</a:t>
            </a:r>
            <a:r>
              <a:rPr lang="it-IT" altLang="it-IT" dirty="0"/>
              <a:t> …</a:t>
            </a:r>
          </a:p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r>
              <a:rPr lang="it-IT" altLang="it-IT" dirty="0"/>
              <a:t>Per l’accesso ai DB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it-IT" altLang="it-IT" dirty="0"/>
              <a:t>package </a:t>
            </a:r>
            <a:r>
              <a:rPr lang="it-IT" altLang="it-IT" dirty="0" err="1"/>
              <a:t>java.sql</a:t>
            </a:r>
            <a:endParaRPr lang="it-IT" altLang="it-IT" dirty="0"/>
          </a:p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r>
              <a:rPr lang="it-IT" altLang="it-IT" dirty="0"/>
              <a:t>Per l’accesso alla rete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it-IT" altLang="it-IT" dirty="0"/>
              <a:t>package </a:t>
            </a:r>
            <a:r>
              <a:rPr lang="it-IT" altLang="it-IT" dirty="0" err="1"/>
              <a:t>java.net</a:t>
            </a:r>
            <a:endParaRPr lang="it-IT" altLang="it-IT" dirty="0"/>
          </a:p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r>
              <a:rPr lang="it-IT" altLang="it-IT" dirty="0"/>
              <a:t>Per le applet 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it-IT" altLang="it-IT" dirty="0"/>
              <a:t>package  </a:t>
            </a:r>
            <a:r>
              <a:rPr lang="it-IT" altLang="it-IT" dirty="0" err="1"/>
              <a:t>java.applet</a:t>
            </a:r>
            <a:endParaRPr lang="it-IT" altLang="it-IT" dirty="0"/>
          </a:p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r>
              <a:rPr lang="it-IT" altLang="it-IT" dirty="0"/>
              <a:t>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10E7772-6C15-4EFB-53D9-6FE4AB590E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543800" cy="1295400"/>
          </a:xfrm>
        </p:spPr>
        <p:txBody>
          <a:bodyPr/>
          <a:lstStyle/>
          <a:p>
            <a:pPr eaLnBrk="1" hangingPunct="1"/>
            <a:r>
              <a:rPr lang="it-IT" altLang="it-IT" sz="3500" dirty="0"/>
              <a:t>Servizi di alto livello “verticali”</a:t>
            </a:r>
            <a:endParaRPr lang="it-IT" altLang="it-IT" dirty="0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5D1774C-BD26-0F82-91C1-071A6F610C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56792"/>
            <a:ext cx="8229600" cy="4411662"/>
          </a:xfrm>
        </p:spPr>
        <p:txBody>
          <a:bodyPr/>
          <a:lstStyle/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r>
              <a:rPr lang="it-IT" altLang="it-IT" dirty="0"/>
              <a:t>Package di classi che possono essere aggiunti a quelli installati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it-IT" altLang="it-IT" dirty="0"/>
              <a:t>Per la riproduzione dei filmati</a:t>
            </a:r>
          </a:p>
          <a:p>
            <a:pPr lvl="2" eaLnBrk="1" hangingPunct="1">
              <a:spcBef>
                <a:spcPts val="500"/>
              </a:spcBef>
              <a:spcAft>
                <a:spcPts val="500"/>
              </a:spcAft>
            </a:pPr>
            <a:r>
              <a:rPr lang="it-IT" altLang="it-IT" dirty="0"/>
              <a:t>JMF (Java Multimedia Framework)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it-IT" altLang="it-IT" dirty="0"/>
              <a:t>Per il commercio elettronico</a:t>
            </a:r>
          </a:p>
          <a:p>
            <a:pPr lvl="2" eaLnBrk="1" hangingPunct="1">
              <a:spcBef>
                <a:spcPts val="500"/>
              </a:spcBef>
              <a:spcAft>
                <a:spcPts val="500"/>
              </a:spcAft>
            </a:pPr>
            <a:r>
              <a:rPr lang="it-IT" altLang="it-IT" dirty="0"/>
              <a:t>JECF (Java Electronic Commerce Framework)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it-IT" altLang="it-IT" dirty="0"/>
              <a:t>…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  <a:buFont typeface="Wingdings" pitchFamily="2" charset="2"/>
              <a:buNone/>
            </a:pPr>
            <a:endParaRPr lang="it-IT" altLang="it-IT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773620-AA72-DAF1-3DAC-9B631D02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Riferimenti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D18E88-DC4E-0992-2D09-C9DFC3FAE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Programmare in Java – Prima di cominciare</a:t>
            </a:r>
          </a:p>
          <a:p>
            <a:r>
              <a:rPr lang="it-IT" dirty="0"/>
              <a:t>Programmare in Java – Capitolo 1</a:t>
            </a:r>
          </a:p>
          <a:p>
            <a:r>
              <a:rPr lang="it-IT" dirty="0" err="1"/>
              <a:t>Savitch</a:t>
            </a:r>
            <a:r>
              <a:rPr lang="it-IT" dirty="0"/>
              <a:t> – Capitolo 1 par. 1 e 2</a:t>
            </a:r>
          </a:p>
          <a:p>
            <a:r>
              <a:rPr lang="it-IT" dirty="0"/>
              <a:t>Risorse on line</a:t>
            </a:r>
          </a:p>
          <a:p>
            <a:pPr lvl="1"/>
            <a:r>
              <a:rPr lang="it-IT" altLang="it-IT" sz="1800" u="sng" dirty="0">
                <a:hlinkClick r:id="rId2"/>
              </a:rPr>
              <a:t>http://java.sun.com</a:t>
            </a:r>
            <a:endParaRPr lang="it-IT" sz="1800" dirty="0">
              <a:hlinkClick r:id="rId3"/>
            </a:endParaRPr>
          </a:p>
          <a:p>
            <a:pPr lvl="1"/>
            <a:r>
              <a:rPr lang="it-IT" sz="1800" dirty="0">
                <a:hlinkClick r:id="rId3"/>
              </a:rPr>
              <a:t>https://docs.oracle.com/javase/tutorial/getStarted/intro/definition.html</a:t>
            </a:r>
            <a:endParaRPr lang="it-IT" sz="1800" dirty="0"/>
          </a:p>
          <a:p>
            <a:pPr lvl="1"/>
            <a:r>
              <a:rPr lang="it-IT" sz="1800" dirty="0">
                <a:hlinkClick r:id="rId4"/>
              </a:rPr>
              <a:t>https://it.wikipedia.org/wiki/Java_(linguaggio_di_programmazione)</a:t>
            </a:r>
            <a:endParaRPr lang="it-IT" sz="1800" dirty="0"/>
          </a:p>
          <a:p>
            <a:pPr lvl="1"/>
            <a:r>
              <a:rPr lang="it-IT" sz="1800" dirty="0">
                <a:hlinkClick r:id="rId5"/>
              </a:rPr>
              <a:t>https://en.wikipedia.org/wiki/Java_(programming_language)</a:t>
            </a:r>
            <a:endParaRPr lang="it-IT" sz="1800" dirty="0"/>
          </a:p>
          <a:p>
            <a:pPr lvl="1"/>
            <a:r>
              <a:rPr lang="it-IT" sz="1800" dirty="0">
                <a:hlinkClick r:id="rId6"/>
              </a:rPr>
              <a:t>https://en.wikipedia.org/wiki/Java_version_history</a:t>
            </a:r>
            <a:endParaRPr lang="it-IT" sz="1800" dirty="0"/>
          </a:p>
          <a:p>
            <a:pPr lvl="1"/>
            <a:r>
              <a:rPr lang="it-IT" sz="1800" dirty="0">
                <a:hlinkClick r:id="rId7"/>
              </a:rPr>
              <a:t>https://docs.oracle.com/javase/8/docs/index.html</a:t>
            </a:r>
            <a:endParaRPr lang="it-IT" sz="1800" dirty="0"/>
          </a:p>
          <a:p>
            <a:pPr lvl="1"/>
            <a:endParaRPr lang="it-IT" sz="1400" dirty="0"/>
          </a:p>
          <a:p>
            <a:pPr lvl="1"/>
            <a:endParaRPr lang="it-IT" sz="2000" dirty="0"/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08245169"/>
      </p:ext>
    </p:extLst>
  </p:cSld>
  <p:clrMapOvr>
    <a:masterClrMapping/>
  </p:clrMapOvr>
</p:sld>
</file>

<file path=ppt/theme/theme1.xml><?xml version="1.0" encoding="utf-8"?>
<a:theme xmlns:a="http://schemas.openxmlformats.org/drawingml/2006/main" name="Rete">
  <a:themeElements>
    <a:clrScheme name="Re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Re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Re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75877EE1B70A4284EAAAD4F5DAB5A8" ma:contentTypeVersion="3" ma:contentTypeDescription="Create a new document." ma:contentTypeScope="" ma:versionID="f90efe8b9a013048999e04d4d7cbb7e6">
  <xsd:schema xmlns:xsd="http://www.w3.org/2001/XMLSchema" xmlns:xs="http://www.w3.org/2001/XMLSchema" xmlns:p="http://schemas.microsoft.com/office/2006/metadata/properties" xmlns:ns2="26b08820-12d9-4581-8254-4e993db2160e" targetNamespace="http://schemas.microsoft.com/office/2006/metadata/properties" ma:root="true" ma:fieldsID="f6cef277e2c68d9d910b222ad249d322" ns2:_="">
    <xsd:import namespace="26b08820-12d9-4581-8254-4e993db216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b08820-12d9-4581-8254-4e993db216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2F44F29-D4C1-47CC-9639-88145ECE6533}">
  <ds:schemaRefs>
    <ds:schemaRef ds:uri="http://schemas.microsoft.com/office/2006/metadata/properties"/>
    <ds:schemaRef ds:uri="http://schemas.microsoft.com/office/infopath/2007/PartnerControls"/>
    <ds:schemaRef ds:uri="35be80a6-5618-4845-bacd-cf0098900a47"/>
    <ds:schemaRef ds:uri="17cb46fe-fb09-4fdf-a472-4e2c88d31c8c"/>
  </ds:schemaRefs>
</ds:datastoreItem>
</file>

<file path=customXml/itemProps2.xml><?xml version="1.0" encoding="utf-8"?>
<ds:datastoreItem xmlns:ds="http://schemas.openxmlformats.org/officeDocument/2006/customXml" ds:itemID="{66B74C49-FE02-42EA-A253-350581245C68}"/>
</file>

<file path=customXml/itemProps3.xml><?xml version="1.0" encoding="utf-8"?>
<ds:datastoreItem xmlns:ds="http://schemas.openxmlformats.org/officeDocument/2006/customXml" ds:itemID="{3B6F7703-0604-4898-88AC-B6CE9E0D21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9073</TotalTime>
  <Words>2000</Words>
  <Application>Microsoft Macintosh PowerPoint</Application>
  <PresentationFormat>Presentazione su schermo (4:3)</PresentationFormat>
  <Paragraphs>233</Paragraphs>
  <Slides>28</Slides>
  <Notes>1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2</vt:i4>
      </vt:variant>
      <vt:variant>
        <vt:lpstr>Titoli diapositive</vt:lpstr>
      </vt:variant>
      <vt:variant>
        <vt:i4>28</vt:i4>
      </vt:variant>
    </vt:vector>
  </HeadingPairs>
  <TitlesOfParts>
    <vt:vector size="38" baseType="lpstr">
      <vt:lpstr>Arial</vt:lpstr>
      <vt:lpstr>Calibri</vt:lpstr>
      <vt:lpstr>Comic Sans MS</vt:lpstr>
      <vt:lpstr>Courier New</vt:lpstr>
      <vt:lpstr>Times New Roman</vt:lpstr>
      <vt:lpstr>Verdana</vt:lpstr>
      <vt:lpstr>Wingdings</vt:lpstr>
      <vt:lpstr>Rete</vt:lpstr>
      <vt:lpstr>Clip</vt:lpstr>
      <vt:lpstr>Microsoft ClipArt Gallery</vt:lpstr>
      <vt:lpstr>  Corso di Programmazione</vt:lpstr>
      <vt:lpstr>Caratteristiche principali (1/2)</vt:lpstr>
      <vt:lpstr>La filosofia di Java.</vt:lpstr>
      <vt:lpstr>Processo di sviluppo in JAVA</vt:lpstr>
      <vt:lpstr>Compilazione e traduzione</vt:lpstr>
      <vt:lpstr>Confronto con il linguaggio C++</vt:lpstr>
      <vt:lpstr>La macchina virtuale….</vt:lpstr>
      <vt:lpstr>   Sviluppo di una applicazione Java</vt:lpstr>
      <vt:lpstr>Sviluppo di una applicazione Java</vt:lpstr>
      <vt:lpstr>Sviluppo di una applicazione Java</vt:lpstr>
      <vt:lpstr>Sviluppo di una applicazione Java</vt:lpstr>
      <vt:lpstr>Sviluppo di una applicazione Java</vt:lpstr>
      <vt:lpstr>Sviluppo di una applicazione Java </vt:lpstr>
      <vt:lpstr>E il collegamento?</vt:lpstr>
      <vt:lpstr>Loader e Verifier</vt:lpstr>
      <vt:lpstr>Runtime Environment</vt:lpstr>
      <vt:lpstr>Applicazioni JAVA</vt:lpstr>
      <vt:lpstr>Un po’ di storia</vt:lpstr>
      <vt:lpstr>Ancora un po’ di storia</vt:lpstr>
      <vt:lpstr>Un po’ di numeri (e storia…)</vt:lpstr>
      <vt:lpstr>Piattaforma JAVA SE</vt:lpstr>
      <vt:lpstr>JDK e JRE</vt:lpstr>
      <vt:lpstr>Tecnologie Java: JSE</vt:lpstr>
      <vt:lpstr>Servizi JAVA</vt:lpstr>
      <vt:lpstr>Servizi di Base</vt:lpstr>
      <vt:lpstr>Servizi di alto livello “orizzontali”</vt:lpstr>
      <vt:lpstr>Servizi di alto livello “verticali”</vt:lpstr>
      <vt:lpstr>Riferimenti</vt:lpstr>
    </vt:vector>
  </TitlesOfParts>
  <Company>la pulce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Nessun titolo diapositiva</dc:title>
  <dc:creator>domenique</dc:creator>
  <cp:lastModifiedBy>VALERIA VITTORINI</cp:lastModifiedBy>
  <cp:revision>63</cp:revision>
  <cp:lastPrinted>1999-11-19T14:12:44Z</cp:lastPrinted>
  <dcterms:created xsi:type="dcterms:W3CDTF">1999-10-30T10:20:48Z</dcterms:created>
  <dcterms:modified xsi:type="dcterms:W3CDTF">2025-02-28T09:15:15Z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2023-11-30T08:44:01Z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c4a52107-c177-479a-bcd7-dbf9d4e988dd</vt:lpwstr>
  </property>
  <property fmtid="{D5CDD505-2E9C-101B-9397-08002B2CF9AE}" pid="8" name="MSIP_Label_2ad0b24d-6422-44b0-b3de-abb3a9e8c81a_ContentBits">
    <vt:lpwstr>0</vt:lpwstr>
  </property>
  <property fmtid="{D5CDD505-2E9C-101B-9397-08002B2CF9AE}" pid="9" name="ContentTypeId">
    <vt:lpwstr>0x010100C075877EE1B70A4284EAAAD4F5DAB5A8</vt:lpwstr>
  </property>
</Properties>
</file>