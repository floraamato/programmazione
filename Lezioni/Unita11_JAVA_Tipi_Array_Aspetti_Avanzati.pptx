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4"/>
  </p:sldMasterIdLst>
  <p:notesMasterIdLst>
    <p:notesMasterId r:id="rId36"/>
  </p:notesMasterIdLst>
  <p:handoutMasterIdLst>
    <p:handoutMasterId r:id="rId37"/>
  </p:handoutMasterIdLst>
  <p:sldIdLst>
    <p:sldId id="265" r:id="rId5"/>
    <p:sldId id="348" r:id="rId6"/>
    <p:sldId id="350" r:id="rId7"/>
    <p:sldId id="351" r:id="rId8"/>
    <p:sldId id="396" r:id="rId9"/>
    <p:sldId id="352" r:id="rId10"/>
    <p:sldId id="353" r:id="rId11"/>
    <p:sldId id="357" r:id="rId12"/>
    <p:sldId id="344" r:id="rId13"/>
    <p:sldId id="345" r:id="rId14"/>
    <p:sldId id="347" r:id="rId15"/>
    <p:sldId id="346" r:id="rId16"/>
    <p:sldId id="358" r:id="rId17"/>
    <p:sldId id="376" r:id="rId18"/>
    <p:sldId id="377" r:id="rId19"/>
    <p:sldId id="378" r:id="rId20"/>
    <p:sldId id="379" r:id="rId21"/>
    <p:sldId id="380" r:id="rId22"/>
    <p:sldId id="381" r:id="rId23"/>
    <p:sldId id="382" r:id="rId24"/>
    <p:sldId id="383" r:id="rId25"/>
    <p:sldId id="384" r:id="rId26"/>
    <p:sldId id="385" r:id="rId27"/>
    <p:sldId id="356" r:id="rId28"/>
    <p:sldId id="360" r:id="rId29"/>
    <p:sldId id="386" r:id="rId30"/>
    <p:sldId id="359" r:id="rId31"/>
    <p:sldId id="387" r:id="rId32"/>
    <p:sldId id="361" r:id="rId33"/>
    <p:sldId id="362" r:id="rId34"/>
    <p:sldId id="343" r:id="rId35"/>
  </p:sldIdLst>
  <p:sldSz cx="9144000" cy="6858000" type="screen4x3"/>
  <p:notesSz cx="7099300" cy="10234613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495CB-39C0-4A4F-AD1D-F4157DFFD4DB}" v="5" dt="2024-02-20T14:59:51.242"/>
    <p1510:client id="{B5418A2A-DF9F-344F-BE3D-1B479F43BD61}" v="7" dt="2024-02-20T14:59:55.5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5"/>
    <p:restoredTop sz="94681"/>
  </p:normalViewPr>
  <p:slideViewPr>
    <p:cSldViewPr snapToGrid="0">
      <p:cViewPr varScale="1">
        <p:scale>
          <a:sx n="103" d="100"/>
          <a:sy n="103" d="100"/>
        </p:scale>
        <p:origin x="178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DD207D78-5015-8475-54C2-0A9B46ADAA1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9822A352-A7D7-027B-AD15-9DBC932BD7A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9238" y="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t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2921BFE9-C9D8-1C38-3838-EC1FE7484624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84513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defTabSz="949325" eaLnBrk="0" hangingPunct="0">
              <a:defRPr sz="1200" smtClean="0">
                <a:latin typeface="Verdana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5845" name="Rectangle 5">
            <a:extLst>
              <a:ext uri="{FF2B5EF4-FFF2-40B4-BE49-F238E27FC236}">
                <a16:creationId xmlns:a16="http://schemas.microsoft.com/office/drawing/2014/main" id="{214275AA-9546-0FE4-B537-4855F5E1438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9238" y="9721850"/>
            <a:ext cx="3003550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951" tIns="47476" rIns="94951" bIns="47476" numCol="1" anchor="b" anchorCtr="0" compatLnSpc="1">
            <a:prstTxWarp prst="textNoShape">
              <a:avLst/>
            </a:prstTxWarp>
          </a:bodyPr>
          <a:lstStyle>
            <a:lvl1pPr algn="r" defTabSz="949325" eaLnBrk="0" hangingPunct="0">
              <a:defRPr sz="1200">
                <a:latin typeface="Verdana" panose="020B0604030504040204" pitchFamily="34" charset="0"/>
              </a:defRPr>
            </a:lvl1pPr>
          </a:lstStyle>
          <a:p>
            <a:fld id="{2993C5AB-CE10-C94B-82A8-3847F79289AD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E33C1-1FAE-ED41-A3D6-CD02F3B367D8}" type="datetimeFigureOut">
              <a:rPr lang="it-IT" smtClean="0"/>
              <a:t>28/03/25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31BA5-3816-174C-B7A9-A8BBEA3C2A3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2047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13A92D85-8CAA-49AF-BE8D-CEECBCD97772}" type="slidenum">
              <a:rPr lang="en-US" altLang="it-IT">
                <a:latin typeface="Times New Roman" pitchFamily="18" charset="0"/>
              </a:rPr>
              <a:pPr/>
              <a:t>1</a:t>
            </a:fld>
            <a:endParaRPr lang="en-US" altLang="it-IT">
              <a:latin typeface="Times New Roman" pitchFamily="18" charset="0"/>
            </a:endParaRPr>
          </a:p>
        </p:txBody>
      </p:sp>
      <p:sp>
        <p:nvSpPr>
          <p:cNvPr id="14339" name="Rectangle 2"/>
          <p:cNvSpPr txBox="1">
            <a:spLocks noGrp="1" noChangeArrowheads="1"/>
          </p:cNvSpPr>
          <p:nvPr/>
        </p:nvSpPr>
        <p:spPr bwMode="auto">
          <a:xfrm>
            <a:off x="0" y="1"/>
            <a:ext cx="3078048" cy="510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it-IT" sz="1200"/>
              <a:t>Università di Napoli Federico II - Facoltà di Ingegneria - Corso di Laurea in Ingegneria Informatica</a:t>
            </a:r>
          </a:p>
        </p:txBody>
      </p:sp>
      <p:sp>
        <p:nvSpPr>
          <p:cNvPr id="143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>
            <a:extLst>
              <a:ext uri="{FF2B5EF4-FFF2-40B4-BE49-F238E27FC236}">
                <a16:creationId xmlns:a16="http://schemas.microsoft.com/office/drawing/2014/main" id="{EDFB8E36-2692-9471-EECA-AA61B7A6D7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grpSp>
        <p:nvGrpSpPr>
          <p:cNvPr id="3" name="Group 8">
            <a:extLst>
              <a:ext uri="{FF2B5EF4-FFF2-40B4-BE49-F238E27FC236}">
                <a16:creationId xmlns:a16="http://schemas.microsoft.com/office/drawing/2014/main" id="{0260E3BE-B81E-7C4D-1F34-F0D3085ECB86}"/>
              </a:ext>
            </a:extLst>
          </p:cNvPr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4" name="Oval 9">
              <a:extLst>
                <a:ext uri="{FF2B5EF4-FFF2-40B4-BE49-F238E27FC236}">
                  <a16:creationId xmlns:a16="http://schemas.microsoft.com/office/drawing/2014/main" id="{C4259D16-DEFD-027C-00D8-3A2E8BF1C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5" name="Oval 10">
              <a:extLst>
                <a:ext uri="{FF2B5EF4-FFF2-40B4-BE49-F238E27FC236}">
                  <a16:creationId xmlns:a16="http://schemas.microsoft.com/office/drawing/2014/main" id="{AD783EDC-DD0A-A35A-1F67-0271D9CF4C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6" name="Oval 11">
              <a:extLst>
                <a:ext uri="{FF2B5EF4-FFF2-40B4-BE49-F238E27FC236}">
                  <a16:creationId xmlns:a16="http://schemas.microsoft.com/office/drawing/2014/main" id="{B8DD6095-01B2-14AB-C09E-5AC7F8FCE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7" name="Oval 12">
              <a:extLst>
                <a:ext uri="{FF2B5EF4-FFF2-40B4-BE49-F238E27FC236}">
                  <a16:creationId xmlns:a16="http://schemas.microsoft.com/office/drawing/2014/main" id="{A8CC8D34-A6F6-6FBC-E306-651CD229A5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8" name="Oval 13">
              <a:extLst>
                <a:ext uri="{FF2B5EF4-FFF2-40B4-BE49-F238E27FC236}">
                  <a16:creationId xmlns:a16="http://schemas.microsoft.com/office/drawing/2014/main" id="{542DB62A-02AF-010E-6938-3AEE62E6DF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9" name="Oval 14">
              <a:extLst>
                <a:ext uri="{FF2B5EF4-FFF2-40B4-BE49-F238E27FC236}">
                  <a16:creationId xmlns:a16="http://schemas.microsoft.com/office/drawing/2014/main" id="{AE010F5C-5AF7-E68D-CF2E-CA01AC2BAF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0" name="Oval 15">
              <a:extLst>
                <a:ext uri="{FF2B5EF4-FFF2-40B4-BE49-F238E27FC236}">
                  <a16:creationId xmlns:a16="http://schemas.microsoft.com/office/drawing/2014/main" id="{8C779B22-3271-BC34-3025-A5D63D14EE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1" name="Oval 16">
              <a:extLst>
                <a:ext uri="{FF2B5EF4-FFF2-40B4-BE49-F238E27FC236}">
                  <a16:creationId xmlns:a16="http://schemas.microsoft.com/office/drawing/2014/main" id="{99FCA170-A778-8F8B-1728-AF6FD4FBE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" name="Oval 17">
              <a:extLst>
                <a:ext uri="{FF2B5EF4-FFF2-40B4-BE49-F238E27FC236}">
                  <a16:creationId xmlns:a16="http://schemas.microsoft.com/office/drawing/2014/main" id="{BB691FF7-E84E-84B9-5AB5-E565A5255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3" name="Oval 18">
              <a:extLst>
                <a:ext uri="{FF2B5EF4-FFF2-40B4-BE49-F238E27FC236}">
                  <a16:creationId xmlns:a16="http://schemas.microsoft.com/office/drawing/2014/main" id="{E57164C9-E297-D2B3-8152-40E66F162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4" name="Oval 19">
              <a:extLst>
                <a:ext uri="{FF2B5EF4-FFF2-40B4-BE49-F238E27FC236}">
                  <a16:creationId xmlns:a16="http://schemas.microsoft.com/office/drawing/2014/main" id="{F0FEB2EE-0ED2-85C2-85F1-83A1BB6E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5" name="Oval 20">
              <a:extLst>
                <a:ext uri="{FF2B5EF4-FFF2-40B4-BE49-F238E27FC236}">
                  <a16:creationId xmlns:a16="http://schemas.microsoft.com/office/drawing/2014/main" id="{49A3026D-6EB7-1E81-AEF6-4979F5EC9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6" name="Oval 21">
              <a:extLst>
                <a:ext uri="{FF2B5EF4-FFF2-40B4-BE49-F238E27FC236}">
                  <a16:creationId xmlns:a16="http://schemas.microsoft.com/office/drawing/2014/main" id="{92F59D63-53F1-080B-7142-39B65BAE0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7" name="Oval 22">
              <a:extLst>
                <a:ext uri="{FF2B5EF4-FFF2-40B4-BE49-F238E27FC236}">
                  <a16:creationId xmlns:a16="http://schemas.microsoft.com/office/drawing/2014/main" id="{2F054441-EC9C-B07B-75BB-2D08F53AA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8" name="Oval 23">
              <a:extLst>
                <a:ext uri="{FF2B5EF4-FFF2-40B4-BE49-F238E27FC236}">
                  <a16:creationId xmlns:a16="http://schemas.microsoft.com/office/drawing/2014/main" id="{E3B97A58-18DB-0DF0-CA1A-31169D30A0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9" name="Oval 24">
              <a:extLst>
                <a:ext uri="{FF2B5EF4-FFF2-40B4-BE49-F238E27FC236}">
                  <a16:creationId xmlns:a16="http://schemas.microsoft.com/office/drawing/2014/main" id="{888DF6CF-3E0A-8611-1A78-1D288081EF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0" name="Oval 25">
              <a:extLst>
                <a:ext uri="{FF2B5EF4-FFF2-40B4-BE49-F238E27FC236}">
                  <a16:creationId xmlns:a16="http://schemas.microsoft.com/office/drawing/2014/main" id="{C32031F4-1263-B0FB-2B55-5D4BD1074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1" name="Oval 26">
              <a:extLst>
                <a:ext uri="{FF2B5EF4-FFF2-40B4-BE49-F238E27FC236}">
                  <a16:creationId xmlns:a16="http://schemas.microsoft.com/office/drawing/2014/main" id="{76A419EE-5229-9FE5-E748-520534AEE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2" name="Oval 27">
              <a:extLst>
                <a:ext uri="{FF2B5EF4-FFF2-40B4-BE49-F238E27FC236}">
                  <a16:creationId xmlns:a16="http://schemas.microsoft.com/office/drawing/2014/main" id="{9627FAA7-CEF8-A621-0C1F-570876CE7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3" name="Oval 28">
              <a:extLst>
                <a:ext uri="{FF2B5EF4-FFF2-40B4-BE49-F238E27FC236}">
                  <a16:creationId xmlns:a16="http://schemas.microsoft.com/office/drawing/2014/main" id="{1EDA2367-81CD-DEAC-7E02-B1C0519A2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4" name="Oval 29">
              <a:extLst>
                <a:ext uri="{FF2B5EF4-FFF2-40B4-BE49-F238E27FC236}">
                  <a16:creationId xmlns:a16="http://schemas.microsoft.com/office/drawing/2014/main" id="{75DCDEE2-83B3-536E-6123-004E0BFA8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5" name="Oval 30">
              <a:extLst>
                <a:ext uri="{FF2B5EF4-FFF2-40B4-BE49-F238E27FC236}">
                  <a16:creationId xmlns:a16="http://schemas.microsoft.com/office/drawing/2014/main" id="{B9ADC3D3-B430-3D9A-7AF0-EBB2F85C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6" name="Oval 31">
              <a:extLst>
                <a:ext uri="{FF2B5EF4-FFF2-40B4-BE49-F238E27FC236}">
                  <a16:creationId xmlns:a16="http://schemas.microsoft.com/office/drawing/2014/main" id="{71AE266B-6D1B-166C-6474-3A27D5FCA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7" name="Oval 32">
              <a:extLst>
                <a:ext uri="{FF2B5EF4-FFF2-40B4-BE49-F238E27FC236}">
                  <a16:creationId xmlns:a16="http://schemas.microsoft.com/office/drawing/2014/main" id="{BD55B242-AB5F-2401-9701-41ACCCEBD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8" name="Oval 33">
              <a:extLst>
                <a:ext uri="{FF2B5EF4-FFF2-40B4-BE49-F238E27FC236}">
                  <a16:creationId xmlns:a16="http://schemas.microsoft.com/office/drawing/2014/main" id="{9DB4E7FD-8EA2-A662-9B6D-97427264B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29" name="Oval 34">
              <a:extLst>
                <a:ext uri="{FF2B5EF4-FFF2-40B4-BE49-F238E27FC236}">
                  <a16:creationId xmlns:a16="http://schemas.microsoft.com/office/drawing/2014/main" id="{7EE16CBA-D536-A892-BE2D-F1B598088D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0" name="Oval 35">
              <a:extLst>
                <a:ext uri="{FF2B5EF4-FFF2-40B4-BE49-F238E27FC236}">
                  <a16:creationId xmlns:a16="http://schemas.microsoft.com/office/drawing/2014/main" id="{DB4E9432-8633-35E7-4E11-437B5B28E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1" name="Oval 36">
              <a:extLst>
                <a:ext uri="{FF2B5EF4-FFF2-40B4-BE49-F238E27FC236}">
                  <a16:creationId xmlns:a16="http://schemas.microsoft.com/office/drawing/2014/main" id="{CD2BB0AB-815A-5DDA-5E4B-6789CA42F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2" name="Oval 37">
              <a:extLst>
                <a:ext uri="{FF2B5EF4-FFF2-40B4-BE49-F238E27FC236}">
                  <a16:creationId xmlns:a16="http://schemas.microsoft.com/office/drawing/2014/main" id="{A6EA0308-12B1-3EB3-3907-EF3F7AAC3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3" name="Oval 38">
              <a:extLst>
                <a:ext uri="{FF2B5EF4-FFF2-40B4-BE49-F238E27FC236}">
                  <a16:creationId xmlns:a16="http://schemas.microsoft.com/office/drawing/2014/main" id="{AA8F3A92-6AB1-2F62-4BBD-D41DC8918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34" name="Oval 39">
              <a:extLst>
                <a:ext uri="{FF2B5EF4-FFF2-40B4-BE49-F238E27FC236}">
                  <a16:creationId xmlns:a16="http://schemas.microsoft.com/office/drawing/2014/main" id="{03A31CF4-50B7-629F-B52C-50EA5006A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  <p:sp>
        <p:nvSpPr>
          <p:cNvPr id="35" name="Line 40">
            <a:extLst>
              <a:ext uri="{FF2B5EF4-FFF2-40B4-BE49-F238E27FC236}">
                <a16:creationId xmlns:a16="http://schemas.microsoft.com/office/drawing/2014/main" id="{8B7EAAE9-3BF6-0C31-F5C4-2C0F97DAAC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Fare clic per modificare lo stile del titolo</a:t>
            </a:r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en-US" altLang="en-US"/>
              <a:t>Fare clic per modificare lo stile del sottotitolo dello schema</a:t>
            </a: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52FE5966-D775-3B11-7827-48722D2473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6DEA5970-F6FB-6FA9-E48E-0B51FBC596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8" name="Rectangle 7">
            <a:extLst>
              <a:ext uri="{FF2B5EF4-FFF2-40B4-BE49-F238E27FC236}">
                <a16:creationId xmlns:a16="http://schemas.microsoft.com/office/drawing/2014/main" id="{BA53554F-80D1-21F4-9987-92A6A12374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259C2B-F7FC-894A-A5CE-3A355566020C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6501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BFD8F56-330C-0DFF-7EA5-ECA50C8680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A3548D-F7D7-5837-C8A5-0A9C5809FF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637D6A2-E719-6297-E26C-3BF9C2C24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77A2BB-1426-7940-AF0E-EE4E29273AE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310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F73A563-6027-417E-CA97-E19B258A02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7E5D0DD-E42A-76B8-C2FB-2D2A9B01AC9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53B55BA-0823-B634-AC39-EEEA7AF447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EDBACB-E365-024E-8DDD-EE008340169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923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C3F66DE-EDD0-F0F2-8577-76FAE75902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192FEB-B604-47A1-0075-C41AD53180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83D859C-9F71-8DF9-FBB4-1C0445764B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2A83B4-F1DF-4E4F-AFF4-9C3CF4F2EE23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803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7D42D32-0621-8886-9371-F7120B9BF0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F8B44152-4BA3-7266-A04B-D335016E2B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3B95D3AC-EBB1-FA5C-DF4C-D37CFABE54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9AD412-AFBC-C94F-B6D8-900608A6D28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515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CE6213C-10B3-BEF7-3A61-E42ED37B61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4E22DD4-22EB-98B3-FE75-208718E635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E96E866-9E98-E4BA-F841-51305A0EE8A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09F61-55F9-6F4A-8175-A32FE726ADBB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636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29441F79-35C1-AFF2-0708-F85EC7AD73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9000A7E-D812-EDF3-0364-49AD895A5C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B2BA7C5-B5D6-6375-8DB4-0A1D52B9B2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4D88D2-B4F4-C54E-A11C-7867C43B62F9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04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E1E842-7E67-81CD-A5D3-D9B08709E2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CC25817-0234-9637-49C9-4232ADCFA6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08BFAF4-2AF6-18D4-2785-20165B45BC1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907342-6BA4-894D-B109-9E49F17A1124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59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9CFEF3A-02C8-DD78-F338-9F2A34E15C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638AD8-6FF8-D888-FB09-9C37E16817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623D5E3C-2ACF-28C6-DBA0-AFB717CF25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91AC580-8BE5-F743-8E8E-F69DF682E6DD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5306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C3BF3F4-009A-DDD1-8C88-42798690F8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7AAA62B-33A2-4415-863C-046DB60ABB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D43B5BA7-12E7-1A57-C171-35598BC01B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73340D-9F62-2745-A3EF-6420F06DF7CE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293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2EC48A-2092-7B54-D2AA-889BA9C6A2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29B5314-B07B-4F0A-2AD8-CB77E42950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AC837E0-0F2D-0A1C-0E2C-402978B1AD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C9615-8AFF-D943-AC5A-34CC66FE437F}" type="slidenum">
              <a:rPr lang="en-US" altLang="en-US"/>
              <a:pPr/>
              <a:t>‹N›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795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Line 2">
            <a:extLst>
              <a:ext uri="{FF2B5EF4-FFF2-40B4-BE49-F238E27FC236}">
                <a16:creationId xmlns:a16="http://schemas.microsoft.com/office/drawing/2014/main" id="{540C9EE9-F88F-0FCE-D63A-BD6403DA705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D8BF64B-CABB-23F6-B464-30E708F6BB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lo stile del titolo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757F452-E11B-F73F-9D31-9E64F7BCF0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Fare clic per modificare gli stili del testo dello schema</a:t>
            </a:r>
          </a:p>
          <a:p>
            <a:pPr lvl="1"/>
            <a:r>
              <a:rPr lang="en-US" altLang="en-US"/>
              <a:t>Secondo livello</a:t>
            </a:r>
          </a:p>
          <a:p>
            <a:pPr lvl="2"/>
            <a:r>
              <a:rPr lang="en-US" altLang="en-US"/>
              <a:t>Terzo livello</a:t>
            </a:r>
          </a:p>
          <a:p>
            <a:pPr lvl="3"/>
            <a:r>
              <a:rPr lang="en-US" altLang="en-US"/>
              <a:t>Quarto livello</a:t>
            </a:r>
          </a:p>
          <a:p>
            <a:pPr lvl="4"/>
            <a:r>
              <a:rPr lang="en-US" altLang="en-US"/>
              <a:t>Quinto livello</a:t>
            </a:r>
          </a:p>
        </p:txBody>
      </p:sp>
      <p:sp>
        <p:nvSpPr>
          <p:cNvPr id="126981" name="Rectangle 5">
            <a:extLst>
              <a:ext uri="{FF2B5EF4-FFF2-40B4-BE49-F238E27FC236}">
                <a16:creationId xmlns:a16="http://schemas.microsoft.com/office/drawing/2014/main" id="{E6E10625-B6F2-4C53-9CCC-6419A01A347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2" name="Rectangle 6">
            <a:extLst>
              <a:ext uri="{FF2B5EF4-FFF2-40B4-BE49-F238E27FC236}">
                <a16:creationId xmlns:a16="http://schemas.microsoft.com/office/drawing/2014/main" id="{C7332706-7FFA-54A1-EC44-C94B73721F8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6983" name="Rectangle 7">
            <a:extLst>
              <a:ext uri="{FF2B5EF4-FFF2-40B4-BE49-F238E27FC236}">
                <a16:creationId xmlns:a16="http://schemas.microsoft.com/office/drawing/2014/main" id="{0C95B491-8644-1183-0E63-D7A1B6E66B5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fld id="{BB36E27F-A467-C343-A682-197048FF27E3}" type="slidenum">
              <a:rPr lang="en-US" altLang="en-US"/>
              <a:pPr/>
              <a:t>‹N›</a:t>
            </a:fld>
            <a:endParaRPr lang="en-US" altLang="en-US"/>
          </a:p>
        </p:txBody>
      </p:sp>
      <p:grpSp>
        <p:nvGrpSpPr>
          <p:cNvPr id="5128" name="Group 8">
            <a:extLst>
              <a:ext uri="{FF2B5EF4-FFF2-40B4-BE49-F238E27FC236}">
                <a16:creationId xmlns:a16="http://schemas.microsoft.com/office/drawing/2014/main" id="{87E611C9-A6DF-E642-A92D-7350DE5CB4ED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26985" name="Oval 9">
              <a:extLst>
                <a:ext uri="{FF2B5EF4-FFF2-40B4-BE49-F238E27FC236}">
                  <a16:creationId xmlns:a16="http://schemas.microsoft.com/office/drawing/2014/main" id="{458D5DA2-D63A-BCA2-4131-9337A9F53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6" name="Oval 10">
              <a:extLst>
                <a:ext uri="{FF2B5EF4-FFF2-40B4-BE49-F238E27FC236}">
                  <a16:creationId xmlns:a16="http://schemas.microsoft.com/office/drawing/2014/main" id="{8890EB0F-7369-8915-F4A5-1ABAFF6DF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7" name="Oval 11">
              <a:extLst>
                <a:ext uri="{FF2B5EF4-FFF2-40B4-BE49-F238E27FC236}">
                  <a16:creationId xmlns:a16="http://schemas.microsoft.com/office/drawing/2014/main" id="{E4F63A04-47F0-7C06-3808-CB8141CE74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960"/>
              <a:ext cx="79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8" name="Oval 12">
              <a:extLst>
                <a:ext uri="{FF2B5EF4-FFF2-40B4-BE49-F238E27FC236}">
                  <a16:creationId xmlns:a16="http://schemas.microsoft.com/office/drawing/2014/main" id="{CBD03CE4-70F6-E7AF-484F-7B3A19CDC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072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89" name="Oval 13">
              <a:extLst>
                <a:ext uri="{FF2B5EF4-FFF2-40B4-BE49-F238E27FC236}">
                  <a16:creationId xmlns:a16="http://schemas.microsoft.com/office/drawing/2014/main" id="{122C697E-12A5-96C9-3160-E711DA983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0" name="Oval 14">
              <a:extLst>
                <a:ext uri="{FF2B5EF4-FFF2-40B4-BE49-F238E27FC236}">
                  <a16:creationId xmlns:a16="http://schemas.microsoft.com/office/drawing/2014/main" id="{3582F47B-BA78-75EC-BA11-733D26F13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072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1" name="Oval 15">
              <a:extLst>
                <a:ext uri="{FF2B5EF4-FFF2-40B4-BE49-F238E27FC236}">
                  <a16:creationId xmlns:a16="http://schemas.microsoft.com/office/drawing/2014/main" id="{E4A13053-C19F-F749-4FC6-0834BB3E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072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2" name="Oval 16">
              <a:extLst>
                <a:ext uri="{FF2B5EF4-FFF2-40B4-BE49-F238E27FC236}">
                  <a16:creationId xmlns:a16="http://schemas.microsoft.com/office/drawing/2014/main" id="{F39340F1-2AD8-DD98-83D4-1A092CD31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184"/>
              <a:ext cx="80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3" name="Oval 17">
              <a:extLst>
                <a:ext uri="{FF2B5EF4-FFF2-40B4-BE49-F238E27FC236}">
                  <a16:creationId xmlns:a16="http://schemas.microsoft.com/office/drawing/2014/main" id="{B294C5ED-458D-6FC0-9242-727420D4C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184"/>
              <a:ext cx="79" cy="79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4" name="Oval 18">
              <a:extLst>
                <a:ext uri="{FF2B5EF4-FFF2-40B4-BE49-F238E27FC236}">
                  <a16:creationId xmlns:a16="http://schemas.microsoft.com/office/drawing/2014/main" id="{3ADB9F1A-BAEB-E633-420A-C49EEBFDFE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5" name="Oval 19">
              <a:extLst>
                <a:ext uri="{FF2B5EF4-FFF2-40B4-BE49-F238E27FC236}">
                  <a16:creationId xmlns:a16="http://schemas.microsoft.com/office/drawing/2014/main" id="{4D7FD144-559C-A9A8-B783-6F3C8C1AD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184"/>
              <a:ext cx="79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6" name="Oval 20">
              <a:extLst>
                <a:ext uri="{FF2B5EF4-FFF2-40B4-BE49-F238E27FC236}">
                  <a16:creationId xmlns:a16="http://schemas.microsoft.com/office/drawing/2014/main" id="{598E7249-26AB-193F-D1E8-83E0BB499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184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7" name="Oval 21">
              <a:extLst>
                <a:ext uri="{FF2B5EF4-FFF2-40B4-BE49-F238E27FC236}">
                  <a16:creationId xmlns:a16="http://schemas.microsoft.com/office/drawing/2014/main" id="{9C12A3DE-C91F-BC4E-628C-84B979154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8" name="Oval 22">
              <a:extLst>
                <a:ext uri="{FF2B5EF4-FFF2-40B4-BE49-F238E27FC236}">
                  <a16:creationId xmlns:a16="http://schemas.microsoft.com/office/drawing/2014/main" id="{8BC5A21A-9F25-DAB9-43EB-B51E736A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6999" name="Oval 23">
              <a:extLst>
                <a:ext uri="{FF2B5EF4-FFF2-40B4-BE49-F238E27FC236}">
                  <a16:creationId xmlns:a16="http://schemas.microsoft.com/office/drawing/2014/main" id="{7F64B40F-951B-2C62-6BCE-9ED069F21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296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0" name="Oval 24">
              <a:extLst>
                <a:ext uri="{FF2B5EF4-FFF2-40B4-BE49-F238E27FC236}">
                  <a16:creationId xmlns:a16="http://schemas.microsoft.com/office/drawing/2014/main" id="{CA178D50-6275-0362-E00C-1CA73A48C9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296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1" name="Oval 25">
              <a:extLst>
                <a:ext uri="{FF2B5EF4-FFF2-40B4-BE49-F238E27FC236}">
                  <a16:creationId xmlns:a16="http://schemas.microsoft.com/office/drawing/2014/main" id="{281982FD-F23F-8D3A-3E1C-E1DD238A7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2" name="Oval 26">
              <a:extLst>
                <a:ext uri="{FF2B5EF4-FFF2-40B4-BE49-F238E27FC236}">
                  <a16:creationId xmlns:a16="http://schemas.microsoft.com/office/drawing/2014/main" id="{C8D7E381-17EC-2A89-CD07-B648B12E4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3" name="Oval 27">
              <a:extLst>
                <a:ext uri="{FF2B5EF4-FFF2-40B4-BE49-F238E27FC236}">
                  <a16:creationId xmlns:a16="http://schemas.microsoft.com/office/drawing/2014/main" id="{32DD81C6-B5B4-9147-3851-21E28114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4" name="Oval 28">
              <a:extLst>
                <a:ext uri="{FF2B5EF4-FFF2-40B4-BE49-F238E27FC236}">
                  <a16:creationId xmlns:a16="http://schemas.microsoft.com/office/drawing/2014/main" id="{72A66D00-BE9F-69EA-1631-391C47D4A3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408"/>
              <a:ext cx="79" cy="80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5" name="Oval 29">
              <a:extLst>
                <a:ext uri="{FF2B5EF4-FFF2-40B4-BE49-F238E27FC236}">
                  <a16:creationId xmlns:a16="http://schemas.microsoft.com/office/drawing/2014/main" id="{4C144CCF-2806-BF73-1213-3BD291D67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6" name="Oval 30">
              <a:extLst>
                <a:ext uri="{FF2B5EF4-FFF2-40B4-BE49-F238E27FC236}">
                  <a16:creationId xmlns:a16="http://schemas.microsoft.com/office/drawing/2014/main" id="{158CC9C8-184C-9D09-DC3D-D6F8628B27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7" name="Oval 31">
              <a:extLst>
                <a:ext uri="{FF2B5EF4-FFF2-40B4-BE49-F238E27FC236}">
                  <a16:creationId xmlns:a16="http://schemas.microsoft.com/office/drawing/2014/main" id="{A2309C93-ECEF-5DD8-56EA-69EB76E34B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8" name="Oval 32">
              <a:extLst>
                <a:ext uri="{FF2B5EF4-FFF2-40B4-BE49-F238E27FC236}">
                  <a16:creationId xmlns:a16="http://schemas.microsoft.com/office/drawing/2014/main" id="{1EE4CEBC-BED7-E548-7FD1-EA407310A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520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09" name="Oval 33">
              <a:extLst>
                <a:ext uri="{FF2B5EF4-FFF2-40B4-BE49-F238E27FC236}">
                  <a16:creationId xmlns:a16="http://schemas.microsoft.com/office/drawing/2014/main" id="{15ADF64A-190F-BB60-3CCD-4BE3E5B732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520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0" name="Oval 34">
              <a:extLst>
                <a:ext uri="{FF2B5EF4-FFF2-40B4-BE49-F238E27FC236}">
                  <a16:creationId xmlns:a16="http://schemas.microsoft.com/office/drawing/2014/main" id="{C7D2FB20-9F35-8F71-8BD9-786281D14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6" y="1632"/>
              <a:ext cx="80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1" name="Oval 35">
              <a:extLst>
                <a:ext uri="{FF2B5EF4-FFF2-40B4-BE49-F238E27FC236}">
                  <a16:creationId xmlns:a16="http://schemas.microsoft.com/office/drawing/2014/main" id="{5890642F-1E56-8F36-DBB7-B71269DE79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632"/>
              <a:ext cx="79" cy="79"/>
            </a:xfrm>
            <a:prstGeom prst="ellipse">
              <a:avLst/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2" name="Oval 36">
              <a:extLst>
                <a:ext uri="{FF2B5EF4-FFF2-40B4-BE49-F238E27FC236}">
                  <a16:creationId xmlns:a16="http://schemas.microsoft.com/office/drawing/2014/main" id="{5F10B179-9CAF-6B7F-6F27-C4938A33F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60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3" name="Oval 37">
              <a:extLst>
                <a:ext uri="{FF2B5EF4-FFF2-40B4-BE49-F238E27FC236}">
                  <a16:creationId xmlns:a16="http://schemas.microsoft.com/office/drawing/2014/main" id="{DACD2D39-EA14-9019-44C2-236A45B61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632"/>
              <a:ext cx="79" cy="79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4" name="Oval 38">
              <a:extLst>
                <a:ext uri="{FF2B5EF4-FFF2-40B4-BE49-F238E27FC236}">
                  <a16:creationId xmlns:a16="http://schemas.microsoft.com/office/drawing/2014/main" id="{0BE3EBF9-755C-1F41-6924-622E229F3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  <p:sp>
          <p:nvSpPr>
            <p:cNvPr id="127015" name="Oval 39">
              <a:extLst>
                <a:ext uri="{FF2B5EF4-FFF2-40B4-BE49-F238E27FC236}">
                  <a16:creationId xmlns:a16="http://schemas.microsoft.com/office/drawing/2014/main" id="{B69D5D9E-9F51-7F63-AD38-956B5A997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72" y="1744"/>
              <a:ext cx="79" cy="80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it-IT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6" r:id="rId2"/>
    <p:sldLayoutId id="2147483705" r:id="rId3"/>
    <p:sldLayoutId id="2147483704" r:id="rId4"/>
    <p:sldLayoutId id="2147483703" r:id="rId5"/>
    <p:sldLayoutId id="2147483702" r:id="rId6"/>
    <p:sldLayoutId id="2147483701" r:id="rId7"/>
    <p:sldLayoutId id="2147483700" r:id="rId8"/>
    <p:sldLayoutId id="2147483699" r:id="rId9"/>
    <p:sldLayoutId id="2147483698" r:id="rId10"/>
    <p:sldLayoutId id="214748369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l"/>
        <a:defRPr sz="26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l"/>
        <a:defRPr sz="23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4829" y="1563216"/>
            <a:ext cx="7235825" cy="1152525"/>
          </a:xfrm>
        </p:spPr>
        <p:txBody>
          <a:bodyPr/>
          <a:lstStyle/>
          <a:p>
            <a:pPr algn="ctr" eaLnBrk="1" hangingPunct="1"/>
            <a:br>
              <a:rPr lang="en-US" altLang="it-IT" sz="4000" dirty="0">
                <a:latin typeface="Times New Roman" pitchFamily="18" charset="0"/>
              </a:rPr>
            </a:br>
            <a:r>
              <a:rPr lang="en-US" altLang="it-IT" sz="4000" dirty="0">
                <a:latin typeface="Times New Roman" pitchFamily="18" charset="0"/>
              </a:rPr>
              <a:t> Corso di </a:t>
            </a:r>
            <a:r>
              <a:rPr lang="en-US" altLang="it-IT" sz="4000" dirty="0" err="1">
                <a:latin typeface="Times New Roman" pitchFamily="18" charset="0"/>
              </a:rPr>
              <a:t>Programmazione</a:t>
            </a:r>
            <a:endParaRPr lang="en-US" altLang="it-IT" sz="4000" b="0" i="1" dirty="0">
              <a:latin typeface="Times New Roman" pitchFamily="18" charset="0"/>
            </a:endParaRPr>
          </a:p>
        </p:txBody>
      </p:sp>
      <p:sp>
        <p:nvSpPr>
          <p:cNvPr id="3075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it-IT" sz="3600" b="1" i="1" dirty="0">
                <a:latin typeface="Times New Roman" pitchFamily="18" charset="0"/>
              </a:rPr>
              <a:t>Casting</a:t>
            </a:r>
          </a:p>
          <a:p>
            <a:pPr eaLnBrk="1" hangingPunct="1"/>
            <a:r>
              <a:rPr lang="en-US" altLang="it-IT" sz="3600" b="1" i="1" dirty="0" err="1">
                <a:latin typeface="Times New Roman" pitchFamily="18" charset="0"/>
              </a:rPr>
              <a:t>Classi</a:t>
            </a:r>
            <a:r>
              <a:rPr lang="en-US" altLang="it-IT" sz="3600" b="1" i="1" dirty="0">
                <a:latin typeface="Times New Roman" pitchFamily="18" charset="0"/>
              </a:rPr>
              <a:t> Wrapper</a:t>
            </a:r>
          </a:p>
          <a:p>
            <a:pPr eaLnBrk="1" hangingPunct="1"/>
            <a:r>
              <a:rPr lang="en-US" altLang="it-IT" sz="3600" b="1" i="1">
                <a:latin typeface="Times New Roman" pitchFamily="18" charset="0"/>
              </a:rPr>
              <a:t>Arrays</a:t>
            </a:r>
            <a:endParaRPr lang="en-US" altLang="it-IT" sz="4100" b="1" i="1" dirty="0">
              <a:latin typeface="Times New Roman" pitchFamily="18" charset="0"/>
            </a:endParaRPr>
          </a:p>
          <a:p>
            <a:pPr eaLnBrk="1" hangingPunct="1"/>
            <a:endParaRPr lang="en-US" altLang="it-IT" sz="4100" b="1" i="1" dirty="0">
              <a:latin typeface="Times New Roman" pitchFamily="18" charset="0"/>
            </a:endParaRPr>
          </a:p>
        </p:txBody>
      </p:sp>
      <p:sp>
        <p:nvSpPr>
          <p:cNvPr id="3077" name="Text Box 6"/>
          <p:cNvSpPr txBox="1">
            <a:spLocks noChangeArrowheads="1"/>
          </p:cNvSpPr>
          <p:nvPr/>
        </p:nvSpPr>
        <p:spPr bwMode="auto">
          <a:xfrm>
            <a:off x="539750" y="260350"/>
            <a:ext cx="671953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it-IT" altLang="it-IT" sz="1200"/>
              <a:t>Università di Napoli Federico II - </a:t>
            </a:r>
            <a:r>
              <a:rPr lang="en-GB" altLang="it-IT" sz="1200"/>
              <a:t>Dip. di </a:t>
            </a:r>
            <a:r>
              <a:rPr lang="en-GB" altLang="it-IT" sz="1200" err="1"/>
              <a:t>Ingegneria</a:t>
            </a:r>
            <a:r>
              <a:rPr lang="en-GB" altLang="it-IT" sz="1200"/>
              <a:t> </a:t>
            </a:r>
            <a:r>
              <a:rPr lang="en-GB" altLang="it-IT" sz="1200" err="1"/>
              <a:t>Elettrica</a:t>
            </a:r>
            <a:r>
              <a:rPr lang="en-GB" altLang="it-IT" sz="1200"/>
              <a:t> e </a:t>
            </a:r>
            <a:r>
              <a:rPr lang="en-GB" altLang="it-IT" sz="1200" err="1"/>
              <a:t>delle</a:t>
            </a:r>
            <a:r>
              <a:rPr lang="en-GB" altLang="it-IT" sz="1200"/>
              <a:t> </a:t>
            </a:r>
            <a:r>
              <a:rPr lang="en-GB" altLang="it-IT" sz="1200" err="1"/>
              <a:t>Tecnologie</a:t>
            </a:r>
            <a:r>
              <a:rPr lang="en-GB" altLang="it-IT" sz="1200"/>
              <a:t> </a:t>
            </a:r>
            <a:r>
              <a:rPr lang="en-GB" altLang="it-IT" sz="1200" err="1"/>
              <a:t>dell’Informazione</a:t>
            </a:r>
            <a:r>
              <a:rPr lang="en-GB" altLang="it-IT" sz="1200"/>
              <a:t> </a:t>
            </a:r>
          </a:p>
          <a:p>
            <a:pPr eaLnBrk="1" hangingPunct="1"/>
            <a:r>
              <a:rPr lang="it-IT" altLang="it-IT" sz="1200"/>
              <a:t>Corso di Laurea in Ingegneria Informatica</a:t>
            </a:r>
            <a:endParaRPr lang="en-US" altLang="it-IT" sz="120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194" y="373448"/>
            <a:ext cx="846916" cy="895311"/>
          </a:xfrm>
          <a:prstGeom prst="rect">
            <a:avLst/>
          </a:prstGeom>
        </p:spPr>
      </p:pic>
      <p:pic>
        <p:nvPicPr>
          <p:cNvPr id="1026" name="Picture 2" descr="Java, logo, logos icon - Free download on Iconfinder">
            <a:extLst>
              <a:ext uri="{FF2B5EF4-FFF2-40B4-BE49-F238E27FC236}">
                <a16:creationId xmlns:a16="http://schemas.microsoft.com/office/drawing/2014/main" id="{8F51CA07-A1A5-AA38-5BB4-4B67B15263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014466"/>
            <a:ext cx="16002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A5C96DB-A8F7-EA66-CE04-CA66A661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Tipi primitivi in Java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ED1E29A2-D19A-E62F-0308-FAD3ADC65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657508"/>
              </p:ext>
            </p:extLst>
          </p:nvPr>
        </p:nvGraphicFramePr>
        <p:xfrm>
          <a:off x="0" y="1760220"/>
          <a:ext cx="9144001" cy="432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298">
                  <a:extLst>
                    <a:ext uri="{9D8B030D-6E8A-4147-A177-3AD203B41FA5}">
                      <a16:colId xmlns:a16="http://schemas.microsoft.com/office/drawing/2014/main" val="2877135526"/>
                    </a:ext>
                  </a:extLst>
                </a:gridCol>
                <a:gridCol w="1729946">
                  <a:extLst>
                    <a:ext uri="{9D8B030D-6E8A-4147-A177-3AD203B41FA5}">
                      <a16:colId xmlns:a16="http://schemas.microsoft.com/office/drawing/2014/main" val="828456496"/>
                    </a:ext>
                  </a:extLst>
                </a:gridCol>
                <a:gridCol w="2800865">
                  <a:extLst>
                    <a:ext uri="{9D8B030D-6E8A-4147-A177-3AD203B41FA5}">
                      <a16:colId xmlns:a16="http://schemas.microsoft.com/office/drawing/2014/main" val="1623554461"/>
                    </a:ext>
                  </a:extLst>
                </a:gridCol>
                <a:gridCol w="3459892">
                  <a:extLst>
                    <a:ext uri="{9D8B030D-6E8A-4147-A177-3AD203B41FA5}">
                      <a16:colId xmlns:a16="http://schemas.microsoft.com/office/drawing/2014/main" val="557700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sz="120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Dimensione in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Valori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Standard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6200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err="1"/>
                        <a:t>boolean</a:t>
                      </a:r>
                      <a:endParaRPr lang="it-IT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 kern="1200" err="1">
                          <a:solidFill>
                            <a:schemeClr val="dk1"/>
                          </a:solidFill>
                          <a:latin typeface="Courier" pitchFamily="2" charset="0"/>
                          <a:ea typeface="+mn-ea"/>
                          <a:cs typeface="+mn-cs"/>
                        </a:rPr>
                        <a:t>true</a:t>
                      </a:r>
                      <a:r>
                        <a:rPr lang="it-IT" sz="1200"/>
                        <a:t> o </a:t>
                      </a:r>
                      <a:r>
                        <a:rPr lang="it-IT" sz="1200">
                          <a:latin typeface="Courier" pitchFamily="2" charset="0"/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692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err="1"/>
                        <a:t>char</a:t>
                      </a:r>
                      <a:endParaRPr lang="it-IT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da </a:t>
                      </a:r>
                      <a:r>
                        <a:rPr lang="it-IT" sz="1200" b="0" i="0">
                          <a:latin typeface="Courier" pitchFamily="2" charset="0"/>
                        </a:rPr>
                        <a:t>'\u0000'</a:t>
                      </a:r>
                      <a:r>
                        <a:rPr lang="it-IT" sz="1200"/>
                        <a:t> a </a:t>
                      </a:r>
                      <a:r>
                        <a:rPr lang="it-IT" sz="1200" b="0" i="0">
                          <a:latin typeface="Courier" pitchFamily="2" charset="0"/>
                        </a:rPr>
                        <a:t>'</a:t>
                      </a:r>
                      <a:r>
                        <a:rPr lang="it-IT" sz="1200">
                          <a:latin typeface="Courier" pitchFamily="2" charset="0"/>
                        </a:rPr>
                        <a:t>\</a:t>
                      </a:r>
                      <a:r>
                        <a:rPr lang="it-IT" sz="1200" err="1">
                          <a:latin typeface="Courier" pitchFamily="2" charset="0"/>
                        </a:rPr>
                        <a:t>uFFFF</a:t>
                      </a:r>
                      <a:r>
                        <a:rPr lang="it-IT" sz="1200" b="0" i="0">
                          <a:latin typeface="Courier" pitchFamily="2" charset="0"/>
                        </a:rPr>
                        <a:t>'</a:t>
                      </a:r>
                      <a:r>
                        <a:rPr lang="it-IT" sz="1200"/>
                        <a:t> (da 0 a 65535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Insieme dei caratteri ISO Unicode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414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/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da -128 a +127  [da –(2</a:t>
                      </a:r>
                      <a:r>
                        <a:rPr lang="it-IT" sz="1200" baseline="30000"/>
                        <a:t>7</a:t>
                      </a:r>
                      <a:r>
                        <a:rPr lang="it-IT" sz="1200" baseline="0"/>
                        <a:t>) a 2</a:t>
                      </a:r>
                      <a:r>
                        <a:rPr lang="it-IT" sz="1200" baseline="30000"/>
                        <a:t>7</a:t>
                      </a:r>
                      <a:r>
                        <a:rPr lang="it-IT" sz="1200" baseline="0"/>
                        <a:t>-1]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51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da –(2</a:t>
                      </a:r>
                      <a:r>
                        <a:rPr lang="it-IT" sz="1200" baseline="30000"/>
                        <a:t>15</a:t>
                      </a:r>
                      <a:r>
                        <a:rPr lang="it-IT" sz="1200" baseline="0"/>
                        <a:t>) a 2</a:t>
                      </a:r>
                      <a:r>
                        <a:rPr lang="it-IT" sz="1200" baseline="30000"/>
                        <a:t>15</a:t>
                      </a:r>
                      <a:r>
                        <a:rPr lang="it-IT" sz="1200" baseline="0"/>
                        <a:t>-1</a:t>
                      </a:r>
                      <a:endParaRPr lang="it-IT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915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 err="1"/>
                        <a:t>int</a:t>
                      </a:r>
                      <a:endParaRPr lang="it-IT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/>
                        <a:t>da –(2</a:t>
                      </a:r>
                      <a:r>
                        <a:rPr lang="it-IT" sz="1200" baseline="30000"/>
                        <a:t>31</a:t>
                      </a:r>
                      <a:r>
                        <a:rPr lang="it-IT" sz="1200" baseline="0"/>
                        <a:t>) a 2</a:t>
                      </a:r>
                      <a:r>
                        <a:rPr lang="it-IT" sz="1200" baseline="30000"/>
                        <a:t>31</a:t>
                      </a:r>
                      <a:r>
                        <a:rPr lang="it-IT" sz="1200" baseline="0"/>
                        <a:t>-1</a:t>
                      </a:r>
                      <a:endParaRPr lang="it-IT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889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/>
                        <a:t>da –(2</a:t>
                      </a:r>
                      <a:r>
                        <a:rPr lang="it-IT" sz="1200" baseline="30000"/>
                        <a:t>63</a:t>
                      </a:r>
                      <a:r>
                        <a:rPr lang="it-IT" sz="1200" baseline="0"/>
                        <a:t>) a 2</a:t>
                      </a:r>
                      <a:r>
                        <a:rPr lang="it-IT" sz="1200" baseline="30000"/>
                        <a:t>63</a:t>
                      </a:r>
                      <a:r>
                        <a:rPr lang="it-IT" sz="1200" baseline="0"/>
                        <a:t>-1</a:t>
                      </a:r>
                      <a:endParaRPr lang="it-IT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it-IT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560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Numeri negativi:</a:t>
                      </a:r>
                    </a:p>
                    <a:p>
                      <a:r>
                        <a:rPr lang="it-IT" sz="1200"/>
                        <a:t>da -3.40…E+38 a -1.40…E-45</a:t>
                      </a:r>
                    </a:p>
                    <a:p>
                      <a:r>
                        <a:rPr lang="it-IT" sz="1200"/>
                        <a:t>Numeri Positivi:</a:t>
                      </a:r>
                    </a:p>
                    <a:p>
                      <a:r>
                        <a:rPr lang="it-IT" sz="1200"/>
                        <a:t>da 1.40…E-45 a 3.40…E+38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IEEE 754 (numeri in virgola mobile)</a:t>
                      </a:r>
                    </a:p>
                    <a:p>
                      <a:endParaRPr lang="it-IT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3869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sz="120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sz="1200"/>
                        <a:t>Numeri negativi:</a:t>
                      </a:r>
                    </a:p>
                    <a:p>
                      <a:r>
                        <a:rPr lang="it-IT" sz="1200"/>
                        <a:t>da -1.79…E+308 a -4.94…E-324</a:t>
                      </a:r>
                    </a:p>
                    <a:p>
                      <a:r>
                        <a:rPr lang="it-IT" sz="1200"/>
                        <a:t>Numeri Positivi:</a:t>
                      </a:r>
                    </a:p>
                    <a:p>
                      <a:r>
                        <a:rPr lang="it-IT" sz="1200"/>
                        <a:t>da 4.94…E-324 a 1.79…E+308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it-IT" sz="12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IEEE 754 (numeri in virgola mobile)</a:t>
                      </a:r>
                      <a:endParaRPr lang="it-IT" sz="1200" b="0" i="0" u="none" strike="noStrike" noProof="0"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045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212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2AF74-EAEF-CDAA-345A-213DA50C0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099" y="-448341"/>
            <a:ext cx="8591798" cy="1295400"/>
          </a:xfrm>
        </p:spPr>
        <p:txBody>
          <a:bodyPr/>
          <a:lstStyle/>
          <a:p>
            <a:r>
              <a:rPr lang="en-US" sz="3600" dirty="0">
                <a:cs typeface="Arial"/>
              </a:rPr>
              <a:t>Type casting </a:t>
            </a:r>
            <a:r>
              <a:rPr lang="en-US" sz="3600" dirty="0" err="1">
                <a:cs typeface="Arial"/>
              </a:rPr>
              <a:t>dei</a:t>
            </a:r>
            <a:r>
              <a:rPr lang="en-US" sz="3600" dirty="0">
                <a:cs typeface="Arial"/>
              </a:rPr>
              <a:t> tipi </a:t>
            </a:r>
            <a:r>
              <a:rPr lang="en-US" sz="3600" dirty="0" err="1">
                <a:cs typeface="Arial"/>
              </a:rPr>
              <a:t>primitivi</a:t>
            </a:r>
            <a:r>
              <a:rPr lang="en-US" sz="3600" dirty="0">
                <a:cs typeface="Arial"/>
              </a:rPr>
              <a:t> in Java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38431-CE25-C0E6-9160-5749D60D5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100" y="847059"/>
            <a:ext cx="8591797" cy="4885444"/>
          </a:xfrm>
        </p:spPr>
        <p:txBody>
          <a:bodyPr/>
          <a:lstStyle/>
          <a:p>
            <a:r>
              <a:rPr lang="en-US" sz="2600" dirty="0">
                <a:ea typeface="+mn-lt"/>
                <a:cs typeface="+mn-lt"/>
              </a:rPr>
              <a:t>Il type casting </a:t>
            </a:r>
            <a:r>
              <a:rPr lang="en-US" sz="2600" dirty="0" err="1">
                <a:ea typeface="+mn-lt"/>
                <a:cs typeface="+mn-lt"/>
              </a:rPr>
              <a:t>avviene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quando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si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assegna</a:t>
            </a:r>
            <a:r>
              <a:rPr lang="en-US" sz="2600" dirty="0">
                <a:ea typeface="+mn-lt"/>
                <a:cs typeface="+mn-lt"/>
              </a:rPr>
              <a:t> un </a:t>
            </a:r>
            <a:r>
              <a:rPr lang="en-US" sz="2600" dirty="0" err="1">
                <a:ea typeface="+mn-lt"/>
                <a:cs typeface="+mn-lt"/>
              </a:rPr>
              <a:t>valore</a:t>
            </a:r>
            <a:r>
              <a:rPr lang="en-US" sz="2600" dirty="0">
                <a:ea typeface="+mn-lt"/>
                <a:cs typeface="+mn-lt"/>
              </a:rPr>
              <a:t> di un </a:t>
            </a:r>
            <a:r>
              <a:rPr lang="en-US" sz="2600" dirty="0" err="1">
                <a:ea typeface="+mn-lt"/>
                <a:cs typeface="+mn-lt"/>
              </a:rPr>
              <a:t>tipo</a:t>
            </a:r>
            <a:r>
              <a:rPr lang="en-US" sz="2600" dirty="0">
                <a:ea typeface="+mn-lt"/>
                <a:cs typeface="+mn-lt"/>
              </a:rPr>
              <a:t> di </a:t>
            </a:r>
            <a:r>
              <a:rPr lang="en-US" sz="2600" dirty="0" err="1">
                <a:ea typeface="+mn-lt"/>
                <a:cs typeface="+mn-lt"/>
              </a:rPr>
              <a:t>dati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primitivo</a:t>
            </a:r>
            <a:r>
              <a:rPr lang="en-US" sz="2600" dirty="0">
                <a:ea typeface="+mn-lt"/>
                <a:cs typeface="+mn-lt"/>
              </a:rPr>
              <a:t> a un </a:t>
            </a:r>
            <a:r>
              <a:rPr lang="en-US" sz="2600" dirty="0" err="1">
                <a:ea typeface="+mn-lt"/>
                <a:cs typeface="+mn-lt"/>
              </a:rPr>
              <a:t>altro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600" dirty="0" err="1">
                <a:ea typeface="+mn-lt"/>
                <a:cs typeface="+mn-lt"/>
              </a:rPr>
              <a:t>tipo</a:t>
            </a:r>
            <a:r>
              <a:rPr lang="en-US" sz="2600" dirty="0">
                <a:ea typeface="+mn-lt"/>
                <a:cs typeface="+mn-lt"/>
              </a:rPr>
              <a:t> di </a:t>
            </a:r>
            <a:r>
              <a:rPr lang="en-US" sz="2600" dirty="0" err="1">
                <a:ea typeface="+mn-lt"/>
                <a:cs typeface="+mn-lt"/>
              </a:rPr>
              <a:t>dato</a:t>
            </a:r>
            <a:r>
              <a:rPr lang="en-US" sz="2600" dirty="0">
                <a:ea typeface="+mn-lt"/>
                <a:cs typeface="+mn-lt"/>
              </a:rPr>
              <a:t> sempre </a:t>
            </a:r>
            <a:r>
              <a:rPr lang="en-US" sz="2600" dirty="0" err="1">
                <a:ea typeface="+mn-lt"/>
                <a:cs typeface="+mn-lt"/>
              </a:rPr>
              <a:t>primitivo</a:t>
            </a:r>
            <a:r>
              <a:rPr lang="en-US" sz="2600" dirty="0">
                <a:ea typeface="+mn-lt"/>
                <a:cs typeface="+mn-lt"/>
              </a:rPr>
              <a:t>.</a:t>
            </a:r>
          </a:p>
          <a:p>
            <a:r>
              <a:rPr lang="en-US" sz="2600" dirty="0">
                <a:cs typeface="Arial"/>
              </a:rPr>
              <a:t>In Java ci </a:t>
            </a:r>
            <a:r>
              <a:rPr lang="en-US" sz="2600" dirty="0" err="1">
                <a:cs typeface="Arial"/>
              </a:rPr>
              <a:t>sono</a:t>
            </a:r>
            <a:r>
              <a:rPr lang="en-US" sz="2600" dirty="0">
                <a:cs typeface="Arial"/>
              </a:rPr>
              <a:t> due tipi di casting</a:t>
            </a:r>
          </a:p>
          <a:p>
            <a:pPr lvl="1" indent="-347345">
              <a:buClr>
                <a:srgbClr val="669999"/>
              </a:buClr>
              <a:buFont typeface="Courier New" pitchFamily="2" charset="2"/>
              <a:buChar char="o"/>
            </a:pPr>
            <a:r>
              <a:rPr lang="en-US" sz="2400" b="1" dirty="0">
                <a:cs typeface="Arial"/>
              </a:rPr>
              <a:t>Widening Casting </a:t>
            </a:r>
            <a:r>
              <a:rPr lang="en-US" sz="2400" dirty="0">
                <a:cs typeface="Arial"/>
              </a:rPr>
              <a:t>- </a:t>
            </a:r>
            <a:r>
              <a:rPr lang="en-US" sz="2400" dirty="0" err="1">
                <a:cs typeface="Arial"/>
              </a:rPr>
              <a:t>converte</a:t>
            </a:r>
            <a:r>
              <a:rPr lang="en-US" sz="2400" dirty="0">
                <a:cs typeface="Arial"/>
              </a:rPr>
              <a:t> un </a:t>
            </a:r>
            <a:r>
              <a:rPr lang="en-US" sz="2400" dirty="0" err="1">
                <a:cs typeface="Arial"/>
              </a:rPr>
              <a:t>tipo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più</a:t>
            </a:r>
            <a:r>
              <a:rPr lang="en-US" sz="2400" dirty="0">
                <a:cs typeface="Arial"/>
              </a:rPr>
              <a:t> piccolo in un </a:t>
            </a:r>
            <a:r>
              <a:rPr lang="en-US" sz="2400" dirty="0" err="1">
                <a:cs typeface="Arial"/>
              </a:rPr>
              <a:t>tipo</a:t>
            </a:r>
            <a:r>
              <a:rPr lang="en-US" sz="2400" dirty="0">
                <a:cs typeface="Arial"/>
              </a:rPr>
              <a:t> di </a:t>
            </a:r>
            <a:r>
              <a:rPr lang="en-US" sz="2400" dirty="0" err="1">
                <a:cs typeface="Arial"/>
              </a:rPr>
              <a:t>dimensioni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più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grandi</a:t>
            </a:r>
            <a:endParaRPr lang="en-US" sz="2400" dirty="0">
              <a:cs typeface="Arial"/>
            </a:endParaRPr>
          </a:p>
          <a:p>
            <a:pPr lvl="2" indent="-293370">
              <a:buFont typeface="Wingdings" pitchFamily="2" charset="2"/>
              <a:buChar char="§"/>
            </a:pPr>
            <a:r>
              <a:rPr lang="en-US" sz="1800" dirty="0">
                <a:solidFill>
                  <a:srgbClr val="DC143C"/>
                </a:solidFill>
                <a:ea typeface="+mn-lt"/>
                <a:cs typeface="+mn-lt"/>
              </a:rPr>
              <a:t>byte</a:t>
            </a:r>
            <a:r>
              <a:rPr lang="en-US" sz="1800" dirty="0">
                <a:latin typeface="Verdana"/>
                <a:ea typeface="Verdana"/>
                <a:cs typeface="Arial"/>
              </a:rPr>
              <a:t> -&gt; </a:t>
            </a:r>
            <a:r>
              <a:rPr lang="en-US" sz="1800" dirty="0">
                <a:solidFill>
                  <a:srgbClr val="DC143C"/>
                </a:solidFill>
                <a:ea typeface="+mn-lt"/>
                <a:cs typeface="+mn-lt"/>
              </a:rPr>
              <a:t>short</a:t>
            </a:r>
            <a:r>
              <a:rPr lang="en-US" sz="1800" dirty="0">
                <a:latin typeface="Verdana"/>
                <a:ea typeface="Verdana"/>
                <a:cs typeface="Arial"/>
              </a:rPr>
              <a:t> -&gt; </a:t>
            </a:r>
            <a:r>
              <a:rPr lang="en-US" sz="1800" dirty="0">
                <a:solidFill>
                  <a:srgbClr val="DC143C"/>
                </a:solidFill>
                <a:ea typeface="+mn-lt"/>
                <a:cs typeface="+mn-lt"/>
              </a:rPr>
              <a:t>char</a:t>
            </a:r>
            <a:r>
              <a:rPr lang="en-US" sz="1800" dirty="0">
                <a:latin typeface="Verdana"/>
                <a:ea typeface="Verdana"/>
                <a:cs typeface="Arial"/>
              </a:rPr>
              <a:t> -&gt; </a:t>
            </a:r>
            <a:r>
              <a:rPr lang="en-US" sz="1800" dirty="0">
                <a:solidFill>
                  <a:srgbClr val="DC143C"/>
                </a:solidFill>
                <a:ea typeface="+mn-lt"/>
                <a:cs typeface="+mn-lt"/>
              </a:rPr>
              <a:t>int</a:t>
            </a:r>
            <a:r>
              <a:rPr lang="en-US" sz="1800" dirty="0">
                <a:latin typeface="Verdana"/>
                <a:ea typeface="Verdana"/>
                <a:cs typeface="Arial"/>
              </a:rPr>
              <a:t> -&gt; </a:t>
            </a:r>
            <a:r>
              <a:rPr lang="en-US" sz="1800" dirty="0">
                <a:solidFill>
                  <a:srgbClr val="DC143C"/>
                </a:solidFill>
                <a:ea typeface="+mn-lt"/>
                <a:cs typeface="+mn-lt"/>
              </a:rPr>
              <a:t>long</a:t>
            </a:r>
            <a:r>
              <a:rPr lang="en-US" sz="1800" dirty="0">
                <a:latin typeface="Verdana"/>
                <a:ea typeface="Verdana"/>
                <a:cs typeface="Arial"/>
              </a:rPr>
              <a:t> -&gt; </a:t>
            </a:r>
            <a:r>
              <a:rPr lang="en-US" sz="1800" dirty="0">
                <a:solidFill>
                  <a:srgbClr val="DC143C"/>
                </a:solidFill>
                <a:ea typeface="+mn-lt"/>
                <a:cs typeface="+mn-lt"/>
              </a:rPr>
              <a:t>float</a:t>
            </a:r>
            <a:r>
              <a:rPr lang="en-US" sz="1800" dirty="0">
                <a:latin typeface="Verdana"/>
                <a:ea typeface="Verdana"/>
                <a:cs typeface="Arial"/>
              </a:rPr>
              <a:t> -&gt; </a:t>
            </a:r>
            <a:r>
              <a:rPr lang="en-US" sz="1800" dirty="0">
                <a:solidFill>
                  <a:srgbClr val="DC143C"/>
                </a:solidFill>
                <a:ea typeface="+mn-lt"/>
                <a:cs typeface="+mn-lt"/>
              </a:rPr>
              <a:t>double</a:t>
            </a:r>
          </a:p>
          <a:p>
            <a:pPr lvl="1" indent="-347345">
              <a:buFont typeface="Courier New" pitchFamily="2" charset="2"/>
              <a:buChar char="o"/>
            </a:pPr>
            <a:r>
              <a:rPr lang="en-US" sz="2400" b="1" dirty="0">
                <a:cs typeface="Arial"/>
              </a:rPr>
              <a:t>Narrowing Casting</a:t>
            </a:r>
            <a:r>
              <a:rPr lang="en-US" sz="2400" dirty="0">
                <a:cs typeface="Arial"/>
              </a:rPr>
              <a:t> - </a:t>
            </a:r>
            <a:r>
              <a:rPr lang="en-US" sz="2400" dirty="0" err="1">
                <a:cs typeface="Arial"/>
              </a:rPr>
              <a:t>converte</a:t>
            </a:r>
            <a:r>
              <a:rPr lang="en-US" sz="2400" dirty="0">
                <a:cs typeface="Arial"/>
              </a:rPr>
              <a:t> un </a:t>
            </a:r>
            <a:r>
              <a:rPr lang="en-US" sz="2400" dirty="0" err="1">
                <a:cs typeface="Arial"/>
              </a:rPr>
              <a:t>tipo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più</a:t>
            </a:r>
            <a:r>
              <a:rPr lang="en-US" sz="2400" dirty="0">
                <a:cs typeface="Arial"/>
              </a:rPr>
              <a:t> largo in un </a:t>
            </a:r>
            <a:r>
              <a:rPr lang="en-US" sz="2400" dirty="0" err="1">
                <a:cs typeface="Arial"/>
              </a:rPr>
              <a:t>tipo</a:t>
            </a:r>
            <a:r>
              <a:rPr lang="en-US" sz="2400" dirty="0">
                <a:cs typeface="Arial"/>
              </a:rPr>
              <a:t> di </a:t>
            </a:r>
            <a:r>
              <a:rPr lang="en-US" sz="2400" dirty="0" err="1">
                <a:cs typeface="Arial"/>
              </a:rPr>
              <a:t>dimensioni</a:t>
            </a:r>
            <a:r>
              <a:rPr lang="en-US" sz="2400" dirty="0">
                <a:cs typeface="Arial"/>
              </a:rPr>
              <a:t> </a:t>
            </a:r>
            <a:r>
              <a:rPr lang="en-US" sz="2400" dirty="0" err="1">
                <a:cs typeface="Arial"/>
              </a:rPr>
              <a:t>più</a:t>
            </a:r>
            <a:r>
              <a:rPr lang="en-US" sz="2400" dirty="0">
                <a:cs typeface="Arial"/>
              </a:rPr>
              <a:t> piccolo (con </a:t>
            </a:r>
            <a:r>
              <a:rPr lang="en-US" sz="2400" dirty="0" err="1">
                <a:cs typeface="Arial"/>
              </a:rPr>
              <a:t>rischio</a:t>
            </a:r>
            <a:r>
              <a:rPr lang="en-US" sz="2400" dirty="0">
                <a:cs typeface="Arial"/>
              </a:rPr>
              <a:t> di </a:t>
            </a:r>
            <a:r>
              <a:rPr lang="en-US" sz="2400" dirty="0" err="1">
                <a:cs typeface="Arial"/>
              </a:rPr>
              <a:t>perdita</a:t>
            </a:r>
            <a:r>
              <a:rPr lang="en-US" sz="2400" dirty="0">
                <a:cs typeface="Arial"/>
              </a:rPr>
              <a:t> di </a:t>
            </a:r>
            <a:r>
              <a:rPr lang="en-US" sz="2400" dirty="0" err="1">
                <a:cs typeface="Arial"/>
              </a:rPr>
              <a:t>informazione</a:t>
            </a:r>
            <a:r>
              <a:rPr lang="en-US" sz="2400" dirty="0">
                <a:cs typeface="Arial"/>
              </a:rPr>
              <a:t>)</a:t>
            </a:r>
          </a:p>
          <a:p>
            <a:pPr lvl="2" indent="-293370">
              <a:buFont typeface="Wingdings" pitchFamily="2" charset="2"/>
              <a:buChar char="§"/>
            </a:pPr>
            <a:r>
              <a:rPr lang="en-US" sz="1800" dirty="0">
                <a:solidFill>
                  <a:srgbClr val="DC143C"/>
                </a:solidFill>
                <a:ea typeface="+mn-lt"/>
                <a:cs typeface="+mn-lt"/>
              </a:rPr>
              <a:t>double</a:t>
            </a:r>
            <a:r>
              <a:rPr lang="en-US" sz="1600" dirty="0">
                <a:latin typeface="Verdana"/>
                <a:ea typeface="Verdana"/>
                <a:cs typeface="Arial"/>
              </a:rPr>
              <a:t> -&gt; </a:t>
            </a:r>
            <a:r>
              <a:rPr lang="en-US" sz="1800" dirty="0">
                <a:solidFill>
                  <a:srgbClr val="DC143C"/>
                </a:solidFill>
                <a:ea typeface="+mn-lt"/>
                <a:cs typeface="+mn-lt"/>
              </a:rPr>
              <a:t>float</a:t>
            </a:r>
            <a:r>
              <a:rPr lang="en-US" sz="1600" dirty="0">
                <a:latin typeface="Verdana"/>
                <a:ea typeface="Verdana"/>
                <a:cs typeface="Arial"/>
              </a:rPr>
              <a:t> -&gt; </a:t>
            </a:r>
            <a:r>
              <a:rPr lang="en-US" sz="1800" dirty="0">
                <a:solidFill>
                  <a:srgbClr val="DC143C"/>
                </a:solidFill>
                <a:ea typeface="+mn-lt"/>
                <a:cs typeface="+mn-lt"/>
              </a:rPr>
              <a:t>long</a:t>
            </a:r>
            <a:r>
              <a:rPr lang="en-US" sz="1600" dirty="0">
                <a:latin typeface="Verdana"/>
                <a:ea typeface="Verdana"/>
                <a:cs typeface="Arial"/>
              </a:rPr>
              <a:t> -&gt; </a:t>
            </a:r>
            <a:r>
              <a:rPr lang="en-US" sz="1800" dirty="0">
                <a:solidFill>
                  <a:srgbClr val="DC143C"/>
                </a:solidFill>
                <a:ea typeface="+mn-lt"/>
                <a:cs typeface="+mn-lt"/>
              </a:rPr>
              <a:t>int</a:t>
            </a:r>
            <a:r>
              <a:rPr lang="en-US" sz="1600" dirty="0">
                <a:latin typeface="Verdana"/>
                <a:ea typeface="Verdana"/>
                <a:cs typeface="Arial"/>
              </a:rPr>
              <a:t> -&gt; </a:t>
            </a:r>
            <a:r>
              <a:rPr lang="en-US" sz="1800" dirty="0">
                <a:solidFill>
                  <a:srgbClr val="DC143C"/>
                </a:solidFill>
                <a:ea typeface="+mn-lt"/>
                <a:cs typeface="+mn-lt"/>
              </a:rPr>
              <a:t>char</a:t>
            </a:r>
            <a:r>
              <a:rPr lang="en-US" sz="1600" dirty="0">
                <a:latin typeface="Verdana"/>
                <a:ea typeface="Verdana"/>
                <a:cs typeface="Arial"/>
              </a:rPr>
              <a:t> -&gt; </a:t>
            </a:r>
            <a:r>
              <a:rPr lang="en-US" sz="1800" dirty="0">
                <a:solidFill>
                  <a:srgbClr val="DC143C"/>
                </a:solidFill>
                <a:ea typeface="+mn-lt"/>
                <a:cs typeface="+mn-lt"/>
              </a:rPr>
              <a:t>short</a:t>
            </a:r>
            <a:r>
              <a:rPr lang="en-US" sz="1600" dirty="0">
                <a:latin typeface="Verdana"/>
                <a:ea typeface="Verdana"/>
                <a:cs typeface="Arial"/>
              </a:rPr>
              <a:t> -&gt; </a:t>
            </a:r>
            <a:r>
              <a:rPr lang="en-US" sz="1800" dirty="0">
                <a:solidFill>
                  <a:srgbClr val="DC143C"/>
                </a:solidFill>
                <a:ea typeface="+mn-lt"/>
                <a:cs typeface="+mn-lt"/>
              </a:rPr>
              <a:t>byte</a:t>
            </a:r>
          </a:p>
          <a:p>
            <a:r>
              <a:rPr lang="en-US" sz="2600" dirty="0">
                <a:cs typeface="Arial"/>
              </a:rPr>
              <a:t>Il widening casting </a:t>
            </a:r>
            <a:r>
              <a:rPr lang="en-US" sz="2600" dirty="0" err="1">
                <a:cs typeface="Arial"/>
              </a:rPr>
              <a:t>è</a:t>
            </a:r>
            <a:r>
              <a:rPr lang="en-US" sz="2600" dirty="0">
                <a:cs typeface="Arial"/>
              </a:rPr>
              <a:t> </a:t>
            </a:r>
            <a:r>
              <a:rPr lang="en-US" sz="2600" dirty="0" err="1">
                <a:cs typeface="Arial"/>
              </a:rPr>
              <a:t>effettuato</a:t>
            </a:r>
            <a:r>
              <a:rPr lang="en-US" sz="2600" dirty="0">
                <a:cs typeface="Arial"/>
              </a:rPr>
              <a:t> </a:t>
            </a:r>
            <a:r>
              <a:rPr lang="en-US" sz="2600" dirty="0" err="1">
                <a:cs typeface="Arial"/>
              </a:rPr>
              <a:t>anche</a:t>
            </a:r>
            <a:r>
              <a:rPr lang="en-US" sz="2600" dirty="0">
                <a:cs typeface="Arial"/>
              </a:rPr>
              <a:t> </a:t>
            </a:r>
            <a:r>
              <a:rPr lang="en-US" sz="2600" dirty="0" err="1">
                <a:cs typeface="Arial"/>
              </a:rPr>
              <a:t>implicitamente</a:t>
            </a:r>
            <a:r>
              <a:rPr lang="en-US" sz="2600" dirty="0">
                <a:cs typeface="Arial"/>
              </a:rPr>
              <a:t> dal </a:t>
            </a:r>
            <a:r>
              <a:rPr lang="en-US" sz="2600" dirty="0" err="1">
                <a:cs typeface="Arial"/>
              </a:rPr>
              <a:t>compilatore</a:t>
            </a:r>
            <a:r>
              <a:rPr lang="en-US" sz="2600" dirty="0">
                <a:cs typeface="Arial"/>
              </a:rPr>
              <a:t>, </a:t>
            </a:r>
            <a:r>
              <a:rPr lang="en-US" sz="2600" dirty="0" err="1">
                <a:cs typeface="Arial"/>
              </a:rPr>
              <a:t>mentre</a:t>
            </a:r>
            <a:r>
              <a:rPr lang="en-US" sz="2600" dirty="0">
                <a:cs typeface="Arial"/>
              </a:rPr>
              <a:t> il narrowing casting </a:t>
            </a:r>
            <a:r>
              <a:rPr lang="en-US" sz="2600" dirty="0" err="1">
                <a:cs typeface="Arial"/>
              </a:rPr>
              <a:t>deve</a:t>
            </a:r>
            <a:r>
              <a:rPr lang="en-US" sz="2600" dirty="0">
                <a:cs typeface="Arial"/>
              </a:rPr>
              <a:t> </a:t>
            </a:r>
            <a:r>
              <a:rPr lang="en-US" sz="2600" dirty="0" err="1">
                <a:cs typeface="Arial"/>
              </a:rPr>
              <a:t>essere</a:t>
            </a:r>
            <a:r>
              <a:rPr lang="en-US" sz="2600" dirty="0">
                <a:cs typeface="Arial"/>
              </a:rPr>
              <a:t> </a:t>
            </a:r>
            <a:r>
              <a:rPr lang="en-US" sz="2600" dirty="0" err="1">
                <a:cs typeface="Arial"/>
              </a:rPr>
              <a:t>forzato</a:t>
            </a:r>
            <a:r>
              <a:rPr lang="en-US" sz="2600" dirty="0">
                <a:cs typeface="Arial"/>
              </a:rPr>
              <a:t> </a:t>
            </a:r>
            <a:r>
              <a:rPr lang="en-US" sz="2600" dirty="0" err="1">
                <a:cs typeface="Arial"/>
              </a:rPr>
              <a:t>esplicitamente</a:t>
            </a:r>
            <a:endParaRPr lang="en-US" sz="26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2383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7B77-D9D5-4F05-E87E-13BEFF22F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198" y="-376525"/>
            <a:ext cx="7543800" cy="1295400"/>
          </a:xfrm>
        </p:spPr>
        <p:txBody>
          <a:bodyPr/>
          <a:lstStyle/>
          <a:p>
            <a:r>
              <a:rPr lang="en-US" dirty="0">
                <a:cs typeface="Arial"/>
              </a:rPr>
              <a:t>Esempio1 Widening Casting 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BA8197-404D-7E3D-ED5D-D2BDD0216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20" y="1427158"/>
            <a:ext cx="6871290" cy="2508366"/>
          </a:xfrm>
          <a:prstGeom prst="rect">
            <a:avLst/>
          </a:prstGeom>
        </p:spPr>
      </p:pic>
      <p:pic>
        <p:nvPicPr>
          <p:cNvPr id="6" name="Picture 5" descr="A close-up of a white and grey background&#10;&#10;Description automatically generated">
            <a:extLst>
              <a:ext uri="{FF2B5EF4-FFF2-40B4-BE49-F238E27FC236}">
                <a16:creationId xmlns:a16="http://schemas.microsoft.com/office/drawing/2014/main" id="{A68C2B3F-32CC-8E5C-858F-E383EC318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49" y="4298550"/>
            <a:ext cx="6220046" cy="131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313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17B77-D9D5-4F05-E87E-13BEFF22F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198" y="-376525"/>
            <a:ext cx="7543800" cy="1295400"/>
          </a:xfrm>
        </p:spPr>
        <p:txBody>
          <a:bodyPr/>
          <a:lstStyle/>
          <a:p>
            <a:r>
              <a:rPr lang="en-US" dirty="0">
                <a:cs typeface="Arial"/>
              </a:rPr>
              <a:t>Esempio2 Widening Casting </a:t>
            </a:r>
            <a:endParaRPr lang="en-US" dirty="0"/>
          </a:p>
        </p:txBody>
      </p:sp>
      <p:pic>
        <p:nvPicPr>
          <p:cNvPr id="4" name="Immagine 3" descr="Immagine che contiene testo, schermata, Carattere, numero&#10;&#10;Descrizione generata automaticamente">
            <a:extLst>
              <a:ext uri="{FF2B5EF4-FFF2-40B4-BE49-F238E27FC236}">
                <a16:creationId xmlns:a16="http://schemas.microsoft.com/office/drawing/2014/main" id="{D88E1D5F-3D4F-B596-2DF1-70C809774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98" y="1122146"/>
            <a:ext cx="7772400" cy="3585372"/>
          </a:xfrm>
          <a:prstGeom prst="rect">
            <a:avLst/>
          </a:prstGeom>
        </p:spPr>
      </p:pic>
      <p:pic>
        <p:nvPicPr>
          <p:cNvPr id="8" name="Immagine 7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44702E0A-7AD4-2E1F-9CF3-FFA5AAE3E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050" y="4566405"/>
            <a:ext cx="5803900" cy="16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6DD48-C8AF-EAAF-0214-FB563BC3E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84" y="-214252"/>
            <a:ext cx="7543800" cy="1295400"/>
          </a:xfrm>
        </p:spPr>
        <p:txBody>
          <a:bodyPr/>
          <a:lstStyle/>
          <a:p>
            <a:r>
              <a:rPr lang="en-US" dirty="0">
                <a:cs typeface="Arial"/>
              </a:rPr>
              <a:t>Esempio3 Narrowing Casting</a:t>
            </a:r>
            <a:endParaRPr lang="en-US" dirty="0"/>
          </a:p>
        </p:txBody>
      </p:sp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B94CCB98-9440-D33F-1857-F96F8DEAF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84" y="1714937"/>
            <a:ext cx="7296592" cy="2683303"/>
          </a:xfrm>
          <a:prstGeom prst="rect">
            <a:avLst/>
          </a:prstGeom>
        </p:spPr>
      </p:pic>
      <p:pic>
        <p:nvPicPr>
          <p:cNvPr id="6" name="Picture 5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8792AB4F-36EB-1110-28EB-3EB7C144C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88" y="4616394"/>
            <a:ext cx="5409313" cy="139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6244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5CCB9-7246-6DF6-BA97-D8E9F7527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>
                <a:cs typeface="Arial"/>
              </a:rPr>
              <a:t>Esempi</a:t>
            </a:r>
            <a:r>
              <a:rPr lang="en-US">
                <a:cs typeface="Arial"/>
              </a:rPr>
              <a:t> di </a:t>
            </a:r>
            <a:r>
              <a:rPr lang="en-US" err="1">
                <a:cs typeface="Arial"/>
              </a:rPr>
              <a:t>uso</a:t>
            </a:r>
            <a:r>
              <a:rPr lang="en-US">
                <a:cs typeface="Arial"/>
              </a:rPr>
              <a:t> di </a:t>
            </a:r>
            <a:r>
              <a:rPr lang="en-US" err="1">
                <a:cs typeface="Arial"/>
              </a:rPr>
              <a:t>caratteri</a:t>
            </a:r>
            <a:r>
              <a:rPr lang="en-US">
                <a:cs typeface="Arial"/>
              </a:rPr>
              <a:t> Unicode in Java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0A3BC7-F73C-84D2-D095-BD23231CC5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96" y="2071480"/>
            <a:ext cx="6858000" cy="2200559"/>
          </a:xfrm>
          <a:prstGeom prst="rect">
            <a:avLst/>
          </a:prstGeom>
        </p:spPr>
      </p:pic>
      <p:pic>
        <p:nvPicPr>
          <p:cNvPr id="5" name="Picture 4" descr="A close-up of a screen&#10;&#10;Description automatically generated">
            <a:extLst>
              <a:ext uri="{FF2B5EF4-FFF2-40B4-BE49-F238E27FC236}">
                <a16:creationId xmlns:a16="http://schemas.microsoft.com/office/drawing/2014/main" id="{90124ECD-1D76-550F-B801-2FBEB1F42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54612"/>
            <a:ext cx="6233337" cy="160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66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DD9B-4A44-85C1-280C-B790F6B60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157" y="-395601"/>
            <a:ext cx="7543800" cy="1295400"/>
          </a:xfrm>
        </p:spPr>
        <p:txBody>
          <a:bodyPr/>
          <a:lstStyle/>
          <a:p>
            <a:r>
              <a:rPr lang="en-US" dirty="0" err="1">
                <a:cs typeface="Arial"/>
              </a:rPr>
              <a:t>Altro</a:t>
            </a:r>
            <a:r>
              <a:rPr lang="en-US" dirty="0">
                <a:cs typeface="Arial"/>
              </a:rPr>
              <a:t> casting da </a:t>
            </a:r>
            <a:r>
              <a:rPr lang="en-US" dirty="0" err="1">
                <a:cs typeface="Arial"/>
              </a:rPr>
              <a:t>intero</a:t>
            </a:r>
            <a:r>
              <a:rPr lang="en-US" dirty="0">
                <a:cs typeface="Arial"/>
              </a:rPr>
              <a:t> a char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00FAD9-AAED-D09A-5622-7573D5823FE9}"/>
              </a:ext>
            </a:extLst>
          </p:cNvPr>
          <p:cNvSpPr txBox="1"/>
          <p:nvPr/>
        </p:nvSpPr>
        <p:spPr>
          <a:xfrm>
            <a:off x="601174" y="4020979"/>
            <a:ext cx="2081842" cy="380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Qual è il </a:t>
            </a:r>
            <a:r>
              <a:rPr lang="en-US" err="1">
                <a:latin typeface="Arial"/>
                <a:cs typeface="Arial"/>
              </a:rPr>
              <a:t>risultato</a:t>
            </a:r>
            <a:r>
              <a:rPr lang="en-US">
                <a:latin typeface="Arial"/>
                <a:cs typeface="Arial"/>
              </a:rPr>
              <a:t>?</a:t>
            </a:r>
            <a:endParaRPr lang="en-US"/>
          </a:p>
        </p:txBody>
      </p:sp>
      <p:pic>
        <p:nvPicPr>
          <p:cNvPr id="3" name="Picture 2" descr="A close-up of a computer code&#10;&#10;Description automatically generated">
            <a:extLst>
              <a:ext uri="{FF2B5EF4-FFF2-40B4-BE49-F238E27FC236}">
                <a16:creationId xmlns:a16="http://schemas.microsoft.com/office/drawing/2014/main" id="{4D390019-2CA2-5CA2-252F-ACF1FA48D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57" y="1802052"/>
            <a:ext cx="7878792" cy="1913873"/>
          </a:xfrm>
          <a:prstGeom prst="rect">
            <a:avLst/>
          </a:prstGeom>
        </p:spPr>
      </p:pic>
      <p:pic>
        <p:nvPicPr>
          <p:cNvPr id="7" name="Picture 6" descr="A green text on a white background&#10;&#10;Description automatically generated">
            <a:extLst>
              <a:ext uri="{FF2B5EF4-FFF2-40B4-BE49-F238E27FC236}">
                <a16:creationId xmlns:a16="http://schemas.microsoft.com/office/drawing/2014/main" id="{503C9457-830F-0C45-4861-6655F1A51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85" y="4618178"/>
            <a:ext cx="6096000" cy="9540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33780CE-4577-3F57-118E-917149BDC969}"/>
              </a:ext>
            </a:extLst>
          </p:cNvPr>
          <p:cNvSpPr txBox="1"/>
          <p:nvPr/>
        </p:nvSpPr>
        <p:spPr>
          <a:xfrm>
            <a:off x="601173" y="5861280"/>
            <a:ext cx="2081842" cy="3801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err="1">
                <a:latin typeface="Arial"/>
                <a:cs typeface="Arial"/>
              </a:rPr>
              <a:t>Perché</a:t>
            </a:r>
            <a:r>
              <a:rPr lang="en-US">
                <a:latin typeface="Arial"/>
                <a:cs typeface="Arial"/>
              </a:rPr>
              <a:t>?</a:t>
            </a:r>
            <a:endParaRPr lang="en-US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1668C7-3166-96B5-5D6B-9C556062F744}"/>
              </a:ext>
            </a:extLst>
          </p:cNvPr>
          <p:cNvSpPr txBox="1"/>
          <p:nvPr/>
        </p:nvSpPr>
        <p:spPr>
          <a:xfrm>
            <a:off x="3275856" y="5589683"/>
            <a:ext cx="505776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cs typeface="Arial"/>
              </a:rPr>
              <a:t>2000000000%65536 = 37888 </a:t>
            </a:r>
            <a:r>
              <a:rPr lang="en-US" err="1">
                <a:latin typeface="Arial"/>
                <a:cs typeface="Arial"/>
              </a:rPr>
              <a:t>che</a:t>
            </a:r>
            <a:r>
              <a:rPr lang="en-US">
                <a:latin typeface="Arial"/>
                <a:cs typeface="Arial"/>
              </a:rPr>
              <a:t> in </a:t>
            </a:r>
            <a:r>
              <a:rPr lang="en-US" err="1">
                <a:latin typeface="Arial"/>
                <a:cs typeface="Arial"/>
              </a:rPr>
              <a:t>esadecimale</a:t>
            </a:r>
            <a:r>
              <a:rPr lang="en-US">
                <a:latin typeface="Arial"/>
                <a:cs typeface="Arial"/>
              </a:rPr>
              <a:t> vale 9400 ossia la </a:t>
            </a:r>
            <a:r>
              <a:rPr lang="en-US" err="1">
                <a:latin typeface="Arial"/>
                <a:cs typeface="Arial"/>
              </a:rPr>
              <a:t>codifica</a:t>
            </a:r>
            <a:r>
              <a:rPr lang="en-US">
                <a:latin typeface="Arial"/>
                <a:cs typeface="Arial"/>
              </a:rPr>
              <a:t> Unicode </a:t>
            </a:r>
            <a:r>
              <a:rPr lang="en-US" err="1">
                <a:latin typeface="Arial"/>
                <a:cs typeface="Arial"/>
              </a:rPr>
              <a:t>dell'ideogramma</a:t>
            </a:r>
            <a:endParaRPr lang="en-US" err="1"/>
          </a:p>
        </p:txBody>
      </p:sp>
    </p:spTree>
    <p:extLst>
      <p:ext uri="{BB962C8B-B14F-4D97-AF65-F5344CB8AC3E}">
        <p14:creationId xmlns:p14="http://schemas.microsoft.com/office/powerpoint/2010/main" val="400648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15AEA4-00A1-FC14-0B70-244416FEB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364" y="98487"/>
            <a:ext cx="8363272" cy="768411"/>
          </a:xfrm>
        </p:spPr>
        <p:txBody>
          <a:bodyPr/>
          <a:lstStyle/>
          <a:p>
            <a:r>
              <a:rPr lang="it-IT" dirty="0"/>
              <a:t>Classi </a:t>
            </a:r>
            <a:r>
              <a:rPr lang="it-IT" dirty="0" err="1"/>
              <a:t>Wrapper</a:t>
            </a:r>
            <a:r>
              <a:rPr lang="it-IT" dirty="0"/>
              <a:t> dei tipi primitivi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62C61D4-4861-9806-0CBF-C6EB2AEB1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20499"/>
            <a:ext cx="8363272" cy="4919043"/>
          </a:xfrm>
        </p:spPr>
        <p:txBody>
          <a:bodyPr>
            <a:normAutofit fontScale="85000" lnSpcReduction="20000"/>
          </a:bodyPr>
          <a:lstStyle/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Ogni tipo primitivo ha una 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classe 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wrapper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corrispondente (package </a:t>
            </a:r>
            <a:r>
              <a:rPr lang="it-IT" dirty="0" err="1"/>
              <a:t>java.lang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).</a:t>
            </a:r>
          </a:p>
          <a:p>
            <a:pPr lvl="1"/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Queste classi sono: 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Boolean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 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Byte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 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Character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 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Double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 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Float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 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Integer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 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Long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e 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Short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. </a:t>
            </a:r>
          </a:p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Consentono di gestire i valori di tipi primitivi come oggetti. </a:t>
            </a:r>
          </a:p>
          <a:p>
            <a:pPr lvl="1"/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Importante perché le strutture dati che riutilizzeremo o svilupperemo manipolano e condividono oggetti, ma non possono usare variabili di tipi primitivi. </a:t>
            </a:r>
          </a:p>
          <a:p>
            <a:pPr lvl="1"/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Possono manipolare oggetti delle classi </a:t>
            </a:r>
            <a:r>
              <a:rPr lang="it-IT" b="0" i="0" dirty="0" err="1">
                <a:solidFill>
                  <a:srgbClr val="333333"/>
                </a:solidFill>
                <a:effectLst/>
                <a:latin typeface="system-ui"/>
              </a:rPr>
              <a:t>wrapper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 in quanto ogni classe alla fine deriva da </a:t>
            </a:r>
            <a:r>
              <a:rPr lang="it-IT" dirty="0"/>
              <a:t>Object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.</a:t>
            </a:r>
          </a:p>
          <a:p>
            <a:r>
              <a:rPr lang="it-IT" dirty="0">
                <a:solidFill>
                  <a:srgbClr val="333333"/>
                </a:solidFill>
                <a:latin typeface="system-ui"/>
              </a:rPr>
              <a:t>Non possono essere usate per ottenere uno scambio per riferimento di un parametro il cui valore è un tipo primitivo perché….</a:t>
            </a:r>
            <a:r>
              <a:rPr lang="it-IT" b="1" dirty="0">
                <a:solidFill>
                  <a:srgbClr val="333333"/>
                </a:solidFill>
                <a:latin typeface="system-ui"/>
              </a:rPr>
              <a:t>sono immutabili</a:t>
            </a:r>
            <a:endParaRPr lang="it-IT" b="1" dirty="0"/>
          </a:p>
        </p:txBody>
      </p:sp>
    </p:spTree>
    <p:extLst>
      <p:ext uri="{BB962C8B-B14F-4D97-AF65-F5344CB8AC3E}">
        <p14:creationId xmlns:p14="http://schemas.microsoft.com/office/powerpoint/2010/main" val="1213712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770657-9368-AD5A-FB37-AB488E48E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96" y="-210271"/>
            <a:ext cx="7543800" cy="1295400"/>
          </a:xfrm>
        </p:spPr>
        <p:txBody>
          <a:bodyPr/>
          <a:lstStyle/>
          <a:p>
            <a:r>
              <a:rPr lang="it-IT" dirty="0"/>
              <a:t>Uso delle classi </a:t>
            </a:r>
            <a:r>
              <a:rPr lang="it-IT" dirty="0" err="1"/>
              <a:t>Wrapper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114604-59AF-B35D-08A4-555F079A0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34255"/>
            <a:ext cx="8229600" cy="4411662"/>
          </a:xfrm>
        </p:spPr>
        <p:txBody>
          <a:bodyPr>
            <a:normAutofit/>
          </a:bodyPr>
          <a:lstStyle/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Ciascuna delle classi </a:t>
            </a:r>
            <a:r>
              <a:rPr lang="it-IT" b="0" i="0" dirty="0" err="1">
                <a:solidFill>
                  <a:srgbClr val="333333"/>
                </a:solidFill>
                <a:effectLst/>
                <a:latin typeface="system-ui"/>
              </a:rPr>
              <a:t>wrapper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 numeriche </a:t>
            </a:r>
            <a:r>
              <a:rPr lang="it-IT" b="0" i="0" dirty="0">
                <a:solidFill>
                  <a:srgbClr val="FF0000"/>
                </a:solidFill>
                <a:effectLst/>
                <a:latin typeface="system-ui"/>
              </a:rPr>
              <a:t>estende 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la classe </a:t>
            </a:r>
            <a:r>
              <a:rPr lang="it-IT" dirty="0" err="1">
                <a:solidFill>
                  <a:srgbClr val="FF0000"/>
                </a:solidFill>
              </a:rPr>
              <a:t>Number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. </a:t>
            </a:r>
          </a:p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Le classi </a:t>
            </a:r>
            <a:r>
              <a:rPr lang="it-IT" b="0" i="0" dirty="0" err="1">
                <a:solidFill>
                  <a:srgbClr val="333333"/>
                </a:solidFill>
                <a:effectLst/>
                <a:latin typeface="system-ui"/>
              </a:rPr>
              <a:t>wrapper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 sono classi </a:t>
            </a:r>
            <a:r>
              <a:rPr lang="it-IT" dirty="0" err="1">
                <a:solidFill>
                  <a:srgbClr val="FF0000"/>
                </a:solidFill>
              </a:rPr>
              <a:t>final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 per cui non è possibile estenderle. </a:t>
            </a:r>
          </a:p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I tipi primitivi non hanno metodi, per cui i metodi correlati a un tipo primitivo si trovano nella classe </a:t>
            </a:r>
            <a:r>
              <a:rPr lang="it-IT" b="0" i="0" dirty="0" err="1">
                <a:solidFill>
                  <a:srgbClr val="333333"/>
                </a:solidFill>
                <a:effectLst/>
                <a:latin typeface="system-ui"/>
              </a:rPr>
              <a:t>wrapper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 corrispondente (per esempio il metodo </a:t>
            </a:r>
            <a:r>
              <a:rPr lang="it-IT" dirty="0" err="1"/>
              <a:t>parseInt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 che converte una </a:t>
            </a:r>
            <a:r>
              <a:rPr lang="it-IT" dirty="0" err="1"/>
              <a:t>String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in un valore </a:t>
            </a:r>
            <a:r>
              <a:rPr lang="it-IT" dirty="0" err="1"/>
              <a:t>int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 si trova nella classe </a:t>
            </a:r>
            <a:r>
              <a:rPr lang="it-IT" dirty="0" err="1"/>
              <a:t>Integer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).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71185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330CAB1-FDCA-CFF7-D116-2DB89DE7B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Autoboxing</a:t>
            </a:r>
            <a:r>
              <a:rPr lang="it-IT" dirty="0"/>
              <a:t> e auto-</a:t>
            </a:r>
            <a:r>
              <a:rPr lang="it-IT" dirty="0" err="1"/>
              <a:t>unboxing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1EB03B-9D3A-4E7E-B496-33505A29B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Java fornisce le </a:t>
            </a:r>
            <a:r>
              <a:rPr lang="it-IT" b="0" i="0" dirty="0">
                <a:solidFill>
                  <a:srgbClr val="FF0000"/>
                </a:solidFill>
                <a:effectLst/>
                <a:latin typeface="system-ui"/>
              </a:rPr>
              <a:t>conversioni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 boxing e </a:t>
            </a:r>
            <a:r>
              <a:rPr lang="it-IT" b="0" i="0" dirty="0" err="1">
                <a:solidFill>
                  <a:srgbClr val="333333"/>
                </a:solidFill>
                <a:effectLst/>
                <a:latin typeface="system-ui"/>
              </a:rPr>
              <a:t>unboxing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 che automaticamente eseguono la conversione tra valori di tipo primitivo e oggetti </a:t>
            </a:r>
            <a:r>
              <a:rPr lang="it-IT" b="0" i="0" dirty="0" err="1">
                <a:solidFill>
                  <a:srgbClr val="333333"/>
                </a:solidFill>
                <a:effectLst/>
                <a:latin typeface="system-ui"/>
              </a:rPr>
              <a:t>wrapper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. </a:t>
            </a:r>
          </a:p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Una 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conversione boxing 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converte un valore di tipo primitivo in un oggetto della corrispondente classe </a:t>
            </a:r>
            <a:r>
              <a:rPr lang="it-IT" b="0" i="0" dirty="0" err="1">
                <a:solidFill>
                  <a:srgbClr val="333333"/>
                </a:solidFill>
                <a:effectLst/>
                <a:latin typeface="system-ui"/>
              </a:rPr>
              <a:t>wrapper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. </a:t>
            </a:r>
          </a:p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Una 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conversione 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unboxing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 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converte un oggetto di una classe </a:t>
            </a:r>
            <a:r>
              <a:rPr lang="it-IT" b="0" i="0" dirty="0" err="1">
                <a:solidFill>
                  <a:srgbClr val="333333"/>
                </a:solidFill>
                <a:effectLst/>
                <a:latin typeface="system-ui"/>
              </a:rPr>
              <a:t>wrapper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 in un valore del tipo primitivo corrispondente. </a:t>
            </a:r>
          </a:p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Queste conversioni (chiamate 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autoboxing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e 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auto-</a:t>
            </a:r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unboxing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) vengono eseguite automaticamente.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10075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8DD3F97-0EA2-6517-5C81-E710F7683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9E9A2FD-46EA-432D-77AB-0EB0DE5C337D}"/>
              </a:ext>
            </a:extLst>
          </p:cNvPr>
          <p:cNvSpPr txBox="1"/>
          <p:nvPr/>
        </p:nvSpPr>
        <p:spPr>
          <a:xfrm>
            <a:off x="143508" y="1859339"/>
            <a:ext cx="8856984" cy="31393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dirty="0">
                <a:latin typeface="Courier" pitchFamily="2" charset="0"/>
              </a:rPr>
              <a:t>public </a:t>
            </a:r>
            <a:r>
              <a:rPr lang="it-IT" dirty="0" err="1">
                <a:latin typeface="Courier" pitchFamily="2" charset="0"/>
              </a:rPr>
              <a:t>static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void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main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[] </a:t>
            </a:r>
            <a:r>
              <a:rPr lang="it-IT" dirty="0" err="1">
                <a:latin typeface="Courier" pitchFamily="2" charset="0"/>
              </a:rPr>
              <a:t>args</a:t>
            </a:r>
            <a:r>
              <a:rPr lang="it-IT" dirty="0">
                <a:latin typeface="Courier" pitchFamily="2" charset="0"/>
              </a:rPr>
              <a:t>) {</a:t>
            </a:r>
          </a:p>
          <a:p>
            <a:r>
              <a:rPr lang="it-IT" b="1" dirty="0">
                <a:latin typeface="Courier" pitchFamily="2" charset="0"/>
              </a:rPr>
              <a:t>       </a:t>
            </a:r>
            <a:r>
              <a:rPr lang="it-IT" b="1" dirty="0" err="1">
                <a:latin typeface="Courier" pitchFamily="2" charset="0"/>
              </a:rPr>
              <a:t>Integer</a:t>
            </a:r>
            <a:r>
              <a:rPr lang="it-IT" b="1" dirty="0">
                <a:latin typeface="Courier" pitchFamily="2" charset="0"/>
              </a:rPr>
              <a:t> </a:t>
            </a:r>
            <a:r>
              <a:rPr lang="it-IT" b="1" dirty="0" err="1">
                <a:latin typeface="Courier" pitchFamily="2" charset="0"/>
              </a:rPr>
              <a:t>mioIntWrapper</a:t>
            </a:r>
            <a:r>
              <a:rPr lang="it-IT" b="1" dirty="0">
                <a:latin typeface="Courier" pitchFamily="2" charset="0"/>
              </a:rPr>
              <a:t> = 10; //boxing</a:t>
            </a:r>
          </a:p>
          <a:p>
            <a:r>
              <a:rPr lang="it-IT" dirty="0">
                <a:latin typeface="Courier" pitchFamily="2" charset="0"/>
              </a:rPr>
              <a:t>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miaStringa</a:t>
            </a:r>
            <a:r>
              <a:rPr lang="it-IT" dirty="0">
                <a:latin typeface="Courier" pitchFamily="2" charset="0"/>
              </a:rPr>
              <a:t> = "10";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</a:p>
          <a:p>
            <a:r>
              <a:rPr lang="it-IT" dirty="0">
                <a:latin typeface="Courier" pitchFamily="2" charset="0"/>
              </a:rPr>
              <a:t>       </a:t>
            </a:r>
            <a:r>
              <a:rPr lang="it-IT" b="1" dirty="0">
                <a:latin typeface="Courier" pitchFamily="2" charset="0"/>
              </a:rPr>
              <a:t>//ottengo un intero primitivo a partire da una stringa</a:t>
            </a:r>
          </a:p>
          <a:p>
            <a:r>
              <a:rPr lang="it-IT" dirty="0">
                <a:latin typeface="Courier" pitchFamily="2" charset="0"/>
              </a:rPr>
              <a:t>       </a:t>
            </a:r>
            <a:r>
              <a:rPr lang="it-IT" dirty="0" err="1">
                <a:latin typeface="Courier" pitchFamily="2" charset="0"/>
              </a:rPr>
              <a:t>int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interoDaStringa</a:t>
            </a:r>
            <a:r>
              <a:rPr lang="it-IT" dirty="0">
                <a:latin typeface="Courier" pitchFamily="2" charset="0"/>
              </a:rPr>
              <a:t> = </a:t>
            </a:r>
            <a:r>
              <a:rPr lang="it-IT" dirty="0" err="1">
                <a:latin typeface="Courier" pitchFamily="2" charset="0"/>
              </a:rPr>
              <a:t>Integer.</a:t>
            </a:r>
            <a:r>
              <a:rPr lang="it-IT" b="1" dirty="0" err="1">
                <a:latin typeface="Courier" pitchFamily="2" charset="0"/>
              </a:rPr>
              <a:t>parseInt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miaStringa</a:t>
            </a:r>
            <a:r>
              <a:rPr lang="it-IT" dirty="0">
                <a:latin typeface="Courier" pitchFamily="2" charset="0"/>
              </a:rPr>
              <a:t>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</a:p>
          <a:p>
            <a:r>
              <a:rPr lang="it-IT" dirty="0">
                <a:latin typeface="Courier" pitchFamily="2" charset="0"/>
              </a:rPr>
              <a:t>       </a:t>
            </a:r>
            <a:r>
              <a:rPr lang="it-IT" b="1" dirty="0">
                <a:latin typeface="Courier" pitchFamily="2" charset="0"/>
              </a:rPr>
              <a:t>//ottengo una stringa a partire da un </a:t>
            </a:r>
            <a:r>
              <a:rPr lang="it-IT" b="1" dirty="0" err="1">
                <a:latin typeface="Courier" pitchFamily="2" charset="0"/>
              </a:rPr>
              <a:t>Integer</a:t>
            </a:r>
            <a:endParaRPr lang="it-IT" b="1" dirty="0">
              <a:latin typeface="Courier" pitchFamily="2" charset="0"/>
            </a:endParaRPr>
          </a:p>
          <a:p>
            <a:r>
              <a:rPr lang="it-IT" dirty="0">
                <a:latin typeface="Courier" pitchFamily="2" charset="0"/>
              </a:rPr>
              <a:t>       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stringaDaInteger</a:t>
            </a:r>
            <a:r>
              <a:rPr lang="it-IT" dirty="0">
                <a:latin typeface="Courier" pitchFamily="2" charset="0"/>
              </a:rPr>
              <a:t> = </a:t>
            </a:r>
            <a:r>
              <a:rPr lang="it-IT" dirty="0" err="1">
                <a:latin typeface="Courier" pitchFamily="2" charset="0"/>
              </a:rPr>
              <a:t>mioIntWrapper.</a:t>
            </a:r>
            <a:r>
              <a:rPr lang="it-IT" b="1" dirty="0" err="1">
                <a:latin typeface="Courier" pitchFamily="2" charset="0"/>
              </a:rPr>
              <a:t>toString</a:t>
            </a:r>
            <a:r>
              <a:rPr lang="it-IT" dirty="0">
                <a:latin typeface="Courier" pitchFamily="2" charset="0"/>
              </a:rPr>
              <a:t>();</a:t>
            </a:r>
          </a:p>
          <a:p>
            <a:r>
              <a:rPr lang="it-IT" dirty="0">
                <a:latin typeface="Courier" pitchFamily="2" charset="0"/>
              </a:rPr>
              <a:t>	</a:t>
            </a:r>
            <a:r>
              <a:rPr lang="it-IT" dirty="0" err="1">
                <a:latin typeface="Courier" pitchFamily="2" charset="0"/>
              </a:rPr>
              <a:t>System.out.println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stringaDaInteger.length</a:t>
            </a:r>
            <a:r>
              <a:rPr lang="it-IT" dirty="0">
                <a:latin typeface="Courier" pitchFamily="2" charset="0"/>
              </a:rPr>
              <a:t>());</a:t>
            </a:r>
          </a:p>
          <a:p>
            <a:r>
              <a:rPr lang="it-IT" dirty="0">
                <a:latin typeface="Courier" pitchFamily="2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982201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DCA729D-9B32-A55B-07C5-38101F92D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 di </a:t>
            </a:r>
            <a:r>
              <a:rPr lang="it-IT" dirty="0" err="1"/>
              <a:t>autoboxing</a:t>
            </a:r>
            <a:r>
              <a:rPr lang="it-IT" dirty="0"/>
              <a:t> e auto-</a:t>
            </a:r>
            <a:r>
              <a:rPr lang="it-IT" dirty="0" err="1"/>
              <a:t>unboxing</a:t>
            </a:r>
            <a:endParaRPr lang="it-IT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ECB4458D-E9B2-3395-61CA-C82C3FA2866A}"/>
              </a:ext>
            </a:extLst>
          </p:cNvPr>
          <p:cNvSpPr txBox="1"/>
          <p:nvPr/>
        </p:nvSpPr>
        <p:spPr>
          <a:xfrm>
            <a:off x="0" y="2551837"/>
            <a:ext cx="86764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t-IT" sz="16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Integer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[] </a:t>
            </a:r>
            <a:r>
              <a:rPr lang="it-IT" sz="16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integerArray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= new </a:t>
            </a:r>
            <a:r>
              <a:rPr lang="it-IT" sz="16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Integer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[5]; // crea </a:t>
            </a:r>
            <a:r>
              <a:rPr lang="it-IT" sz="16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integerArray</a:t>
            </a:r>
            <a:endParaRPr lang="it-IT" sz="1600" b="0" i="0" dirty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  <a:p>
            <a:pPr algn="l"/>
            <a:endParaRPr lang="it-IT" sz="1600" b="0" i="0" dirty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it-IT" sz="16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integerArray</a:t>
            </a:r>
            <a:r>
              <a:rPr lang="it-IT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[0] = 10; 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// assegna 10 a </a:t>
            </a:r>
            <a:r>
              <a:rPr lang="it-IT" sz="16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integerArray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[0] convertendo il</a:t>
            </a:r>
          </a:p>
          <a:p>
            <a:pPr algn="l"/>
            <a:r>
              <a:rPr lang="it-IT" sz="1600" dirty="0">
                <a:solidFill>
                  <a:srgbClr val="333333"/>
                </a:solidFill>
                <a:latin typeface="Courier New" panose="02070309020205020404" pitchFamily="49" charset="0"/>
              </a:rPr>
              <a:t>                      //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valore intero in un oggetto </a:t>
            </a:r>
            <a:r>
              <a:rPr lang="it-IT" sz="16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Integer</a:t>
            </a:r>
            <a:endParaRPr lang="it-IT" sz="1600" b="0" i="0" dirty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  <a:p>
            <a:pPr algn="l"/>
            <a:endParaRPr lang="it-IT" sz="1600" b="0" i="0" dirty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it-IT" sz="16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it-IT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it-IT" sz="16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value</a:t>
            </a:r>
            <a:r>
              <a:rPr lang="it-IT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it-IT" sz="1600" b="1" i="0" dirty="0" err="1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integerArray</a:t>
            </a:r>
            <a:r>
              <a:rPr lang="it-IT" sz="16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[0]; 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// ottiene il valore </a:t>
            </a:r>
            <a:r>
              <a:rPr lang="it-IT" sz="16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it-IT" sz="16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di </a:t>
            </a:r>
            <a:r>
              <a:rPr lang="it-IT" sz="16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Integer</a:t>
            </a:r>
            <a:endParaRPr lang="it-IT" sz="1600" b="0" i="0" dirty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85A60BE-A6B6-BDAA-37AE-63F278D92A95}"/>
              </a:ext>
            </a:extLst>
          </p:cNvPr>
          <p:cNvSpPr txBox="1"/>
          <p:nvPr/>
        </p:nvSpPr>
        <p:spPr>
          <a:xfrm>
            <a:off x="2771800" y="1615405"/>
            <a:ext cx="1296144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it-IT" b="0" i="0" dirty="0" err="1">
                <a:solidFill>
                  <a:srgbClr val="333333"/>
                </a:solidFill>
                <a:effectLst/>
                <a:latin typeface="system-ui"/>
              </a:rPr>
              <a:t>Autoboxing</a:t>
            </a:r>
            <a:endParaRPr lang="it-IT" dirty="0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F0D73D0E-FA85-D846-9485-DEA23CEDD97C}"/>
              </a:ext>
            </a:extLst>
          </p:cNvPr>
          <p:cNvCxnSpPr>
            <a:stCxn id="7" idx="2"/>
          </p:cNvCxnSpPr>
          <p:nvPr/>
        </p:nvCxnSpPr>
        <p:spPr bwMode="auto">
          <a:xfrm flipH="1">
            <a:off x="2699792" y="1984737"/>
            <a:ext cx="720080" cy="1156231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194441D-2B51-FE23-20B8-89B292230D20}"/>
              </a:ext>
            </a:extLst>
          </p:cNvPr>
          <p:cNvSpPr txBox="1"/>
          <p:nvPr/>
        </p:nvSpPr>
        <p:spPr>
          <a:xfrm>
            <a:off x="2581595" y="4638326"/>
            <a:ext cx="1575188" cy="369332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333333"/>
                </a:solidFill>
                <a:latin typeface="system-ui"/>
              </a:rPr>
              <a:t>A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uto-</a:t>
            </a:r>
            <a:r>
              <a:rPr lang="it-IT" b="0" i="0" dirty="0" err="1">
                <a:solidFill>
                  <a:srgbClr val="333333"/>
                </a:solidFill>
                <a:effectLst/>
                <a:latin typeface="system-ui"/>
              </a:rPr>
              <a:t>unboxing</a:t>
            </a:r>
            <a:endParaRPr lang="it-IT" dirty="0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02F78ED8-3F4E-9ECE-0696-A2DB9D97B1ED}"/>
              </a:ext>
            </a:extLst>
          </p:cNvPr>
          <p:cNvCxnSpPr>
            <a:stCxn id="12" idx="0"/>
          </p:cNvCxnSpPr>
          <p:nvPr/>
        </p:nvCxnSpPr>
        <p:spPr bwMode="auto">
          <a:xfrm flipH="1" flipV="1">
            <a:off x="2339752" y="3875276"/>
            <a:ext cx="1029437" cy="763050"/>
          </a:xfrm>
          <a:prstGeom prst="straightConnector1">
            <a:avLst/>
          </a:prstGeom>
          <a:solidFill>
            <a:schemeClr val="accent1"/>
          </a:solidFill>
          <a:ln w="158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065048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413341-C913-BCA3-7E18-847881DA0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La classe </a:t>
            </a:r>
            <a:r>
              <a:rPr lang="it-IT" err="1"/>
              <a:t>Character</a:t>
            </a:r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F269EE-81B4-54E0-1B4F-2AE517B39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it-IT" dirty="0"/>
              <a:t>Java fornisce la classe </a:t>
            </a:r>
            <a:r>
              <a:rPr lang="it-IT" dirty="0" err="1"/>
              <a:t>Character</a:t>
            </a:r>
            <a:r>
              <a:rPr lang="it-IT" dirty="0"/>
              <a:t> che è la classe </a:t>
            </a:r>
            <a:r>
              <a:rPr lang="it-IT" dirty="0" err="1"/>
              <a:t>wrapper</a:t>
            </a:r>
            <a:r>
              <a:rPr lang="it-IT" dirty="0"/>
              <a:t> del tipo primitivo </a:t>
            </a:r>
            <a:r>
              <a:rPr lang="it-IT" dirty="0" err="1"/>
              <a:t>char</a:t>
            </a:r>
            <a:r>
              <a:rPr lang="it-IT" dirty="0"/>
              <a:t>.</a:t>
            </a:r>
          </a:p>
          <a:p>
            <a:pPr algn="just"/>
            <a:r>
              <a:rPr lang="it-IT" dirty="0"/>
              <a:t>Quasi tutti i metodi </a:t>
            </a:r>
            <a:r>
              <a:rPr lang="it-IT" dirty="0" err="1"/>
              <a:t>Character</a:t>
            </a:r>
            <a:r>
              <a:rPr lang="it-IT" dirty="0"/>
              <a:t> </a:t>
            </a:r>
            <a:r>
              <a:rPr lang="it-IT" b="1" dirty="0"/>
              <a:t>sono statici </a:t>
            </a:r>
            <a:r>
              <a:rPr lang="it-IT" dirty="0"/>
              <a:t>e progettati per elaborare più facilmente singoli valori </a:t>
            </a:r>
            <a:r>
              <a:rPr lang="it-IT" dirty="0" err="1"/>
              <a:t>char</a:t>
            </a:r>
            <a:r>
              <a:rPr lang="it-IT" dirty="0"/>
              <a:t>. </a:t>
            </a:r>
          </a:p>
          <a:p>
            <a:pPr algn="just"/>
            <a:r>
              <a:rPr lang="it-IT" dirty="0"/>
              <a:t>Questi metodi prendono almeno un argomento carattere ed eseguono l’analisi o la manipolazione del carattere. </a:t>
            </a:r>
          </a:p>
          <a:p>
            <a:pPr algn="just"/>
            <a:r>
              <a:rPr lang="it-IT" dirty="0"/>
              <a:t>La classe </a:t>
            </a:r>
            <a:r>
              <a:rPr lang="it-IT" dirty="0" err="1"/>
              <a:t>Character</a:t>
            </a:r>
            <a:r>
              <a:rPr lang="it-IT" dirty="0"/>
              <a:t> contiene anche un costruttore che riceve un argomento </a:t>
            </a:r>
            <a:r>
              <a:rPr lang="it-IT" dirty="0" err="1"/>
              <a:t>char</a:t>
            </a:r>
            <a:r>
              <a:rPr lang="it-IT" dirty="0"/>
              <a:t> per inizializzare un oggetto </a:t>
            </a:r>
            <a:r>
              <a:rPr lang="it-IT" dirty="0" err="1"/>
              <a:t>Character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1514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497E71-0914-9964-23BF-0D13EAA45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6732"/>
            <a:ext cx="7543800" cy="1295400"/>
          </a:xfrm>
        </p:spPr>
        <p:txBody>
          <a:bodyPr/>
          <a:lstStyle/>
          <a:p>
            <a:r>
              <a:rPr lang="it-IT"/>
              <a:t>Esempio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C71371D-78EC-3326-EC95-144D7219FF8E}"/>
              </a:ext>
            </a:extLst>
          </p:cNvPr>
          <p:cNvSpPr txBox="1"/>
          <p:nvPr/>
        </p:nvSpPr>
        <p:spPr>
          <a:xfrm>
            <a:off x="0" y="1197620"/>
            <a:ext cx="9144000" cy="446276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/>
              <a:t> </a:t>
            </a:r>
            <a:r>
              <a:rPr lang="it-IT" sz="1400">
                <a:latin typeface="Courier" pitchFamily="2" charset="0"/>
              </a:rPr>
              <a:t>public </a:t>
            </a:r>
            <a:r>
              <a:rPr lang="it-IT" sz="1400" err="1">
                <a:latin typeface="Courier" pitchFamily="2" charset="0"/>
              </a:rPr>
              <a:t>static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void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main</a:t>
            </a:r>
            <a:r>
              <a:rPr lang="it-IT" sz="1400">
                <a:latin typeface="Courier" pitchFamily="2" charset="0"/>
              </a:rPr>
              <a:t>(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[] </a:t>
            </a:r>
            <a:r>
              <a:rPr lang="it-IT" sz="1400" err="1">
                <a:latin typeface="Courier" pitchFamily="2" charset="0"/>
              </a:rPr>
              <a:t>args</a:t>
            </a:r>
            <a:r>
              <a:rPr lang="it-IT" sz="1400">
                <a:latin typeface="Courier" pitchFamily="2" charset="0"/>
              </a:rPr>
              <a:t>) {</a:t>
            </a:r>
          </a:p>
          <a:p>
            <a:r>
              <a:rPr lang="it-IT" sz="1400">
                <a:latin typeface="Courier" pitchFamily="2" charset="0"/>
              </a:rPr>
              <a:t>        Scanner scanner = new Scanner(</a:t>
            </a:r>
            <a:r>
              <a:rPr lang="it-IT" sz="1400" err="1">
                <a:latin typeface="Courier" pitchFamily="2" charset="0"/>
              </a:rPr>
              <a:t>System.in</a:t>
            </a:r>
            <a:r>
              <a:rPr lang="it-IT" sz="1400">
                <a:latin typeface="Courier" pitchFamily="2" charset="0"/>
              </a:rPr>
              <a:t>); // crea scanner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System.out.println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 a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and press 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");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 input = </a:t>
            </a:r>
            <a:r>
              <a:rPr lang="it-IT" sz="1400" err="1">
                <a:latin typeface="Courier" pitchFamily="2" charset="0"/>
              </a:rPr>
              <a:t>scanner.next</a:t>
            </a:r>
            <a:r>
              <a:rPr lang="it-IT" sz="1400">
                <a:latin typeface="Courier" pitchFamily="2" charset="0"/>
              </a:rPr>
              <a:t>();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char</a:t>
            </a:r>
            <a:r>
              <a:rPr lang="it-IT" sz="1400">
                <a:latin typeface="Courier" pitchFamily="2" charset="0"/>
              </a:rPr>
              <a:t> c = </a:t>
            </a:r>
            <a:r>
              <a:rPr lang="it-IT" sz="1400" err="1">
                <a:latin typeface="Courier" pitchFamily="2" charset="0"/>
              </a:rPr>
              <a:t>input.charAt</a:t>
            </a:r>
            <a:r>
              <a:rPr lang="it-IT" sz="1400">
                <a:latin typeface="Courier" pitchFamily="2" charset="0"/>
              </a:rPr>
              <a:t>(0); // ottiene il carattere inserito</a:t>
            </a:r>
          </a:p>
          <a:p>
            <a:r>
              <a:rPr lang="it-IT" sz="1400">
                <a:latin typeface="Courier" pitchFamily="2" charset="0"/>
              </a:rPr>
              <a:t>	// mostra informazioni su carattere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defined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Character.isDefined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Character.isDigit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first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in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Character.isJavaIdentifierStart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part of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Character.isJavaIdentifierPart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Character.isLetter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 or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Character.isLetterOrDigit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148675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C9719-3DBC-7FDD-3BC6-45732D621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8A097-6EB4-A113-74C3-54CD48B0B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6732"/>
            <a:ext cx="7543800" cy="1295400"/>
          </a:xfrm>
        </p:spPr>
        <p:txBody>
          <a:bodyPr/>
          <a:lstStyle/>
          <a:p>
            <a:r>
              <a:rPr lang="it-IT"/>
              <a:t>Esempio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1B9BB1A-2487-FBA7-06C7-5096EDC6998B}"/>
              </a:ext>
            </a:extLst>
          </p:cNvPr>
          <p:cNvSpPr txBox="1"/>
          <p:nvPr/>
        </p:nvSpPr>
        <p:spPr>
          <a:xfrm>
            <a:off x="0" y="1197620"/>
            <a:ext cx="9144000" cy="446276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/>
              <a:t> </a:t>
            </a:r>
            <a:r>
              <a:rPr lang="it-IT" sz="1400">
                <a:latin typeface="Courier" pitchFamily="2" charset="0"/>
              </a:rPr>
              <a:t>public </a:t>
            </a:r>
            <a:r>
              <a:rPr lang="it-IT" sz="1400" err="1">
                <a:latin typeface="Courier" pitchFamily="2" charset="0"/>
              </a:rPr>
              <a:t>static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void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main</a:t>
            </a:r>
            <a:r>
              <a:rPr lang="it-IT" sz="1400">
                <a:latin typeface="Courier" pitchFamily="2" charset="0"/>
              </a:rPr>
              <a:t>(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[] </a:t>
            </a:r>
            <a:r>
              <a:rPr lang="it-IT" sz="1400" err="1">
                <a:latin typeface="Courier" pitchFamily="2" charset="0"/>
              </a:rPr>
              <a:t>args</a:t>
            </a:r>
            <a:r>
              <a:rPr lang="it-IT" sz="1400">
                <a:latin typeface="Courier" pitchFamily="2" charset="0"/>
              </a:rPr>
              <a:t>) {</a:t>
            </a:r>
          </a:p>
          <a:p>
            <a:r>
              <a:rPr lang="it-IT" sz="1400">
                <a:latin typeface="Courier" pitchFamily="2" charset="0"/>
              </a:rPr>
              <a:t>        Scanner scanner = new Scanner(</a:t>
            </a:r>
            <a:r>
              <a:rPr lang="it-IT" sz="1400" err="1">
                <a:latin typeface="Courier" pitchFamily="2" charset="0"/>
              </a:rPr>
              <a:t>System.in</a:t>
            </a:r>
            <a:r>
              <a:rPr lang="it-IT" sz="1400">
                <a:latin typeface="Courier" pitchFamily="2" charset="0"/>
              </a:rPr>
              <a:t>); // crea scanner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System.out.println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 a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and press 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");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 input = </a:t>
            </a:r>
            <a:r>
              <a:rPr lang="it-IT" sz="1400" err="1">
                <a:latin typeface="Courier" pitchFamily="2" charset="0"/>
              </a:rPr>
              <a:t>scanner.next</a:t>
            </a:r>
            <a:r>
              <a:rPr lang="it-IT" sz="1400">
                <a:latin typeface="Courier" pitchFamily="2" charset="0"/>
              </a:rPr>
              <a:t>();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char</a:t>
            </a:r>
            <a:r>
              <a:rPr lang="it-IT" sz="1400">
                <a:latin typeface="Courier" pitchFamily="2" charset="0"/>
              </a:rPr>
              <a:t> c = </a:t>
            </a:r>
            <a:r>
              <a:rPr lang="it-IT" sz="1400" err="1">
                <a:latin typeface="Courier" pitchFamily="2" charset="0"/>
              </a:rPr>
              <a:t>input.charAt</a:t>
            </a:r>
            <a:r>
              <a:rPr lang="it-IT" sz="1400">
                <a:latin typeface="Courier" pitchFamily="2" charset="0"/>
              </a:rPr>
              <a:t>(0); // ottiene il carattere inserito</a:t>
            </a:r>
          </a:p>
          <a:p>
            <a:r>
              <a:rPr lang="it-IT" sz="1400">
                <a:latin typeface="Courier" pitchFamily="2" charset="0"/>
              </a:rPr>
              <a:t>	// mostra informazioni su carattere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defined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highlight>
                  <a:srgbClr val="FFFF00"/>
                </a:highlight>
                <a:latin typeface="Courier" pitchFamily="2" charset="0"/>
              </a:rPr>
              <a:t>Character.isDefined</a:t>
            </a:r>
            <a:r>
              <a:rPr lang="it-IT" sz="1400">
                <a:highlight>
                  <a:srgbClr val="FFFF00"/>
                </a:highlight>
                <a:latin typeface="Courier" pitchFamily="2" charset="0"/>
              </a:rPr>
              <a:t>(c)</a:t>
            </a:r>
            <a:r>
              <a:rPr lang="it-IT" sz="1400">
                <a:latin typeface="Courier" pitchFamily="2" charset="0"/>
              </a:rPr>
              <a:t>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Character.isDigit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first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in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Character.isJavaIdentifierStart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part of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Character.isJavaIdentifierPart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Character.isLetter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 or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Character.isLetterOrDigit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    }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4419F5A-6602-FC66-9D2B-1FDF3D06DDD7}"/>
              </a:ext>
            </a:extLst>
          </p:cNvPr>
          <p:cNvSpPr txBox="1"/>
          <p:nvPr/>
        </p:nvSpPr>
        <p:spPr>
          <a:xfrm>
            <a:off x="179512" y="5877272"/>
            <a:ext cx="7543800" cy="369332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>
                <a:solidFill>
                  <a:srgbClr val="333333"/>
                </a:solidFill>
                <a:latin typeface="system-ui"/>
              </a:rPr>
              <a:t>P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er determinare se il carattere </a:t>
            </a:r>
            <a:r>
              <a:rPr lang="it-IT"/>
              <a:t>c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è definito nell’insieme di caratteri Unicode.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3338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843BD-3D0F-BC5D-970F-7A656159C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FE61DD-2EFD-A5D2-0200-C22E3E98C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6732"/>
            <a:ext cx="7543800" cy="1295400"/>
          </a:xfrm>
        </p:spPr>
        <p:txBody>
          <a:bodyPr/>
          <a:lstStyle/>
          <a:p>
            <a:r>
              <a:rPr lang="it-IT"/>
              <a:t>Esempio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A8E26BE-2E4A-3F22-99AE-25F0ED1EE3AA}"/>
              </a:ext>
            </a:extLst>
          </p:cNvPr>
          <p:cNvSpPr txBox="1"/>
          <p:nvPr/>
        </p:nvSpPr>
        <p:spPr>
          <a:xfrm>
            <a:off x="0" y="1197620"/>
            <a:ext cx="9144000" cy="446276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/>
              <a:t> </a:t>
            </a:r>
            <a:r>
              <a:rPr lang="it-IT" sz="1400">
                <a:latin typeface="Courier" pitchFamily="2" charset="0"/>
              </a:rPr>
              <a:t>public </a:t>
            </a:r>
            <a:r>
              <a:rPr lang="it-IT" sz="1400" err="1">
                <a:latin typeface="Courier" pitchFamily="2" charset="0"/>
              </a:rPr>
              <a:t>static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void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main</a:t>
            </a:r>
            <a:r>
              <a:rPr lang="it-IT" sz="1400">
                <a:latin typeface="Courier" pitchFamily="2" charset="0"/>
              </a:rPr>
              <a:t>(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[] </a:t>
            </a:r>
            <a:r>
              <a:rPr lang="it-IT" sz="1400" err="1">
                <a:latin typeface="Courier" pitchFamily="2" charset="0"/>
              </a:rPr>
              <a:t>args</a:t>
            </a:r>
            <a:r>
              <a:rPr lang="it-IT" sz="1400">
                <a:latin typeface="Courier" pitchFamily="2" charset="0"/>
              </a:rPr>
              <a:t>) {</a:t>
            </a:r>
          </a:p>
          <a:p>
            <a:r>
              <a:rPr lang="it-IT" sz="1400">
                <a:latin typeface="Courier" pitchFamily="2" charset="0"/>
              </a:rPr>
              <a:t>        Scanner scanner = new Scanner(</a:t>
            </a:r>
            <a:r>
              <a:rPr lang="it-IT" sz="1400" err="1">
                <a:latin typeface="Courier" pitchFamily="2" charset="0"/>
              </a:rPr>
              <a:t>System.in</a:t>
            </a:r>
            <a:r>
              <a:rPr lang="it-IT" sz="1400">
                <a:latin typeface="Courier" pitchFamily="2" charset="0"/>
              </a:rPr>
              <a:t>); // crea scanner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System.out.println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 a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and press 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");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 input = </a:t>
            </a:r>
            <a:r>
              <a:rPr lang="it-IT" sz="1400" err="1">
                <a:latin typeface="Courier" pitchFamily="2" charset="0"/>
              </a:rPr>
              <a:t>scanner.next</a:t>
            </a:r>
            <a:r>
              <a:rPr lang="it-IT" sz="1400">
                <a:latin typeface="Courier" pitchFamily="2" charset="0"/>
              </a:rPr>
              <a:t>();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char</a:t>
            </a:r>
            <a:r>
              <a:rPr lang="it-IT" sz="1400">
                <a:latin typeface="Courier" pitchFamily="2" charset="0"/>
              </a:rPr>
              <a:t> c = </a:t>
            </a:r>
            <a:r>
              <a:rPr lang="it-IT" sz="1400" err="1">
                <a:latin typeface="Courier" pitchFamily="2" charset="0"/>
              </a:rPr>
              <a:t>input.charAt</a:t>
            </a:r>
            <a:r>
              <a:rPr lang="it-IT" sz="1400">
                <a:latin typeface="Courier" pitchFamily="2" charset="0"/>
              </a:rPr>
              <a:t>(0); // ottiene il carattere inserito</a:t>
            </a:r>
          </a:p>
          <a:p>
            <a:r>
              <a:rPr lang="it-IT" sz="1400">
                <a:latin typeface="Courier" pitchFamily="2" charset="0"/>
              </a:rPr>
              <a:t>	// mostra informazioni su carattere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defined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Character.isDefined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highlight>
                  <a:srgbClr val="FFFF00"/>
                </a:highlight>
                <a:latin typeface="Courier" pitchFamily="2" charset="0"/>
              </a:rPr>
              <a:t>Character.isDigit</a:t>
            </a:r>
            <a:r>
              <a:rPr lang="it-IT" sz="1400">
                <a:highlight>
                  <a:srgbClr val="FFFF00"/>
                </a:highlight>
                <a:latin typeface="Courier" pitchFamily="2" charset="0"/>
              </a:rPr>
              <a:t>(c)</a:t>
            </a:r>
            <a:r>
              <a:rPr lang="it-IT" sz="1400">
                <a:latin typeface="Courier" pitchFamily="2" charset="0"/>
              </a:rPr>
              <a:t>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first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in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Character.isJavaIdentifierStart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part of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Character.isJavaIdentifierPart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Character.isLetter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 or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Character.isLetterOrDigit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    }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70B8FEC-B39F-0F1C-A811-3327B2B7BC81}"/>
              </a:ext>
            </a:extLst>
          </p:cNvPr>
          <p:cNvSpPr txBox="1"/>
          <p:nvPr/>
        </p:nvSpPr>
        <p:spPr>
          <a:xfrm>
            <a:off x="179512" y="5877272"/>
            <a:ext cx="7543800" cy="369332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>
                <a:solidFill>
                  <a:srgbClr val="333333"/>
                </a:solidFill>
                <a:latin typeface="system-ui"/>
              </a:rPr>
              <a:t>P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er determinare se il carattere </a:t>
            </a:r>
            <a:r>
              <a:rPr lang="it-IT"/>
              <a:t>c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è una cifra Unicode.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488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81925-07FA-C859-C934-07ADE1B8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E4072A6-4C3C-1D3D-BD35-E28E9F3D2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6732"/>
            <a:ext cx="7543800" cy="1295400"/>
          </a:xfrm>
        </p:spPr>
        <p:txBody>
          <a:bodyPr/>
          <a:lstStyle/>
          <a:p>
            <a:r>
              <a:rPr lang="it-IT"/>
              <a:t>Esempio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2F1462C-3647-AD88-E6F5-C24D09BD4587}"/>
              </a:ext>
            </a:extLst>
          </p:cNvPr>
          <p:cNvSpPr txBox="1"/>
          <p:nvPr/>
        </p:nvSpPr>
        <p:spPr>
          <a:xfrm>
            <a:off x="0" y="1197620"/>
            <a:ext cx="9144000" cy="446276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/>
              <a:t> </a:t>
            </a:r>
            <a:r>
              <a:rPr lang="it-IT" sz="1400">
                <a:latin typeface="Courier" pitchFamily="2" charset="0"/>
              </a:rPr>
              <a:t>public </a:t>
            </a:r>
            <a:r>
              <a:rPr lang="it-IT" sz="1400" err="1">
                <a:latin typeface="Courier" pitchFamily="2" charset="0"/>
              </a:rPr>
              <a:t>static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void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main</a:t>
            </a:r>
            <a:r>
              <a:rPr lang="it-IT" sz="1400">
                <a:latin typeface="Courier" pitchFamily="2" charset="0"/>
              </a:rPr>
              <a:t>(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[] </a:t>
            </a:r>
            <a:r>
              <a:rPr lang="it-IT" sz="1400" err="1">
                <a:latin typeface="Courier" pitchFamily="2" charset="0"/>
              </a:rPr>
              <a:t>args</a:t>
            </a:r>
            <a:r>
              <a:rPr lang="it-IT" sz="1400">
                <a:latin typeface="Courier" pitchFamily="2" charset="0"/>
              </a:rPr>
              <a:t>) {</a:t>
            </a:r>
          </a:p>
          <a:p>
            <a:r>
              <a:rPr lang="it-IT" sz="1400">
                <a:latin typeface="Courier" pitchFamily="2" charset="0"/>
              </a:rPr>
              <a:t>        Scanner scanner = new Scanner(</a:t>
            </a:r>
            <a:r>
              <a:rPr lang="it-IT" sz="1400" err="1">
                <a:latin typeface="Courier" pitchFamily="2" charset="0"/>
              </a:rPr>
              <a:t>System.in</a:t>
            </a:r>
            <a:r>
              <a:rPr lang="it-IT" sz="1400">
                <a:latin typeface="Courier" pitchFamily="2" charset="0"/>
              </a:rPr>
              <a:t>); // crea scanner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System.out.println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 a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and press 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");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 input = </a:t>
            </a:r>
            <a:r>
              <a:rPr lang="it-IT" sz="1400" err="1">
                <a:latin typeface="Courier" pitchFamily="2" charset="0"/>
              </a:rPr>
              <a:t>scanner.next</a:t>
            </a:r>
            <a:r>
              <a:rPr lang="it-IT" sz="1400">
                <a:latin typeface="Courier" pitchFamily="2" charset="0"/>
              </a:rPr>
              <a:t>();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char</a:t>
            </a:r>
            <a:r>
              <a:rPr lang="it-IT" sz="1400">
                <a:latin typeface="Courier" pitchFamily="2" charset="0"/>
              </a:rPr>
              <a:t> c = </a:t>
            </a:r>
            <a:r>
              <a:rPr lang="it-IT" sz="1400" err="1">
                <a:latin typeface="Courier" pitchFamily="2" charset="0"/>
              </a:rPr>
              <a:t>input.charAt</a:t>
            </a:r>
            <a:r>
              <a:rPr lang="it-IT" sz="1400">
                <a:latin typeface="Courier" pitchFamily="2" charset="0"/>
              </a:rPr>
              <a:t>(0); // ottiene il carattere inserito</a:t>
            </a:r>
          </a:p>
          <a:p>
            <a:r>
              <a:rPr lang="it-IT" sz="1400">
                <a:latin typeface="Courier" pitchFamily="2" charset="0"/>
              </a:rPr>
              <a:t>	// mostra informazioni su carattere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defined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Character.isDefined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Character.isDigit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first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in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</a:t>
            </a:r>
            <a:r>
              <a:rPr lang="it-IT" sz="1400" err="1">
                <a:highlight>
                  <a:srgbClr val="FFFF00"/>
                </a:highlight>
                <a:latin typeface="Courier" pitchFamily="2" charset="0"/>
              </a:rPr>
              <a:t>isJavaIdentifierStart</a:t>
            </a:r>
            <a:r>
              <a:rPr lang="it-IT" sz="1400">
                <a:highlight>
                  <a:srgbClr val="FFFF00"/>
                </a:highlight>
                <a:latin typeface="Courier" pitchFamily="2" charset="0"/>
              </a:rPr>
              <a:t>(c)</a:t>
            </a:r>
            <a:r>
              <a:rPr lang="it-IT" sz="1400">
                <a:latin typeface="Courier" pitchFamily="2" charset="0"/>
              </a:rPr>
              <a:t>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part of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Character.isJavaIdentifierPart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Character.isLetter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 or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Character.isLetterOrDigit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    }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C00E2385-55E4-EF91-12BD-AE59BEDE47EA}"/>
              </a:ext>
            </a:extLst>
          </p:cNvPr>
          <p:cNvSpPr txBox="1"/>
          <p:nvPr/>
        </p:nvSpPr>
        <p:spPr>
          <a:xfrm>
            <a:off x="179512" y="5877272"/>
            <a:ext cx="7543800" cy="92333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>
                <a:solidFill>
                  <a:srgbClr val="333333"/>
                </a:solidFill>
                <a:latin typeface="system-ui"/>
              </a:rPr>
              <a:t>P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er determinare se  </a:t>
            </a:r>
            <a:r>
              <a:rPr lang="it-IT"/>
              <a:t>c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è un carattere che può essere il primo di un identificatore in Java, cioè una lettera, un trattino basso (</a:t>
            </a:r>
            <a:r>
              <a:rPr lang="it-IT"/>
              <a:t>_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) oppure un simbolo di dollaro (</a:t>
            </a:r>
            <a:r>
              <a:rPr lang="it-IT"/>
              <a:t>$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).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09587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C4B06-6A79-BB08-2E0D-6189DA10F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CC671-FF26-6FBA-32C0-78FFC85E0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6732"/>
            <a:ext cx="7543800" cy="1295400"/>
          </a:xfrm>
        </p:spPr>
        <p:txBody>
          <a:bodyPr/>
          <a:lstStyle/>
          <a:p>
            <a:r>
              <a:rPr lang="it-IT"/>
              <a:t>Esempio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CD7E099-AE26-2B51-67E7-78EC8A0E3C77}"/>
              </a:ext>
            </a:extLst>
          </p:cNvPr>
          <p:cNvSpPr txBox="1"/>
          <p:nvPr/>
        </p:nvSpPr>
        <p:spPr>
          <a:xfrm>
            <a:off x="0" y="1197620"/>
            <a:ext cx="9144000" cy="446276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/>
              <a:t> </a:t>
            </a:r>
            <a:r>
              <a:rPr lang="it-IT" sz="1400">
                <a:latin typeface="Courier" pitchFamily="2" charset="0"/>
              </a:rPr>
              <a:t>public </a:t>
            </a:r>
            <a:r>
              <a:rPr lang="it-IT" sz="1400" err="1">
                <a:latin typeface="Courier" pitchFamily="2" charset="0"/>
              </a:rPr>
              <a:t>static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void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main</a:t>
            </a:r>
            <a:r>
              <a:rPr lang="it-IT" sz="1400">
                <a:latin typeface="Courier" pitchFamily="2" charset="0"/>
              </a:rPr>
              <a:t>(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[] </a:t>
            </a:r>
            <a:r>
              <a:rPr lang="it-IT" sz="1400" err="1">
                <a:latin typeface="Courier" pitchFamily="2" charset="0"/>
              </a:rPr>
              <a:t>args</a:t>
            </a:r>
            <a:r>
              <a:rPr lang="it-IT" sz="1400">
                <a:latin typeface="Courier" pitchFamily="2" charset="0"/>
              </a:rPr>
              <a:t>) {</a:t>
            </a:r>
          </a:p>
          <a:p>
            <a:r>
              <a:rPr lang="it-IT" sz="1400">
                <a:latin typeface="Courier" pitchFamily="2" charset="0"/>
              </a:rPr>
              <a:t>        Scanner scanner = new Scanner(</a:t>
            </a:r>
            <a:r>
              <a:rPr lang="it-IT" sz="1400" err="1">
                <a:latin typeface="Courier" pitchFamily="2" charset="0"/>
              </a:rPr>
              <a:t>System.in</a:t>
            </a:r>
            <a:r>
              <a:rPr lang="it-IT" sz="1400">
                <a:latin typeface="Courier" pitchFamily="2" charset="0"/>
              </a:rPr>
              <a:t>); // crea scanner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System.out.println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 a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and press 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");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 input = </a:t>
            </a:r>
            <a:r>
              <a:rPr lang="it-IT" sz="1400" err="1">
                <a:latin typeface="Courier" pitchFamily="2" charset="0"/>
              </a:rPr>
              <a:t>scanner.next</a:t>
            </a:r>
            <a:r>
              <a:rPr lang="it-IT" sz="1400">
                <a:latin typeface="Courier" pitchFamily="2" charset="0"/>
              </a:rPr>
              <a:t>();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char</a:t>
            </a:r>
            <a:r>
              <a:rPr lang="it-IT" sz="1400">
                <a:latin typeface="Courier" pitchFamily="2" charset="0"/>
              </a:rPr>
              <a:t> c = </a:t>
            </a:r>
            <a:r>
              <a:rPr lang="it-IT" sz="1400" err="1">
                <a:latin typeface="Courier" pitchFamily="2" charset="0"/>
              </a:rPr>
              <a:t>input.charAt</a:t>
            </a:r>
            <a:r>
              <a:rPr lang="it-IT" sz="1400">
                <a:latin typeface="Courier" pitchFamily="2" charset="0"/>
              </a:rPr>
              <a:t>(0); // ottiene il carattere inserito</a:t>
            </a:r>
          </a:p>
          <a:p>
            <a:r>
              <a:rPr lang="it-IT" sz="1400">
                <a:latin typeface="Courier" pitchFamily="2" charset="0"/>
              </a:rPr>
              <a:t>	// mostra informazioni su carattere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defined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Character.isDefined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Character.isDigit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first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in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Character.isJavaIdentifierStart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part of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</a:t>
            </a:r>
            <a:r>
              <a:rPr lang="it-IT" sz="1400" err="1">
                <a:highlight>
                  <a:srgbClr val="FFFF00"/>
                </a:highlight>
                <a:latin typeface="Courier" pitchFamily="2" charset="0"/>
              </a:rPr>
              <a:t>isJavaIdentifierPart</a:t>
            </a:r>
            <a:r>
              <a:rPr lang="it-IT" sz="1400">
                <a:highlight>
                  <a:srgbClr val="FFFF00"/>
                </a:highlight>
                <a:latin typeface="Courier" pitchFamily="2" charset="0"/>
              </a:rPr>
              <a:t>(c)</a:t>
            </a:r>
            <a:r>
              <a:rPr lang="it-IT" sz="1400">
                <a:latin typeface="Courier" pitchFamily="2" charset="0"/>
              </a:rPr>
              <a:t>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Character.isLetter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 or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Character.isLetterOrDigit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    }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73F1612-A366-3F6B-AB67-31AF09462A60}"/>
              </a:ext>
            </a:extLst>
          </p:cNvPr>
          <p:cNvSpPr txBox="1"/>
          <p:nvPr/>
        </p:nvSpPr>
        <p:spPr>
          <a:xfrm>
            <a:off x="179512" y="5877272"/>
            <a:ext cx="7543800" cy="92333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>
                <a:solidFill>
                  <a:srgbClr val="333333"/>
                </a:solidFill>
                <a:latin typeface="system-ui"/>
              </a:rPr>
              <a:t>P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er determinare se  </a:t>
            </a:r>
            <a:r>
              <a:rPr lang="it-IT"/>
              <a:t>c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è un </a:t>
            </a:r>
            <a:r>
              <a:rPr lang="it-IT">
                <a:solidFill>
                  <a:srgbClr val="333333"/>
                </a:solidFill>
                <a:latin typeface="system-ui"/>
              </a:rPr>
              <a:t>carattere 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che può essere usato in un identificatore in Java, cioè una cifra, una lettera, un trattino basso (</a:t>
            </a:r>
            <a:r>
              <a:rPr lang="it-IT"/>
              <a:t>_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) oppure un simbolo di dollaro (</a:t>
            </a:r>
            <a:r>
              <a:rPr lang="it-IT"/>
              <a:t>$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)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01051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62C19-0A06-9256-C357-631BDCC19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E8FDD4-6531-CA6C-AD9A-63D83D9C3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6732"/>
            <a:ext cx="7543800" cy="1295400"/>
          </a:xfrm>
        </p:spPr>
        <p:txBody>
          <a:bodyPr/>
          <a:lstStyle/>
          <a:p>
            <a:r>
              <a:rPr lang="it-IT"/>
              <a:t>Esempio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EB90565-6180-0660-C8A6-83128D8D311B}"/>
              </a:ext>
            </a:extLst>
          </p:cNvPr>
          <p:cNvSpPr txBox="1"/>
          <p:nvPr/>
        </p:nvSpPr>
        <p:spPr>
          <a:xfrm>
            <a:off x="0" y="1197620"/>
            <a:ext cx="9144000" cy="446276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/>
              <a:t> </a:t>
            </a:r>
            <a:r>
              <a:rPr lang="it-IT" sz="1400">
                <a:latin typeface="Courier" pitchFamily="2" charset="0"/>
              </a:rPr>
              <a:t>public </a:t>
            </a:r>
            <a:r>
              <a:rPr lang="it-IT" sz="1400" err="1">
                <a:latin typeface="Courier" pitchFamily="2" charset="0"/>
              </a:rPr>
              <a:t>static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void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main</a:t>
            </a:r>
            <a:r>
              <a:rPr lang="it-IT" sz="1400">
                <a:latin typeface="Courier" pitchFamily="2" charset="0"/>
              </a:rPr>
              <a:t>(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[] </a:t>
            </a:r>
            <a:r>
              <a:rPr lang="it-IT" sz="1400" err="1">
                <a:latin typeface="Courier" pitchFamily="2" charset="0"/>
              </a:rPr>
              <a:t>args</a:t>
            </a:r>
            <a:r>
              <a:rPr lang="it-IT" sz="1400">
                <a:latin typeface="Courier" pitchFamily="2" charset="0"/>
              </a:rPr>
              <a:t>) {</a:t>
            </a:r>
          </a:p>
          <a:p>
            <a:r>
              <a:rPr lang="it-IT" sz="1400">
                <a:latin typeface="Courier" pitchFamily="2" charset="0"/>
              </a:rPr>
              <a:t>        Scanner scanner = new Scanner(</a:t>
            </a:r>
            <a:r>
              <a:rPr lang="it-IT" sz="1400" err="1">
                <a:latin typeface="Courier" pitchFamily="2" charset="0"/>
              </a:rPr>
              <a:t>System.in</a:t>
            </a:r>
            <a:r>
              <a:rPr lang="it-IT" sz="1400">
                <a:latin typeface="Courier" pitchFamily="2" charset="0"/>
              </a:rPr>
              <a:t>); // crea scanner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System.out.println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 a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and press 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");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 input = </a:t>
            </a:r>
            <a:r>
              <a:rPr lang="it-IT" sz="1400" err="1">
                <a:latin typeface="Courier" pitchFamily="2" charset="0"/>
              </a:rPr>
              <a:t>scanner.next</a:t>
            </a:r>
            <a:r>
              <a:rPr lang="it-IT" sz="1400">
                <a:latin typeface="Courier" pitchFamily="2" charset="0"/>
              </a:rPr>
              <a:t>();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char</a:t>
            </a:r>
            <a:r>
              <a:rPr lang="it-IT" sz="1400">
                <a:latin typeface="Courier" pitchFamily="2" charset="0"/>
              </a:rPr>
              <a:t> c = </a:t>
            </a:r>
            <a:r>
              <a:rPr lang="it-IT" sz="1400" err="1">
                <a:latin typeface="Courier" pitchFamily="2" charset="0"/>
              </a:rPr>
              <a:t>input.charAt</a:t>
            </a:r>
            <a:r>
              <a:rPr lang="it-IT" sz="1400">
                <a:latin typeface="Courier" pitchFamily="2" charset="0"/>
              </a:rPr>
              <a:t>(0); // ottiene il carattere inserito</a:t>
            </a:r>
          </a:p>
          <a:p>
            <a:r>
              <a:rPr lang="it-IT" sz="1400">
                <a:latin typeface="Courier" pitchFamily="2" charset="0"/>
              </a:rPr>
              <a:t>	// mostra informazioni su carattere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defined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Character.isDefined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Character.isDigit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first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in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Character.isJavaIdentifierStart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part of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Character.isJavaIdentifierPart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highlight>
                  <a:srgbClr val="FFFF00"/>
                </a:highlight>
                <a:latin typeface="Courier" pitchFamily="2" charset="0"/>
              </a:rPr>
              <a:t>Character.isLetter</a:t>
            </a:r>
            <a:r>
              <a:rPr lang="it-IT" sz="1400">
                <a:highlight>
                  <a:srgbClr val="FFFF00"/>
                </a:highlight>
                <a:latin typeface="Courier" pitchFamily="2" charset="0"/>
              </a:rPr>
              <a:t>(c)</a:t>
            </a:r>
            <a:r>
              <a:rPr lang="it-IT" sz="1400">
                <a:latin typeface="Courier" pitchFamily="2" charset="0"/>
              </a:rPr>
              <a:t>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 or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Character.isLetterOrDigit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    }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A3AB384-7531-29AC-8DC8-10CD29659C20}"/>
              </a:ext>
            </a:extLst>
          </p:cNvPr>
          <p:cNvSpPr txBox="1"/>
          <p:nvPr/>
        </p:nvSpPr>
        <p:spPr>
          <a:xfrm>
            <a:off x="179512" y="5877272"/>
            <a:ext cx="7543800" cy="369332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>
                <a:solidFill>
                  <a:srgbClr val="333333"/>
                </a:solidFill>
                <a:latin typeface="system-ui"/>
              </a:rPr>
              <a:t>P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er determinare se il carattere </a:t>
            </a:r>
            <a:r>
              <a:rPr lang="it-IT"/>
              <a:t>c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è una lettera.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3060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BE0AF-04F1-4942-87B5-08B827588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46F964-1DFA-0478-1BE4-AB503F8FC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6732"/>
            <a:ext cx="7543800" cy="1295400"/>
          </a:xfrm>
        </p:spPr>
        <p:txBody>
          <a:bodyPr/>
          <a:lstStyle/>
          <a:p>
            <a:r>
              <a:rPr lang="it-IT"/>
              <a:t>Esempio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7C42F4B-ABDF-FEFC-EF65-61F55E11F788}"/>
              </a:ext>
            </a:extLst>
          </p:cNvPr>
          <p:cNvSpPr txBox="1"/>
          <p:nvPr/>
        </p:nvSpPr>
        <p:spPr>
          <a:xfrm>
            <a:off x="0" y="1197620"/>
            <a:ext cx="9144000" cy="446276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/>
              <a:t> </a:t>
            </a:r>
            <a:r>
              <a:rPr lang="it-IT" sz="1400">
                <a:latin typeface="Courier" pitchFamily="2" charset="0"/>
              </a:rPr>
              <a:t>public </a:t>
            </a:r>
            <a:r>
              <a:rPr lang="it-IT" sz="1400" err="1">
                <a:latin typeface="Courier" pitchFamily="2" charset="0"/>
              </a:rPr>
              <a:t>static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void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main</a:t>
            </a:r>
            <a:r>
              <a:rPr lang="it-IT" sz="1400">
                <a:latin typeface="Courier" pitchFamily="2" charset="0"/>
              </a:rPr>
              <a:t>(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[] </a:t>
            </a:r>
            <a:r>
              <a:rPr lang="it-IT" sz="1400" err="1">
                <a:latin typeface="Courier" pitchFamily="2" charset="0"/>
              </a:rPr>
              <a:t>args</a:t>
            </a:r>
            <a:r>
              <a:rPr lang="it-IT" sz="1400">
                <a:latin typeface="Courier" pitchFamily="2" charset="0"/>
              </a:rPr>
              <a:t>) {</a:t>
            </a:r>
          </a:p>
          <a:p>
            <a:r>
              <a:rPr lang="it-IT" sz="1400">
                <a:latin typeface="Courier" pitchFamily="2" charset="0"/>
              </a:rPr>
              <a:t>        Scanner scanner = new Scanner(</a:t>
            </a:r>
            <a:r>
              <a:rPr lang="it-IT" sz="1400" err="1">
                <a:latin typeface="Courier" pitchFamily="2" charset="0"/>
              </a:rPr>
              <a:t>System.in</a:t>
            </a:r>
            <a:r>
              <a:rPr lang="it-IT" sz="1400">
                <a:latin typeface="Courier" pitchFamily="2" charset="0"/>
              </a:rPr>
              <a:t>); // crea scanner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System.out.println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 a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and press 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");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 input = </a:t>
            </a:r>
            <a:r>
              <a:rPr lang="it-IT" sz="1400" err="1">
                <a:latin typeface="Courier" pitchFamily="2" charset="0"/>
              </a:rPr>
              <a:t>scanner.next</a:t>
            </a:r>
            <a:r>
              <a:rPr lang="it-IT" sz="1400">
                <a:latin typeface="Courier" pitchFamily="2" charset="0"/>
              </a:rPr>
              <a:t>();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char</a:t>
            </a:r>
            <a:r>
              <a:rPr lang="it-IT" sz="1400">
                <a:latin typeface="Courier" pitchFamily="2" charset="0"/>
              </a:rPr>
              <a:t> c = </a:t>
            </a:r>
            <a:r>
              <a:rPr lang="it-IT" sz="1400" err="1">
                <a:latin typeface="Courier" pitchFamily="2" charset="0"/>
              </a:rPr>
              <a:t>input.charAt</a:t>
            </a:r>
            <a:r>
              <a:rPr lang="it-IT" sz="1400">
                <a:latin typeface="Courier" pitchFamily="2" charset="0"/>
              </a:rPr>
              <a:t>(0); // ottiene il carattere inserito</a:t>
            </a:r>
          </a:p>
          <a:p>
            <a:r>
              <a:rPr lang="it-IT" sz="1400">
                <a:latin typeface="Courier" pitchFamily="2" charset="0"/>
              </a:rPr>
              <a:t>	// mostra informazioni su carattere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defined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Character.isDefined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Character.isDigit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first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in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Character.isJavaIdentifierStart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part of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Character.isJavaIdentifierPart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Character.isLetter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 or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</a:t>
            </a:r>
            <a:r>
              <a:rPr lang="it-IT" sz="1400" err="1">
                <a:highlight>
                  <a:srgbClr val="FFFF00"/>
                </a:highlight>
                <a:latin typeface="Courier" pitchFamily="2" charset="0"/>
              </a:rPr>
              <a:t>isLetterOrDigit</a:t>
            </a:r>
            <a:r>
              <a:rPr lang="it-IT" sz="1400">
                <a:highlight>
                  <a:srgbClr val="FFFF00"/>
                </a:highlight>
                <a:latin typeface="Courier" pitchFamily="2" charset="0"/>
              </a:rPr>
              <a:t>(c)</a:t>
            </a:r>
            <a:r>
              <a:rPr lang="it-IT" sz="1400">
                <a:latin typeface="Courier" pitchFamily="2" charset="0"/>
              </a:rPr>
              <a:t>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    }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4B09904-7BD4-FD72-E6F7-405FB068B63A}"/>
              </a:ext>
            </a:extLst>
          </p:cNvPr>
          <p:cNvSpPr txBox="1"/>
          <p:nvPr/>
        </p:nvSpPr>
        <p:spPr>
          <a:xfrm>
            <a:off x="179512" y="5877272"/>
            <a:ext cx="7543800" cy="369332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>
                <a:solidFill>
                  <a:srgbClr val="333333"/>
                </a:solidFill>
                <a:latin typeface="system-ui"/>
              </a:rPr>
              <a:t>P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er determinare se il carattere </a:t>
            </a:r>
            <a:r>
              <a:rPr lang="it-IT"/>
              <a:t>c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è una lettera o una cifra.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6990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4592F-EE36-A4CF-2CAD-1B6AAE83B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A8305E-6AFE-47A8-31F0-46C6EEEF1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6732"/>
            <a:ext cx="7543800" cy="1295400"/>
          </a:xfrm>
        </p:spPr>
        <p:txBody>
          <a:bodyPr/>
          <a:lstStyle/>
          <a:p>
            <a:r>
              <a:rPr lang="it-IT"/>
              <a:t>Esempio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D991EAD-40F2-5CC8-9B5C-E10DFD770E8D}"/>
              </a:ext>
            </a:extLst>
          </p:cNvPr>
          <p:cNvSpPr txBox="1"/>
          <p:nvPr/>
        </p:nvSpPr>
        <p:spPr>
          <a:xfrm>
            <a:off x="0" y="1197620"/>
            <a:ext cx="9144000" cy="446276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/>
              <a:t> </a:t>
            </a:r>
            <a:r>
              <a:rPr lang="it-IT" sz="1400">
                <a:latin typeface="Courier" pitchFamily="2" charset="0"/>
              </a:rPr>
              <a:t>public </a:t>
            </a:r>
            <a:r>
              <a:rPr lang="it-IT" sz="1400" err="1">
                <a:latin typeface="Courier" pitchFamily="2" charset="0"/>
              </a:rPr>
              <a:t>static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void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main</a:t>
            </a:r>
            <a:r>
              <a:rPr lang="it-IT" sz="1400">
                <a:latin typeface="Courier" pitchFamily="2" charset="0"/>
              </a:rPr>
              <a:t>(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[] </a:t>
            </a:r>
            <a:r>
              <a:rPr lang="it-IT" sz="1400" err="1">
                <a:latin typeface="Courier" pitchFamily="2" charset="0"/>
              </a:rPr>
              <a:t>args</a:t>
            </a:r>
            <a:r>
              <a:rPr lang="it-IT" sz="1400">
                <a:latin typeface="Courier" pitchFamily="2" charset="0"/>
              </a:rPr>
              <a:t>) {</a:t>
            </a:r>
          </a:p>
          <a:p>
            <a:r>
              <a:rPr lang="it-IT" sz="1400">
                <a:latin typeface="Courier" pitchFamily="2" charset="0"/>
              </a:rPr>
              <a:t>        Scanner scanner = new Scanner(</a:t>
            </a:r>
            <a:r>
              <a:rPr lang="it-IT" sz="1400" err="1">
                <a:latin typeface="Courier" pitchFamily="2" charset="0"/>
              </a:rPr>
              <a:t>System.in</a:t>
            </a:r>
            <a:r>
              <a:rPr lang="it-IT" sz="1400">
                <a:latin typeface="Courier" pitchFamily="2" charset="0"/>
              </a:rPr>
              <a:t>); // crea scanner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System.out.println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 a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and press </a:t>
            </a:r>
            <a:r>
              <a:rPr lang="it-IT" sz="1400" err="1">
                <a:latin typeface="Courier" pitchFamily="2" charset="0"/>
              </a:rPr>
              <a:t>Enter</a:t>
            </a:r>
            <a:r>
              <a:rPr lang="it-IT" sz="1400">
                <a:latin typeface="Courier" pitchFamily="2" charset="0"/>
              </a:rPr>
              <a:t>");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String</a:t>
            </a:r>
            <a:r>
              <a:rPr lang="it-IT" sz="1400">
                <a:latin typeface="Courier" pitchFamily="2" charset="0"/>
              </a:rPr>
              <a:t> input = </a:t>
            </a:r>
            <a:r>
              <a:rPr lang="it-IT" sz="1400" err="1">
                <a:latin typeface="Courier" pitchFamily="2" charset="0"/>
              </a:rPr>
              <a:t>scanner.next</a:t>
            </a:r>
            <a:r>
              <a:rPr lang="it-IT" sz="1400">
                <a:latin typeface="Courier" pitchFamily="2" charset="0"/>
              </a:rPr>
              <a:t>();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char</a:t>
            </a:r>
            <a:r>
              <a:rPr lang="it-IT" sz="1400">
                <a:latin typeface="Courier" pitchFamily="2" charset="0"/>
              </a:rPr>
              <a:t> c = </a:t>
            </a:r>
            <a:r>
              <a:rPr lang="it-IT" sz="1400" err="1">
                <a:latin typeface="Courier" pitchFamily="2" charset="0"/>
              </a:rPr>
              <a:t>input.charAt</a:t>
            </a:r>
            <a:r>
              <a:rPr lang="it-IT" sz="1400">
                <a:latin typeface="Courier" pitchFamily="2" charset="0"/>
              </a:rPr>
              <a:t>(0); // ottiene il carattere inserito</a:t>
            </a:r>
          </a:p>
          <a:p>
            <a:r>
              <a:rPr lang="it-IT" sz="1400">
                <a:latin typeface="Courier" pitchFamily="2" charset="0"/>
              </a:rPr>
              <a:t>	// mostra informazioni su carattere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defined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Character.isDefined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Character.isDigit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first </a:t>
            </a:r>
            <a:r>
              <a:rPr lang="it-IT" sz="1400" err="1">
                <a:latin typeface="Courier" pitchFamily="2" charset="0"/>
              </a:rPr>
              <a:t>character</a:t>
            </a:r>
            <a:r>
              <a:rPr lang="it-IT" sz="1400">
                <a:latin typeface="Courier" pitchFamily="2" charset="0"/>
              </a:rPr>
              <a:t> in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Character.isJavaIdentifierStart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part of a Java </a:t>
            </a:r>
            <a:r>
              <a:rPr lang="it-IT" sz="1400" err="1">
                <a:latin typeface="Courier" pitchFamily="2" charset="0"/>
              </a:rPr>
              <a:t>identifier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Character.isJavaIdentifierPart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Character.isLetter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letter</a:t>
            </a:r>
            <a:r>
              <a:rPr lang="it-IT" sz="1400">
                <a:latin typeface="Courier" pitchFamily="2" charset="0"/>
              </a:rPr>
              <a:t> or digit: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Character.isLetterOrDigit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highlight>
                  <a:srgbClr val="FFFF00"/>
                </a:highlight>
                <a:latin typeface="Courier" pitchFamily="2" charset="0"/>
              </a:rPr>
              <a:t>Character.isLowerCase</a:t>
            </a:r>
            <a:r>
              <a:rPr lang="it-IT" sz="1400">
                <a:highlight>
                  <a:srgbClr val="FFFF00"/>
                </a:highlight>
                <a:latin typeface="Courier" pitchFamily="2" charset="0"/>
              </a:rPr>
              <a:t>(c)</a:t>
            </a:r>
            <a:r>
              <a:rPr lang="it-IT" sz="1400">
                <a:latin typeface="Courier" pitchFamily="2" charset="0"/>
              </a:rPr>
              <a:t>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</a:t>
            </a:r>
            <a:r>
              <a:rPr lang="it-IT" sz="1400" err="1">
                <a:latin typeface="Courier" pitchFamily="2" charset="0"/>
              </a:rPr>
              <a:t>is</a:t>
            </a:r>
            <a:r>
              <a:rPr lang="it-IT" sz="1400">
                <a:latin typeface="Courier" pitchFamily="2" charset="0"/>
              </a:rPr>
              <a:t>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b%n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highlight>
                  <a:srgbClr val="FFFF00"/>
                </a:highlight>
                <a:latin typeface="Courier" pitchFamily="2" charset="0"/>
              </a:rPr>
              <a:t>Character.isUpperCase</a:t>
            </a:r>
            <a:r>
              <a:rPr lang="it-IT" sz="1400">
                <a:highlight>
                  <a:srgbClr val="FFFF00"/>
                </a:highlight>
                <a:latin typeface="Courier" pitchFamily="2" charset="0"/>
              </a:rPr>
              <a:t>(c)</a:t>
            </a:r>
            <a:r>
              <a:rPr lang="it-IT" sz="1400">
                <a:latin typeface="Courier" pitchFamily="2" charset="0"/>
              </a:rPr>
              <a:t>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upper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Character.toUpperCase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	</a:t>
            </a:r>
            <a:r>
              <a:rPr lang="it-IT" sz="1400" err="1">
                <a:latin typeface="Courier" pitchFamily="2" charset="0"/>
              </a:rPr>
              <a:t>System.out.printf</a:t>
            </a:r>
            <a:r>
              <a:rPr lang="it-IT" sz="1400">
                <a:latin typeface="Courier" pitchFamily="2" charset="0"/>
              </a:rPr>
              <a:t>("to </a:t>
            </a:r>
            <a:r>
              <a:rPr lang="it-IT" sz="1400" err="1">
                <a:latin typeface="Courier" pitchFamily="2" charset="0"/>
              </a:rPr>
              <a:t>lower</a:t>
            </a:r>
            <a:r>
              <a:rPr lang="it-IT" sz="1400">
                <a:latin typeface="Courier" pitchFamily="2" charset="0"/>
              </a:rPr>
              <a:t> case: %</a:t>
            </a:r>
            <a:r>
              <a:rPr lang="it-IT" sz="1400" err="1">
                <a:latin typeface="Courier" pitchFamily="2" charset="0"/>
              </a:rPr>
              <a:t>s%n</a:t>
            </a:r>
            <a:r>
              <a:rPr lang="it-IT" sz="1400">
                <a:latin typeface="Courier" pitchFamily="2" charset="0"/>
              </a:rPr>
              <a:t>", </a:t>
            </a:r>
            <a:r>
              <a:rPr lang="it-IT" sz="1400" err="1">
                <a:latin typeface="Courier" pitchFamily="2" charset="0"/>
              </a:rPr>
              <a:t>Character.toLowerCase</a:t>
            </a:r>
            <a:r>
              <a:rPr lang="it-IT" sz="1400">
                <a:latin typeface="Courier" pitchFamily="2" charset="0"/>
              </a:rPr>
              <a:t>(c));</a:t>
            </a:r>
          </a:p>
          <a:p>
            <a:r>
              <a:rPr lang="it-IT" sz="1400">
                <a:latin typeface="Courier" pitchFamily="2" charset="0"/>
              </a:rPr>
              <a:t>    }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B8DC01D-D30A-6A27-2551-11B9051539B6}"/>
              </a:ext>
            </a:extLst>
          </p:cNvPr>
          <p:cNvSpPr txBox="1"/>
          <p:nvPr/>
        </p:nvSpPr>
        <p:spPr>
          <a:xfrm>
            <a:off x="179512" y="5877272"/>
            <a:ext cx="7543800" cy="92333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>
                <a:solidFill>
                  <a:srgbClr val="333333"/>
                </a:solidFill>
                <a:latin typeface="system-ui"/>
              </a:rPr>
              <a:t>P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er determinare rispettivamente se il carattere </a:t>
            </a:r>
            <a:r>
              <a:rPr lang="it-IT"/>
              <a:t>c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è: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una lettera minuscola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>
                <a:solidFill>
                  <a:srgbClr val="333333"/>
                </a:solidFill>
                <a:latin typeface="system-ui"/>
              </a:rPr>
              <a:t>una lettera maiuscola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7746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C46E2-FEB2-1162-CE89-E5828AC8B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E0E26A4-16BD-FF40-F575-A8FD2FEF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6732"/>
            <a:ext cx="7543800" cy="645964"/>
          </a:xfrm>
        </p:spPr>
        <p:txBody>
          <a:bodyPr/>
          <a:lstStyle/>
          <a:p>
            <a:r>
              <a:rPr lang="it-IT"/>
              <a:t>Esempio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3C24EE8-F4B0-8E1F-98E5-DC7EA7056778}"/>
              </a:ext>
            </a:extLst>
          </p:cNvPr>
          <p:cNvSpPr txBox="1"/>
          <p:nvPr/>
        </p:nvSpPr>
        <p:spPr>
          <a:xfrm>
            <a:off x="0" y="678486"/>
            <a:ext cx="9144000" cy="446276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 dirty="0"/>
              <a:t> </a:t>
            </a:r>
            <a:r>
              <a:rPr lang="it-IT" sz="1400" dirty="0">
                <a:latin typeface="Courier" pitchFamily="2" charset="0"/>
              </a:rPr>
              <a:t>public </a:t>
            </a:r>
            <a:r>
              <a:rPr lang="it-IT" sz="1400" dirty="0" err="1">
                <a:latin typeface="Courier" pitchFamily="2" charset="0"/>
              </a:rPr>
              <a:t>static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void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main</a:t>
            </a:r>
            <a:r>
              <a:rPr lang="it-IT" sz="1400" dirty="0">
                <a:latin typeface="Courier" pitchFamily="2" charset="0"/>
              </a:rPr>
              <a:t>(</a:t>
            </a:r>
            <a:r>
              <a:rPr lang="it-IT" sz="1400" dirty="0" err="1">
                <a:latin typeface="Courier" pitchFamily="2" charset="0"/>
              </a:rPr>
              <a:t>String</a:t>
            </a:r>
            <a:r>
              <a:rPr lang="it-IT" sz="1400" dirty="0">
                <a:latin typeface="Courier" pitchFamily="2" charset="0"/>
              </a:rPr>
              <a:t>[] </a:t>
            </a:r>
            <a:r>
              <a:rPr lang="it-IT" sz="1400" dirty="0" err="1">
                <a:latin typeface="Courier" pitchFamily="2" charset="0"/>
              </a:rPr>
              <a:t>args</a:t>
            </a:r>
            <a:r>
              <a:rPr lang="it-IT" sz="1400" dirty="0">
                <a:latin typeface="Courier" pitchFamily="2" charset="0"/>
              </a:rPr>
              <a:t>) {</a:t>
            </a:r>
          </a:p>
          <a:p>
            <a:r>
              <a:rPr lang="it-IT" sz="1400" dirty="0">
                <a:latin typeface="Courier" pitchFamily="2" charset="0"/>
              </a:rPr>
              <a:t>        Scanner scanner = new Scanner(</a:t>
            </a:r>
            <a:r>
              <a:rPr lang="it-IT" sz="1400" dirty="0" err="1">
                <a:latin typeface="Courier" pitchFamily="2" charset="0"/>
              </a:rPr>
              <a:t>System.in</a:t>
            </a:r>
            <a:r>
              <a:rPr lang="it-IT" sz="1400" dirty="0">
                <a:latin typeface="Courier" pitchFamily="2" charset="0"/>
              </a:rPr>
              <a:t>); // crea scanner</a:t>
            </a:r>
          </a:p>
          <a:p>
            <a:r>
              <a:rPr lang="it-IT" sz="1400" dirty="0">
                <a:latin typeface="Courier" pitchFamily="2" charset="0"/>
              </a:rPr>
              <a:t>	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</a:t>
            </a:r>
            <a:r>
              <a:rPr lang="it-IT" sz="1400" dirty="0" err="1">
                <a:latin typeface="Courier" pitchFamily="2" charset="0"/>
              </a:rPr>
              <a:t>Enter</a:t>
            </a:r>
            <a:r>
              <a:rPr lang="it-IT" sz="1400" dirty="0">
                <a:latin typeface="Courier" pitchFamily="2" charset="0"/>
              </a:rPr>
              <a:t> a </a:t>
            </a:r>
            <a:r>
              <a:rPr lang="it-IT" sz="1400" dirty="0" err="1">
                <a:latin typeface="Courier" pitchFamily="2" charset="0"/>
              </a:rPr>
              <a:t>character</a:t>
            </a:r>
            <a:r>
              <a:rPr lang="it-IT" sz="1400" dirty="0">
                <a:latin typeface="Courier" pitchFamily="2" charset="0"/>
              </a:rPr>
              <a:t> and press </a:t>
            </a:r>
            <a:r>
              <a:rPr lang="it-IT" sz="1400" dirty="0" err="1">
                <a:latin typeface="Courier" pitchFamily="2" charset="0"/>
              </a:rPr>
              <a:t>Enter</a:t>
            </a:r>
            <a:r>
              <a:rPr lang="it-IT" sz="1400" dirty="0">
                <a:latin typeface="Courier" pitchFamily="2" charset="0"/>
              </a:rPr>
              <a:t>");</a:t>
            </a:r>
          </a:p>
          <a:p>
            <a:r>
              <a:rPr lang="it-IT" sz="1400" dirty="0">
                <a:latin typeface="Courier" pitchFamily="2" charset="0"/>
              </a:rPr>
              <a:t>	</a:t>
            </a:r>
            <a:r>
              <a:rPr lang="it-IT" sz="1400" dirty="0" err="1">
                <a:latin typeface="Courier" pitchFamily="2" charset="0"/>
              </a:rPr>
              <a:t>String</a:t>
            </a:r>
            <a:r>
              <a:rPr lang="it-IT" sz="1400" dirty="0">
                <a:latin typeface="Courier" pitchFamily="2" charset="0"/>
              </a:rPr>
              <a:t> input = </a:t>
            </a:r>
            <a:r>
              <a:rPr lang="it-IT" sz="1400" dirty="0" err="1">
                <a:latin typeface="Courier" pitchFamily="2" charset="0"/>
              </a:rPr>
              <a:t>scanner.next</a:t>
            </a:r>
            <a:r>
              <a:rPr lang="it-IT" sz="1400" dirty="0">
                <a:latin typeface="Courier" pitchFamily="2" charset="0"/>
              </a:rPr>
              <a:t>();</a:t>
            </a:r>
          </a:p>
          <a:p>
            <a:r>
              <a:rPr lang="it-IT" sz="1400" dirty="0">
                <a:latin typeface="Courier" pitchFamily="2" charset="0"/>
              </a:rPr>
              <a:t>	</a:t>
            </a:r>
            <a:r>
              <a:rPr lang="it-IT" sz="1400" dirty="0" err="1">
                <a:latin typeface="Courier" pitchFamily="2" charset="0"/>
              </a:rPr>
              <a:t>char</a:t>
            </a:r>
            <a:r>
              <a:rPr lang="it-IT" sz="1400" dirty="0">
                <a:latin typeface="Courier" pitchFamily="2" charset="0"/>
              </a:rPr>
              <a:t> c = </a:t>
            </a:r>
            <a:r>
              <a:rPr lang="it-IT" sz="1400" dirty="0" err="1">
                <a:latin typeface="Courier" pitchFamily="2" charset="0"/>
              </a:rPr>
              <a:t>input.charAt</a:t>
            </a:r>
            <a:r>
              <a:rPr lang="it-IT" sz="1400" dirty="0">
                <a:latin typeface="Courier" pitchFamily="2" charset="0"/>
              </a:rPr>
              <a:t>(0); // ottiene il carattere inserito</a:t>
            </a:r>
          </a:p>
          <a:p>
            <a:r>
              <a:rPr lang="it-IT" sz="1400" dirty="0">
                <a:latin typeface="Courier" pitchFamily="2" charset="0"/>
              </a:rPr>
              <a:t>	// mostra informazioni su carattere</a:t>
            </a:r>
          </a:p>
          <a:p>
            <a:r>
              <a:rPr lang="it-IT" sz="1400" dirty="0">
                <a:latin typeface="Courier" pitchFamily="2" charset="0"/>
              </a:rPr>
              <a:t>	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</a:t>
            </a:r>
            <a:r>
              <a:rPr lang="it-IT" sz="1400" dirty="0" err="1">
                <a:latin typeface="Courier" pitchFamily="2" charset="0"/>
              </a:rPr>
              <a:t>is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defined</a:t>
            </a:r>
            <a:r>
              <a:rPr lang="it-IT" sz="1400" dirty="0">
                <a:latin typeface="Courier" pitchFamily="2" charset="0"/>
              </a:rPr>
              <a:t>: %</a:t>
            </a:r>
            <a:r>
              <a:rPr lang="it-IT" sz="1400" dirty="0" err="1">
                <a:latin typeface="Courier" pitchFamily="2" charset="0"/>
              </a:rPr>
              <a:t>b%n</a:t>
            </a:r>
            <a:r>
              <a:rPr lang="it-IT" sz="1400" dirty="0">
                <a:latin typeface="Courier" pitchFamily="2" charset="0"/>
              </a:rPr>
              <a:t>", </a:t>
            </a:r>
            <a:r>
              <a:rPr lang="it-IT" sz="1400" dirty="0" err="1">
                <a:latin typeface="Courier" pitchFamily="2" charset="0"/>
              </a:rPr>
              <a:t>Character.isDefined</a:t>
            </a:r>
            <a:r>
              <a:rPr lang="it-IT" sz="1400" dirty="0">
                <a:latin typeface="Courier" pitchFamily="2" charset="0"/>
              </a:rPr>
              <a:t>(c));</a:t>
            </a:r>
          </a:p>
          <a:p>
            <a:r>
              <a:rPr lang="it-IT" sz="1400" dirty="0">
                <a:latin typeface="Courier" pitchFamily="2" charset="0"/>
              </a:rPr>
              <a:t>	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</a:t>
            </a:r>
            <a:r>
              <a:rPr lang="it-IT" sz="1400" dirty="0" err="1">
                <a:latin typeface="Courier" pitchFamily="2" charset="0"/>
              </a:rPr>
              <a:t>is</a:t>
            </a:r>
            <a:r>
              <a:rPr lang="it-IT" sz="1400" dirty="0">
                <a:latin typeface="Courier" pitchFamily="2" charset="0"/>
              </a:rPr>
              <a:t> digit: %</a:t>
            </a:r>
            <a:r>
              <a:rPr lang="it-IT" sz="1400" dirty="0" err="1">
                <a:latin typeface="Courier" pitchFamily="2" charset="0"/>
              </a:rPr>
              <a:t>b%n</a:t>
            </a:r>
            <a:r>
              <a:rPr lang="it-IT" sz="1400" dirty="0">
                <a:latin typeface="Courier" pitchFamily="2" charset="0"/>
              </a:rPr>
              <a:t>", </a:t>
            </a:r>
            <a:r>
              <a:rPr lang="it-IT" sz="1400" dirty="0" err="1">
                <a:latin typeface="Courier" pitchFamily="2" charset="0"/>
              </a:rPr>
              <a:t>Character.isDigit</a:t>
            </a:r>
            <a:r>
              <a:rPr lang="it-IT" sz="1400" dirty="0">
                <a:latin typeface="Courier" pitchFamily="2" charset="0"/>
              </a:rPr>
              <a:t>(c));</a:t>
            </a:r>
          </a:p>
          <a:p>
            <a:r>
              <a:rPr lang="it-IT" sz="1400" dirty="0">
                <a:latin typeface="Courier" pitchFamily="2" charset="0"/>
              </a:rPr>
              <a:t>	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</a:t>
            </a:r>
            <a:r>
              <a:rPr lang="it-IT" sz="1400" dirty="0" err="1">
                <a:latin typeface="Courier" pitchFamily="2" charset="0"/>
              </a:rPr>
              <a:t>is</a:t>
            </a:r>
            <a:r>
              <a:rPr lang="it-IT" sz="1400" dirty="0">
                <a:latin typeface="Courier" pitchFamily="2" charset="0"/>
              </a:rPr>
              <a:t> first </a:t>
            </a:r>
            <a:r>
              <a:rPr lang="it-IT" sz="1400" dirty="0" err="1">
                <a:latin typeface="Courier" pitchFamily="2" charset="0"/>
              </a:rPr>
              <a:t>character</a:t>
            </a:r>
            <a:r>
              <a:rPr lang="it-IT" sz="1400" dirty="0">
                <a:latin typeface="Courier" pitchFamily="2" charset="0"/>
              </a:rPr>
              <a:t> in a Java </a:t>
            </a:r>
            <a:r>
              <a:rPr lang="it-IT" sz="1400" dirty="0" err="1">
                <a:latin typeface="Courier" pitchFamily="2" charset="0"/>
              </a:rPr>
              <a:t>identifier</a:t>
            </a:r>
            <a:r>
              <a:rPr lang="it-IT" sz="1400" dirty="0">
                <a:latin typeface="Courier" pitchFamily="2" charset="0"/>
              </a:rPr>
              <a:t>: %</a:t>
            </a:r>
            <a:r>
              <a:rPr lang="it-IT" sz="1400" dirty="0" err="1">
                <a:latin typeface="Courier" pitchFamily="2" charset="0"/>
              </a:rPr>
              <a:t>b%n</a:t>
            </a:r>
            <a:r>
              <a:rPr lang="it-IT" sz="1400" dirty="0">
                <a:latin typeface="Courier" pitchFamily="2" charset="0"/>
              </a:rPr>
              <a:t>", </a:t>
            </a:r>
            <a:r>
              <a:rPr lang="it-IT" sz="1400" dirty="0" err="1">
                <a:latin typeface="Courier" pitchFamily="2" charset="0"/>
              </a:rPr>
              <a:t>Character.isJavaIdentifierStart</a:t>
            </a:r>
            <a:r>
              <a:rPr lang="it-IT" sz="1400" dirty="0">
                <a:latin typeface="Courier" pitchFamily="2" charset="0"/>
              </a:rPr>
              <a:t>(c));</a:t>
            </a:r>
          </a:p>
          <a:p>
            <a:r>
              <a:rPr lang="it-IT" sz="1400" dirty="0">
                <a:latin typeface="Courier" pitchFamily="2" charset="0"/>
              </a:rPr>
              <a:t>	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</a:t>
            </a:r>
            <a:r>
              <a:rPr lang="it-IT" sz="1400" dirty="0" err="1">
                <a:latin typeface="Courier" pitchFamily="2" charset="0"/>
              </a:rPr>
              <a:t>is</a:t>
            </a:r>
            <a:r>
              <a:rPr lang="it-IT" sz="1400" dirty="0">
                <a:latin typeface="Courier" pitchFamily="2" charset="0"/>
              </a:rPr>
              <a:t> part of a Java </a:t>
            </a:r>
            <a:r>
              <a:rPr lang="it-IT" sz="1400" dirty="0" err="1">
                <a:latin typeface="Courier" pitchFamily="2" charset="0"/>
              </a:rPr>
              <a:t>identifier</a:t>
            </a:r>
            <a:r>
              <a:rPr lang="it-IT" sz="1400" dirty="0">
                <a:latin typeface="Courier" pitchFamily="2" charset="0"/>
              </a:rPr>
              <a:t>: %</a:t>
            </a:r>
            <a:r>
              <a:rPr lang="it-IT" sz="1400" dirty="0" err="1">
                <a:latin typeface="Courier" pitchFamily="2" charset="0"/>
              </a:rPr>
              <a:t>b%n</a:t>
            </a:r>
            <a:r>
              <a:rPr lang="it-IT" sz="1400" dirty="0">
                <a:latin typeface="Courier" pitchFamily="2" charset="0"/>
              </a:rPr>
              <a:t>", </a:t>
            </a:r>
            <a:r>
              <a:rPr lang="it-IT" sz="1400" dirty="0" err="1">
                <a:latin typeface="Courier" pitchFamily="2" charset="0"/>
              </a:rPr>
              <a:t>Character.isJavaIdentifierPart</a:t>
            </a:r>
            <a:r>
              <a:rPr lang="it-IT" sz="1400" dirty="0">
                <a:latin typeface="Courier" pitchFamily="2" charset="0"/>
              </a:rPr>
              <a:t>(c));</a:t>
            </a:r>
          </a:p>
          <a:p>
            <a:r>
              <a:rPr lang="it-IT" sz="1400" dirty="0">
                <a:latin typeface="Courier" pitchFamily="2" charset="0"/>
              </a:rPr>
              <a:t>	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</a:t>
            </a:r>
            <a:r>
              <a:rPr lang="it-IT" sz="1400" dirty="0" err="1">
                <a:latin typeface="Courier" pitchFamily="2" charset="0"/>
              </a:rPr>
              <a:t>is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letter</a:t>
            </a:r>
            <a:r>
              <a:rPr lang="it-IT" sz="1400" dirty="0">
                <a:latin typeface="Courier" pitchFamily="2" charset="0"/>
              </a:rPr>
              <a:t>: %</a:t>
            </a:r>
            <a:r>
              <a:rPr lang="it-IT" sz="1400" dirty="0" err="1">
                <a:latin typeface="Courier" pitchFamily="2" charset="0"/>
              </a:rPr>
              <a:t>b%n</a:t>
            </a:r>
            <a:r>
              <a:rPr lang="it-IT" sz="1400" dirty="0">
                <a:latin typeface="Courier" pitchFamily="2" charset="0"/>
              </a:rPr>
              <a:t>", </a:t>
            </a:r>
            <a:r>
              <a:rPr lang="it-IT" sz="1400" dirty="0" err="1">
                <a:latin typeface="Courier" pitchFamily="2" charset="0"/>
              </a:rPr>
              <a:t>Character.isLetter</a:t>
            </a:r>
            <a:r>
              <a:rPr lang="it-IT" sz="1400" dirty="0">
                <a:latin typeface="Courier" pitchFamily="2" charset="0"/>
              </a:rPr>
              <a:t>(c));</a:t>
            </a:r>
          </a:p>
          <a:p>
            <a:r>
              <a:rPr lang="it-IT" sz="1400" dirty="0">
                <a:latin typeface="Courier" pitchFamily="2" charset="0"/>
              </a:rPr>
              <a:t>	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</a:t>
            </a:r>
            <a:r>
              <a:rPr lang="it-IT" sz="1400" dirty="0" err="1">
                <a:latin typeface="Courier" pitchFamily="2" charset="0"/>
              </a:rPr>
              <a:t>is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letter</a:t>
            </a:r>
            <a:r>
              <a:rPr lang="it-IT" sz="1400" dirty="0">
                <a:latin typeface="Courier" pitchFamily="2" charset="0"/>
              </a:rPr>
              <a:t> or digit: %</a:t>
            </a:r>
            <a:r>
              <a:rPr lang="it-IT" sz="1400" dirty="0" err="1">
                <a:latin typeface="Courier" pitchFamily="2" charset="0"/>
              </a:rPr>
              <a:t>b%n</a:t>
            </a:r>
            <a:r>
              <a:rPr lang="it-IT" sz="1400" dirty="0">
                <a:latin typeface="Courier" pitchFamily="2" charset="0"/>
              </a:rPr>
              <a:t>", </a:t>
            </a:r>
            <a:r>
              <a:rPr lang="it-IT" sz="1400" dirty="0" err="1">
                <a:latin typeface="Courier" pitchFamily="2" charset="0"/>
              </a:rPr>
              <a:t>Character.isLetterOrDigit</a:t>
            </a:r>
            <a:r>
              <a:rPr lang="it-IT" sz="1400" dirty="0">
                <a:latin typeface="Courier" pitchFamily="2" charset="0"/>
              </a:rPr>
              <a:t>(c));</a:t>
            </a:r>
          </a:p>
          <a:p>
            <a:r>
              <a:rPr lang="it-IT" sz="1400" dirty="0">
                <a:latin typeface="Courier" pitchFamily="2" charset="0"/>
              </a:rPr>
              <a:t>	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</a:t>
            </a:r>
            <a:r>
              <a:rPr lang="it-IT" sz="1400" dirty="0" err="1">
                <a:latin typeface="Courier" pitchFamily="2" charset="0"/>
              </a:rPr>
              <a:t>is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lower</a:t>
            </a:r>
            <a:r>
              <a:rPr lang="it-IT" sz="1400" dirty="0">
                <a:latin typeface="Courier" pitchFamily="2" charset="0"/>
              </a:rPr>
              <a:t> case: %</a:t>
            </a:r>
            <a:r>
              <a:rPr lang="it-IT" sz="1400" dirty="0" err="1">
                <a:latin typeface="Courier" pitchFamily="2" charset="0"/>
              </a:rPr>
              <a:t>b%n</a:t>
            </a:r>
            <a:r>
              <a:rPr lang="it-IT" sz="1400" dirty="0">
                <a:latin typeface="Courier" pitchFamily="2" charset="0"/>
              </a:rPr>
              <a:t>", </a:t>
            </a:r>
            <a:r>
              <a:rPr lang="it-IT" sz="1400" dirty="0" err="1">
                <a:latin typeface="Courier" pitchFamily="2" charset="0"/>
              </a:rPr>
              <a:t>Character.isLowerCase</a:t>
            </a:r>
            <a:r>
              <a:rPr lang="it-IT" sz="1400" dirty="0">
                <a:latin typeface="Courier" pitchFamily="2" charset="0"/>
              </a:rPr>
              <a:t>(c));</a:t>
            </a:r>
          </a:p>
          <a:p>
            <a:r>
              <a:rPr lang="it-IT" sz="1400" dirty="0">
                <a:latin typeface="Courier" pitchFamily="2" charset="0"/>
              </a:rPr>
              <a:t>	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</a:t>
            </a:r>
            <a:r>
              <a:rPr lang="it-IT" sz="1400" dirty="0" err="1">
                <a:latin typeface="Courier" pitchFamily="2" charset="0"/>
              </a:rPr>
              <a:t>is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upper</a:t>
            </a:r>
            <a:r>
              <a:rPr lang="it-IT" sz="1400" dirty="0">
                <a:latin typeface="Courier" pitchFamily="2" charset="0"/>
              </a:rPr>
              <a:t> case: %</a:t>
            </a:r>
            <a:r>
              <a:rPr lang="it-IT" sz="1400" dirty="0" err="1">
                <a:latin typeface="Courier" pitchFamily="2" charset="0"/>
              </a:rPr>
              <a:t>b%n</a:t>
            </a:r>
            <a:r>
              <a:rPr lang="it-IT" sz="1400" dirty="0">
                <a:latin typeface="Courier" pitchFamily="2" charset="0"/>
              </a:rPr>
              <a:t>", </a:t>
            </a:r>
            <a:r>
              <a:rPr lang="it-IT" sz="1400" dirty="0" err="1">
                <a:latin typeface="Courier" pitchFamily="2" charset="0"/>
              </a:rPr>
              <a:t>Character.isUpperCase</a:t>
            </a:r>
            <a:r>
              <a:rPr lang="it-IT" sz="1400" dirty="0">
                <a:latin typeface="Courier" pitchFamily="2" charset="0"/>
              </a:rPr>
              <a:t>(c));</a:t>
            </a:r>
          </a:p>
          <a:p>
            <a:r>
              <a:rPr lang="it-IT" sz="1400" dirty="0">
                <a:latin typeface="Courier" pitchFamily="2" charset="0"/>
              </a:rPr>
              <a:t>	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("to </a:t>
            </a:r>
            <a:r>
              <a:rPr lang="it-IT" sz="1400" dirty="0" err="1">
                <a:latin typeface="Courier" pitchFamily="2" charset="0"/>
              </a:rPr>
              <a:t>upper</a:t>
            </a:r>
            <a:r>
              <a:rPr lang="it-IT" sz="1400" dirty="0">
                <a:latin typeface="Courier" pitchFamily="2" charset="0"/>
              </a:rPr>
              <a:t> case: %</a:t>
            </a:r>
            <a:r>
              <a:rPr lang="it-IT" sz="1400" dirty="0" err="1">
                <a:latin typeface="Courier" pitchFamily="2" charset="0"/>
              </a:rPr>
              <a:t>s%n</a:t>
            </a:r>
            <a:r>
              <a:rPr lang="it-IT" sz="1400" dirty="0">
                <a:latin typeface="Courier" pitchFamily="2" charset="0"/>
              </a:rPr>
              <a:t>", </a:t>
            </a:r>
            <a:r>
              <a:rPr lang="it-IT" sz="1400" dirty="0" err="1">
                <a:highlight>
                  <a:srgbClr val="FFFF00"/>
                </a:highlight>
                <a:latin typeface="Courier" pitchFamily="2" charset="0"/>
              </a:rPr>
              <a:t>Character.toUpperCase</a:t>
            </a:r>
            <a:r>
              <a:rPr lang="it-IT" sz="1400" dirty="0">
                <a:highlight>
                  <a:srgbClr val="FFFF00"/>
                </a:highlight>
                <a:latin typeface="Courier" pitchFamily="2" charset="0"/>
              </a:rPr>
              <a:t>(c)</a:t>
            </a:r>
            <a:r>
              <a:rPr lang="it-IT" sz="1400" dirty="0">
                <a:latin typeface="Courier" pitchFamily="2" charset="0"/>
              </a:rPr>
              <a:t>);</a:t>
            </a:r>
          </a:p>
          <a:p>
            <a:r>
              <a:rPr lang="it-IT" sz="1400" dirty="0">
                <a:latin typeface="Courier" pitchFamily="2" charset="0"/>
              </a:rPr>
              <a:t>	</a:t>
            </a:r>
            <a:r>
              <a:rPr lang="it-IT" sz="1400" dirty="0" err="1">
                <a:latin typeface="Courier" pitchFamily="2" charset="0"/>
              </a:rPr>
              <a:t>System.out.printf</a:t>
            </a:r>
            <a:r>
              <a:rPr lang="it-IT" sz="1400" dirty="0">
                <a:latin typeface="Courier" pitchFamily="2" charset="0"/>
              </a:rPr>
              <a:t>("to </a:t>
            </a:r>
            <a:r>
              <a:rPr lang="it-IT" sz="1400" dirty="0" err="1">
                <a:latin typeface="Courier" pitchFamily="2" charset="0"/>
              </a:rPr>
              <a:t>lower</a:t>
            </a:r>
            <a:r>
              <a:rPr lang="it-IT" sz="1400" dirty="0">
                <a:latin typeface="Courier" pitchFamily="2" charset="0"/>
              </a:rPr>
              <a:t> case: %</a:t>
            </a:r>
            <a:r>
              <a:rPr lang="it-IT" sz="1400" dirty="0" err="1">
                <a:latin typeface="Courier" pitchFamily="2" charset="0"/>
              </a:rPr>
              <a:t>s%n</a:t>
            </a:r>
            <a:r>
              <a:rPr lang="it-IT" sz="1400" dirty="0">
                <a:latin typeface="Courier" pitchFamily="2" charset="0"/>
              </a:rPr>
              <a:t>", </a:t>
            </a:r>
            <a:r>
              <a:rPr lang="it-IT" sz="1400" dirty="0" err="1">
                <a:highlight>
                  <a:srgbClr val="FFFF00"/>
                </a:highlight>
                <a:latin typeface="Courier" pitchFamily="2" charset="0"/>
              </a:rPr>
              <a:t>Character.toLowerCase</a:t>
            </a:r>
            <a:r>
              <a:rPr lang="it-IT" sz="1400" dirty="0">
                <a:highlight>
                  <a:srgbClr val="FFFF00"/>
                </a:highlight>
                <a:latin typeface="Courier" pitchFamily="2" charset="0"/>
              </a:rPr>
              <a:t>(c)</a:t>
            </a:r>
            <a:r>
              <a:rPr lang="it-IT" sz="1400" dirty="0">
                <a:latin typeface="Courier" pitchFamily="2" charset="0"/>
              </a:rPr>
              <a:t>);</a:t>
            </a:r>
          </a:p>
          <a:p>
            <a:r>
              <a:rPr lang="it-IT" sz="1400" dirty="0">
                <a:latin typeface="Courier" pitchFamily="2" charset="0"/>
              </a:rPr>
              <a:t>    }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2A2CA15-7A64-C9EE-7A5D-7A33B7380E4D}"/>
              </a:ext>
            </a:extLst>
          </p:cNvPr>
          <p:cNvSpPr txBox="1"/>
          <p:nvPr/>
        </p:nvSpPr>
        <p:spPr>
          <a:xfrm>
            <a:off x="72008" y="5085184"/>
            <a:ext cx="8964488" cy="1754326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it-IT">
                <a:solidFill>
                  <a:srgbClr val="333333"/>
                </a:solidFill>
                <a:latin typeface="system-ui"/>
              </a:rPr>
              <a:t>P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er convertire rispettivamente: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il carattere </a:t>
            </a:r>
            <a:r>
              <a:rPr lang="it-IT"/>
              <a:t>c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nel suo equivalente maiuscolo.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il carattere </a:t>
            </a:r>
            <a:r>
              <a:rPr lang="it-IT"/>
              <a:t>c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 nel suo equivalente minuscolo.</a:t>
            </a:r>
          </a:p>
          <a:p>
            <a:endParaRPr lang="it-IT"/>
          </a:p>
          <a:p>
            <a:r>
              <a:rPr lang="it-IT" b="1">
                <a:solidFill>
                  <a:srgbClr val="FF0000"/>
                </a:solidFill>
              </a:rPr>
              <a:t>N.B. </a:t>
            </a:r>
            <a:r>
              <a:rPr lang="it-IT" b="0" i="0">
                <a:solidFill>
                  <a:srgbClr val="333333"/>
                </a:solidFill>
                <a:effectLst/>
                <a:latin typeface="system-ui"/>
              </a:rPr>
              <a:t>I metodi restituiscono il carattere convertito nel caso ci sia un carattere maiuscolo o minuscolo equivalente, altrimenti restituisce il suo argomento originale.</a:t>
            </a:r>
            <a:endParaRPr lang="it-IT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3953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EA7148-6DC5-1BF3-89F3-D69235CE1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classe Arrays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7E4288F-4245-CD92-7ECD-A88254858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Fornisce 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metodi statici 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per le operazioni più comuni sugli array.</a:t>
            </a:r>
          </a:p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Questi metodi includono </a:t>
            </a:r>
          </a:p>
          <a:p>
            <a:pPr lvl="1"/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sort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per l’ordinamento di un array (per esempio, la disposizione degli elementi in ordine crescente), </a:t>
            </a:r>
          </a:p>
          <a:p>
            <a:pPr lvl="1"/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binarySearch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per la ricerca in array ordinati (per esempio, per determinare se un array contiene un valore specifico e, in tal caso, dove si trova il valore), </a:t>
            </a:r>
          </a:p>
          <a:p>
            <a:pPr lvl="1"/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equals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per il confronto di array, </a:t>
            </a:r>
          </a:p>
          <a:p>
            <a:pPr lvl="1"/>
            <a:r>
              <a:rPr lang="it-IT" b="1" i="0" dirty="0" err="1">
                <a:solidFill>
                  <a:srgbClr val="333333"/>
                </a:solidFill>
                <a:effectLst/>
                <a:latin typeface="system-ui"/>
              </a:rPr>
              <a:t>fill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per l’inserimento di valori in un array. </a:t>
            </a:r>
          </a:p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Questi metodi, grazie all’</a:t>
            </a:r>
            <a:r>
              <a:rPr lang="it-IT" b="0" i="0" dirty="0" err="1">
                <a:solidFill>
                  <a:srgbClr val="333333"/>
                </a:solidFill>
                <a:effectLst/>
                <a:latin typeface="system-ui"/>
              </a:rPr>
              <a:t>overloading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, sono applicabili sia agli array di tipi primitivi sia agli array di oggetti.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411886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841A151-4125-8692-40C0-B51C29440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568" y="-234021"/>
            <a:ext cx="7950530" cy="1295400"/>
          </a:xfrm>
        </p:spPr>
        <p:txBody>
          <a:bodyPr/>
          <a:lstStyle/>
          <a:p>
            <a:r>
              <a:rPr lang="it-IT" dirty="0"/>
              <a:t>Esempio 1: verifica uguaglianza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AE2F5F7-471D-15C4-55AD-C526FFF3C75D}"/>
              </a:ext>
            </a:extLst>
          </p:cNvPr>
          <p:cNvSpPr txBox="1"/>
          <p:nvPr/>
        </p:nvSpPr>
        <p:spPr>
          <a:xfrm>
            <a:off x="125760" y="1702989"/>
            <a:ext cx="9018240" cy="246221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1400" dirty="0">
                <a:latin typeface="Courier" pitchFamily="2" charset="0"/>
              </a:rPr>
              <a:t>public </a:t>
            </a:r>
            <a:r>
              <a:rPr lang="it-IT" sz="1400" dirty="0" err="1">
                <a:latin typeface="Courier" pitchFamily="2" charset="0"/>
              </a:rPr>
              <a:t>static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void</a:t>
            </a:r>
            <a:r>
              <a:rPr lang="it-IT" sz="1400" dirty="0">
                <a:latin typeface="Courier" pitchFamily="2" charset="0"/>
              </a:rPr>
              <a:t> </a:t>
            </a:r>
            <a:r>
              <a:rPr lang="it-IT" sz="1400" dirty="0" err="1">
                <a:latin typeface="Courier" pitchFamily="2" charset="0"/>
              </a:rPr>
              <a:t>main</a:t>
            </a:r>
            <a:r>
              <a:rPr lang="it-IT" sz="1400" dirty="0">
                <a:latin typeface="Courier" pitchFamily="2" charset="0"/>
              </a:rPr>
              <a:t>(</a:t>
            </a:r>
            <a:r>
              <a:rPr lang="it-IT" sz="1400" dirty="0" err="1">
                <a:latin typeface="Courier" pitchFamily="2" charset="0"/>
              </a:rPr>
              <a:t>String</a:t>
            </a:r>
            <a:r>
              <a:rPr lang="it-IT" sz="1400" dirty="0">
                <a:latin typeface="Courier" pitchFamily="2" charset="0"/>
              </a:rPr>
              <a:t>[] </a:t>
            </a:r>
            <a:r>
              <a:rPr lang="it-IT" sz="1400" dirty="0" err="1">
                <a:latin typeface="Courier" pitchFamily="2" charset="0"/>
              </a:rPr>
              <a:t>args</a:t>
            </a:r>
            <a:r>
              <a:rPr lang="it-IT" sz="1400" dirty="0">
                <a:latin typeface="Courier" pitchFamily="2" charset="0"/>
              </a:rPr>
              <a:t>) {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int</a:t>
            </a:r>
            <a:r>
              <a:rPr lang="it-IT" sz="1400" dirty="0">
                <a:latin typeface="Courier" pitchFamily="2" charset="0"/>
              </a:rPr>
              <a:t>[] </a:t>
            </a:r>
            <a:r>
              <a:rPr lang="it-IT" sz="1400" dirty="0" err="1">
                <a:latin typeface="Courier" pitchFamily="2" charset="0"/>
              </a:rPr>
              <a:t>primoArrayDiInteri</a:t>
            </a:r>
            <a:r>
              <a:rPr lang="it-IT" sz="1400" dirty="0">
                <a:latin typeface="Courier" pitchFamily="2" charset="0"/>
              </a:rPr>
              <a:t> = {3, 9, 11, 9, 77};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int</a:t>
            </a:r>
            <a:r>
              <a:rPr lang="it-IT" sz="1400" dirty="0">
                <a:latin typeface="Courier" pitchFamily="2" charset="0"/>
              </a:rPr>
              <a:t>[] </a:t>
            </a:r>
            <a:r>
              <a:rPr lang="it-IT" sz="1400" dirty="0" err="1">
                <a:latin typeface="Courier" pitchFamily="2" charset="0"/>
              </a:rPr>
              <a:t>secondoArrayDiInteri</a:t>
            </a:r>
            <a:r>
              <a:rPr lang="it-IT" sz="1400" dirty="0">
                <a:latin typeface="Courier" pitchFamily="2" charset="0"/>
              </a:rPr>
              <a:t> = {3, 9, 11, 9, 18};</a:t>
            </a:r>
          </a:p>
          <a:p>
            <a:r>
              <a:rPr lang="it-IT" sz="1400" dirty="0">
                <a:latin typeface="Courier" pitchFamily="2" charset="0"/>
              </a:rPr>
              <a:t>        //confrontiamo i due Array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boolean</a:t>
            </a:r>
            <a:r>
              <a:rPr lang="it-IT" sz="1400" dirty="0">
                <a:latin typeface="Courier" pitchFamily="2" charset="0"/>
              </a:rPr>
              <a:t> verifica = </a:t>
            </a:r>
            <a:r>
              <a:rPr lang="it-IT" sz="1400" b="1" dirty="0" err="1">
                <a:latin typeface="Courier" pitchFamily="2" charset="0"/>
              </a:rPr>
              <a:t>Arrays.equals</a:t>
            </a:r>
            <a:r>
              <a:rPr lang="it-IT" sz="1400" dirty="0">
                <a:latin typeface="Courier" pitchFamily="2" charset="0"/>
              </a:rPr>
              <a:t>(</a:t>
            </a:r>
            <a:r>
              <a:rPr lang="it-IT" sz="1400" dirty="0" err="1">
                <a:latin typeface="Courier" pitchFamily="2" charset="0"/>
              </a:rPr>
              <a:t>primoArrayDiInteri</a:t>
            </a:r>
            <a:r>
              <a:rPr lang="it-IT" sz="1400" dirty="0">
                <a:latin typeface="Courier" pitchFamily="2" charset="0"/>
              </a:rPr>
              <a:t>, </a:t>
            </a:r>
            <a:r>
              <a:rPr lang="it-IT" sz="1400" dirty="0" err="1">
                <a:latin typeface="Courier" pitchFamily="2" charset="0"/>
              </a:rPr>
              <a:t>secondoArrayDiInteri</a:t>
            </a:r>
            <a:r>
              <a:rPr lang="it-IT" sz="1400" dirty="0">
                <a:latin typeface="Courier" pitchFamily="2" charset="0"/>
              </a:rPr>
              <a:t>);</a:t>
            </a:r>
          </a:p>
          <a:p>
            <a:r>
              <a:rPr lang="it-IT" sz="1400" dirty="0">
                <a:latin typeface="Courier" pitchFamily="2" charset="0"/>
              </a:rPr>
              <a:t>        </a:t>
            </a:r>
            <a:r>
              <a:rPr lang="it-IT" sz="1400" dirty="0" err="1">
                <a:latin typeface="Courier" pitchFamily="2" charset="0"/>
              </a:rPr>
              <a:t>if</a:t>
            </a:r>
            <a:r>
              <a:rPr lang="it-IT" sz="1400" dirty="0">
                <a:latin typeface="Courier" pitchFamily="2" charset="0"/>
              </a:rPr>
              <a:t> (verifica) {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("I due array sono uguali");</a:t>
            </a:r>
          </a:p>
          <a:p>
            <a:r>
              <a:rPr lang="it-IT" sz="1400" dirty="0">
                <a:latin typeface="Courier" pitchFamily="2" charset="0"/>
              </a:rPr>
              <a:t>        } else {</a:t>
            </a:r>
          </a:p>
          <a:p>
            <a:r>
              <a:rPr lang="it-IT" sz="1400" dirty="0">
                <a:latin typeface="Courier" pitchFamily="2" charset="0"/>
              </a:rPr>
              <a:t>            </a:t>
            </a:r>
            <a:r>
              <a:rPr lang="it-IT" sz="1400" dirty="0" err="1">
                <a:latin typeface="Courier" pitchFamily="2" charset="0"/>
              </a:rPr>
              <a:t>System.out.println</a:t>
            </a:r>
            <a:r>
              <a:rPr lang="it-IT" sz="1400" dirty="0">
                <a:latin typeface="Courier" pitchFamily="2" charset="0"/>
              </a:rPr>
              <a:t>("I due array sono diversi");</a:t>
            </a:r>
          </a:p>
          <a:p>
            <a:r>
              <a:rPr lang="it-IT" sz="1400" dirty="0">
                <a:latin typeface="Courier" pitchFamily="2" charset="0"/>
              </a:rPr>
              <a:t>        }</a:t>
            </a:r>
          </a:p>
          <a:p>
            <a:r>
              <a:rPr lang="it-IT" sz="1400" dirty="0">
                <a:latin typeface="Courier" pitchFamily="2" charset="0"/>
              </a:rPr>
              <a:t> }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7DCE5B9-2160-7F3D-1A06-B381FEFC8073}"/>
              </a:ext>
            </a:extLst>
          </p:cNvPr>
          <p:cNvSpPr txBox="1"/>
          <p:nvPr/>
        </p:nvSpPr>
        <p:spPr>
          <a:xfrm>
            <a:off x="125760" y="5022255"/>
            <a:ext cx="8892480" cy="923330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it-IT" b="0" i="1">
                <a:solidFill>
                  <a:srgbClr val="333333"/>
                </a:solidFill>
                <a:effectLst/>
                <a:latin typeface="system-ui"/>
              </a:rPr>
              <a:t>Quando si confrontano i contenuti degli array occorre utilizzare sempre </a:t>
            </a:r>
            <a:r>
              <a:rPr lang="it-IT" b="0" i="1" err="1">
                <a:solidFill>
                  <a:srgbClr val="333333"/>
                </a:solidFill>
                <a:effectLst/>
                <a:latin typeface="system-ui"/>
              </a:rPr>
              <a:t>Arrays.equals</a:t>
            </a:r>
            <a:r>
              <a:rPr lang="it-IT" b="0" i="1">
                <a:solidFill>
                  <a:srgbClr val="333333"/>
                </a:solidFill>
                <a:effectLst/>
                <a:latin typeface="system-ui"/>
              </a:rPr>
              <a:t>(array1, array2), che confronta i contenuti dei due array, anziché array1.equals(array2), che confronta se array1 e array2 si riferiscono allo stesso oggetto array.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7513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7EEA95-3C9D-9EF5-8DB7-DF29BED2B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2: ordinamento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B23B653-6860-3C26-8BEF-0B3A2537DA0F}"/>
              </a:ext>
            </a:extLst>
          </p:cNvPr>
          <p:cNvSpPr txBox="1"/>
          <p:nvPr/>
        </p:nvSpPr>
        <p:spPr>
          <a:xfrm>
            <a:off x="457200" y="2278384"/>
            <a:ext cx="8356874" cy="286232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 double[]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doubleArray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= {8.4, 9.3, 0.2, 7.9, 3.4};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	 //ordiniamo il vettore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doubleArray</a:t>
            </a:r>
            <a:endParaRPr lang="it-IT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it-IT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Arrays.sort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doubleArray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);        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	 for (double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doubleArray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("%.1f ", </a:t>
            </a:r>
            <a:r>
              <a:rPr lang="it-IT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00445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9A5794-3794-113D-F406-F24D44CD4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32656"/>
            <a:ext cx="7543800" cy="1295400"/>
          </a:xfrm>
        </p:spPr>
        <p:txBody>
          <a:bodyPr/>
          <a:lstStyle/>
          <a:p>
            <a:r>
              <a:rPr lang="it-IT" dirty="0"/>
              <a:t>Esempio 3: ricerca binaria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65D3AFF-4448-DD7E-4A77-FE5E5E0C35A7}"/>
              </a:ext>
            </a:extLst>
          </p:cNvPr>
          <p:cNvSpPr txBox="1"/>
          <p:nvPr/>
        </p:nvSpPr>
        <p:spPr>
          <a:xfrm>
            <a:off x="156368" y="2132856"/>
            <a:ext cx="8831264" cy="189282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300" dirty="0">
                <a:latin typeface="Courier" pitchFamily="2" charset="0"/>
              </a:rPr>
              <a:t>public </a:t>
            </a:r>
            <a:r>
              <a:rPr lang="it-IT" sz="1300" dirty="0" err="1">
                <a:latin typeface="Courier" pitchFamily="2" charset="0"/>
              </a:rPr>
              <a:t>static</a:t>
            </a:r>
            <a:r>
              <a:rPr lang="it-IT" sz="1300" dirty="0">
                <a:latin typeface="Courier" pitchFamily="2" charset="0"/>
              </a:rPr>
              <a:t> </a:t>
            </a:r>
            <a:r>
              <a:rPr lang="it-IT" sz="1300" dirty="0" err="1">
                <a:latin typeface="Courier" pitchFamily="2" charset="0"/>
              </a:rPr>
              <a:t>void</a:t>
            </a:r>
            <a:r>
              <a:rPr lang="it-IT" sz="1300" dirty="0">
                <a:latin typeface="Courier" pitchFamily="2" charset="0"/>
              </a:rPr>
              <a:t> </a:t>
            </a:r>
            <a:r>
              <a:rPr lang="it-IT" sz="1300" dirty="0" err="1">
                <a:latin typeface="Courier" pitchFamily="2" charset="0"/>
              </a:rPr>
              <a:t>main</a:t>
            </a:r>
            <a:r>
              <a:rPr lang="it-IT" sz="1300" dirty="0">
                <a:latin typeface="Courier" pitchFamily="2" charset="0"/>
              </a:rPr>
              <a:t>(</a:t>
            </a:r>
            <a:r>
              <a:rPr lang="it-IT" sz="1300" dirty="0" err="1">
                <a:latin typeface="Courier" pitchFamily="2" charset="0"/>
              </a:rPr>
              <a:t>String</a:t>
            </a:r>
            <a:r>
              <a:rPr lang="it-IT" sz="1300" dirty="0">
                <a:latin typeface="Courier" pitchFamily="2" charset="0"/>
              </a:rPr>
              <a:t>[] </a:t>
            </a:r>
            <a:r>
              <a:rPr lang="it-IT" sz="1300" dirty="0" err="1">
                <a:latin typeface="Courier" pitchFamily="2" charset="0"/>
              </a:rPr>
              <a:t>args</a:t>
            </a:r>
            <a:r>
              <a:rPr lang="it-IT" sz="1300" dirty="0">
                <a:latin typeface="Courier" pitchFamily="2" charset="0"/>
              </a:rPr>
              <a:t>) {</a:t>
            </a:r>
          </a:p>
          <a:p>
            <a:r>
              <a:rPr lang="it-IT" sz="1300" dirty="0">
                <a:latin typeface="Courier" pitchFamily="2" charset="0"/>
              </a:rPr>
              <a:t>        </a:t>
            </a:r>
            <a:r>
              <a:rPr lang="it-IT" sz="1300" dirty="0" err="1">
                <a:latin typeface="Courier" pitchFamily="2" charset="0"/>
              </a:rPr>
              <a:t>int</a:t>
            </a:r>
            <a:r>
              <a:rPr lang="it-IT" sz="1300" dirty="0">
                <a:latin typeface="Courier" pitchFamily="2" charset="0"/>
              </a:rPr>
              <a:t>[] </a:t>
            </a:r>
            <a:r>
              <a:rPr lang="it-IT" sz="1300" dirty="0" err="1">
                <a:latin typeface="Courier" pitchFamily="2" charset="0"/>
              </a:rPr>
              <a:t>arrayDiInteri</a:t>
            </a:r>
            <a:r>
              <a:rPr lang="it-IT" sz="1300" dirty="0">
                <a:latin typeface="Courier" pitchFamily="2" charset="0"/>
              </a:rPr>
              <a:t> = {3, 9, 11, 9, 77};</a:t>
            </a:r>
          </a:p>
          <a:p>
            <a:r>
              <a:rPr lang="it-IT" sz="1300" dirty="0">
                <a:latin typeface="Courier" pitchFamily="2" charset="0"/>
              </a:rPr>
              <a:t>        //cerchiamo il valore 9 in </a:t>
            </a:r>
            <a:r>
              <a:rPr lang="it-IT" sz="1300" dirty="0" err="1">
                <a:latin typeface="Courier" pitchFamily="2" charset="0"/>
              </a:rPr>
              <a:t>arrayDiInteri</a:t>
            </a:r>
            <a:endParaRPr lang="it-IT" sz="1300" dirty="0">
              <a:latin typeface="Courier" pitchFamily="2" charset="0"/>
            </a:endParaRPr>
          </a:p>
          <a:p>
            <a:r>
              <a:rPr lang="it-IT" sz="1300" dirty="0">
                <a:latin typeface="Courier" pitchFamily="2" charset="0"/>
              </a:rPr>
              <a:t>        </a:t>
            </a:r>
            <a:r>
              <a:rPr lang="it-IT" sz="1300" dirty="0" err="1">
                <a:latin typeface="Courier" pitchFamily="2" charset="0"/>
              </a:rPr>
              <a:t>int</a:t>
            </a:r>
            <a:r>
              <a:rPr lang="it-IT" sz="1300" dirty="0">
                <a:latin typeface="Courier" pitchFamily="2" charset="0"/>
              </a:rPr>
              <a:t> valore=9;</a:t>
            </a:r>
          </a:p>
          <a:p>
            <a:r>
              <a:rPr lang="it-IT" sz="1300" dirty="0">
                <a:latin typeface="Courier" pitchFamily="2" charset="0"/>
              </a:rPr>
              <a:t>        </a:t>
            </a:r>
            <a:r>
              <a:rPr lang="it-IT" sz="1300" dirty="0" err="1">
                <a:latin typeface="Courier" pitchFamily="2" charset="0"/>
              </a:rPr>
              <a:t>int</a:t>
            </a:r>
            <a:r>
              <a:rPr lang="it-IT" sz="1300" dirty="0">
                <a:latin typeface="Courier" pitchFamily="2" charset="0"/>
              </a:rPr>
              <a:t> posizione = </a:t>
            </a:r>
            <a:r>
              <a:rPr lang="it-IT" sz="1300" b="1" dirty="0" err="1">
                <a:latin typeface="Courier" pitchFamily="2" charset="0"/>
              </a:rPr>
              <a:t>Arrays.binarySearch</a:t>
            </a:r>
            <a:r>
              <a:rPr lang="it-IT" sz="1300" dirty="0">
                <a:latin typeface="Courier" pitchFamily="2" charset="0"/>
              </a:rPr>
              <a:t>(</a:t>
            </a:r>
            <a:r>
              <a:rPr lang="it-IT" sz="1300" dirty="0" err="1">
                <a:latin typeface="Courier" pitchFamily="2" charset="0"/>
              </a:rPr>
              <a:t>arrayDiInteri</a:t>
            </a:r>
            <a:r>
              <a:rPr lang="it-IT" sz="1300" dirty="0">
                <a:latin typeface="Courier" pitchFamily="2" charset="0"/>
              </a:rPr>
              <a:t>, valore);</a:t>
            </a:r>
          </a:p>
          <a:p>
            <a:r>
              <a:rPr lang="it-IT" sz="1300" dirty="0">
                <a:latin typeface="Courier" pitchFamily="2" charset="0"/>
              </a:rPr>
              <a:t>        </a:t>
            </a:r>
            <a:r>
              <a:rPr lang="it-IT" sz="1300" dirty="0" err="1">
                <a:latin typeface="Courier" pitchFamily="2" charset="0"/>
              </a:rPr>
              <a:t>if</a:t>
            </a:r>
            <a:r>
              <a:rPr lang="it-IT" sz="1300" dirty="0">
                <a:latin typeface="Courier" pitchFamily="2" charset="0"/>
              </a:rPr>
              <a:t> (posizione &gt;= 0) {</a:t>
            </a:r>
          </a:p>
          <a:p>
            <a:r>
              <a:rPr lang="it-IT" sz="1300" dirty="0">
                <a:latin typeface="Courier" pitchFamily="2" charset="0"/>
              </a:rPr>
              <a:t>            </a:t>
            </a:r>
            <a:r>
              <a:rPr lang="it-IT" sz="1300" dirty="0" err="1">
                <a:latin typeface="Courier" pitchFamily="2" charset="0"/>
              </a:rPr>
              <a:t>System.out.printf</a:t>
            </a:r>
            <a:r>
              <a:rPr lang="it-IT" sz="1300" dirty="0">
                <a:latin typeface="Courier" pitchFamily="2" charset="0"/>
              </a:rPr>
              <a:t>("Valore %d trovato in posizione %</a:t>
            </a:r>
            <a:r>
              <a:rPr lang="it-IT" sz="1300" dirty="0" err="1">
                <a:latin typeface="Courier" pitchFamily="2" charset="0"/>
              </a:rPr>
              <a:t>d%n</a:t>
            </a:r>
            <a:r>
              <a:rPr lang="it-IT" sz="1300" dirty="0">
                <a:latin typeface="Courier" pitchFamily="2" charset="0"/>
              </a:rPr>
              <a:t>",valore, posizione);</a:t>
            </a:r>
          </a:p>
          <a:p>
            <a:r>
              <a:rPr lang="it-IT" sz="1300" dirty="0">
                <a:latin typeface="Courier" pitchFamily="2" charset="0"/>
              </a:rPr>
              <a:t>        }</a:t>
            </a:r>
          </a:p>
          <a:p>
            <a:r>
              <a:rPr lang="it-IT" sz="1300" dirty="0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011368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B7D620-F636-99D9-FB9F-3F7E6C4DE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Esempio 4: copia di array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E452C90-B32A-6A51-F104-77F05BE96E80}"/>
              </a:ext>
            </a:extLst>
          </p:cNvPr>
          <p:cNvSpPr txBox="1"/>
          <p:nvPr/>
        </p:nvSpPr>
        <p:spPr>
          <a:xfrm>
            <a:off x="89756" y="1904957"/>
            <a:ext cx="8964488" cy="35394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arrayDiInteri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{3, 9, 11, 4, 77};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//copiamo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arrayDiInteri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nuovoArray</a:t>
            </a:r>
            <a:endParaRPr lang="it-IT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[]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nuovoArray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new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arrayDiInteri.length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System.arraycopy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(arrayDiInteri,0,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nuovoArray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0,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arrayDiInteri.length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displayArray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arrayDiInteri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"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arrayDiInteri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displayArray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nuovoArray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"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nuovoArray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");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// visualizza valori in ogni array 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public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displayArray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[] array,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("%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n%s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",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for (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: array) {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System.out.printf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("%d ", </a:t>
            </a:r>
            <a:r>
              <a:rPr lang="it-IT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r>
              <a:rPr lang="it-IT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5446EB5-DF74-9327-0F71-BCFE18608970}"/>
              </a:ext>
            </a:extLst>
          </p:cNvPr>
          <p:cNvSpPr txBox="1"/>
          <p:nvPr/>
        </p:nvSpPr>
        <p:spPr>
          <a:xfrm>
            <a:off x="1484416" y="5931706"/>
            <a:ext cx="666079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/>
              <a:t>Notare che </a:t>
            </a:r>
            <a:r>
              <a:rPr lang="it-IT" b="1" i="1" dirty="0" err="1"/>
              <a:t>arraycopy</a:t>
            </a:r>
            <a:r>
              <a:rPr lang="it-IT" dirty="0"/>
              <a:t> è un metodo statico delle classe System</a:t>
            </a:r>
          </a:p>
        </p:txBody>
      </p:sp>
    </p:spTree>
    <p:extLst>
      <p:ext uri="{BB962C8B-B14F-4D97-AF65-F5344CB8AC3E}">
        <p14:creationId xmlns:p14="http://schemas.microsoft.com/office/powerpoint/2010/main" val="53129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9B3146-9FB8-0C5A-34E8-AD06EB684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Liste di argomenti di lunghezza variabile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50779F-3385-6135-AC97-FCFBF89F1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844824"/>
            <a:ext cx="8136904" cy="4230017"/>
          </a:xfrm>
        </p:spPr>
        <p:txBody>
          <a:bodyPr>
            <a:normAutofit fontScale="85000" lnSpcReduction="20000"/>
          </a:bodyPr>
          <a:lstStyle/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Con le 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liste di argomenti di lunghezza variabile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è possibile creare metodi che prendono una quantità non specificata di argomenti. </a:t>
            </a:r>
          </a:p>
          <a:p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Un tipo di argomento seguito da 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tre punti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(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...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) 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nell’elenco dei parametri di un metodo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 indica che il metodo può ricevere una quantità variabile di argomenti </a:t>
            </a:r>
            <a:r>
              <a:rPr lang="it-IT" b="1" i="0" dirty="0">
                <a:solidFill>
                  <a:srgbClr val="333333"/>
                </a:solidFill>
                <a:effectLst/>
                <a:latin typeface="system-ui"/>
              </a:rPr>
              <a:t>di quel particolare tipo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. </a:t>
            </a:r>
          </a:p>
          <a:p>
            <a:pPr lvl="1"/>
            <a:r>
              <a:rPr lang="it-IT" b="0" i="0" u="sng" dirty="0">
                <a:solidFill>
                  <a:srgbClr val="333333"/>
                </a:solidFill>
                <a:effectLst/>
                <a:latin typeface="system-ui"/>
              </a:rPr>
              <a:t>I tre punti possono essere inclusi una sola volta </a:t>
            </a:r>
            <a:r>
              <a:rPr lang="it-IT" b="0" i="0" dirty="0">
                <a:solidFill>
                  <a:srgbClr val="333333"/>
                </a:solidFill>
                <a:effectLst/>
                <a:latin typeface="system-ui"/>
              </a:rPr>
              <a:t>in un elenco dei parametri, e necessariamente in fondo. </a:t>
            </a:r>
          </a:p>
          <a:p>
            <a:pPr lvl="1"/>
            <a:r>
              <a:rPr lang="it-IT" b="1" i="1" dirty="0"/>
              <a:t>Errore tipico:</a:t>
            </a:r>
            <a:r>
              <a:rPr lang="it-IT" dirty="0"/>
              <a:t> </a:t>
            </a:r>
            <a:r>
              <a:rPr lang="it-IT" b="0" i="1" dirty="0">
                <a:solidFill>
                  <a:srgbClr val="333333"/>
                </a:solidFill>
                <a:effectLst/>
                <a:latin typeface="system-ui"/>
              </a:rPr>
              <a:t>Inserire i tre punti che indicano una lista di argomenti di lunghezza variabile in mezzo alla lista dei parametri di un metodo è un errore di sintassi. I tre punti possono essere inseriti solo alla fine della lista dei parametri.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69468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6E2074-C4C6-577E-F52C-2F804C26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604837"/>
          </a:xfrm>
        </p:spPr>
        <p:txBody>
          <a:bodyPr/>
          <a:lstStyle/>
          <a:p>
            <a:r>
              <a:rPr lang="it-IT" dirty="0"/>
              <a:t>Esempio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731F420C-0979-C131-89DC-74C22F793CE2}"/>
              </a:ext>
            </a:extLst>
          </p:cNvPr>
          <p:cNvSpPr txBox="1"/>
          <p:nvPr/>
        </p:nvSpPr>
        <p:spPr>
          <a:xfrm>
            <a:off x="323527" y="746005"/>
            <a:ext cx="8496944" cy="34163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it-IT" dirty="0">
                <a:latin typeface="Courier" pitchFamily="2" charset="0"/>
              </a:rPr>
              <a:t>public </a:t>
            </a:r>
            <a:r>
              <a:rPr lang="it-IT" dirty="0" err="1">
                <a:latin typeface="Courier" pitchFamily="2" charset="0"/>
              </a:rPr>
              <a:t>static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void</a:t>
            </a:r>
            <a:r>
              <a:rPr lang="it-IT" dirty="0">
                <a:latin typeface="Courier" pitchFamily="2" charset="0"/>
              </a:rPr>
              <a:t> </a:t>
            </a:r>
            <a:r>
              <a:rPr lang="it-IT" dirty="0" err="1">
                <a:latin typeface="Courier" pitchFamily="2" charset="0"/>
              </a:rPr>
              <a:t>main</a:t>
            </a:r>
            <a:r>
              <a:rPr lang="it-IT" dirty="0">
                <a:latin typeface="Courier" pitchFamily="2" charset="0"/>
              </a:rPr>
              <a:t>(</a:t>
            </a:r>
            <a:r>
              <a:rPr lang="it-IT" dirty="0" err="1">
                <a:latin typeface="Courier" pitchFamily="2" charset="0"/>
              </a:rPr>
              <a:t>String</a:t>
            </a:r>
            <a:r>
              <a:rPr lang="it-IT" dirty="0">
                <a:latin typeface="Courier" pitchFamily="2" charset="0"/>
              </a:rPr>
              <a:t>[] </a:t>
            </a:r>
            <a:r>
              <a:rPr lang="it-IT" dirty="0" err="1">
                <a:latin typeface="Courier" pitchFamily="2" charset="0"/>
              </a:rPr>
              <a:t>args</a:t>
            </a:r>
            <a:r>
              <a:rPr lang="it-IT" dirty="0">
                <a:latin typeface="Courier" pitchFamily="2" charset="0"/>
              </a:rPr>
              <a:t>) {</a:t>
            </a:r>
          </a:p>
          <a:p>
            <a:r>
              <a:rPr lang="it-IT" dirty="0">
                <a:latin typeface="Courier" pitchFamily="2" charset="0"/>
              </a:rPr>
              <a:t>        double a1 = 10.0;</a:t>
            </a:r>
          </a:p>
          <a:p>
            <a:r>
              <a:rPr lang="it-IT" dirty="0">
                <a:latin typeface="Courier" pitchFamily="2" charset="0"/>
              </a:rPr>
              <a:t>        double a2 = 40.0;</a:t>
            </a:r>
          </a:p>
          <a:p>
            <a:r>
              <a:rPr lang="it-IT" dirty="0">
                <a:latin typeface="Courier" pitchFamily="2" charset="0"/>
              </a:rPr>
              <a:t>        double a3 = 50.0;</a:t>
            </a:r>
          </a:p>
          <a:p>
            <a:r>
              <a:rPr lang="it-IT" dirty="0">
                <a:latin typeface="Courier" pitchFamily="2" charset="0"/>
              </a:rPr>
              <a:t>        double a4 = 75.0;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System.out.printf</a:t>
            </a:r>
            <a:r>
              <a:rPr lang="it-IT" dirty="0">
                <a:latin typeface="Courier" pitchFamily="2" charset="0"/>
              </a:rPr>
              <a:t>("media di %.1f e %.1f: %.1f%n", a1, a2, media(a1,a2));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System.out.printf</a:t>
            </a:r>
            <a:r>
              <a:rPr lang="it-IT" dirty="0">
                <a:latin typeface="Courier" pitchFamily="2" charset="0"/>
              </a:rPr>
              <a:t>("media di %.1f, %.1f e %.1f: %.1f%n", a1, a2, a3, media(a1,a2, a3));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System.out.printf</a:t>
            </a:r>
            <a:r>
              <a:rPr lang="it-IT" dirty="0">
                <a:latin typeface="Courier" pitchFamily="2" charset="0"/>
              </a:rPr>
              <a:t>("media di %.1f, %.1f, %.1f e %.1f: %.1f%n", a1, a2, a3, a4, media(a1,a2, a3, a4));</a:t>
            </a:r>
          </a:p>
          <a:p>
            <a:r>
              <a:rPr lang="it-IT" dirty="0">
                <a:latin typeface="Courier" pitchFamily="2" charset="0"/>
              </a:rPr>
              <a:t>    }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364FA1C-2831-A821-E625-859AAD73396A}"/>
              </a:ext>
            </a:extLst>
          </p:cNvPr>
          <p:cNvSpPr txBox="1"/>
          <p:nvPr/>
        </p:nvSpPr>
        <p:spPr>
          <a:xfrm>
            <a:off x="785563" y="4427438"/>
            <a:ext cx="7215437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dirty="0">
                <a:latin typeface="Courier" pitchFamily="2" charset="0"/>
              </a:rPr>
              <a:t>public </a:t>
            </a:r>
            <a:r>
              <a:rPr lang="it-IT" dirty="0" err="1">
                <a:latin typeface="Courier" pitchFamily="2" charset="0"/>
              </a:rPr>
              <a:t>static</a:t>
            </a:r>
            <a:r>
              <a:rPr lang="it-IT" dirty="0">
                <a:latin typeface="Courier" pitchFamily="2" charset="0"/>
              </a:rPr>
              <a:t> double media (</a:t>
            </a:r>
            <a:r>
              <a:rPr lang="it-IT" b="1" dirty="0">
                <a:latin typeface="Courier" pitchFamily="2" charset="0"/>
              </a:rPr>
              <a:t>double... numeri</a:t>
            </a:r>
            <a:r>
              <a:rPr lang="it-IT" dirty="0">
                <a:latin typeface="Courier" pitchFamily="2" charset="0"/>
              </a:rPr>
              <a:t>){</a:t>
            </a:r>
          </a:p>
          <a:p>
            <a:r>
              <a:rPr lang="it-IT" dirty="0">
                <a:latin typeface="Courier" pitchFamily="2" charset="0"/>
              </a:rPr>
              <a:t>        double somma = 0.0;</a:t>
            </a:r>
          </a:p>
          <a:p>
            <a:r>
              <a:rPr lang="it-IT" dirty="0">
                <a:latin typeface="Courier" pitchFamily="2" charset="0"/>
              </a:rPr>
              <a:t>        //calcola la somma usando il for potenziato</a:t>
            </a:r>
          </a:p>
          <a:p>
            <a:r>
              <a:rPr lang="it-IT" dirty="0">
                <a:latin typeface="Courier" pitchFamily="2" charset="0"/>
              </a:rPr>
              <a:t>        for(double d: numeri) {</a:t>
            </a:r>
          </a:p>
          <a:p>
            <a:r>
              <a:rPr lang="it-IT" dirty="0">
                <a:latin typeface="Courier" pitchFamily="2" charset="0"/>
              </a:rPr>
              <a:t>            somma += d;</a:t>
            </a:r>
          </a:p>
          <a:p>
            <a:r>
              <a:rPr lang="it-IT" dirty="0">
                <a:latin typeface="Courier" pitchFamily="2" charset="0"/>
              </a:rPr>
              <a:t>        }</a:t>
            </a:r>
          </a:p>
          <a:p>
            <a:r>
              <a:rPr lang="it-IT" dirty="0">
                <a:latin typeface="Courier" pitchFamily="2" charset="0"/>
              </a:rPr>
              <a:t>        </a:t>
            </a:r>
            <a:r>
              <a:rPr lang="it-IT" dirty="0" err="1">
                <a:latin typeface="Courier" pitchFamily="2" charset="0"/>
              </a:rPr>
              <a:t>return</a:t>
            </a:r>
            <a:r>
              <a:rPr lang="it-IT" dirty="0">
                <a:latin typeface="Courier" pitchFamily="2" charset="0"/>
              </a:rPr>
              <a:t> somma/</a:t>
            </a:r>
            <a:r>
              <a:rPr lang="it-IT" dirty="0" err="1">
                <a:latin typeface="Courier" pitchFamily="2" charset="0"/>
              </a:rPr>
              <a:t>numeri.length</a:t>
            </a:r>
            <a:r>
              <a:rPr lang="it-IT" dirty="0">
                <a:latin typeface="Courier" pitchFamily="2" charset="0"/>
              </a:rPr>
              <a:t>;</a:t>
            </a:r>
          </a:p>
          <a:p>
            <a:r>
              <a:rPr lang="it-IT" dirty="0">
                <a:latin typeface="Courier" pitchFamily="2" charset="0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405781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DCB421-3055-B4DE-4989-BA94B9DAB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1" y="-340900"/>
            <a:ext cx="7543800" cy="1295400"/>
          </a:xfrm>
        </p:spPr>
        <p:txBody>
          <a:bodyPr/>
          <a:lstStyle/>
          <a:p>
            <a:r>
              <a:rPr lang="it-IT" dirty="0"/>
              <a:t>Riferimenti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5B64D3-990B-5BF0-F32D-B74C92E1B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636136"/>
            <a:ext cx="8780318" cy="4411662"/>
          </a:xfrm>
        </p:spPr>
        <p:txBody>
          <a:bodyPr/>
          <a:lstStyle/>
          <a:p>
            <a:r>
              <a:rPr lang="it-IT" altLang="en-US" dirty="0"/>
              <a:t>Programmare in Java: </a:t>
            </a:r>
          </a:p>
          <a:p>
            <a:pPr lvl="1"/>
            <a:r>
              <a:rPr lang="it-IT" dirty="0"/>
              <a:t>Capitolo 16, §16.3, §16.4 (classi </a:t>
            </a:r>
            <a:r>
              <a:rPr lang="it-IT" dirty="0" err="1"/>
              <a:t>Wrapper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Capitolo 7, § 7.13, §7.15 (Liste di argomenti e Arrays)</a:t>
            </a:r>
          </a:p>
          <a:p>
            <a:r>
              <a:rPr lang="it-IT" altLang="en-US" dirty="0" err="1"/>
              <a:t>Savitch</a:t>
            </a:r>
            <a:endParaRPr lang="it-IT" altLang="en-US" dirty="0"/>
          </a:p>
          <a:p>
            <a:pPr lvl="1"/>
            <a:r>
              <a:rPr lang="it-IT" altLang="en-US"/>
              <a:t>Paragrafo 9.2.5</a:t>
            </a:r>
            <a:endParaRPr lang="it-IT" altLang="en-US" dirty="0"/>
          </a:p>
        </p:txBody>
      </p:sp>
    </p:spTree>
    <p:extLst>
      <p:ext uri="{BB962C8B-B14F-4D97-AF65-F5344CB8AC3E}">
        <p14:creationId xmlns:p14="http://schemas.microsoft.com/office/powerpoint/2010/main" val="227406494"/>
      </p:ext>
    </p:extLst>
  </p:cSld>
  <p:clrMapOvr>
    <a:masterClrMapping/>
  </p:clrMapOvr>
</p:sld>
</file>

<file path=ppt/theme/theme1.xml><?xml version="1.0" encoding="utf-8"?>
<a:theme xmlns:a="http://schemas.openxmlformats.org/drawingml/2006/main" name="Rete">
  <a:themeElements>
    <a:clrScheme name="Rete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Re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Rete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ete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ete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075877EE1B70A4284EAAAD4F5DAB5A8" ma:contentTypeVersion="3" ma:contentTypeDescription="Create a new document." ma:contentTypeScope="" ma:versionID="f90efe8b9a013048999e04d4d7cbb7e6">
  <xsd:schema xmlns:xsd="http://www.w3.org/2001/XMLSchema" xmlns:xs="http://www.w3.org/2001/XMLSchema" xmlns:p="http://schemas.microsoft.com/office/2006/metadata/properties" xmlns:ns2="26b08820-12d9-4581-8254-4e993db2160e" targetNamespace="http://schemas.microsoft.com/office/2006/metadata/properties" ma:root="true" ma:fieldsID="f6cef277e2c68d9d910b222ad249d322" ns2:_="">
    <xsd:import namespace="26b08820-12d9-4581-8254-4e993db216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b08820-12d9-4581-8254-4e993db216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D886686-3B5D-4987-BDAA-0BC6658B1F8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51BB44-6835-42C4-BEAE-2C9DC9E077A3}"/>
</file>

<file path=customXml/itemProps3.xml><?xml version="1.0" encoding="utf-8"?>
<ds:datastoreItem xmlns:ds="http://schemas.openxmlformats.org/officeDocument/2006/customXml" ds:itemID="{98893E7A-8217-483B-8B8D-EBA3974CFD3A}">
  <ds:schemaRefs>
    <ds:schemaRef ds:uri="17cb46fe-fb09-4fdf-a472-4e2c88d31c8c"/>
    <ds:schemaRef ds:uri="35be80a6-5618-4845-bacd-cf0098900a47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196</TotalTime>
  <Words>4592</Words>
  <Application>Microsoft Macintosh PowerPoint</Application>
  <PresentationFormat>Presentazione su schermo (4:3)</PresentationFormat>
  <Paragraphs>368</Paragraphs>
  <Slides>31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31</vt:i4>
      </vt:variant>
    </vt:vector>
  </HeadingPairs>
  <TitlesOfParts>
    <vt:vector size="40" baseType="lpstr">
      <vt:lpstr>Arial</vt:lpstr>
      <vt:lpstr>Calibri</vt:lpstr>
      <vt:lpstr>Courier</vt:lpstr>
      <vt:lpstr>Courier New</vt:lpstr>
      <vt:lpstr>system-ui</vt:lpstr>
      <vt:lpstr>Times New Roman</vt:lpstr>
      <vt:lpstr>Verdana</vt:lpstr>
      <vt:lpstr>Wingdings</vt:lpstr>
      <vt:lpstr>Rete</vt:lpstr>
      <vt:lpstr>  Corso di Programmazione</vt:lpstr>
      <vt:lpstr>Tipi primitivi in Java</vt:lpstr>
      <vt:lpstr>Type casting dei tipi primitivi in Java</vt:lpstr>
      <vt:lpstr>Esempio1 Widening Casting </vt:lpstr>
      <vt:lpstr>Esempio2 Widening Casting </vt:lpstr>
      <vt:lpstr>Esempio3 Narrowing Casting</vt:lpstr>
      <vt:lpstr>Esempi di uso di caratteri Unicode in Java</vt:lpstr>
      <vt:lpstr>Altro casting da intero a char</vt:lpstr>
      <vt:lpstr>Classi Wrapper dei tipi primitivi</vt:lpstr>
      <vt:lpstr>Uso delle classi Wrapper</vt:lpstr>
      <vt:lpstr>Autoboxing e auto-unboxing</vt:lpstr>
      <vt:lpstr>Esempio</vt:lpstr>
      <vt:lpstr>Esempi di autoboxing e auto-unboxing</vt:lpstr>
      <vt:lpstr>La classe Character</vt:lpstr>
      <vt:lpstr>Esempio</vt:lpstr>
      <vt:lpstr>Esempio</vt:lpstr>
      <vt:lpstr>Esempio</vt:lpstr>
      <vt:lpstr>Esempio</vt:lpstr>
      <vt:lpstr>Esempio</vt:lpstr>
      <vt:lpstr>Esempio</vt:lpstr>
      <vt:lpstr>Esempio</vt:lpstr>
      <vt:lpstr>Esempio</vt:lpstr>
      <vt:lpstr>Esempio</vt:lpstr>
      <vt:lpstr>La classe Arrays</vt:lpstr>
      <vt:lpstr>Esempio 1: verifica uguaglianza</vt:lpstr>
      <vt:lpstr>Esempio 2: ordinamento</vt:lpstr>
      <vt:lpstr>Esempio 3: ricerca binaria</vt:lpstr>
      <vt:lpstr>Esempio 4: copia di array</vt:lpstr>
      <vt:lpstr>Liste di argomenti di lunghezza variabile</vt:lpstr>
      <vt:lpstr>Esempio</vt:lpstr>
      <vt:lpstr>Riferimenti</vt:lpstr>
    </vt:vector>
  </TitlesOfParts>
  <Company>la pulce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Nessun titolo diapositiva</dc:title>
  <dc:creator>domenique</dc:creator>
  <cp:lastModifiedBy>DOMENICO AMALFITANO</cp:lastModifiedBy>
  <cp:revision>10</cp:revision>
  <cp:lastPrinted>1999-11-19T14:12:44Z</cp:lastPrinted>
  <dcterms:created xsi:type="dcterms:W3CDTF">1999-10-30T10:20:48Z</dcterms:created>
  <dcterms:modified xsi:type="dcterms:W3CDTF">2025-03-28T07:02:31Z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2023-11-30T08:44:01Z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c4a52107-c177-479a-bcd7-dbf9d4e988dd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0x010100C075877EE1B70A4284EAAAD4F5DAB5A8</vt:lpwstr>
  </property>
  <property fmtid="{D5CDD505-2E9C-101B-9397-08002B2CF9AE}" pid="10" name="MediaServiceImageTags">
    <vt:lpwstr/>
  </property>
</Properties>
</file>