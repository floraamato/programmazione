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65" r:id="rId5"/>
    <p:sldId id="370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393" r:id="rId14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7E8A9-AC1C-5C4F-B0C7-5F9F1207D4B2}" v="5" dt="2025-03-19T00:10:05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5"/>
  </p:normalViewPr>
  <p:slideViewPr>
    <p:cSldViewPr snapToGrid="0"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20/03/25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>
                <a:latin typeface="Times New Roman" pitchFamily="18" charset="0"/>
              </a:rPr>
            </a:br>
            <a:r>
              <a:rPr lang="en-US" altLang="it-IT" sz="4000">
                <a:latin typeface="Times New Roman" pitchFamily="18" charset="0"/>
              </a:rPr>
              <a:t> 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-138112" y="3049588"/>
            <a:ext cx="7235825" cy="2362200"/>
          </a:xfrm>
        </p:spPr>
        <p:txBody>
          <a:bodyPr/>
          <a:lstStyle/>
          <a:p>
            <a:pPr eaLnBrk="1" hangingPunct="1"/>
            <a:r>
              <a:rPr lang="en-US" altLang="it-IT" sz="3600" b="1" i="1" dirty="0">
                <a:latin typeface="Times New Roman" pitchFamily="18" charset="0"/>
              </a:rPr>
              <a:t>Java…getting started  </a:t>
            </a:r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CF6EAD-0E5A-A4B2-68D0-18B123F5A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65" y="224540"/>
            <a:ext cx="7772400" cy="762000"/>
          </a:xfrm>
        </p:spPr>
        <p:txBody>
          <a:bodyPr/>
          <a:lstStyle/>
          <a:p>
            <a:pPr eaLnBrk="1" hangingPunct="1"/>
            <a:r>
              <a:rPr lang="it-IT" altLang="it-IT" dirty="0" err="1"/>
              <a:t>Outline</a:t>
            </a:r>
            <a:endParaRPr lang="en-GB" altLang="it-IT" dirty="0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07A73076-FCDC-605F-530E-DE576F66E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699" y="1210895"/>
            <a:ext cx="8212137" cy="4926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400" b="1" dirty="0"/>
              <a:t>Obiettivo:</a:t>
            </a:r>
            <a:endParaRPr lang="it-IT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Comprendere la struttura di un programma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Scrivere funzioni che non lavorano su oggetti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Imparare ad utilizzare lo standard input </a:t>
            </a:r>
          </a:p>
          <a:p>
            <a:pPr>
              <a:buNone/>
            </a:pPr>
            <a:r>
              <a:rPr lang="it-IT" sz="2400" b="1" dirty="0"/>
              <a:t>Cosa vedremo:</a:t>
            </a:r>
            <a:endParaRPr lang="it-IT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Il metodo </a:t>
            </a:r>
            <a:r>
              <a:rPr lang="it-IT" sz="2400" dirty="0" err="1"/>
              <a:t>main</a:t>
            </a:r>
            <a:r>
              <a:rPr lang="it-IT" sz="2400" dirty="0"/>
              <a:t> e la struttura di un programma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Uso dello Scanner per l’acquisizione di dati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Definizione e utilizzo di funzioni per organizzare il codice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400" dirty="0"/>
              <a:t>Un esempio pratico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GB" altLang="it-IT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8E34D5-DE6F-D5A6-7924-578C5D80B433}"/>
              </a:ext>
            </a:extLst>
          </p:cNvPr>
          <p:cNvSpPr txBox="1"/>
          <p:nvPr/>
        </p:nvSpPr>
        <p:spPr>
          <a:xfrm>
            <a:off x="332509" y="1598369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072D8A-C9A0-4DD2-6E02-EFF71C7C24A8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32AC1BA-9F3B-2EE6-98E6-630FEC2F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06" y="122237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</p:spTree>
    <p:extLst>
      <p:ext uri="{BB962C8B-B14F-4D97-AF65-F5344CB8AC3E}">
        <p14:creationId xmlns:p14="http://schemas.microsoft.com/office/powerpoint/2010/main" val="91808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8FB6-F9E6-6AD3-E7F6-2619BE3D2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179A3A-071C-AD44-1679-4B2A73300D74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B701AEE-5D58-4008-8E23-938455488837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AA90BD2-0954-FA49-95E1-2BA87440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CD80015-B300-7832-5542-C6E96E8E7FD7}"/>
              </a:ext>
            </a:extLst>
          </p:cNvPr>
          <p:cNvSpPr txBox="1"/>
          <p:nvPr/>
        </p:nvSpPr>
        <p:spPr>
          <a:xfrm>
            <a:off x="4077730" y="817473"/>
            <a:ext cx="373935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Dichiarazione</a:t>
            </a:r>
            <a:r>
              <a:rPr lang="en-US" dirty="0"/>
              <a:t> di </a:t>
            </a:r>
            <a:r>
              <a:rPr lang="en-US" dirty="0" err="1"/>
              <a:t>importazione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predefinita</a:t>
            </a:r>
            <a:r>
              <a:rPr lang="en-US" dirty="0"/>
              <a:t> Scanner del package </a:t>
            </a:r>
            <a:r>
              <a:rPr lang="en-US" dirty="0" err="1"/>
              <a:t>java.util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9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D8A-8388-F006-EC56-E89B6698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20E7697E-6A42-325B-C98B-71F65C5107DA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0031DC6-2985-31D8-3FA0-02AFFD6245EA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DAF826B-FD38-F051-ACDC-C8C67432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9249DD-1788-AC04-8B88-42B6FEFE28D3}"/>
              </a:ext>
            </a:extLst>
          </p:cNvPr>
          <p:cNvSpPr txBox="1"/>
          <p:nvPr/>
        </p:nvSpPr>
        <p:spPr>
          <a:xfrm>
            <a:off x="3645243" y="865290"/>
            <a:ext cx="4386649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 programma </a:t>
            </a:r>
            <a:r>
              <a:rPr lang="it-IT" sz="1600" b="1" dirty="0"/>
              <a:t>dichiara</a:t>
            </a:r>
            <a:r>
              <a:rPr lang="it-IT" sz="1600" dirty="0"/>
              <a:t> una variabile intera risultato.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Chiama il metodo </a:t>
            </a:r>
            <a:r>
              <a:rPr lang="it-IT" sz="1600" dirty="0" err="1"/>
              <a:t>sommaDueNumeri</a:t>
            </a:r>
            <a:r>
              <a:rPr lang="it-IT" sz="1600" dirty="0"/>
              <a:t>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Il valore restituito dalla funzione viene </a:t>
            </a:r>
            <a:r>
              <a:rPr lang="it-IT" sz="1600" b="1" dirty="0"/>
              <a:t>assegnato</a:t>
            </a:r>
            <a:r>
              <a:rPr lang="it-IT" sz="1600" dirty="0"/>
              <a:t> alla variabile risultato.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18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B703-DA26-FF33-0F42-3A58F22D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10B42E7-72EC-A2B6-E67E-6D62E544B470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6CAAF4-BB42-5E14-B55D-C80786EBA976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6791BBC-589F-EF17-9A1B-9184D68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9827A8C-E563-D972-08AD-60BFB877D9EB}"/>
              </a:ext>
            </a:extLst>
          </p:cNvPr>
          <p:cNvSpPr txBox="1"/>
          <p:nvPr/>
        </p:nvSpPr>
        <p:spPr>
          <a:xfrm>
            <a:off x="3645243" y="865290"/>
            <a:ext cx="438664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Il metodo statico </a:t>
            </a:r>
            <a:r>
              <a:rPr lang="it-IT" sz="1600" dirty="0" err="1"/>
              <a:t>printf</a:t>
            </a:r>
            <a:r>
              <a:rPr lang="it-IT" sz="1600" dirty="0"/>
              <a:t> di </a:t>
            </a:r>
            <a:r>
              <a:rPr lang="it-IT" sz="1600" dirty="0" err="1"/>
              <a:t>System.out</a:t>
            </a:r>
            <a:r>
              <a:rPr lang="it-IT" sz="1600" dirty="0"/>
              <a:t> in Java ha lo </a:t>
            </a:r>
            <a:r>
              <a:rPr lang="it-IT" sz="1600" b="1" dirty="0"/>
              <a:t>stesso comportamento</a:t>
            </a:r>
            <a:r>
              <a:rPr lang="it-IT" sz="1600" dirty="0"/>
              <a:t> della funzione </a:t>
            </a:r>
            <a:r>
              <a:rPr lang="it-IT" sz="1600" dirty="0" err="1"/>
              <a:t>printf</a:t>
            </a:r>
            <a:r>
              <a:rPr lang="it-IT" sz="1600" dirty="0"/>
              <a:t> già vista in C.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2615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E6FA8-A177-5EF6-CFF4-02D2F77A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76E1F7-C91A-4BA3-C9A0-BE4B36E06AD1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() 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A81A845-739B-B272-83AD-EB51186C025C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DD478927-B5A9-7974-C4F0-5A21EBBC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6A41BD-221D-45A7-92A9-15F30ED0B994}"/>
              </a:ext>
            </a:extLst>
          </p:cNvPr>
          <p:cNvSpPr txBox="1"/>
          <p:nvPr/>
        </p:nvSpPr>
        <p:spPr>
          <a:xfrm>
            <a:off x="2860588" y="1263472"/>
            <a:ext cx="599920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static</a:t>
            </a:r>
            <a:r>
              <a:rPr lang="it-IT" sz="1600" dirty="0"/>
              <a:t> indica che un metodo </a:t>
            </a:r>
            <a:r>
              <a:rPr lang="it-IT" sz="1600" b="1" dirty="0"/>
              <a:t>appartiene alla classe</a:t>
            </a:r>
            <a:r>
              <a:rPr lang="it-IT" sz="1600" dirty="0"/>
              <a:t>, non a un'istanza della classe.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Significa che </a:t>
            </a:r>
            <a:r>
              <a:rPr lang="it-IT" sz="1600" b="1" dirty="0"/>
              <a:t>possiamo chiamare il metodo senza creare un oggetto della classe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In Java, </a:t>
            </a:r>
            <a:r>
              <a:rPr lang="it-IT" sz="1600" dirty="0" err="1"/>
              <a:t>static</a:t>
            </a:r>
            <a:r>
              <a:rPr lang="it-IT" sz="1600" dirty="0"/>
              <a:t> è utile per </a:t>
            </a:r>
            <a:r>
              <a:rPr lang="it-IT" sz="1600" b="1" dirty="0"/>
              <a:t>metodi di utilità</a:t>
            </a:r>
            <a:r>
              <a:rPr lang="it-IT" sz="1600" dirty="0"/>
              <a:t> e per funzioni che </a:t>
            </a:r>
            <a:r>
              <a:rPr lang="it-IT" sz="1600" b="1" dirty="0"/>
              <a:t>non dipendono da dati specifici di un oggetto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Un </a:t>
            </a:r>
            <a:r>
              <a:rPr lang="it-IT" sz="1600" b="1" dirty="0"/>
              <a:t>metodo </a:t>
            </a:r>
            <a:r>
              <a:rPr lang="it-IT" sz="1600" b="1" dirty="0" err="1"/>
              <a:t>static</a:t>
            </a:r>
            <a:r>
              <a:rPr lang="it-IT" sz="1600" dirty="0"/>
              <a:t> può chiamare direttamente </a:t>
            </a:r>
            <a:r>
              <a:rPr lang="it-IT" sz="1600" b="1" dirty="0"/>
              <a:t>solo altri metodi </a:t>
            </a:r>
            <a:r>
              <a:rPr lang="it-IT" sz="1600" b="1" dirty="0" err="1"/>
              <a:t>static</a:t>
            </a:r>
            <a:r>
              <a:rPr lang="it-IT" sz="1600" dirty="0"/>
              <a:t> della stessa classe, senza bisogno di creare un'istanza della classe.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267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03DF9-B353-2C9D-94A0-D96B3681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67F55D-2151-9C6B-C859-73BEE550FD02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034E1C-001A-67D2-AC11-BF80780AAF48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ADDCB1B-371D-E10C-CB14-6476D985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118F721-FD75-45F2-09BE-C713E41A268F}"/>
              </a:ext>
            </a:extLst>
          </p:cNvPr>
          <p:cNvSpPr txBox="1"/>
          <p:nvPr/>
        </p:nvSpPr>
        <p:spPr>
          <a:xfrm>
            <a:off x="2835875" y="2183401"/>
            <a:ext cx="599920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È una istruzione di dichiarazione di variabile di tipo Scanner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La variabile viene inizializzata, per essere usata, a un oggetto di tipo Scanner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new come vedremo serve per creare un oggetto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Lo standard input </a:t>
            </a:r>
            <a:r>
              <a:rPr lang="it-IT" sz="1600" dirty="0" err="1"/>
              <a:t>System.in</a:t>
            </a:r>
            <a:r>
              <a:rPr lang="it-IT" sz="1600" dirty="0"/>
              <a:t> consenta a Java di ricevere i byte di dati digitati dall’utente.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0273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B1E2-DF22-3AD7-54B1-AA7CB774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F7BA2C-1E84-7F7D-F219-52CA52D3B992}"/>
              </a:ext>
            </a:extLst>
          </p:cNvPr>
          <p:cNvSpPr txBox="1"/>
          <p:nvPr/>
        </p:nvSpPr>
        <p:spPr>
          <a:xfrm>
            <a:off x="0" y="1636381"/>
            <a:ext cx="93169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java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util</a:t>
            </a:r>
            <a:r>
              <a:rPr lang="it-IT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SommaNumeri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"La somma dei due numeri è: %</a:t>
            </a:r>
            <a:r>
              <a:rPr lang="it-IT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d%n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risultato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sommaDueNumeri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2"/>
            <a:r>
              <a:rPr lang="it-IT" sz="16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primo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"Inserisci il secondo numero: "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it-IT" sz="16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 err="1">
                <a:solidFill>
                  <a:srgbClr val="001080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nextInt</a:t>
            </a:r>
            <a:r>
              <a:rPr lang="it-IT" sz="1600" b="0" dirty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scanner</a:t>
            </a:r>
            <a:r>
              <a:rPr lang="it-IT" sz="16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close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2"/>
            <a:r>
              <a:rPr lang="it-IT" sz="1600" b="0" dirty="0" err="1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numero1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numero2</a:t>
            </a:r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5F4A8B3-F9FA-4C7C-E7DA-84C9FEDF427C}"/>
              </a:ext>
            </a:extLst>
          </p:cNvPr>
          <p:cNvSpPr txBox="1"/>
          <p:nvPr/>
        </p:nvSpPr>
        <p:spPr>
          <a:xfrm>
            <a:off x="0" y="64573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SommaNumeri.java</a:t>
            </a:r>
            <a:endParaRPr lang="en-US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E611670-43A7-3FDC-2EA8-DEFC64B2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238"/>
            <a:ext cx="8464378" cy="1295400"/>
          </a:xfrm>
        </p:spPr>
        <p:txBody>
          <a:bodyPr/>
          <a:lstStyle/>
          <a:p>
            <a:r>
              <a:rPr lang="en-US" dirty="0"/>
              <a:t>Classe per la somma di due numeri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0F5F56-C963-1DB2-659C-B14363AC1683}"/>
              </a:ext>
            </a:extLst>
          </p:cNvPr>
          <p:cNvSpPr txBox="1"/>
          <p:nvPr/>
        </p:nvSpPr>
        <p:spPr>
          <a:xfrm>
            <a:off x="2835875" y="2183401"/>
            <a:ext cx="599920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Lo scanner consenta a Java di ricevere i byte di dati digitati dall’utente e tradurli in tipi specifici, come </a:t>
            </a:r>
            <a:r>
              <a:rPr lang="it-IT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600" dirty="0"/>
              <a:t>, utilizzabili dal programma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8534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66B7A-964A-22D9-3F60-14C2BA85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257ED9-A276-B3B5-4F0A-6FB635530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Programmare in Java – Paragrafo 2.5</a:t>
            </a:r>
          </a:p>
          <a:p>
            <a:r>
              <a:rPr lang="it-IT" dirty="0" err="1"/>
              <a:t>Savitch</a:t>
            </a:r>
            <a:r>
              <a:rPr lang="it-IT" dirty="0"/>
              <a:t>: </a:t>
            </a:r>
            <a:r>
              <a:rPr lang="it-IT"/>
              <a:t>- Paragrafo 1.2</a:t>
            </a:r>
          </a:p>
        </p:txBody>
      </p:sp>
    </p:spTree>
    <p:extLst>
      <p:ext uri="{BB962C8B-B14F-4D97-AF65-F5344CB8AC3E}">
        <p14:creationId xmlns:p14="http://schemas.microsoft.com/office/powerpoint/2010/main" val="3819621375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73421A-80D7-4FA6-AF18-C522B290BF0B}"/>
</file>

<file path=customXml/itemProps2.xml><?xml version="1.0" encoding="utf-8"?>
<ds:datastoreItem xmlns:ds="http://schemas.openxmlformats.org/officeDocument/2006/customXml" ds:itemID="{601CC2E8-10A3-4446-BF62-CF93D0274870}">
  <ds:schemaRefs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5387fd40-4559-49a3-8457-9f9a85abe1c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1235E66-3B06-42B1-9EFB-C5B5C285D1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124</TotalTime>
  <Words>1194</Words>
  <Application>Microsoft Macintosh PowerPoint</Application>
  <PresentationFormat>Presentazione su schermo (4:3)</PresentationFormat>
  <Paragraphs>160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Menlo</vt:lpstr>
      <vt:lpstr>Times New Roman</vt:lpstr>
      <vt:lpstr>Verdana</vt:lpstr>
      <vt:lpstr>Wingdings</vt:lpstr>
      <vt:lpstr>Rete</vt:lpstr>
      <vt:lpstr>  Corso di Programmazione</vt:lpstr>
      <vt:lpstr>Outline</vt:lpstr>
      <vt:lpstr>Classe per la somma di due numeri</vt:lpstr>
      <vt:lpstr>Classe per la somma di due numeri</vt:lpstr>
      <vt:lpstr>Classe per la somma di due numeri</vt:lpstr>
      <vt:lpstr>Classe per la somma di due numeri</vt:lpstr>
      <vt:lpstr>Classe per la somma di due numeri</vt:lpstr>
      <vt:lpstr>Classe per la somma di due numeri</vt:lpstr>
      <vt:lpstr>Classe per la somma di due numeri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VALERIA VITTORINI</cp:lastModifiedBy>
  <cp:revision>7</cp:revision>
  <cp:lastPrinted>1999-11-19T14:12:44Z</cp:lastPrinted>
  <dcterms:created xsi:type="dcterms:W3CDTF">1999-10-30T10:20:48Z</dcterms:created>
  <dcterms:modified xsi:type="dcterms:W3CDTF">2025-03-20T15:05:19Z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