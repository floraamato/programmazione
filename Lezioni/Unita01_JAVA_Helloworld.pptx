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24"/>
  </p:notesMasterIdLst>
  <p:handoutMasterIdLst>
    <p:handoutMasterId r:id="rId25"/>
  </p:handoutMasterIdLst>
  <p:sldIdLst>
    <p:sldId id="265" r:id="rId5"/>
    <p:sldId id="361" r:id="rId6"/>
    <p:sldId id="362" r:id="rId7"/>
    <p:sldId id="363" r:id="rId8"/>
    <p:sldId id="326" r:id="rId9"/>
    <p:sldId id="351" r:id="rId10"/>
    <p:sldId id="370" r:id="rId11"/>
    <p:sldId id="364" r:id="rId12"/>
    <p:sldId id="356" r:id="rId13"/>
    <p:sldId id="365" r:id="rId14"/>
    <p:sldId id="367" r:id="rId15"/>
    <p:sldId id="366" r:id="rId16"/>
    <p:sldId id="368" r:id="rId17"/>
    <p:sldId id="369" r:id="rId18"/>
    <p:sldId id="357" r:id="rId19"/>
    <p:sldId id="358" r:id="rId20"/>
    <p:sldId id="359" r:id="rId21"/>
    <p:sldId id="360" r:id="rId22"/>
    <p:sldId id="355" r:id="rId23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6" autoAdjust="0"/>
    <p:restoredTop sz="94676"/>
  </p:normalViewPr>
  <p:slideViewPr>
    <p:cSldViewPr>
      <p:cViewPr>
        <p:scale>
          <a:sx n="163" d="100"/>
          <a:sy n="163" d="100"/>
        </p:scale>
        <p:origin x="-200" y="-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28/02/25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front/main/download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getStarted/intro/definition.html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yup8gIXxWD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front/main/download/archive/" TargetMode="External"/><Relationship Id="rId2" Type="http://schemas.openxmlformats.org/officeDocument/2006/relationships/hyperlink" Target="https://netbeans.apache.org/front/main/downloa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javase/tutorial/getStarted/intro/definition.html" TargetMode="External"/><Relationship Id="rId5" Type="http://schemas.openxmlformats.org/officeDocument/2006/relationships/hyperlink" Target="https://www.oracle.com/java/technologies/downloads/#java17" TargetMode="External"/><Relationship Id="rId4" Type="http://schemas.openxmlformats.org/officeDocument/2006/relationships/hyperlink" Target="https://www.oracle.com/java/technologies/downlo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 dirty="0">
                <a:latin typeface="Times New Roman" pitchFamily="18" charset="0"/>
              </a:rPr>
            </a:br>
            <a:r>
              <a:rPr lang="en-US" altLang="it-IT" sz="4000" dirty="0">
                <a:latin typeface="Times New Roman" pitchFamily="18" charset="0"/>
              </a:rPr>
              <a:t> Corso di </a:t>
            </a:r>
            <a:r>
              <a:rPr lang="en-US" altLang="it-IT" sz="4000" dirty="0" err="1">
                <a:latin typeface="Times New Roman" pitchFamily="18" charset="0"/>
              </a:rPr>
              <a:t>Programmazione</a:t>
            </a:r>
            <a:endParaRPr lang="en-US" altLang="it-IT" sz="4000" b="0" i="1" dirty="0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3600" b="1" i="1" dirty="0">
                <a:latin typeface="Times New Roman" pitchFamily="18" charset="0"/>
              </a:rPr>
              <a:t>Welcome to JAVA!</a:t>
            </a: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 dirty="0"/>
              <a:t>Università di Napoli Federico II - </a:t>
            </a:r>
            <a:r>
              <a:rPr lang="en-GB" altLang="it-IT" sz="1200" dirty="0"/>
              <a:t>Dip. di </a:t>
            </a:r>
            <a:r>
              <a:rPr lang="en-GB" altLang="it-IT" sz="1200" dirty="0" err="1"/>
              <a:t>Ingegneria</a:t>
            </a:r>
            <a:r>
              <a:rPr lang="en-GB" altLang="it-IT" sz="1200" dirty="0"/>
              <a:t> </a:t>
            </a:r>
            <a:r>
              <a:rPr lang="en-GB" altLang="it-IT" sz="1200" dirty="0" err="1"/>
              <a:t>Elettrica</a:t>
            </a:r>
            <a:r>
              <a:rPr lang="en-GB" altLang="it-IT" sz="1200" dirty="0"/>
              <a:t> e </a:t>
            </a:r>
            <a:r>
              <a:rPr lang="en-GB" altLang="it-IT" sz="1200" dirty="0" err="1"/>
              <a:t>delle</a:t>
            </a:r>
            <a:r>
              <a:rPr lang="en-GB" altLang="it-IT" sz="1200" dirty="0"/>
              <a:t> </a:t>
            </a:r>
            <a:r>
              <a:rPr lang="en-GB" altLang="it-IT" sz="1200" dirty="0" err="1"/>
              <a:t>Tecnologie</a:t>
            </a:r>
            <a:r>
              <a:rPr lang="en-GB" altLang="it-IT" sz="1200" dirty="0"/>
              <a:t> </a:t>
            </a:r>
            <a:r>
              <a:rPr lang="en-GB" altLang="it-IT" sz="1200" dirty="0" err="1"/>
              <a:t>dell’Informazione</a:t>
            </a:r>
            <a:r>
              <a:rPr lang="en-GB" altLang="it-IT" sz="1200" dirty="0"/>
              <a:t> </a:t>
            </a:r>
          </a:p>
          <a:p>
            <a:pPr eaLnBrk="1" hangingPunct="1"/>
            <a:r>
              <a:rPr lang="it-IT" altLang="it-IT" sz="1200" dirty="0"/>
              <a:t>Corso di Laurea in Ingegneria Informatica</a:t>
            </a:r>
            <a:endParaRPr lang="en-US" altLang="it-IT" sz="12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BF9738-A841-98DC-89F1-212FF517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54" y="-243408"/>
            <a:ext cx="7543800" cy="1295400"/>
          </a:xfrm>
        </p:spPr>
        <p:txBody>
          <a:bodyPr/>
          <a:lstStyle/>
          <a:p>
            <a:r>
              <a:rPr lang="it-IT" dirty="0" err="1"/>
              <a:t>Starting</a:t>
            </a:r>
            <a:r>
              <a:rPr lang="it-IT" dirty="0"/>
              <a:t>…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F22D78-FF4E-C776-9EAD-617878840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954" y="1340768"/>
            <a:ext cx="8229600" cy="4411662"/>
          </a:xfrm>
        </p:spPr>
        <p:txBody>
          <a:bodyPr/>
          <a:lstStyle/>
          <a:p>
            <a:r>
              <a:rPr lang="it-IT" sz="2800" dirty="0"/>
              <a:t>Controllate se sul vostro PC/Notebook è già installata una </a:t>
            </a:r>
            <a:r>
              <a:rPr lang="it-IT" sz="2800" dirty="0">
                <a:solidFill>
                  <a:srgbClr val="FF0000"/>
                </a:solidFill>
              </a:rPr>
              <a:t>JDK</a:t>
            </a:r>
          </a:p>
          <a:p>
            <a:r>
              <a:rPr lang="it-IT" sz="2800" dirty="0"/>
              <a:t>Da terminale (MAC) o da prompt dei comandi (Windows) dare il comando:</a:t>
            </a:r>
          </a:p>
          <a:p>
            <a:pPr marL="0" indent="0" algn="ctr">
              <a:buNone/>
            </a:pPr>
            <a:r>
              <a:rPr lang="it-IT" dirty="0">
                <a:solidFill>
                  <a:srgbClr val="FF0000"/>
                </a:solidFill>
              </a:rPr>
              <a:t>java -</a:t>
            </a:r>
            <a:r>
              <a:rPr lang="it-IT" dirty="0" err="1">
                <a:solidFill>
                  <a:srgbClr val="FF0000"/>
                </a:solidFill>
              </a:rPr>
              <a:t>version</a:t>
            </a:r>
            <a:endParaRPr lang="it-IT" dirty="0">
              <a:solidFill>
                <a:srgbClr val="FF0000"/>
              </a:solidFill>
            </a:endParaRPr>
          </a:p>
          <a:p>
            <a:r>
              <a:rPr lang="it-IT" sz="2800" dirty="0"/>
              <a:t>Se la JDK è già installata il comando produrrà un output del tipo:</a:t>
            </a:r>
          </a:p>
          <a:p>
            <a:pPr marL="0" indent="0" algn="ctr">
              <a:buNone/>
            </a:pPr>
            <a:r>
              <a:rPr lang="it-IT" sz="2400" i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openjdk</a:t>
            </a:r>
            <a:r>
              <a:rPr lang="it-IT" sz="2400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2400" i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it-IT" sz="2400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"17.0.3" 2022-04-19</a:t>
            </a:r>
          </a:p>
          <a:p>
            <a:r>
              <a:rPr lang="it-IT" sz="2800" dirty="0"/>
              <a:t>Altrimenti è necessario che installiate una JDK, per esempio la JDK 17 da: </a:t>
            </a:r>
            <a:r>
              <a:rPr lang="it-IT" sz="2000" dirty="0"/>
              <a:t>https://</a:t>
            </a:r>
            <a:r>
              <a:rPr lang="it-IT" sz="2000" dirty="0" err="1"/>
              <a:t>www.oracle.com</a:t>
            </a:r>
            <a:r>
              <a:rPr lang="it-IT" sz="2000" dirty="0"/>
              <a:t>/java/</a:t>
            </a:r>
            <a:r>
              <a:rPr lang="it-IT" sz="2000" dirty="0" err="1"/>
              <a:t>technologies</a:t>
            </a:r>
            <a:r>
              <a:rPr lang="it-IT" sz="2000" dirty="0"/>
              <a:t>/downloads/#java17</a:t>
            </a:r>
          </a:p>
          <a:p>
            <a:pPr marL="0" indent="0">
              <a:buNone/>
            </a:pPr>
            <a:endParaRPr lang="it-IT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0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006B22-0BC6-76A0-7D4C-2E8CC059B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-356239"/>
            <a:ext cx="7543800" cy="1295400"/>
          </a:xfrm>
        </p:spPr>
        <p:txBody>
          <a:bodyPr/>
          <a:lstStyle/>
          <a:p>
            <a:r>
              <a:rPr lang="it-IT" dirty="0"/>
              <a:t>JDK </a:t>
            </a:r>
          </a:p>
        </p:txBody>
      </p:sp>
      <p:pic>
        <p:nvPicPr>
          <p:cNvPr id="5" name="Segnaposto contenuto 4" descr="Immagine che contiene testo, schermata&#10;&#10;Descrizione generata automaticamente">
            <a:extLst>
              <a:ext uri="{FF2B5EF4-FFF2-40B4-BE49-F238E27FC236}">
                <a16:creationId xmlns:a16="http://schemas.microsoft.com/office/drawing/2014/main" id="{A4904CD0-30E7-8DD3-108F-BD93C8EBF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65" y="1196752"/>
            <a:ext cx="6936292" cy="2481562"/>
          </a:xfrm>
        </p:spPr>
      </p:pic>
      <p:pic>
        <p:nvPicPr>
          <p:cNvPr id="7" name="Immagine 6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8B1258BA-5A3E-269E-40E2-FED02A3AA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02" y="3906383"/>
            <a:ext cx="6677372" cy="2380628"/>
          </a:xfrm>
          <a:prstGeom prst="rect">
            <a:avLst/>
          </a:prstGeom>
        </p:spPr>
      </p:pic>
      <p:sp>
        <p:nvSpPr>
          <p:cNvPr id="8" name="Connettore 7">
            <a:extLst>
              <a:ext uri="{FF2B5EF4-FFF2-40B4-BE49-F238E27FC236}">
                <a16:creationId xmlns:a16="http://schemas.microsoft.com/office/drawing/2014/main" id="{918397AE-290F-30FF-41B3-F0515CDB04DE}"/>
              </a:ext>
            </a:extLst>
          </p:cNvPr>
          <p:cNvSpPr/>
          <p:nvPr/>
        </p:nvSpPr>
        <p:spPr bwMode="auto">
          <a:xfrm>
            <a:off x="1331640" y="2132856"/>
            <a:ext cx="576064" cy="504056"/>
          </a:xfrm>
          <a:prstGeom prst="flowChartConnector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" name="Connettore 8">
            <a:extLst>
              <a:ext uri="{FF2B5EF4-FFF2-40B4-BE49-F238E27FC236}">
                <a16:creationId xmlns:a16="http://schemas.microsoft.com/office/drawing/2014/main" id="{4D4D9714-D05B-FD58-6825-8B34F184648F}"/>
              </a:ext>
            </a:extLst>
          </p:cNvPr>
          <p:cNvSpPr/>
          <p:nvPr/>
        </p:nvSpPr>
        <p:spPr bwMode="auto">
          <a:xfrm>
            <a:off x="571265" y="3068960"/>
            <a:ext cx="1008153" cy="504056"/>
          </a:xfrm>
          <a:prstGeom prst="flowChartConnector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B69FB996-287A-51E4-A61B-AFB238AC3992}"/>
              </a:ext>
            </a:extLst>
          </p:cNvPr>
          <p:cNvSpPr/>
          <p:nvPr/>
        </p:nvSpPr>
        <p:spPr bwMode="auto">
          <a:xfrm>
            <a:off x="899591" y="4509120"/>
            <a:ext cx="463781" cy="432048"/>
          </a:xfrm>
          <a:prstGeom prst="flowChartConnector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Connettore 10">
            <a:extLst>
              <a:ext uri="{FF2B5EF4-FFF2-40B4-BE49-F238E27FC236}">
                <a16:creationId xmlns:a16="http://schemas.microsoft.com/office/drawing/2014/main" id="{5E87748F-7A0A-08F3-176A-0947A0076BA5}"/>
              </a:ext>
            </a:extLst>
          </p:cNvPr>
          <p:cNvSpPr/>
          <p:nvPr/>
        </p:nvSpPr>
        <p:spPr bwMode="auto">
          <a:xfrm>
            <a:off x="610099" y="5877272"/>
            <a:ext cx="969320" cy="409739"/>
          </a:xfrm>
          <a:prstGeom prst="flowChartConnector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Connettore 11">
            <a:extLst>
              <a:ext uri="{FF2B5EF4-FFF2-40B4-BE49-F238E27FC236}">
                <a16:creationId xmlns:a16="http://schemas.microsoft.com/office/drawing/2014/main" id="{1D1F2421-5866-2241-C05A-A63BC9DF33AC}"/>
              </a:ext>
            </a:extLst>
          </p:cNvPr>
          <p:cNvSpPr/>
          <p:nvPr/>
        </p:nvSpPr>
        <p:spPr bwMode="auto">
          <a:xfrm>
            <a:off x="647145" y="5298494"/>
            <a:ext cx="1008153" cy="504056"/>
          </a:xfrm>
          <a:prstGeom prst="flowChartConnector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7194E7B-4F74-8F95-7BDB-6769798E985D}"/>
              </a:ext>
            </a:extLst>
          </p:cNvPr>
          <p:cNvSpPr txBox="1"/>
          <p:nvPr/>
        </p:nvSpPr>
        <p:spPr>
          <a:xfrm>
            <a:off x="1181563" y="6499320"/>
            <a:ext cx="616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https://</a:t>
            </a:r>
            <a:r>
              <a:rPr lang="it-IT" dirty="0" err="1"/>
              <a:t>www.oracle.com</a:t>
            </a:r>
            <a:r>
              <a:rPr lang="it-IT" dirty="0"/>
              <a:t>/ca-fr/java/</a:t>
            </a:r>
            <a:r>
              <a:rPr lang="it-IT" dirty="0" err="1"/>
              <a:t>technologies</a:t>
            </a:r>
            <a:r>
              <a:rPr lang="it-IT" dirty="0"/>
              <a:t>/downloads/</a:t>
            </a:r>
          </a:p>
        </p:txBody>
      </p:sp>
    </p:spTree>
    <p:extLst>
      <p:ext uri="{BB962C8B-B14F-4D97-AF65-F5344CB8AC3E}">
        <p14:creationId xmlns:p14="http://schemas.microsoft.com/office/powerpoint/2010/main" val="116386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D9E326-8DC7-B0A6-B64E-01E28522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3" y="-243408"/>
            <a:ext cx="7543800" cy="1295400"/>
          </a:xfrm>
        </p:spPr>
        <p:txBody>
          <a:bodyPr/>
          <a:lstStyle/>
          <a:p>
            <a:r>
              <a:rPr lang="it-IT" dirty="0"/>
              <a:t>Ambienti consigliati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390DF-E1C4-406B-44AE-B2EF9DB3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411662"/>
          </a:xfrm>
        </p:spPr>
        <p:txBody>
          <a:bodyPr/>
          <a:lstStyle/>
          <a:p>
            <a:r>
              <a:rPr lang="it-IT" dirty="0"/>
              <a:t>Visual Studio </a:t>
            </a:r>
            <a:br>
              <a:rPr lang="it-IT" dirty="0"/>
            </a:br>
            <a:r>
              <a:rPr lang="it-IT" sz="2700" dirty="0">
                <a:solidFill>
                  <a:schemeClr val="accent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endParaRPr lang="it-IT" sz="27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it-IT" dirty="0"/>
              <a:t>Apache </a:t>
            </a:r>
            <a:r>
              <a:rPr lang="it-IT" dirty="0" err="1"/>
              <a:t>Netbeans</a:t>
            </a:r>
            <a:br>
              <a:rPr lang="it-IT" dirty="0"/>
            </a:br>
            <a:r>
              <a:rPr lang="it-IT" sz="2700" dirty="0">
                <a:solidFill>
                  <a:schemeClr val="accent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https://netbeans.apache.org/front/main/download/</a:t>
            </a:r>
            <a:endParaRPr lang="it-IT" sz="27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it-IT" dirty="0"/>
              <a:t>In laboratorio (ai fini dell’esame) sono presenti sia </a:t>
            </a:r>
            <a:r>
              <a:rPr lang="it-IT" dirty="0" err="1"/>
              <a:t>Netbeans</a:t>
            </a:r>
            <a:r>
              <a:rPr lang="it-IT" dirty="0"/>
              <a:t> che Visual Studio</a:t>
            </a:r>
          </a:p>
          <a:p>
            <a:pPr marL="0" indent="0" algn="ctr">
              <a:buNone/>
            </a:pPr>
            <a:r>
              <a:rPr lang="it-IT" sz="2400" i="1" dirty="0"/>
              <a:t>Non è detto che sia sempre opportuno installare l’ultimissima versione… prima controllate i requisiti di installazione e la JDK richiesta…</a:t>
            </a:r>
          </a:p>
        </p:txBody>
      </p:sp>
    </p:spTree>
    <p:extLst>
      <p:ext uri="{BB962C8B-B14F-4D97-AF65-F5344CB8AC3E}">
        <p14:creationId xmlns:p14="http://schemas.microsoft.com/office/powerpoint/2010/main" val="112636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CE53EA8-AF17-CFCB-1369-2581930B4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-77870"/>
            <a:ext cx="7324725" cy="996950"/>
          </a:xfrm>
        </p:spPr>
        <p:txBody>
          <a:bodyPr/>
          <a:lstStyle/>
          <a:p>
            <a:pPr eaLnBrk="1" hangingPunct="1"/>
            <a:r>
              <a:rPr lang="it-IT" altLang="it-IT" sz="3500" dirty="0"/>
              <a:t>Applicazioni JAVA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17D814AA-178B-305B-53E5-2DA3DDF13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78" y="1176055"/>
            <a:ext cx="7434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it-IT" altLang="it-IT" dirty="0">
                <a:latin typeface="Verdana" panose="020B0604030504040204" pitchFamily="34" charset="0"/>
              </a:rPr>
              <a:t>Un’ applicazione è un programma eseguibile autonomamente</a:t>
            </a:r>
            <a:endParaRPr lang="it-IT" altLang="it-IT" sz="1600" dirty="0">
              <a:latin typeface="Verdana" panose="020B0604030504040204" pitchFamily="34" charset="0"/>
            </a:endParaRP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CB45D85A-91AB-2209-33E6-93F1C12EF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99" y="1681559"/>
            <a:ext cx="78644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dirty="0">
                <a:latin typeface="Verdana" panose="020B0604030504040204" pitchFamily="34" charset="0"/>
              </a:rPr>
              <a:t>Per rendere eseguibile un’applicazione Java occorre che una classe faccia da “punto di avvio”.</a:t>
            </a:r>
          </a:p>
          <a:p>
            <a:r>
              <a:rPr lang="it-IT" altLang="it-IT" dirty="0">
                <a:latin typeface="Verdana" panose="020B0604030504040204" pitchFamily="34" charset="0"/>
              </a:rPr>
              <a:t>Questa classe ha solo bisogno di un metodo (funzione) </a:t>
            </a:r>
            <a:r>
              <a:rPr lang="it-IT" altLang="it-IT" b="1" i="1" dirty="0" err="1">
                <a:latin typeface="Verdana" panose="020B0604030504040204" pitchFamily="34" charset="0"/>
              </a:rPr>
              <a:t>main</a:t>
            </a:r>
            <a:r>
              <a:rPr lang="it-IT" altLang="it-IT" b="1" i="1" dirty="0">
                <a:latin typeface="Verdana" panose="020B0604030504040204" pitchFamily="34" charset="0"/>
              </a:rPr>
              <a:t>()</a:t>
            </a:r>
            <a:r>
              <a:rPr lang="it-IT" altLang="it-IT" dirty="0">
                <a:latin typeface="Verdana" panose="020B0604030504040204" pitchFamily="34" charset="0"/>
              </a:rPr>
              <a:t>, il primo ad essere invocato durante l’esecuzione dell’applicazione.</a:t>
            </a:r>
          </a:p>
        </p:txBody>
      </p:sp>
      <p:sp>
        <p:nvSpPr>
          <p:cNvPr id="77829" name="Text Box 5">
            <a:extLst>
              <a:ext uri="{FF2B5EF4-FFF2-40B4-BE49-F238E27FC236}">
                <a16:creationId xmlns:a16="http://schemas.microsoft.com/office/drawing/2014/main" id="{907D0996-C90E-9639-C1B8-4A97B075B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3073198"/>
            <a:ext cx="5654675" cy="925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b="1">
                <a:latin typeface="Courier New" pitchFamily="49" charset="0"/>
              </a:rPr>
              <a:t>public static void main (String args[]){</a:t>
            </a:r>
          </a:p>
          <a:p>
            <a:pPr eaLnBrk="0" hangingPunct="0">
              <a:defRPr/>
            </a:pPr>
            <a:r>
              <a:rPr lang="it-IT" b="1">
                <a:latin typeface="Courier New" pitchFamily="49" charset="0"/>
              </a:rPr>
              <a:t>	……..</a:t>
            </a:r>
          </a:p>
          <a:p>
            <a:pPr eaLnBrk="0" hangingPunct="0">
              <a:defRPr/>
            </a:pPr>
            <a:r>
              <a:rPr lang="it-IT" b="1">
                <a:latin typeface="Courier New" pitchFamily="49" charset="0"/>
              </a:rPr>
              <a:t>   }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E7EDAFF3-2573-FE8F-DCBD-E7698F555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" y="4221088"/>
            <a:ext cx="794067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it-IT" altLang="it-IT" sz="1600" b="1" dirty="0">
                <a:latin typeface="Verdana" panose="020B0604030504040204" pitchFamily="34" charset="0"/>
              </a:rPr>
              <a:t>public</a:t>
            </a:r>
            <a:r>
              <a:rPr lang="it-IT" altLang="it-IT" sz="1600" dirty="0">
                <a:latin typeface="Verdana" panose="020B0604030504040204" pitchFamily="34" charset="0"/>
              </a:rPr>
              <a:t> indica che il metodo è a disposizione di altre classi e oggetti</a:t>
            </a:r>
          </a:p>
          <a:p>
            <a:pPr>
              <a:buFontTx/>
              <a:buChar char="•"/>
            </a:pPr>
            <a:endParaRPr lang="it-IT" altLang="it-IT" sz="1600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it-IT" altLang="it-IT" sz="1600" b="1" dirty="0" err="1">
                <a:latin typeface="Verdana" panose="020B0604030504040204" pitchFamily="34" charset="0"/>
              </a:rPr>
              <a:t>static</a:t>
            </a:r>
            <a:r>
              <a:rPr lang="it-IT" altLang="it-IT" sz="1600" b="1" dirty="0">
                <a:latin typeface="Verdana" panose="020B0604030504040204" pitchFamily="34" charset="0"/>
              </a:rPr>
              <a:t> </a:t>
            </a:r>
            <a:r>
              <a:rPr lang="it-IT" altLang="it-IT" sz="1600" dirty="0">
                <a:latin typeface="Verdana" panose="020B0604030504040204" pitchFamily="34" charset="0"/>
              </a:rPr>
              <a:t>indica che </a:t>
            </a:r>
            <a:r>
              <a:rPr lang="it-IT" altLang="it-IT" sz="1600" i="1" dirty="0" err="1">
                <a:latin typeface="Verdana" panose="020B0604030504040204" pitchFamily="34" charset="0"/>
              </a:rPr>
              <a:t>main</a:t>
            </a:r>
            <a:r>
              <a:rPr lang="it-IT" altLang="it-IT" sz="1600" i="1" dirty="0">
                <a:latin typeface="Verdana" panose="020B0604030504040204" pitchFamily="34" charset="0"/>
              </a:rPr>
              <a:t>()</a:t>
            </a:r>
            <a:r>
              <a:rPr lang="it-IT" altLang="it-IT" sz="1600" dirty="0">
                <a:latin typeface="Verdana" panose="020B0604030504040204" pitchFamily="34" charset="0"/>
              </a:rPr>
              <a:t> è un metodo invocabile anche se non esistono oggetti (vedremo meglio poi)</a:t>
            </a:r>
          </a:p>
          <a:p>
            <a:pPr>
              <a:buFontTx/>
              <a:buChar char="•"/>
            </a:pPr>
            <a:endParaRPr lang="it-IT" altLang="it-IT" sz="1600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it-IT" altLang="it-IT" sz="1600" b="1" dirty="0" err="1">
                <a:latin typeface="Verdana" panose="020B0604030504040204" pitchFamily="34" charset="0"/>
              </a:rPr>
              <a:t>void</a:t>
            </a:r>
            <a:r>
              <a:rPr lang="it-IT" altLang="it-IT" sz="1600" dirty="0">
                <a:latin typeface="Verdana" panose="020B0604030504040204" pitchFamily="34" charset="0"/>
              </a:rPr>
              <a:t> indica che il metodo </a:t>
            </a:r>
            <a:r>
              <a:rPr lang="it-IT" altLang="it-IT" sz="1600" i="1" dirty="0" err="1">
                <a:latin typeface="Verdana" panose="020B0604030504040204" pitchFamily="34" charset="0"/>
              </a:rPr>
              <a:t>main</a:t>
            </a:r>
            <a:r>
              <a:rPr lang="it-IT" altLang="it-IT" sz="1600" i="1" dirty="0">
                <a:latin typeface="Verdana" panose="020B0604030504040204" pitchFamily="34" charset="0"/>
              </a:rPr>
              <a:t>()</a:t>
            </a:r>
            <a:r>
              <a:rPr lang="it-IT" altLang="it-IT" sz="1600" dirty="0">
                <a:latin typeface="Verdana" panose="020B0604030504040204" pitchFamily="34" charset="0"/>
              </a:rPr>
              <a:t> non restituisce un valore</a:t>
            </a:r>
          </a:p>
          <a:p>
            <a:pPr>
              <a:buFontTx/>
              <a:buChar char="•"/>
            </a:pPr>
            <a:endParaRPr lang="it-IT" altLang="it-IT" sz="1600" dirty="0">
              <a:latin typeface="Verdana" panose="020B0604030504040204" pitchFamily="34" charset="0"/>
            </a:endParaRPr>
          </a:p>
          <a:p>
            <a:pPr>
              <a:buFontTx/>
              <a:buChar char="•"/>
            </a:pPr>
            <a:r>
              <a:rPr lang="it-IT" altLang="it-IT" sz="1600" b="1" dirty="0" err="1">
                <a:latin typeface="Verdana" panose="020B0604030504040204" pitchFamily="34" charset="0"/>
              </a:rPr>
              <a:t>main</a:t>
            </a:r>
            <a:r>
              <a:rPr lang="it-IT" altLang="it-IT" sz="1600" b="1" dirty="0">
                <a:latin typeface="Verdana" panose="020B0604030504040204" pitchFamily="34" charset="0"/>
              </a:rPr>
              <a:t>()</a:t>
            </a:r>
            <a:r>
              <a:rPr lang="it-IT" altLang="it-IT" sz="1600" dirty="0">
                <a:latin typeface="Verdana" panose="020B0604030504040204" pitchFamily="34" charset="0"/>
              </a:rPr>
              <a:t> accetta come parametro un array di stringhe, utilizzato per 		 passare argomenti dalla riga di comando</a:t>
            </a:r>
            <a:endParaRPr lang="it-IT" altLang="it-IT" sz="1600" b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BD6ACB-04C6-C377-34F3-D4B66204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315416"/>
            <a:ext cx="7543800" cy="1295400"/>
          </a:xfrm>
        </p:spPr>
        <p:txBody>
          <a:bodyPr/>
          <a:lstStyle/>
          <a:p>
            <a:r>
              <a:rPr lang="it-IT" dirty="0"/>
              <a:t>Processo di sviluppo in 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BC4909-6279-D3F7-35CA-7B6DE5D2E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00" y="1124744"/>
            <a:ext cx="7704856" cy="3417418"/>
          </a:xfrm>
        </p:spPr>
        <p:txBody>
          <a:bodyPr/>
          <a:lstStyle/>
          <a:p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In Java, il </a:t>
            </a:r>
            <a:r>
              <a:rPr lang="it-IT" sz="2000" b="0" i="0" dirty="0">
                <a:solidFill>
                  <a:srgbClr val="FF0000"/>
                </a:solidFill>
                <a:effectLst/>
                <a:latin typeface="Söhne"/>
              </a:rPr>
              <a:t>codice sorgente 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viene scritto in file di testo con estensione </a:t>
            </a:r>
            <a:r>
              <a:rPr lang="it-IT" sz="2000" b="1" i="1" dirty="0">
                <a:solidFill>
                  <a:srgbClr val="FF0000"/>
                </a:solidFill>
                <a:effectLst/>
                <a:latin typeface="Söhne"/>
              </a:rPr>
              <a:t>.java</a:t>
            </a:r>
          </a:p>
          <a:p>
            <a:r>
              <a:rPr lang="it-IT" sz="2000" dirty="0">
                <a:solidFill>
                  <a:srgbClr val="374151"/>
                </a:solidFill>
                <a:latin typeface="Söhne"/>
              </a:rPr>
              <a:t>Viene compilato ma la </a:t>
            </a:r>
            <a:r>
              <a:rPr lang="it-IT" sz="2000" u="sng" dirty="0">
                <a:solidFill>
                  <a:srgbClr val="374151"/>
                </a:solidFill>
                <a:latin typeface="Söhne"/>
              </a:rPr>
              <a:t>compilazione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 NON produce un file oggetto per la macchina su cui è stata fatta la compilazione bensì un oggetto in </a:t>
            </a:r>
            <a:r>
              <a:rPr lang="it-IT" sz="2000" dirty="0" err="1">
                <a:solidFill>
                  <a:srgbClr val="FF0000"/>
                </a:solidFill>
                <a:latin typeface="Söhne"/>
              </a:rPr>
              <a:t>bytecode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 in un file con estensione </a:t>
            </a:r>
            <a:r>
              <a:rPr lang="it-IT" sz="2000" b="1" i="1" dirty="0">
                <a:solidFill>
                  <a:srgbClr val="FF0000"/>
                </a:solidFill>
                <a:latin typeface="Söhne"/>
              </a:rPr>
              <a:t>.class</a:t>
            </a:r>
          </a:p>
          <a:p>
            <a:r>
              <a:rPr lang="it-IT" sz="2000" dirty="0">
                <a:solidFill>
                  <a:srgbClr val="374151"/>
                </a:solidFill>
                <a:latin typeface="Söhne"/>
              </a:rPr>
              <a:t>In questo modo si ottiene la portabilità, </a:t>
            </a:r>
            <a:r>
              <a:rPr lang="it-IT" sz="2000" b="1" i="1" dirty="0">
                <a:solidFill>
                  <a:srgbClr val="374151"/>
                </a:solidFill>
                <a:latin typeface="Söhne"/>
              </a:rPr>
              <a:t>il </a:t>
            </a:r>
            <a:r>
              <a:rPr lang="it-IT" sz="2000" b="1" i="1" dirty="0" err="1">
                <a:solidFill>
                  <a:srgbClr val="374151"/>
                </a:solidFill>
                <a:latin typeface="Söhne"/>
              </a:rPr>
              <a:t>bytecode</a:t>
            </a:r>
            <a:r>
              <a:rPr lang="it-IT" sz="2000" b="1" i="1" dirty="0">
                <a:solidFill>
                  <a:srgbClr val="374151"/>
                </a:solidFill>
                <a:latin typeface="Söhne"/>
              </a:rPr>
              <a:t> generato è lo stesso per tutte le architetture</a:t>
            </a:r>
          </a:p>
          <a:p>
            <a:r>
              <a:rPr lang="it-IT" sz="2000" dirty="0">
                <a:solidFill>
                  <a:srgbClr val="374151"/>
                </a:solidFill>
                <a:latin typeface="Söhne"/>
              </a:rPr>
              <a:t>Per eseguire il programma è necessario che sulla macchina sia presente la </a:t>
            </a:r>
            <a:r>
              <a:rPr lang="it-IT" sz="2000" b="1" i="1" dirty="0">
                <a:solidFill>
                  <a:srgbClr val="374151"/>
                </a:solidFill>
                <a:latin typeface="Söhne"/>
              </a:rPr>
              <a:t>Virtual Machine Java (Java VM) 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che è </a:t>
            </a:r>
            <a:r>
              <a:rPr lang="it-IT" sz="2000" i="1" dirty="0">
                <a:solidFill>
                  <a:srgbClr val="374151"/>
                </a:solidFill>
                <a:latin typeface="Söhne"/>
              </a:rPr>
              <a:t>disponibile per diversi sistemi operativi 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e ha il compito di </a:t>
            </a:r>
            <a:r>
              <a:rPr lang="it-IT" sz="2000" u="sng" dirty="0">
                <a:solidFill>
                  <a:srgbClr val="374151"/>
                </a:solidFill>
                <a:latin typeface="Söhne"/>
              </a:rPr>
              <a:t>interpretare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 il </a:t>
            </a:r>
            <a:r>
              <a:rPr lang="it-IT" sz="2000" dirty="0" err="1">
                <a:solidFill>
                  <a:srgbClr val="374151"/>
                </a:solidFill>
                <a:latin typeface="Söhne"/>
              </a:rPr>
              <a:t>bytecode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 per la macchina su cui si trova</a:t>
            </a:r>
            <a:endParaRPr lang="it-IT" sz="2000" dirty="0"/>
          </a:p>
        </p:txBody>
      </p:sp>
      <p:pic>
        <p:nvPicPr>
          <p:cNvPr id="4" name="Picture 2" descr="Figure showing MyProgram.java, compiler, MyProgram.class, Java VM, and My Program running on a computer.">
            <a:extLst>
              <a:ext uri="{FF2B5EF4-FFF2-40B4-BE49-F238E27FC236}">
                <a16:creationId xmlns:a16="http://schemas.microsoft.com/office/drawing/2014/main" id="{0F3761AF-70E5-C2B1-7C97-D1EF9D1E4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3648" y="4987379"/>
            <a:ext cx="5541427" cy="1294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722445E-BA0A-5993-35D0-FDA2848A8E11}"/>
              </a:ext>
            </a:extLst>
          </p:cNvPr>
          <p:cNvSpPr txBox="1"/>
          <p:nvPr/>
        </p:nvSpPr>
        <p:spPr>
          <a:xfrm>
            <a:off x="1835696" y="6290342"/>
            <a:ext cx="5008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hlinkClick r:id="rId3"/>
              </a:rPr>
              <a:t> https://docs.oracle.com/javase/tutorial/getStarted/intro/definition.html</a:t>
            </a:r>
            <a:endParaRPr lang="it-IT" sz="1200" dirty="0"/>
          </a:p>
          <a:p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62235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5DB4E3-9957-7489-F4E1-A8AD47C4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712" y="404664"/>
            <a:ext cx="7543800" cy="1295400"/>
          </a:xfrm>
        </p:spPr>
        <p:txBody>
          <a:bodyPr/>
          <a:lstStyle/>
          <a:p>
            <a:r>
              <a:rPr lang="it-IT" sz="6000" dirty="0"/>
              <a:t>Hello World!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CF5605-06A8-C02F-B46B-830B731E3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941167"/>
            <a:ext cx="8229600" cy="1189757"/>
          </a:xfrm>
        </p:spPr>
        <p:txBody>
          <a:bodyPr/>
          <a:lstStyle/>
          <a:p>
            <a:pPr marL="0" indent="0">
              <a:buNone/>
            </a:pPr>
            <a:endParaRPr lang="it-IT" dirty="0">
              <a:hlinkClick r:id="rId2"/>
            </a:endParaRPr>
          </a:p>
          <a:p>
            <a:r>
              <a:rPr lang="it-IT" sz="2400" dirty="0">
                <a:hlinkClick r:id="rId2"/>
              </a:rPr>
              <a:t>https://www.youtube.com/watch?v=yup8gIXxWDU</a:t>
            </a:r>
            <a:endParaRPr lang="it-IT" sz="2400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 descr="Immagine che contiene testo, Sito Web, Pagina Web, Pubblicità online&#10;&#10;Il contenuto generato dall'IA potrebbe non essere corretto.">
            <a:extLst>
              <a:ext uri="{FF2B5EF4-FFF2-40B4-BE49-F238E27FC236}">
                <a16:creationId xmlns:a16="http://schemas.microsoft.com/office/drawing/2014/main" id="{78050DC3-4005-C4D0-C0F5-F88EC53BB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" y="1916833"/>
            <a:ext cx="9066020" cy="309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4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B230-2F49-55EA-4641-B45CE3AB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668FF0-88BF-37F7-AE3C-D2035A79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sz="3600" dirty="0"/>
              <a:t>Primo programma Java: editing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04245EE-866B-2A72-2272-A97EB9FF7469}"/>
              </a:ext>
            </a:extLst>
          </p:cNvPr>
          <p:cNvSpPr txBox="1"/>
          <p:nvPr/>
        </p:nvSpPr>
        <p:spPr>
          <a:xfrm>
            <a:off x="1115616" y="5733256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File: </a:t>
            </a:r>
            <a:r>
              <a:rPr lang="it-IT" dirty="0" err="1"/>
              <a:t>HelloWorld.java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35295A-C84B-C7D3-0B69-C17A488B7F77}"/>
              </a:ext>
            </a:extLst>
          </p:cNvPr>
          <p:cNvSpPr txBox="1"/>
          <p:nvPr/>
        </p:nvSpPr>
        <p:spPr>
          <a:xfrm>
            <a:off x="179512" y="2316936"/>
            <a:ext cx="480131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/* prima classe di esempio per illustrare</a:t>
            </a:r>
          </a:p>
          <a:p>
            <a:r>
              <a:rPr lang="it-IT" dirty="0">
                <a:solidFill>
                  <a:srgbClr val="00B0F0"/>
                </a:solidFill>
              </a:rPr>
              <a:t>    l’uso del metodo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 le i passi di sviluppo</a:t>
            </a:r>
          </a:p>
          <a:p>
            <a:r>
              <a:rPr lang="it-IT" dirty="0">
                <a:solidFill>
                  <a:srgbClr val="00B0F0"/>
                </a:solidFill>
              </a:rPr>
              <a:t>*/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public</a:t>
            </a:r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class</a:t>
            </a:r>
            <a:r>
              <a:rPr lang="it-IT" dirty="0"/>
              <a:t> </a:t>
            </a:r>
            <a:r>
              <a:rPr lang="it-IT" dirty="0" err="1"/>
              <a:t>HelloWorld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dirty="0">
                <a:solidFill>
                  <a:srgbClr val="00B0F0"/>
                </a:solidFill>
              </a:rPr>
              <a:t>    // metodi della classe</a:t>
            </a:r>
          </a:p>
          <a:p>
            <a:r>
              <a:rPr lang="it-IT" dirty="0"/>
              <a:t>    </a:t>
            </a:r>
            <a:r>
              <a:rPr lang="it-IT" dirty="0">
                <a:solidFill>
                  <a:srgbClr val="00B050"/>
                </a:solidFill>
              </a:rPr>
              <a:t>public </a:t>
            </a:r>
            <a:r>
              <a:rPr lang="it-IT" dirty="0" err="1">
                <a:solidFill>
                  <a:srgbClr val="00B050"/>
                </a:solidFill>
              </a:rPr>
              <a:t>static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("Welcome to Java!");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3756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B47255-9616-56B4-57DB-E14CEABC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sz="3600" dirty="0"/>
              <a:t>Primo programma Java: editing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9392CE-41DE-C441-A4FC-7A2DCD4C9E99}"/>
              </a:ext>
            </a:extLst>
          </p:cNvPr>
          <p:cNvSpPr txBox="1"/>
          <p:nvPr/>
        </p:nvSpPr>
        <p:spPr>
          <a:xfrm>
            <a:off x="1115616" y="5733256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File: </a:t>
            </a:r>
            <a:r>
              <a:rPr lang="it-IT" dirty="0" err="1"/>
              <a:t>HelloWorld.java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D2DC11F-C04A-B312-267D-CDA1E6F8F87A}"/>
              </a:ext>
            </a:extLst>
          </p:cNvPr>
          <p:cNvSpPr txBox="1"/>
          <p:nvPr/>
        </p:nvSpPr>
        <p:spPr>
          <a:xfrm>
            <a:off x="179512" y="2316936"/>
            <a:ext cx="480131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/* prima classe di esempio per illustrare</a:t>
            </a:r>
          </a:p>
          <a:p>
            <a:r>
              <a:rPr lang="it-IT" dirty="0">
                <a:solidFill>
                  <a:srgbClr val="00B0F0"/>
                </a:solidFill>
              </a:rPr>
              <a:t>    l’uso del metodo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 le i passi di sviluppo</a:t>
            </a:r>
          </a:p>
          <a:p>
            <a:r>
              <a:rPr lang="it-IT" dirty="0">
                <a:solidFill>
                  <a:srgbClr val="00B0F0"/>
                </a:solidFill>
              </a:rPr>
              <a:t>*/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public</a:t>
            </a:r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class</a:t>
            </a:r>
            <a:r>
              <a:rPr lang="it-IT" dirty="0"/>
              <a:t> </a:t>
            </a:r>
            <a:r>
              <a:rPr lang="it-IT" dirty="0" err="1"/>
              <a:t>HelloWorld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dirty="0">
                <a:solidFill>
                  <a:srgbClr val="00B0F0"/>
                </a:solidFill>
              </a:rPr>
              <a:t>    // metodi della classe</a:t>
            </a:r>
          </a:p>
          <a:p>
            <a:r>
              <a:rPr lang="it-IT" dirty="0"/>
              <a:t>    </a:t>
            </a:r>
            <a:r>
              <a:rPr lang="it-IT" dirty="0">
                <a:solidFill>
                  <a:srgbClr val="00B050"/>
                </a:solidFill>
              </a:rPr>
              <a:t>public </a:t>
            </a:r>
            <a:r>
              <a:rPr lang="it-IT" dirty="0" err="1">
                <a:solidFill>
                  <a:srgbClr val="00B050"/>
                </a:solidFill>
              </a:rPr>
              <a:t>static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("Welcome to Java!");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66DE38D-D889-5DE6-D495-9E309EED4AA2}"/>
              </a:ext>
            </a:extLst>
          </p:cNvPr>
          <p:cNvSpPr/>
          <p:nvPr/>
        </p:nvSpPr>
        <p:spPr bwMode="auto">
          <a:xfrm>
            <a:off x="5868144" y="2316936"/>
            <a:ext cx="2544286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Commento su più linee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5D6F26B-3464-F1D5-BE42-1465984967C5}"/>
              </a:ext>
            </a:extLst>
          </p:cNvPr>
          <p:cNvSpPr/>
          <p:nvPr/>
        </p:nvSpPr>
        <p:spPr bwMode="auto">
          <a:xfrm>
            <a:off x="5868144" y="3987067"/>
            <a:ext cx="2967479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Commento su linea singola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A3D919C-4CB9-231D-4EA8-F68FE68A34DE}"/>
              </a:ext>
            </a:extLst>
          </p:cNvPr>
          <p:cNvCxnSpPr>
            <a:stCxn id="6" idx="1"/>
          </p:cNvCxnSpPr>
          <p:nvPr/>
        </p:nvCxnSpPr>
        <p:spPr bwMode="auto">
          <a:xfrm flipH="1" flipV="1">
            <a:off x="4716016" y="2492896"/>
            <a:ext cx="1152128" cy="870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F641296-DD4E-74F1-8ADB-3B410521318A}"/>
              </a:ext>
            </a:extLst>
          </p:cNvPr>
          <p:cNvCxnSpPr/>
          <p:nvPr/>
        </p:nvCxnSpPr>
        <p:spPr bwMode="auto">
          <a:xfrm flipH="1">
            <a:off x="2771800" y="4171733"/>
            <a:ext cx="309634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24145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22CE-89CA-320C-E437-1ADF8AF6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0E39DE-EDA8-8EC4-65A0-1FD7B4F0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sz="3600" dirty="0"/>
              <a:t>Primo programma Java: editing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EE7574-88EB-75F4-5602-4124827498FF}"/>
              </a:ext>
            </a:extLst>
          </p:cNvPr>
          <p:cNvSpPr txBox="1"/>
          <p:nvPr/>
        </p:nvSpPr>
        <p:spPr>
          <a:xfrm>
            <a:off x="1115616" y="5733256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File: </a:t>
            </a:r>
            <a:r>
              <a:rPr lang="it-IT" dirty="0" err="1"/>
              <a:t>HelloWorld.java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3355C2-C66B-EFEA-9AD6-AA7C57A5CE9E}"/>
              </a:ext>
            </a:extLst>
          </p:cNvPr>
          <p:cNvSpPr txBox="1"/>
          <p:nvPr/>
        </p:nvSpPr>
        <p:spPr>
          <a:xfrm>
            <a:off x="179512" y="2316936"/>
            <a:ext cx="480131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/* prima classe di esempio per illustrare</a:t>
            </a:r>
          </a:p>
          <a:p>
            <a:r>
              <a:rPr lang="it-IT" dirty="0">
                <a:solidFill>
                  <a:srgbClr val="00B0F0"/>
                </a:solidFill>
              </a:rPr>
              <a:t>    l’uso del metodo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 le i passi di sviluppo</a:t>
            </a:r>
          </a:p>
          <a:p>
            <a:r>
              <a:rPr lang="it-IT" dirty="0">
                <a:solidFill>
                  <a:srgbClr val="00B0F0"/>
                </a:solidFill>
              </a:rPr>
              <a:t>*/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public</a:t>
            </a:r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class</a:t>
            </a:r>
            <a:r>
              <a:rPr lang="it-IT" dirty="0"/>
              <a:t> </a:t>
            </a:r>
            <a:r>
              <a:rPr lang="it-IT" dirty="0" err="1"/>
              <a:t>HelloWorld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dirty="0">
                <a:solidFill>
                  <a:srgbClr val="00B0F0"/>
                </a:solidFill>
              </a:rPr>
              <a:t>    // metodi della classe</a:t>
            </a:r>
          </a:p>
          <a:p>
            <a:r>
              <a:rPr lang="it-IT" dirty="0"/>
              <a:t>    </a:t>
            </a:r>
            <a:r>
              <a:rPr lang="it-IT" dirty="0">
                <a:solidFill>
                  <a:srgbClr val="00B050"/>
                </a:solidFill>
              </a:rPr>
              <a:t>public </a:t>
            </a:r>
            <a:r>
              <a:rPr lang="it-IT" dirty="0" err="1">
                <a:solidFill>
                  <a:srgbClr val="00B050"/>
                </a:solidFill>
              </a:rPr>
              <a:t>static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("Welcome to Java!");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5ED20C1-CA1F-D8AD-3DD4-D05911BA5122}"/>
              </a:ext>
            </a:extLst>
          </p:cNvPr>
          <p:cNvSpPr/>
          <p:nvPr/>
        </p:nvSpPr>
        <p:spPr bwMode="auto">
          <a:xfrm>
            <a:off x="5076057" y="2307641"/>
            <a:ext cx="3672408" cy="4247317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Dichiarazion</a:t>
            </a:r>
            <a:r>
              <a:rPr lang="it-IT" b="1" u="sng" dirty="0"/>
              <a:t>e di classe.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Ogni programma Java contiene almeno una dichiarazione definita dal programmatore.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La </a:t>
            </a:r>
            <a:r>
              <a:rPr lang="it-IT" b="1" dirty="0"/>
              <a:t>parola chiave</a:t>
            </a:r>
            <a:r>
              <a:rPr lang="it-IT" dirty="0"/>
              <a:t> </a:t>
            </a:r>
            <a:r>
              <a:rPr lang="it-IT" b="1" i="1" dirty="0"/>
              <a:t>class</a:t>
            </a:r>
            <a:r>
              <a:rPr lang="it-IT" i="1" dirty="0"/>
              <a:t> </a:t>
            </a:r>
            <a:r>
              <a:rPr lang="it-IT" dirty="0"/>
              <a:t>introduce una dichiarazione di classe ed è immediatamente seguita dal nome della classe.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All’inizio ogni classe che dichiareremo inizierà con la parola chiave </a:t>
            </a:r>
            <a:r>
              <a:rPr lang="it-IT" b="1" dirty="0"/>
              <a:t>public</a:t>
            </a:r>
            <a:r>
              <a:rPr lang="it-IT" dirty="0"/>
              <a:t> che è un </a:t>
            </a:r>
            <a:r>
              <a:rPr lang="it-IT" b="1" dirty="0"/>
              <a:t>modificatore di accesso</a:t>
            </a:r>
            <a:r>
              <a:rPr lang="it-IT" dirty="0"/>
              <a:t>.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Approfondiremo in seguito il concetto dei modificatori di accesso</a:t>
            </a:r>
            <a:endParaRPr kumimoji="0" 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450615A-8DC1-4436-7A14-9F2B0CA88480}"/>
              </a:ext>
            </a:extLst>
          </p:cNvPr>
          <p:cNvCxnSpPr/>
          <p:nvPr/>
        </p:nvCxnSpPr>
        <p:spPr bwMode="auto">
          <a:xfrm flipH="1">
            <a:off x="2339752" y="2492896"/>
            <a:ext cx="2736305" cy="100811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2488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14F1-8B40-DE7A-DE24-25A180AD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26E9B0-9EFD-DC97-E3B5-98D98637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sz="3600" dirty="0"/>
              <a:t>Primo programma Java: editing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2D59E2-B618-6438-A4D3-5E9F55B2C85E}"/>
              </a:ext>
            </a:extLst>
          </p:cNvPr>
          <p:cNvSpPr txBox="1"/>
          <p:nvPr/>
        </p:nvSpPr>
        <p:spPr>
          <a:xfrm>
            <a:off x="1115616" y="5733256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File: </a:t>
            </a:r>
            <a:r>
              <a:rPr lang="it-IT" dirty="0" err="1"/>
              <a:t>HelloWorld.java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A31648-4CBB-3081-1988-74465B253F9D}"/>
              </a:ext>
            </a:extLst>
          </p:cNvPr>
          <p:cNvSpPr txBox="1"/>
          <p:nvPr/>
        </p:nvSpPr>
        <p:spPr>
          <a:xfrm>
            <a:off x="179512" y="2316936"/>
            <a:ext cx="480131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/* prima classe di esempio per illustrare</a:t>
            </a:r>
          </a:p>
          <a:p>
            <a:r>
              <a:rPr lang="it-IT" dirty="0">
                <a:solidFill>
                  <a:srgbClr val="00B0F0"/>
                </a:solidFill>
              </a:rPr>
              <a:t>    l’uso del metodo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 le i passi di sviluppo</a:t>
            </a:r>
          </a:p>
          <a:p>
            <a:r>
              <a:rPr lang="it-IT" dirty="0">
                <a:solidFill>
                  <a:srgbClr val="00B0F0"/>
                </a:solidFill>
              </a:rPr>
              <a:t>*/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public</a:t>
            </a:r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class</a:t>
            </a:r>
            <a:r>
              <a:rPr lang="it-IT" dirty="0"/>
              <a:t> </a:t>
            </a:r>
            <a:r>
              <a:rPr lang="it-IT" dirty="0" err="1"/>
              <a:t>HelloWorld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dirty="0">
                <a:solidFill>
                  <a:srgbClr val="00B0F0"/>
                </a:solidFill>
              </a:rPr>
              <a:t>    // metodi della classe</a:t>
            </a:r>
          </a:p>
          <a:p>
            <a:r>
              <a:rPr lang="it-IT" dirty="0"/>
              <a:t>    </a:t>
            </a:r>
            <a:r>
              <a:rPr lang="it-IT" dirty="0">
                <a:solidFill>
                  <a:srgbClr val="00B050"/>
                </a:solidFill>
              </a:rPr>
              <a:t>public </a:t>
            </a:r>
            <a:r>
              <a:rPr lang="it-IT" dirty="0" err="1">
                <a:solidFill>
                  <a:srgbClr val="00B050"/>
                </a:solidFill>
              </a:rPr>
              <a:t>static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("Welcome to Java!");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9B2941B-5F1C-6272-3A2D-659FCAB2245C}"/>
              </a:ext>
            </a:extLst>
          </p:cNvPr>
          <p:cNvSpPr/>
          <p:nvPr/>
        </p:nvSpPr>
        <p:spPr bwMode="auto">
          <a:xfrm>
            <a:off x="5094145" y="1076665"/>
            <a:ext cx="3672408" cy="5632311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Per convenzione</a:t>
            </a:r>
            <a:r>
              <a:rPr lang="it-IT" b="1" u="sng" dirty="0"/>
              <a:t>.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I nomi di classe in Java iniziano con un carattere maiuscolo e mettono in maiuscolo ogni primo carattere di ogni eventuale parola successiva.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Es. </a:t>
            </a:r>
            <a:r>
              <a:rPr lang="it-IT" dirty="0" err="1"/>
              <a:t>MiaClasse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Notazione detta </a:t>
            </a:r>
            <a:r>
              <a:rPr lang="it-IT" dirty="0" err="1"/>
              <a:t>CamelCase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Un nome di una classe è un identificativo composto da una serie di caratteri formati da lettere, numeri, trattini bassi (_) e simbolo del dollaro($).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Il nome di una classe non inizia mai con un numero e non contiene spazi.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Java è case sensitive quindi a1 e A1 sono due identificativi validi ma distinti.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95097AFF-2402-DA90-C91B-D35A14156781}"/>
              </a:ext>
            </a:extLst>
          </p:cNvPr>
          <p:cNvCxnSpPr/>
          <p:nvPr/>
        </p:nvCxnSpPr>
        <p:spPr bwMode="auto">
          <a:xfrm flipH="1">
            <a:off x="1979712" y="2492896"/>
            <a:ext cx="3096344" cy="93610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82116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A497-9130-9784-D58F-D4BB6C6D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B738C-4A10-2F67-935D-9707D1F4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sz="3600" dirty="0"/>
              <a:t>Primo programma Java: editing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F4CB801-5FF8-1F79-99CD-47AE430F1B0C}"/>
              </a:ext>
            </a:extLst>
          </p:cNvPr>
          <p:cNvSpPr txBox="1"/>
          <p:nvPr/>
        </p:nvSpPr>
        <p:spPr>
          <a:xfrm>
            <a:off x="1115616" y="5733256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File: </a:t>
            </a:r>
            <a:r>
              <a:rPr lang="it-IT" dirty="0" err="1"/>
              <a:t>HelloWorld.java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4235913-7957-95DF-4D66-A731F7118599}"/>
              </a:ext>
            </a:extLst>
          </p:cNvPr>
          <p:cNvSpPr txBox="1"/>
          <p:nvPr/>
        </p:nvSpPr>
        <p:spPr>
          <a:xfrm>
            <a:off x="179512" y="2316936"/>
            <a:ext cx="480131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/* prima classe di esempio per illustrare</a:t>
            </a:r>
          </a:p>
          <a:p>
            <a:r>
              <a:rPr lang="it-IT" dirty="0">
                <a:solidFill>
                  <a:srgbClr val="00B0F0"/>
                </a:solidFill>
              </a:rPr>
              <a:t>    l’uso del metodo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 le i passi di sviluppo</a:t>
            </a:r>
          </a:p>
          <a:p>
            <a:r>
              <a:rPr lang="it-IT" dirty="0">
                <a:solidFill>
                  <a:srgbClr val="00B0F0"/>
                </a:solidFill>
              </a:rPr>
              <a:t>*/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public</a:t>
            </a:r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class</a:t>
            </a:r>
            <a:r>
              <a:rPr lang="it-IT" dirty="0"/>
              <a:t> </a:t>
            </a:r>
            <a:r>
              <a:rPr lang="it-IT" dirty="0" err="1"/>
              <a:t>HelloWorld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dirty="0">
                <a:solidFill>
                  <a:srgbClr val="00B0F0"/>
                </a:solidFill>
              </a:rPr>
              <a:t>    // metodi della classe</a:t>
            </a:r>
          </a:p>
          <a:p>
            <a:r>
              <a:rPr lang="it-IT" dirty="0"/>
              <a:t>    </a:t>
            </a:r>
            <a:r>
              <a:rPr lang="it-IT" dirty="0">
                <a:solidFill>
                  <a:srgbClr val="00B050"/>
                </a:solidFill>
              </a:rPr>
              <a:t>public </a:t>
            </a:r>
            <a:r>
              <a:rPr lang="it-IT" dirty="0" err="1">
                <a:solidFill>
                  <a:srgbClr val="00B050"/>
                </a:solidFill>
              </a:rPr>
              <a:t>static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("Welcome to Java!");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AD31951-B6C4-9EC7-405C-40082BB587C4}"/>
              </a:ext>
            </a:extLst>
          </p:cNvPr>
          <p:cNvSpPr/>
          <p:nvPr/>
        </p:nvSpPr>
        <p:spPr bwMode="auto">
          <a:xfrm>
            <a:off x="6156176" y="3356991"/>
            <a:ext cx="2082621" cy="369332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Corpo della classe</a:t>
            </a:r>
          </a:p>
        </p:txBody>
      </p:sp>
      <p:sp>
        <p:nvSpPr>
          <p:cNvPr id="3" name="Parentesi graffa chiusa 2">
            <a:extLst>
              <a:ext uri="{FF2B5EF4-FFF2-40B4-BE49-F238E27FC236}">
                <a16:creationId xmlns:a16="http://schemas.microsoft.com/office/drawing/2014/main" id="{0EF6658B-A129-B509-E1FD-9CA1E8DCBAEA}"/>
              </a:ext>
            </a:extLst>
          </p:cNvPr>
          <p:cNvSpPr/>
          <p:nvPr/>
        </p:nvSpPr>
        <p:spPr bwMode="auto">
          <a:xfrm>
            <a:off x="4788024" y="3541658"/>
            <a:ext cx="648072" cy="1687542"/>
          </a:xfrm>
          <a:prstGeom prst="rightBrac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CE60240D-0472-2D6D-F540-F615A91479A7}"/>
              </a:ext>
            </a:extLst>
          </p:cNvPr>
          <p:cNvCxnSpPr>
            <a:stCxn id="3" idx="0"/>
          </p:cNvCxnSpPr>
          <p:nvPr/>
        </p:nvCxnSpPr>
        <p:spPr bwMode="auto">
          <a:xfrm flipH="1">
            <a:off x="2843808" y="3541658"/>
            <a:ext cx="19442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BCFA154B-F8FC-C90A-6BD8-E5492955F59E}"/>
              </a:ext>
            </a:extLst>
          </p:cNvPr>
          <p:cNvCxnSpPr>
            <a:stCxn id="3" idx="2"/>
          </p:cNvCxnSpPr>
          <p:nvPr/>
        </p:nvCxnSpPr>
        <p:spPr bwMode="auto">
          <a:xfrm flipH="1">
            <a:off x="323528" y="5229200"/>
            <a:ext cx="446449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Connettore 4 16">
            <a:extLst>
              <a:ext uri="{FF2B5EF4-FFF2-40B4-BE49-F238E27FC236}">
                <a16:creationId xmlns:a16="http://schemas.microsoft.com/office/drawing/2014/main" id="{8BEC15BC-47B0-7770-6ECC-642CE471030B}"/>
              </a:ext>
            </a:extLst>
          </p:cNvPr>
          <p:cNvCxnSpPr>
            <a:stCxn id="7" idx="2"/>
          </p:cNvCxnSpPr>
          <p:nvPr/>
        </p:nvCxnSpPr>
        <p:spPr bwMode="auto">
          <a:xfrm rot="5400000">
            <a:off x="5961398" y="3129014"/>
            <a:ext cx="638780" cy="1833399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8416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A618-7780-7D55-9E98-2B8BC8BB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23AB1D-7F35-15BA-DAD2-3CAD701F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sz="3600" dirty="0"/>
              <a:t>Primo programma Java: editing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BDA5F00-8762-0CA6-06BD-EE8E3CD97D96}"/>
              </a:ext>
            </a:extLst>
          </p:cNvPr>
          <p:cNvSpPr txBox="1"/>
          <p:nvPr/>
        </p:nvSpPr>
        <p:spPr>
          <a:xfrm>
            <a:off x="1115616" y="5733256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File: </a:t>
            </a:r>
            <a:r>
              <a:rPr lang="it-IT" dirty="0" err="1"/>
              <a:t>HelloWorld.java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EBDC7C-8046-44A8-86A7-A29140FD36C4}"/>
              </a:ext>
            </a:extLst>
          </p:cNvPr>
          <p:cNvSpPr txBox="1"/>
          <p:nvPr/>
        </p:nvSpPr>
        <p:spPr>
          <a:xfrm>
            <a:off x="179512" y="2316936"/>
            <a:ext cx="480131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/* prima classe di esempio per illustrare</a:t>
            </a:r>
          </a:p>
          <a:p>
            <a:r>
              <a:rPr lang="it-IT" dirty="0">
                <a:solidFill>
                  <a:srgbClr val="00B0F0"/>
                </a:solidFill>
              </a:rPr>
              <a:t>    l’uso del metodo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 le i passi di sviluppo</a:t>
            </a:r>
          </a:p>
          <a:p>
            <a:r>
              <a:rPr lang="it-IT" dirty="0">
                <a:solidFill>
                  <a:srgbClr val="00B0F0"/>
                </a:solidFill>
              </a:rPr>
              <a:t>*/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public</a:t>
            </a:r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class</a:t>
            </a:r>
            <a:r>
              <a:rPr lang="it-IT" dirty="0"/>
              <a:t> </a:t>
            </a:r>
            <a:r>
              <a:rPr lang="it-IT" dirty="0" err="1"/>
              <a:t>HelloWorld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dirty="0">
                <a:solidFill>
                  <a:srgbClr val="00B0F0"/>
                </a:solidFill>
              </a:rPr>
              <a:t>    // metodi della classe</a:t>
            </a:r>
          </a:p>
          <a:p>
            <a:r>
              <a:rPr lang="it-IT" dirty="0"/>
              <a:t>    </a:t>
            </a:r>
            <a:r>
              <a:rPr lang="it-IT" dirty="0">
                <a:solidFill>
                  <a:srgbClr val="00B050"/>
                </a:solidFill>
              </a:rPr>
              <a:t>public </a:t>
            </a:r>
            <a:r>
              <a:rPr lang="it-IT" dirty="0" err="1">
                <a:solidFill>
                  <a:srgbClr val="00B050"/>
                </a:solidFill>
              </a:rPr>
              <a:t>static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("Welcome to Java!");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B1538FA-BA7E-D066-29BF-4EF753CB7617}"/>
              </a:ext>
            </a:extLst>
          </p:cNvPr>
          <p:cNvSpPr/>
          <p:nvPr/>
        </p:nvSpPr>
        <p:spPr bwMode="auto">
          <a:xfrm>
            <a:off x="5748112" y="2316936"/>
            <a:ext cx="3395888" cy="3693319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Dichiarazione di un metodo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Il nome di un metodo, in questo caso </a:t>
            </a:r>
            <a:r>
              <a:rPr lang="it-IT" dirty="0" err="1"/>
              <a:t>main</a:t>
            </a:r>
            <a:r>
              <a:rPr lang="it-IT" dirty="0"/>
              <a:t> è un </a:t>
            </a:r>
            <a:r>
              <a:rPr lang="it-IT" b="1" dirty="0"/>
              <a:t>identificatore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Il </a:t>
            </a:r>
            <a:r>
              <a:rPr lang="it-IT" b="1" dirty="0"/>
              <a:t>corpo del metodo </a:t>
            </a:r>
            <a:r>
              <a:rPr lang="it-IT" dirty="0"/>
              <a:t>è identificato dal blocco delimitato da una parentesi graffa aperta e una parentesi graffa chiusa.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L’elemento </a:t>
            </a:r>
            <a:r>
              <a:rPr kumimoji="0" 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String</a:t>
            </a:r>
            <a:r>
              <a:rPr kumimoji="0" 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[] </a:t>
            </a:r>
            <a:r>
              <a:rPr kumimoji="0" 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args</a:t>
            </a:r>
            <a:r>
              <a:rPr kumimoji="0" 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fra le parentesi è una parte obbli</a:t>
            </a:r>
            <a:r>
              <a:rPr lang="it-IT" dirty="0"/>
              <a:t>gatoria della dichiarazione </a:t>
            </a:r>
            <a:r>
              <a:rPr lang="it-IT" dirty="0" err="1"/>
              <a:t>main</a:t>
            </a:r>
            <a:r>
              <a:rPr lang="it-IT" dirty="0"/>
              <a:t>.</a:t>
            </a:r>
            <a:endParaRPr kumimoji="0" 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Parentesi graffa chiusa 2">
            <a:extLst>
              <a:ext uri="{FF2B5EF4-FFF2-40B4-BE49-F238E27FC236}">
                <a16:creationId xmlns:a16="http://schemas.microsoft.com/office/drawing/2014/main" id="{2334F478-6886-4304-E9EB-C96DB66E8542}"/>
              </a:ext>
            </a:extLst>
          </p:cNvPr>
          <p:cNvSpPr/>
          <p:nvPr/>
        </p:nvSpPr>
        <p:spPr bwMode="auto">
          <a:xfrm>
            <a:off x="4860032" y="4221088"/>
            <a:ext cx="576064" cy="1008112"/>
          </a:xfrm>
          <a:prstGeom prst="rightBrace">
            <a:avLst>
              <a:gd name="adj1" fmla="val 27661"/>
              <a:gd name="adj2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28204636-EB59-EA96-9D30-A13E7BD4A192}"/>
              </a:ext>
            </a:extLst>
          </p:cNvPr>
          <p:cNvCxnSpPr>
            <a:cxnSpLocks/>
            <a:stCxn id="3" idx="0"/>
          </p:cNvCxnSpPr>
          <p:nvPr/>
        </p:nvCxnSpPr>
        <p:spPr bwMode="auto">
          <a:xfrm flipH="1">
            <a:off x="4322779" y="4221088"/>
            <a:ext cx="53725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B3B61ADA-287C-F0A4-C6ED-C1CF0C8E0A28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 flipH="1" flipV="1">
            <a:off x="539552" y="5229199"/>
            <a:ext cx="432048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79174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26CA-E068-01B7-6B6D-FBCBDD58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6EE678-2BF5-2F7C-248E-BABF9E5A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43408"/>
            <a:ext cx="7543800" cy="1295400"/>
          </a:xfrm>
        </p:spPr>
        <p:txBody>
          <a:bodyPr/>
          <a:lstStyle/>
          <a:p>
            <a:r>
              <a:rPr lang="it-IT" sz="3600" dirty="0"/>
              <a:t>Primo programma Java: editing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0F8C4BB-584A-0FB0-DB0C-8E7838D0BA6C}"/>
              </a:ext>
            </a:extLst>
          </p:cNvPr>
          <p:cNvSpPr txBox="1"/>
          <p:nvPr/>
        </p:nvSpPr>
        <p:spPr>
          <a:xfrm>
            <a:off x="1115616" y="5733256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File: </a:t>
            </a:r>
            <a:r>
              <a:rPr lang="it-IT" dirty="0" err="1"/>
              <a:t>HelloWorld.java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8E1B4B-E51D-860D-2AD2-DD6CC36515BC}"/>
              </a:ext>
            </a:extLst>
          </p:cNvPr>
          <p:cNvSpPr txBox="1"/>
          <p:nvPr/>
        </p:nvSpPr>
        <p:spPr>
          <a:xfrm>
            <a:off x="179512" y="2316936"/>
            <a:ext cx="480131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F0"/>
                </a:solidFill>
              </a:rPr>
              <a:t>/* prima classe di esempio per illustrare</a:t>
            </a:r>
          </a:p>
          <a:p>
            <a:r>
              <a:rPr lang="it-IT" dirty="0">
                <a:solidFill>
                  <a:srgbClr val="00B0F0"/>
                </a:solidFill>
              </a:rPr>
              <a:t>    l’uso del metodo </a:t>
            </a:r>
            <a:r>
              <a:rPr lang="it-IT" dirty="0" err="1">
                <a:solidFill>
                  <a:srgbClr val="00B0F0"/>
                </a:solidFill>
              </a:rPr>
              <a:t>main</a:t>
            </a:r>
            <a:r>
              <a:rPr lang="it-IT" dirty="0">
                <a:solidFill>
                  <a:srgbClr val="00B0F0"/>
                </a:solidFill>
              </a:rPr>
              <a:t> le i passi di sviluppo</a:t>
            </a:r>
          </a:p>
          <a:p>
            <a:r>
              <a:rPr lang="it-IT" dirty="0">
                <a:solidFill>
                  <a:srgbClr val="00B0F0"/>
                </a:solidFill>
              </a:rPr>
              <a:t>*/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public</a:t>
            </a:r>
            <a:r>
              <a:rPr lang="it-IT" dirty="0"/>
              <a:t> </a:t>
            </a:r>
            <a:r>
              <a:rPr lang="it-IT" dirty="0">
                <a:solidFill>
                  <a:srgbClr val="FF0000"/>
                </a:solidFill>
              </a:rPr>
              <a:t>class</a:t>
            </a:r>
            <a:r>
              <a:rPr lang="it-IT" dirty="0"/>
              <a:t> </a:t>
            </a:r>
            <a:r>
              <a:rPr lang="it-IT" dirty="0" err="1"/>
              <a:t>HelloWorld</a:t>
            </a:r>
            <a:r>
              <a:rPr lang="it-IT" dirty="0"/>
              <a:t> {</a:t>
            </a:r>
          </a:p>
          <a:p>
            <a:endParaRPr lang="it-IT" dirty="0"/>
          </a:p>
          <a:p>
            <a:r>
              <a:rPr lang="it-IT" dirty="0">
                <a:solidFill>
                  <a:srgbClr val="00B0F0"/>
                </a:solidFill>
              </a:rPr>
              <a:t>    // metodi della classe</a:t>
            </a:r>
          </a:p>
          <a:p>
            <a:r>
              <a:rPr lang="it-IT" dirty="0"/>
              <a:t>    </a:t>
            </a:r>
            <a:r>
              <a:rPr lang="it-IT" dirty="0">
                <a:solidFill>
                  <a:srgbClr val="00B050"/>
                </a:solidFill>
              </a:rPr>
              <a:t>public </a:t>
            </a:r>
            <a:r>
              <a:rPr lang="it-IT" dirty="0" err="1">
                <a:solidFill>
                  <a:srgbClr val="00B050"/>
                </a:solidFill>
              </a:rPr>
              <a:t>static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[] </a:t>
            </a:r>
            <a:r>
              <a:rPr lang="it-IT" dirty="0" err="1"/>
              <a:t>args</a:t>
            </a:r>
            <a:r>
              <a:rPr lang="it-IT" dirty="0"/>
              <a:t>) {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("Welcome to Java!");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9912943-C4A1-FC57-11D4-4B9748A575A5}"/>
              </a:ext>
            </a:extLst>
          </p:cNvPr>
          <p:cNvSpPr/>
          <p:nvPr/>
        </p:nvSpPr>
        <p:spPr bwMode="auto">
          <a:xfrm>
            <a:off x="5148064" y="1582340"/>
            <a:ext cx="3816424" cy="4801314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dirty="0" err="1"/>
              <a:t>System.out.println</a:t>
            </a:r>
            <a:r>
              <a:rPr lang="it-IT" dirty="0"/>
              <a:t>();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dirty="0"/>
              <a:t>È il comando che consente di visualizzare a terminale o shell (in Linux) o prompt dei comandi (in Windows) i caratteri contenuti tra doppi apici.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La sequenza di caratteri è detta stringa, o anche stringa di caratteri o stringa letterale.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System.out</a:t>
            </a:r>
            <a:r>
              <a:rPr lang="it-IT" dirty="0"/>
              <a:t> è chiamato </a:t>
            </a:r>
            <a:r>
              <a:rPr lang="it-IT" b="1" dirty="0"/>
              <a:t>oggetto stream standard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println</a:t>
            </a:r>
            <a:r>
              <a:rPr lang="it-IT" dirty="0"/>
              <a:t> è il metodo dell’</a:t>
            </a:r>
            <a:r>
              <a:rPr lang="it-IT" dirty="0" err="1"/>
              <a:t>ogetto</a:t>
            </a:r>
            <a:r>
              <a:rPr lang="it-IT" dirty="0"/>
              <a:t> </a:t>
            </a:r>
            <a:r>
              <a:rPr lang="it-IT" dirty="0" err="1"/>
              <a:t>System.out</a:t>
            </a:r>
            <a:r>
              <a:rPr lang="it-IT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stampa a terminale la stringa "argomento" del metodo</a:t>
            </a:r>
            <a:endParaRPr kumimoji="0" 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9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28DF7D38-7C52-B555-5257-EE445AA2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-387424"/>
            <a:ext cx="7543800" cy="1295400"/>
          </a:xfrm>
        </p:spPr>
        <p:txBody>
          <a:bodyPr/>
          <a:lstStyle/>
          <a:p>
            <a:r>
              <a:rPr lang="it-IT" sz="3200" dirty="0"/>
              <a:t>Primo programma Java: compilazione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00CD271-1F8F-07C1-6517-40B31F71D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29" y="1412776"/>
            <a:ext cx="8229600" cy="4411662"/>
          </a:xfrm>
        </p:spPr>
        <p:txBody>
          <a:bodyPr/>
          <a:lstStyle/>
          <a:p>
            <a:r>
              <a:rPr lang="it-IT" sz="2800" dirty="0">
                <a:effectLst/>
                <a:latin typeface="Arial" panose="020B0604020202020204" pitchFamily="34" charset="0"/>
              </a:rPr>
              <a:t>Il file </a:t>
            </a:r>
            <a:r>
              <a:rPr lang="it-IT" sz="2800" dirty="0" err="1">
                <a:effectLst/>
                <a:latin typeface="Courier New" panose="02070309020205020404" pitchFamily="49" charset="0"/>
              </a:rPr>
              <a:t>HelloWorld.java</a:t>
            </a:r>
            <a:r>
              <a:rPr lang="it-IT" sz="2800" dirty="0">
                <a:effectLst/>
                <a:latin typeface="Courier New" panose="02070309020205020404" pitchFamily="49" charset="0"/>
              </a:rPr>
              <a:t> </a:t>
            </a:r>
            <a:r>
              <a:rPr lang="it-IT" sz="2800" dirty="0">
                <a:effectLst/>
                <a:latin typeface="Arial" panose="020B0604020202020204" pitchFamily="34" charset="0"/>
              </a:rPr>
              <a:t>può essere compilato e, dato che contiene il </a:t>
            </a:r>
            <a:r>
              <a:rPr lang="it-IT" sz="2800" dirty="0" err="1">
                <a:effectLst/>
                <a:latin typeface="Courier New" panose="02070309020205020404" pitchFamily="49" charset="0"/>
              </a:rPr>
              <a:t>main</a:t>
            </a:r>
            <a:r>
              <a:rPr lang="it-IT" sz="2800" dirty="0">
                <a:effectLst/>
                <a:latin typeface="Arial" panose="020B0604020202020204" pitchFamily="34" charset="0"/>
              </a:rPr>
              <a:t>, contiene una applicazione </a:t>
            </a:r>
            <a:r>
              <a:rPr lang="it-IT" sz="2800" dirty="0">
                <a:latin typeface="Arial" panose="020B0604020202020204" pitchFamily="34" charset="0"/>
              </a:rPr>
              <a:t>java e può essere </a:t>
            </a:r>
            <a:r>
              <a:rPr lang="it-IT" sz="2800" dirty="0">
                <a:effectLst/>
                <a:latin typeface="Arial" panose="020B0604020202020204" pitchFamily="34" charset="0"/>
              </a:rPr>
              <a:t>eseguito</a:t>
            </a:r>
          </a:p>
          <a:p>
            <a:r>
              <a:rPr lang="it-IT" sz="2800" dirty="0">
                <a:effectLst/>
                <a:latin typeface="Arial" panose="020B0604020202020204" pitchFamily="34" charset="0"/>
              </a:rPr>
              <a:t>Il nome del sorgente </a:t>
            </a:r>
            <a:r>
              <a:rPr lang="it-IT" sz="2800" b="1" dirty="0">
                <a:effectLst/>
                <a:latin typeface="Arial" panose="020B0604020202020204" pitchFamily="34" charset="0"/>
              </a:rPr>
              <a:t>deve </a:t>
            </a:r>
            <a:r>
              <a:rPr lang="it-IT" sz="2800" dirty="0">
                <a:effectLst/>
                <a:latin typeface="Arial" panose="020B0604020202020204" pitchFamily="34" charset="0"/>
              </a:rPr>
              <a:t>avere l’estensione </a:t>
            </a:r>
            <a:r>
              <a:rPr lang="it-IT" sz="2800" b="1" dirty="0">
                <a:effectLst/>
                <a:latin typeface="Courier New" panose="02070309020205020404" pitchFamily="49" charset="0"/>
              </a:rPr>
              <a:t>.java</a:t>
            </a:r>
            <a:r>
              <a:rPr lang="it-IT" sz="2800" dirty="0">
                <a:effectLst/>
                <a:latin typeface="Arial" panose="020B0604020202020204" pitchFamily="34" charset="0"/>
              </a:rPr>
              <a:t>, altrimenti il compilatore segnalerà che gli è impossibile trovare il file.</a:t>
            </a:r>
          </a:p>
          <a:p>
            <a:r>
              <a:rPr lang="it-IT" sz="2800" dirty="0">
                <a:effectLst/>
                <a:latin typeface="Arial" panose="020B0604020202020204" pitchFamily="34" charset="0"/>
              </a:rPr>
              <a:t>Per compilare si può scrivere a riga di comando</a:t>
            </a:r>
          </a:p>
          <a:p>
            <a:pPr marL="0" indent="0" algn="ctr">
              <a:buNone/>
            </a:pPr>
            <a:r>
              <a:rPr lang="it-IT" sz="28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javac</a:t>
            </a:r>
            <a:r>
              <a:rPr lang="it-IT" sz="28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28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HelloWorld.java</a:t>
            </a:r>
            <a:endParaRPr lang="it-IT" sz="280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it-IT" sz="2800" dirty="0">
                <a:effectLst/>
                <a:latin typeface="Arial" panose="020B0604020202020204" pitchFamily="34" charset="0"/>
              </a:rPr>
              <a:t>(scrivendo esplicitamente </a:t>
            </a:r>
            <a:r>
              <a:rPr lang="it-IT" sz="2800" dirty="0">
                <a:effectLst/>
                <a:latin typeface="Courier New" panose="02070309020205020404" pitchFamily="49" charset="0"/>
              </a:rPr>
              <a:t>.java</a:t>
            </a:r>
            <a:r>
              <a:rPr lang="it-IT" sz="2800" dirty="0">
                <a:effectLst/>
                <a:latin typeface="Arial" panose="020B0604020202020204" pitchFamily="34" charset="0"/>
              </a:rPr>
              <a:t>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3485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5D70D-1BB3-825F-51F6-A7E9DD05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9807"/>
            <a:ext cx="7543800" cy="1295400"/>
          </a:xfrm>
        </p:spPr>
        <p:txBody>
          <a:bodyPr/>
          <a:lstStyle/>
          <a:p>
            <a:r>
              <a:rPr lang="it-IT" dirty="0" err="1"/>
              <a:t>Bytecode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D611DC-5064-5947-A6BA-2D8AFFC32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411662"/>
          </a:xfrm>
        </p:spPr>
        <p:txBody>
          <a:bodyPr/>
          <a:lstStyle/>
          <a:p>
            <a:r>
              <a:rPr lang="it-IT" sz="2400" dirty="0"/>
              <a:t>La compilazione produce il file oggetto </a:t>
            </a:r>
            <a:r>
              <a:rPr lang="it-IT" sz="2400" dirty="0" err="1">
                <a:solidFill>
                  <a:srgbClr val="FF0000"/>
                </a:solidFill>
              </a:rPr>
              <a:t>HelloWorld.class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che contiene la traduzione del file sorgente in </a:t>
            </a:r>
            <a:r>
              <a:rPr lang="it-IT" sz="2400" dirty="0" err="1">
                <a:solidFill>
                  <a:srgbClr val="FF0000"/>
                </a:solidFill>
              </a:rPr>
              <a:t>bytecode</a:t>
            </a:r>
            <a:endParaRPr lang="it-IT" sz="2400" dirty="0">
              <a:solidFill>
                <a:srgbClr val="FF0000"/>
              </a:solidFill>
            </a:endParaRPr>
          </a:p>
          <a:p>
            <a:r>
              <a:rPr lang="it-IT" sz="2400" dirty="0"/>
              <a:t>Quindi i file .class non sono file di testo e non sono visualizzabili correttamente con un editor!</a:t>
            </a:r>
          </a:p>
        </p:txBody>
      </p:sp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30B39197-6C6C-D734-723A-2205CC9A8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3453450"/>
            <a:ext cx="4566146" cy="932026"/>
          </a:xfrm>
          <a:prstGeom prst="rect">
            <a:avLst/>
          </a:prstGeom>
        </p:spPr>
      </p:pic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E5E038F8-D3C7-9C56-4C11-FEB6F101A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82003"/>
            <a:ext cx="4271268" cy="2421178"/>
          </a:xfrm>
          <a:prstGeom prst="rect">
            <a:avLst/>
          </a:prstGeom>
        </p:spPr>
      </p:pic>
      <p:sp>
        <p:nvSpPr>
          <p:cNvPr id="9" name="Freccia curva 8">
            <a:extLst>
              <a:ext uri="{FF2B5EF4-FFF2-40B4-BE49-F238E27FC236}">
                <a16:creationId xmlns:a16="http://schemas.microsoft.com/office/drawing/2014/main" id="{7F35400C-5956-C60B-7F2F-8C0A8C98BC29}"/>
              </a:ext>
            </a:extLst>
          </p:cNvPr>
          <p:cNvSpPr/>
          <p:nvPr/>
        </p:nvSpPr>
        <p:spPr bwMode="auto">
          <a:xfrm rot="10800000">
            <a:off x="5200638" y="4838365"/>
            <a:ext cx="1584176" cy="864096"/>
          </a:xfrm>
          <a:prstGeom prst="bentArrow">
            <a:avLst>
              <a:gd name="adj1" fmla="val 22251"/>
              <a:gd name="adj2" fmla="val 21564"/>
              <a:gd name="adj3" fmla="val 25000"/>
              <a:gd name="adj4" fmla="val 2521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959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7C5900-9B24-1B3B-796A-717D8FCA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71" y="-99392"/>
            <a:ext cx="7543800" cy="1295400"/>
          </a:xfrm>
        </p:spPr>
        <p:txBody>
          <a:bodyPr/>
          <a:lstStyle/>
          <a:p>
            <a:r>
              <a:rPr lang="it-IT" sz="3200" dirty="0"/>
              <a:t>Primo programma Java: </a:t>
            </a:r>
            <a:br>
              <a:rPr lang="it-IT" sz="3200" dirty="0"/>
            </a:br>
            <a:r>
              <a:rPr lang="it-IT" sz="3200" dirty="0"/>
              <a:t>Caricamento ed Esecuzione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673AB1-A532-0C34-A02C-5EE0319F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537" y="1484784"/>
            <a:ext cx="8496944" cy="3744416"/>
          </a:xfrm>
        </p:spPr>
        <p:txBody>
          <a:bodyPr/>
          <a:lstStyle/>
          <a:p>
            <a:r>
              <a:rPr lang="it-IT" sz="2300" dirty="0">
                <a:effectLst/>
                <a:latin typeface="Arial" panose="020B0604020202020204" pitchFamily="34" charset="0"/>
              </a:rPr>
              <a:t>Il </a:t>
            </a:r>
            <a:r>
              <a:rPr lang="it-IT" sz="2300" dirty="0" err="1">
                <a:effectLst/>
                <a:latin typeface="Arial" panose="020B0604020202020204" pitchFamily="34" charset="0"/>
              </a:rPr>
              <a:t>bytecode</a:t>
            </a:r>
            <a:r>
              <a:rPr lang="it-IT" sz="2300" dirty="0">
                <a:effectLst/>
                <a:latin typeface="Arial" panose="020B0604020202020204" pitchFamily="34" charset="0"/>
              </a:rPr>
              <a:t> di una applicazione Java può essere eseguito dalla JVM sulla macchina in cui si trova</a:t>
            </a:r>
          </a:p>
          <a:p>
            <a:r>
              <a:rPr lang="it-IT" sz="2300" dirty="0">
                <a:latin typeface="Arial" panose="020B0604020202020204" pitchFamily="34" charset="0"/>
              </a:rPr>
              <a:t>Il comando che invoca la JVM sul nostro primo programma è:</a:t>
            </a:r>
          </a:p>
          <a:p>
            <a:pPr marL="0" indent="0" algn="ctr">
              <a:buNone/>
            </a:pPr>
            <a:r>
              <a:rPr lang="it-IT" sz="23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java </a:t>
            </a:r>
            <a:r>
              <a:rPr lang="it-IT" sz="23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HelloWorld</a:t>
            </a:r>
            <a:endParaRPr lang="it-IT" sz="230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it-IT" sz="2300" dirty="0">
                <a:effectLst/>
                <a:latin typeface="Arial" panose="020B0604020202020204" pitchFamily="34" charset="0"/>
              </a:rPr>
              <a:t>(si omette </a:t>
            </a:r>
            <a:r>
              <a:rPr lang="it-IT" sz="2300" dirty="0">
                <a:effectLst/>
                <a:latin typeface="Courier New" panose="02070309020205020404" pitchFamily="49" charset="0"/>
              </a:rPr>
              <a:t>.class</a:t>
            </a:r>
            <a:r>
              <a:rPr lang="it-IT" sz="2300" dirty="0">
                <a:effectLst/>
                <a:latin typeface="Arial" panose="020B0604020202020204" pitchFamily="34" charset="0"/>
              </a:rPr>
              <a:t>)</a:t>
            </a:r>
            <a:endParaRPr lang="it-IT" sz="2300" dirty="0">
              <a:latin typeface="Arial" panose="020B0604020202020204" pitchFamily="34" charset="0"/>
            </a:endParaRPr>
          </a:p>
          <a:p>
            <a:r>
              <a:rPr lang="it-IT" sz="2300" dirty="0">
                <a:latin typeface="Arial" panose="020B0604020202020204" pitchFamily="34" charset="0"/>
              </a:rPr>
              <a:t>Il programma viene caricato in memoria ed eseguito dall’interprete java</a:t>
            </a:r>
          </a:p>
          <a:p>
            <a:r>
              <a:rPr lang="it-IT" sz="2300" dirty="0">
                <a:latin typeface="Arial" panose="020B0604020202020204" pitchFamily="34" charset="0"/>
              </a:rPr>
              <a:t>Si noti che il nome </a:t>
            </a:r>
            <a:r>
              <a:rPr lang="it-IT" sz="2300" i="1" dirty="0" err="1">
                <a:latin typeface="Arial" panose="020B0604020202020204" pitchFamily="34" charset="0"/>
              </a:rPr>
              <a:t>HelloWorld</a:t>
            </a:r>
            <a:r>
              <a:rPr lang="it-IT" sz="2300" dirty="0">
                <a:latin typeface="Arial" panose="020B0604020202020204" pitchFamily="34" charset="0"/>
              </a:rPr>
              <a:t> è </a:t>
            </a:r>
            <a:r>
              <a:rPr lang="it-IT" sz="2300" u="sng" dirty="0">
                <a:latin typeface="Arial" panose="020B0604020202020204" pitchFamily="34" charset="0"/>
              </a:rPr>
              <a:t>il nome della classe che contiene il metodo </a:t>
            </a:r>
            <a:r>
              <a:rPr lang="it-IT" sz="2300" u="sng" dirty="0" err="1">
                <a:latin typeface="Arial" panose="020B0604020202020204" pitchFamily="34" charset="0"/>
              </a:rPr>
              <a:t>main</a:t>
            </a:r>
            <a:endParaRPr lang="it-IT" sz="2300" dirty="0">
              <a:latin typeface="Arial" panose="020B0604020202020204" pitchFamily="34" charset="0"/>
            </a:endParaRPr>
          </a:p>
        </p:txBody>
      </p:sp>
      <p:pic>
        <p:nvPicPr>
          <p:cNvPr id="5" name="Immagine 4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F6193688-FEA4-D269-AF43-5A1362207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" y="5229200"/>
            <a:ext cx="73406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87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394C5C-D5B1-3CC7-F7CA-18D561ED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54" y="-243408"/>
            <a:ext cx="7543800" cy="1295400"/>
          </a:xfrm>
        </p:spPr>
        <p:txBody>
          <a:bodyPr/>
          <a:lstStyle/>
          <a:p>
            <a:r>
              <a:rPr lang="it-IT" dirty="0"/>
              <a:t>Ricapitolando…</a:t>
            </a:r>
          </a:p>
        </p:txBody>
      </p:sp>
      <p:pic>
        <p:nvPicPr>
          <p:cNvPr id="4" name="Picture 2" descr="Figure showing MyProgram.java, compiler, MyProgram.class, Java VM, and My Program running on a computer.">
            <a:extLst>
              <a:ext uri="{FF2B5EF4-FFF2-40B4-BE49-F238E27FC236}">
                <a16:creationId xmlns:a16="http://schemas.microsoft.com/office/drawing/2014/main" id="{C5CC8B43-0B0F-B8D8-01BD-AE76073BF6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317" y="1844824"/>
            <a:ext cx="8995365" cy="2102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6225B08-79FF-EA42-86F7-07BC37238CBB}"/>
              </a:ext>
            </a:extLst>
          </p:cNvPr>
          <p:cNvSpPr txBox="1"/>
          <p:nvPr/>
        </p:nvSpPr>
        <p:spPr>
          <a:xfrm>
            <a:off x="179512" y="3430567"/>
            <a:ext cx="197740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Helloworld.java</a:t>
            </a:r>
            <a:endParaRPr lang="it-IT" dirty="0"/>
          </a:p>
          <a:p>
            <a:pPr algn="ctr"/>
            <a:r>
              <a:rPr lang="it-IT" dirty="0"/>
              <a:t>(</a:t>
            </a:r>
            <a:r>
              <a:rPr lang="it-IT" dirty="0" err="1"/>
              <a:t>sorgente,editor</a:t>
            </a:r>
            <a:r>
              <a:rPr lang="it-IT" dirty="0"/>
              <a:t>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FE798BB-700D-E196-7899-6AC8FC63A8A3}"/>
              </a:ext>
            </a:extLst>
          </p:cNvPr>
          <p:cNvSpPr txBox="1"/>
          <p:nvPr/>
        </p:nvSpPr>
        <p:spPr>
          <a:xfrm>
            <a:off x="1619672" y="2931170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javac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Helloworld.java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BD06630-19DC-B7AC-7341-F80E5195436F}"/>
              </a:ext>
            </a:extLst>
          </p:cNvPr>
          <p:cNvSpPr txBox="1"/>
          <p:nvPr/>
        </p:nvSpPr>
        <p:spPr>
          <a:xfrm>
            <a:off x="3583297" y="3430567"/>
            <a:ext cx="197740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 err="1"/>
              <a:t>Helloworld.class</a:t>
            </a:r>
            <a:endParaRPr lang="it-IT" dirty="0"/>
          </a:p>
          <a:p>
            <a:pPr algn="ctr"/>
            <a:r>
              <a:rPr lang="it-IT" dirty="0"/>
              <a:t>(</a:t>
            </a:r>
            <a:r>
              <a:rPr lang="it-IT" dirty="0" err="1"/>
              <a:t>bytecode</a:t>
            </a:r>
            <a:r>
              <a:rPr lang="it-IT" dirty="0"/>
              <a:t>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AFCFDF9-1001-4477-4DE1-ED23202719AF}"/>
              </a:ext>
            </a:extLst>
          </p:cNvPr>
          <p:cNvSpPr txBox="1"/>
          <p:nvPr/>
        </p:nvSpPr>
        <p:spPr>
          <a:xfrm>
            <a:off x="5646055" y="3115836"/>
            <a:ext cx="1913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java </a:t>
            </a:r>
            <a:r>
              <a:rPr lang="it-IT" dirty="0" err="1">
                <a:solidFill>
                  <a:srgbClr val="FF0000"/>
                </a:solidFill>
              </a:rPr>
              <a:t>Helloworld</a:t>
            </a:r>
            <a:endParaRPr lang="it-IT" dirty="0">
              <a:solidFill>
                <a:srgbClr val="FF0000"/>
              </a:solidFill>
            </a:endParaRPr>
          </a:p>
          <a:p>
            <a:pPr algn="ctr"/>
            <a:r>
              <a:rPr lang="it-IT" dirty="0"/>
              <a:t>(caricamento, interpretazione, esecuzione)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AF16F64-63E5-56B9-8BDB-D42457E9B6BD}"/>
              </a:ext>
            </a:extLst>
          </p:cNvPr>
          <p:cNvSpPr txBox="1"/>
          <p:nvPr/>
        </p:nvSpPr>
        <p:spPr>
          <a:xfrm>
            <a:off x="7500527" y="3327914"/>
            <a:ext cx="167435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Welcome to Java!</a:t>
            </a:r>
          </a:p>
        </p:txBody>
      </p:sp>
    </p:spTree>
    <p:extLst>
      <p:ext uri="{BB962C8B-B14F-4D97-AF65-F5344CB8AC3E}">
        <p14:creationId xmlns:p14="http://schemas.microsoft.com/office/powerpoint/2010/main" val="232455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773620-AA72-DAF1-3DAC-9B631D02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D18E88-DC4E-0992-2D09-C9DFC3FAE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Programmare in Java – Capitolo 2</a:t>
            </a:r>
          </a:p>
          <a:p>
            <a:r>
              <a:rPr lang="it-IT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Savitch</a:t>
            </a:r>
            <a:r>
              <a:rPr lang="it-IT" sz="2000" dirty="0">
                <a:solidFill>
                  <a:srgbClr val="000000"/>
                </a:solidFill>
                <a:latin typeface="Arial" panose="020B0604020202020204" pitchFamily="34" charset="0"/>
              </a:rPr>
              <a:t> – Capitolo 1 par. </a:t>
            </a:r>
            <a:r>
              <a:rPr lang="it-IT" sz="2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  <a:endParaRPr lang="it-IT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https://netbeans.apache.org/front/main/download/</a:t>
            </a:r>
            <a:endParaRPr lang="en-US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https://netbeans.apache.org/front/main/download/archive/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Per il download di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versioni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precedenti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di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Netbeans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hlinkClick r:id="rId4"/>
              </a:rPr>
              <a:t>https://www.oracle.com/java/technologies/downloads/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hlinkClick r:id="rId5"/>
              </a:rPr>
              <a:t>https://www.oracle.com/java/technologies/downloads/#java17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Per il download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della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versione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Java SE 17 LTS</a:t>
            </a:r>
          </a:p>
          <a:p>
            <a:r>
              <a:rPr lang="it-IT" sz="2000" dirty="0">
                <a:hlinkClick r:id="rId6"/>
              </a:rPr>
              <a:t>https://docs.oracle.com/javase/tutorial/getStarted/intro/definition.html</a:t>
            </a:r>
            <a:endParaRPr lang="it-IT" sz="2000" dirty="0"/>
          </a:p>
          <a:p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245169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22093F-F80B-423A-BFE4-9C8681531609}">
  <ds:schemaRefs>
    <ds:schemaRef ds:uri="http://schemas.microsoft.com/office/2006/metadata/properties"/>
    <ds:schemaRef ds:uri="http://schemas.microsoft.com/office/infopath/2007/PartnerControls"/>
    <ds:schemaRef ds:uri="35be80a6-5618-4845-bacd-cf0098900a47"/>
    <ds:schemaRef ds:uri="17cb46fe-fb09-4fdf-a472-4e2c88d31c8c"/>
  </ds:schemaRefs>
</ds:datastoreItem>
</file>

<file path=customXml/itemProps2.xml><?xml version="1.0" encoding="utf-8"?>
<ds:datastoreItem xmlns:ds="http://schemas.openxmlformats.org/officeDocument/2006/customXml" ds:itemID="{D2B53CE0-3139-4688-93DA-7B8331AFB8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AF970A-A933-4F4C-8547-BE10DE38FF11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9114</TotalTime>
  <Words>1536</Words>
  <Application>Microsoft Macintosh PowerPoint</Application>
  <PresentationFormat>Presentazione su schermo (4:3)</PresentationFormat>
  <Paragraphs>195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8" baseType="lpstr">
      <vt:lpstr>Arial</vt:lpstr>
      <vt:lpstr>Calibri</vt:lpstr>
      <vt:lpstr>Courier New</vt:lpstr>
      <vt:lpstr>Menlo</vt:lpstr>
      <vt:lpstr>Söhne</vt:lpstr>
      <vt:lpstr>Times New Roman</vt:lpstr>
      <vt:lpstr>Verdana</vt:lpstr>
      <vt:lpstr>Wingdings</vt:lpstr>
      <vt:lpstr>Rete</vt:lpstr>
      <vt:lpstr>  Corso di Programmazione</vt:lpstr>
      <vt:lpstr>Starting… </vt:lpstr>
      <vt:lpstr>JDK </vt:lpstr>
      <vt:lpstr>Ambienti consigliati</vt:lpstr>
      <vt:lpstr>Applicazioni JAVA</vt:lpstr>
      <vt:lpstr>Processo di sviluppo in JAVA</vt:lpstr>
      <vt:lpstr>Hello World!</vt:lpstr>
      <vt:lpstr>Primo programma Java: editing</vt:lpstr>
      <vt:lpstr>Primo programma Java: editing</vt:lpstr>
      <vt:lpstr>Primo programma Java: editing</vt:lpstr>
      <vt:lpstr>Primo programma Java: editing</vt:lpstr>
      <vt:lpstr>Primo programma Java: editing</vt:lpstr>
      <vt:lpstr>Primo programma Java: editing</vt:lpstr>
      <vt:lpstr>Primo programma Java: editing</vt:lpstr>
      <vt:lpstr>Primo programma Java: compilazione</vt:lpstr>
      <vt:lpstr>Bytecode</vt:lpstr>
      <vt:lpstr>Primo programma Java:  Caricamento ed Esecuzione</vt:lpstr>
      <vt:lpstr>Ricapitolando…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VALERIA VITTORINI</cp:lastModifiedBy>
  <cp:revision>75</cp:revision>
  <cp:lastPrinted>1999-11-19T14:12:44Z</cp:lastPrinted>
  <dcterms:created xsi:type="dcterms:W3CDTF">1999-10-30T10:20:48Z</dcterms:created>
  <dcterms:modified xsi:type="dcterms:W3CDTF">2025-02-28T09:33:23Z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</Properties>
</file>