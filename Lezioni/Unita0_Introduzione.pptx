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14"/>
  </p:notesMasterIdLst>
  <p:handoutMasterIdLst>
    <p:handoutMasterId r:id="rId15"/>
  </p:handoutMasterIdLst>
  <p:sldIdLst>
    <p:sldId id="265" r:id="rId5"/>
    <p:sldId id="266" r:id="rId6"/>
    <p:sldId id="267" r:id="rId7"/>
    <p:sldId id="281" r:id="rId8"/>
    <p:sldId id="268" r:id="rId9"/>
    <p:sldId id="280" r:id="rId10"/>
    <p:sldId id="257" r:id="rId11"/>
    <p:sldId id="278" r:id="rId12"/>
    <p:sldId id="274" r:id="rId13"/>
  </p:sldIdLst>
  <p:sldSz cx="9144000" cy="6858000" type="screen4x3"/>
  <p:notesSz cx="7102475" cy="102330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aleria Vittorini" initials="VV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0C1ADD-0914-7446-B856-23478D17C546}" v="837" dt="2024-02-20T13:40:24.144"/>
    <p1510:client id="{7C8FA9B9-E1F5-4F82-918A-3D3D57EF81D5}" v="173" dt="2024-02-20T13:44:11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6"/>
  </p:normalViewPr>
  <p:slideViewPr>
    <p:cSldViewPr snapToGrid="0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6506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17" tIns="47859" rIns="95717" bIns="47859" numCol="1" anchor="t" anchorCtr="0" compatLnSpc="1">
            <a:prstTxWarp prst="textNoShape">
              <a:avLst/>
            </a:prstTxWarp>
          </a:bodyPr>
          <a:lstStyle>
            <a:lvl1pPr defTabSz="957263" eaLnBrk="0" hangingPunct="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969" y="1"/>
            <a:ext cx="3076506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17" tIns="47859" rIns="95717" bIns="47859" numCol="1" anchor="t" anchorCtr="0" compatLnSpc="1">
            <a:prstTxWarp prst="textNoShape">
              <a:avLst/>
            </a:prstTxWarp>
          </a:bodyPr>
          <a:lstStyle>
            <a:lvl1pPr algn="r" defTabSz="957263" eaLnBrk="0" hangingPunct="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051"/>
            <a:ext cx="3076506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17" tIns="47859" rIns="95717" bIns="47859" numCol="1" anchor="b" anchorCtr="0" compatLnSpc="1">
            <a:prstTxWarp prst="textNoShape">
              <a:avLst/>
            </a:prstTxWarp>
          </a:bodyPr>
          <a:lstStyle>
            <a:lvl1pPr defTabSz="957263" eaLnBrk="0" hangingPunct="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969" y="9722051"/>
            <a:ext cx="3076506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17" tIns="47859" rIns="95717" bIns="47859" numCol="1" anchor="b" anchorCtr="0" compatLnSpc="1">
            <a:prstTxWarp prst="textNoShape">
              <a:avLst/>
            </a:prstTxWarp>
          </a:bodyPr>
          <a:lstStyle>
            <a:lvl1pPr algn="r" defTabSz="957263" eaLnBrk="0" hangingPunct="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403C0C8-0061-42C1-8524-EB82CFC4799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0111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886" y="1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557" y="4861026"/>
            <a:ext cx="5681363" cy="460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 noProof="0"/>
              <a:t>Fare clic per modificare gli stili del testo dello schema</a:t>
            </a:r>
          </a:p>
          <a:p>
            <a:pPr lvl="1"/>
            <a:r>
              <a:rPr lang="en-US" altLang="it-IT" noProof="0"/>
              <a:t>Secondo livello</a:t>
            </a:r>
          </a:p>
          <a:p>
            <a:pPr lvl="2"/>
            <a:r>
              <a:rPr lang="en-US" altLang="it-IT" noProof="0"/>
              <a:t>Terzo livello</a:t>
            </a:r>
          </a:p>
          <a:p>
            <a:pPr lvl="3"/>
            <a:r>
              <a:rPr lang="en-US" altLang="it-IT" noProof="0"/>
              <a:t>Quarto livello</a:t>
            </a:r>
          </a:p>
          <a:p>
            <a:pPr lvl="4"/>
            <a:r>
              <a:rPr lang="en-US" altLang="it-IT" noProof="0"/>
              <a:t>Quinto livello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886" y="9720360"/>
            <a:ext cx="3078048" cy="51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209BE9F5-3609-48F0-83E3-B2872F7685E3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0286380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3A92D85-8CAA-49AF-BE8D-CEECBCD97772}" type="slidenum">
              <a:rPr lang="en-US" altLang="it-IT">
                <a:latin typeface="Times New Roman" pitchFamily="18" charset="0"/>
              </a:rPr>
              <a:pPr/>
              <a:t>1</a:t>
            </a:fld>
            <a:endParaRPr lang="en-US" altLang="it-IT">
              <a:latin typeface="Times New Roman" pitchFamily="18" charset="0"/>
            </a:endParaRPr>
          </a:p>
        </p:txBody>
      </p:sp>
      <p:sp>
        <p:nvSpPr>
          <p:cNvPr id="14339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it-IT" sz="1200"/>
              <a:t>Università di Napoli Federico II - Facoltà di Ingegneria - Corso di Laurea in Ingegneria Informatica</a:t>
            </a:r>
          </a:p>
        </p:txBody>
      </p:sp>
      <p:sp>
        <p:nvSpPr>
          <p:cNvPr id="14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en-US" altLang="en-US" noProof="0"/>
              <a:t>Fare clic per modificare lo stile del titolo</a:t>
            </a:r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pPr lvl="0"/>
            <a:r>
              <a:rPr lang="en-US" altLang="en-US" noProof="0"/>
              <a:t>Fare clic per modificare lo stile del sottotitolo dello schema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E7AFB5-455C-419D-AAFA-0B8A32C857AB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6648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9C08E2-0169-42DE-B892-70834E87F94F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9395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53847-9830-4013-A07B-971E8E321896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6958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CEE601-FCB3-4932-AFFD-A799D3418905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1206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C626E4-EC48-4B1C-80DA-1DFCE8788A82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6358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9304BF-06DC-40BB-9918-DC6FC9C5E284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914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300890-5112-4E86-9511-8F3264E2DEBA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9087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930E9-7BE6-41BA-ACFA-941877A77238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4584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F93036-599F-432D-AC9E-976448B072B5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494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75AF2A-9BF0-4841-AEC9-91AE5879A5CC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6281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E8D1C-5C11-4984-8168-0D1F42A4D820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25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lo stile del titolo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gli stili del testo dello schema</a:t>
            </a:r>
          </a:p>
          <a:p>
            <a:pPr lvl="1"/>
            <a:r>
              <a:rPr lang="en-US" altLang="en-US"/>
              <a:t>Secondo livello</a:t>
            </a:r>
          </a:p>
          <a:p>
            <a:pPr lvl="2"/>
            <a:r>
              <a:rPr lang="en-US" altLang="en-US"/>
              <a:t>Terzo livello</a:t>
            </a:r>
          </a:p>
          <a:p>
            <a:pPr lvl="3"/>
            <a:r>
              <a:rPr lang="en-US" altLang="en-US"/>
              <a:t>Quarto livello</a:t>
            </a:r>
          </a:p>
          <a:p>
            <a:pPr lvl="4"/>
            <a:r>
              <a:rPr lang="en-US" altLang="en-US"/>
              <a:t>Quinto livello</a:t>
            </a:r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/>
            </a:lvl1pPr>
          </a:lstStyle>
          <a:p>
            <a:pPr>
              <a:defRPr/>
            </a:pPr>
            <a:fld id="{E37AB3EC-1783-44E6-BCBE-BFEF15426CA0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it-IT" altLang="it-IT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2060575"/>
            <a:ext cx="7235825" cy="1152525"/>
          </a:xfrm>
        </p:spPr>
        <p:txBody>
          <a:bodyPr/>
          <a:lstStyle/>
          <a:p>
            <a:pPr algn="ctr" eaLnBrk="1" hangingPunct="1"/>
            <a:r>
              <a:rPr lang="en-US" altLang="it-IT" sz="4000">
                <a:latin typeface="Times New Roman" pitchFamily="18" charset="0"/>
              </a:rPr>
              <a:t>Corso di </a:t>
            </a:r>
            <a:r>
              <a:rPr lang="en-US" altLang="it-IT" sz="4000" err="1">
                <a:latin typeface="Times New Roman" pitchFamily="18" charset="0"/>
              </a:rPr>
              <a:t>Programmazione</a:t>
            </a:r>
            <a:br>
              <a:rPr lang="en-US" altLang="it-IT" sz="4000">
                <a:latin typeface="Times New Roman" pitchFamily="18" charset="0"/>
              </a:rPr>
            </a:br>
            <a:endParaRPr lang="en-US" altLang="it-IT" sz="4000" b="0" i="1">
              <a:latin typeface="Times New Roman" pitchFamily="18" charset="0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it-IT" sz="4100" b="1" i="1" err="1">
                <a:latin typeface="Times New Roman" pitchFamily="18" charset="0"/>
              </a:rPr>
              <a:t>Introduzione</a:t>
            </a:r>
            <a:endParaRPr lang="en-US" altLang="it-IT" sz="4100" b="1" i="1">
              <a:latin typeface="Times New Roman" pitchFamily="18" charset="0"/>
            </a:endParaRPr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539750" y="260350"/>
            <a:ext cx="67195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it-IT" altLang="it-IT" sz="1200"/>
              <a:t>Università di Napoli Federico II - </a:t>
            </a:r>
            <a:r>
              <a:rPr lang="en-GB" altLang="it-IT" sz="1200"/>
              <a:t>Dip. di </a:t>
            </a:r>
            <a:r>
              <a:rPr lang="en-GB" altLang="it-IT" sz="1200" err="1"/>
              <a:t>Ingegneria</a:t>
            </a:r>
            <a:r>
              <a:rPr lang="en-GB" altLang="it-IT" sz="1200"/>
              <a:t> </a:t>
            </a:r>
            <a:r>
              <a:rPr lang="en-GB" altLang="it-IT" sz="1200" err="1"/>
              <a:t>Elettrica</a:t>
            </a:r>
            <a:r>
              <a:rPr lang="en-GB" altLang="it-IT" sz="1200"/>
              <a:t> e </a:t>
            </a:r>
            <a:r>
              <a:rPr lang="en-GB" altLang="it-IT" sz="1200" err="1"/>
              <a:t>delle</a:t>
            </a:r>
            <a:r>
              <a:rPr lang="en-GB" altLang="it-IT" sz="1200"/>
              <a:t> </a:t>
            </a:r>
            <a:r>
              <a:rPr lang="en-GB" altLang="it-IT" sz="1200" err="1"/>
              <a:t>Tecnologie</a:t>
            </a:r>
            <a:r>
              <a:rPr lang="en-GB" altLang="it-IT" sz="1200"/>
              <a:t> </a:t>
            </a:r>
            <a:r>
              <a:rPr lang="en-GB" altLang="it-IT" sz="1200" err="1"/>
              <a:t>dell’Informazione</a:t>
            </a:r>
            <a:r>
              <a:rPr lang="en-GB" altLang="it-IT" sz="1200"/>
              <a:t> </a:t>
            </a:r>
          </a:p>
          <a:p>
            <a:pPr eaLnBrk="1" hangingPunct="1"/>
            <a:r>
              <a:rPr lang="it-IT" altLang="it-IT" sz="1200"/>
              <a:t>Corso di Laurea in Ingegneria Informatica</a:t>
            </a:r>
            <a:endParaRPr lang="en-US" altLang="it-IT" sz="120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194" y="373448"/>
            <a:ext cx="846916" cy="895311"/>
          </a:xfrm>
          <a:prstGeom prst="rect">
            <a:avLst/>
          </a:prstGeom>
        </p:spPr>
      </p:pic>
      <p:pic>
        <p:nvPicPr>
          <p:cNvPr id="3" name="Picture 2" descr="Java, logo, logos icon - Free download on Iconfinder">
            <a:extLst>
              <a:ext uri="{FF2B5EF4-FFF2-40B4-BE49-F238E27FC236}">
                <a16:creationId xmlns:a16="http://schemas.microsoft.com/office/drawing/2014/main" id="{252C7871-570C-6CAE-920F-0CEFBF683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014466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0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it-IT" err="1"/>
              <a:t>Obiettivi</a:t>
            </a:r>
            <a:endParaRPr lang="en-US" altLang="it-IT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84784"/>
            <a:ext cx="8229600" cy="4896543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it-IT" sz="2800" i="1" dirty="0" err="1"/>
              <a:t>Obiettivo</a:t>
            </a:r>
            <a:r>
              <a:rPr lang="en-US" altLang="it-IT" sz="2800" i="1" dirty="0"/>
              <a:t> del </a:t>
            </a:r>
            <a:r>
              <a:rPr lang="en-US" altLang="it-IT" sz="2800" i="1" dirty="0" err="1"/>
              <a:t>corso</a:t>
            </a:r>
            <a:r>
              <a:rPr lang="en-US" altLang="it-IT" sz="2800" i="1" dirty="0"/>
              <a:t> di </a:t>
            </a:r>
            <a:r>
              <a:rPr lang="en-US" altLang="it-IT" sz="2800" i="1" dirty="0" err="1"/>
              <a:t>Programmazione</a:t>
            </a:r>
            <a:r>
              <a:rPr lang="en-US" altLang="it-IT" sz="2800" i="1" dirty="0"/>
              <a:t> </a:t>
            </a:r>
            <a:r>
              <a:rPr lang="en-US" altLang="it-IT" sz="2800" i="1" dirty="0" err="1"/>
              <a:t>è</a:t>
            </a:r>
            <a:r>
              <a:rPr lang="en-US" altLang="it-IT" sz="2800" i="1" dirty="0"/>
              <a:t> </a:t>
            </a:r>
            <a:r>
              <a:rPr lang="en-US" altLang="it-IT" sz="2800" i="1" dirty="0" err="1"/>
              <a:t>fornire</a:t>
            </a:r>
            <a:r>
              <a:rPr lang="en-US" altLang="it-IT" sz="2800" i="1" dirty="0"/>
              <a:t> </a:t>
            </a:r>
            <a:r>
              <a:rPr lang="en-US" altLang="it-IT" sz="2800" i="1" dirty="0" err="1"/>
              <a:t>competenze</a:t>
            </a:r>
            <a:r>
              <a:rPr lang="en-US" altLang="it-IT" sz="2800" i="1" dirty="0"/>
              <a:t> </a:t>
            </a:r>
            <a:r>
              <a:rPr lang="en-US" altLang="it-IT" sz="2800" i="1" dirty="0" err="1"/>
              <a:t>teoriche</a:t>
            </a:r>
            <a:r>
              <a:rPr lang="en-US" altLang="it-IT" sz="2800" i="1" dirty="0"/>
              <a:t> e </a:t>
            </a:r>
            <a:r>
              <a:rPr lang="en-US" altLang="it-IT" sz="2800" i="1" dirty="0" err="1"/>
              <a:t>pratiche</a:t>
            </a:r>
            <a:r>
              <a:rPr lang="en-US" altLang="it-IT" sz="2800" i="1" dirty="0"/>
              <a:t> di:</a:t>
            </a:r>
          </a:p>
          <a:p>
            <a:pPr lvl="1" indent="-347345" eaLnBrk="1" hangingPunct="1">
              <a:lnSpc>
                <a:spcPct val="90000"/>
              </a:lnSpc>
            </a:pPr>
            <a:r>
              <a:rPr lang="en-US" altLang="it-IT" sz="2400" b="1" i="1" dirty="0" err="1"/>
              <a:t>programmazione</a:t>
            </a:r>
            <a:r>
              <a:rPr lang="en-US" altLang="it-IT" sz="2400" b="1" i="1" dirty="0"/>
              <a:t> </a:t>
            </a:r>
            <a:r>
              <a:rPr lang="en-US" altLang="it-IT" sz="2400" b="1" i="1" dirty="0" err="1"/>
              <a:t>orientata</a:t>
            </a:r>
            <a:r>
              <a:rPr lang="en-US" altLang="it-IT" sz="2400" b="1" i="1" dirty="0"/>
              <a:t> </a:t>
            </a:r>
            <a:r>
              <a:rPr lang="en-US" altLang="it-IT" sz="2400" b="1" i="1" dirty="0" err="1"/>
              <a:t>agli</a:t>
            </a:r>
            <a:r>
              <a:rPr lang="en-US" altLang="it-IT" sz="2400" b="1" i="1" dirty="0"/>
              <a:t> </a:t>
            </a:r>
            <a:r>
              <a:rPr lang="en-US" altLang="it-IT" sz="2400" b="1" i="1" dirty="0" err="1"/>
              <a:t>oggetti</a:t>
            </a:r>
            <a:r>
              <a:rPr lang="en-US" altLang="it-IT" sz="2400" i="1" dirty="0"/>
              <a:t> </a:t>
            </a:r>
            <a:endParaRPr lang="en-US" altLang="it-IT" sz="2400" i="1" dirty="0">
              <a:cs typeface="Arial"/>
            </a:endParaRPr>
          </a:p>
          <a:p>
            <a:pPr lvl="1" indent="-347345" eaLnBrk="1" hangingPunct="1">
              <a:lnSpc>
                <a:spcPct val="90000"/>
              </a:lnSpc>
            </a:pPr>
            <a:r>
              <a:rPr lang="en-US" altLang="it-IT" sz="2400" i="1" dirty="0"/>
              <a:t>(</a:t>
            </a:r>
            <a:r>
              <a:rPr lang="en-US" altLang="it-IT" sz="2400" i="1" dirty="0" err="1"/>
              <a:t>alcune</a:t>
            </a:r>
            <a:r>
              <a:rPr lang="en-US" altLang="it-IT" sz="2400" i="1" dirty="0"/>
              <a:t>) </a:t>
            </a:r>
            <a:r>
              <a:rPr lang="en-US" altLang="it-IT" sz="2400" b="1" i="1" dirty="0" err="1"/>
              <a:t>tecniche</a:t>
            </a:r>
            <a:r>
              <a:rPr lang="en-US" altLang="it-IT" sz="2400" b="1" i="1" dirty="0"/>
              <a:t> </a:t>
            </a:r>
            <a:r>
              <a:rPr lang="en-US" altLang="it-IT" sz="2400" b="1" i="1" dirty="0" err="1"/>
              <a:t>avanzate</a:t>
            </a:r>
            <a:r>
              <a:rPr lang="en-US" altLang="it-IT" sz="2400" b="1" i="1" dirty="0"/>
              <a:t> di </a:t>
            </a:r>
            <a:r>
              <a:rPr lang="en-US" altLang="it-IT" sz="2400" b="1" i="1" dirty="0" err="1"/>
              <a:t>programmazione</a:t>
            </a:r>
            <a:endParaRPr lang="en-US" altLang="it-IT" sz="2400" b="1" i="1" dirty="0">
              <a:cs typeface="Arial"/>
            </a:endParaRPr>
          </a:p>
          <a:p>
            <a:pPr lvl="1" indent="-347345" eaLnBrk="1" hangingPunct="1">
              <a:lnSpc>
                <a:spcPct val="90000"/>
              </a:lnSpc>
            </a:pPr>
            <a:r>
              <a:rPr lang="en-US" altLang="it-IT" sz="2400" b="1" i="1" dirty="0" err="1"/>
              <a:t>strutture</a:t>
            </a:r>
            <a:r>
              <a:rPr lang="en-US" altLang="it-IT" sz="2400" b="1" i="1" dirty="0"/>
              <a:t> </a:t>
            </a:r>
            <a:r>
              <a:rPr lang="en-US" altLang="it-IT" sz="2400" b="1" i="1" dirty="0" err="1"/>
              <a:t>dati</a:t>
            </a:r>
            <a:r>
              <a:rPr lang="en-US" altLang="it-IT" sz="2400" b="1" i="1" dirty="0"/>
              <a:t> </a:t>
            </a:r>
            <a:r>
              <a:rPr lang="en-US" altLang="it-IT" sz="2400" b="1" i="1" dirty="0" err="1"/>
              <a:t>fondamentali</a:t>
            </a:r>
            <a:r>
              <a:rPr lang="en-US" altLang="it-IT" sz="2400" b="1" i="1" dirty="0"/>
              <a:t> </a:t>
            </a:r>
          </a:p>
          <a:p>
            <a:pPr lvl="1" indent="-347345" eaLnBrk="1" hangingPunct="1">
              <a:lnSpc>
                <a:spcPct val="90000"/>
              </a:lnSpc>
            </a:pPr>
            <a:r>
              <a:rPr lang="en-US" altLang="it-IT" sz="2400" b="1" i="1" dirty="0" err="1"/>
              <a:t>elementi</a:t>
            </a:r>
            <a:r>
              <a:rPr lang="en-US" altLang="it-IT" sz="2400" b="1" i="1" dirty="0"/>
              <a:t> di </a:t>
            </a:r>
            <a:r>
              <a:rPr lang="en-US" altLang="it-IT" sz="2400" b="1" i="1" dirty="0" err="1"/>
              <a:t>progettazione</a:t>
            </a:r>
            <a:r>
              <a:rPr lang="en-US" altLang="it-IT" sz="2400" b="1" i="1" dirty="0"/>
              <a:t> di </a:t>
            </a:r>
            <a:r>
              <a:rPr lang="en-US" altLang="it-IT" sz="2400" b="1" i="1" dirty="0" err="1"/>
              <a:t>interfacce</a:t>
            </a:r>
            <a:r>
              <a:rPr lang="en-US" altLang="it-IT" sz="2400" b="1" i="1" dirty="0"/>
              <a:t> </a:t>
            </a:r>
            <a:r>
              <a:rPr lang="en-US" altLang="it-IT" sz="2400" b="1" i="1" dirty="0" err="1"/>
              <a:t>grafiche</a:t>
            </a:r>
            <a:endParaRPr lang="en-US" altLang="it-IT" sz="2400" b="1" i="1" dirty="0">
              <a:cs typeface="Arial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it-IT" sz="2800" i="1" dirty="0" err="1"/>
              <a:t>Linguaggio</a:t>
            </a:r>
            <a:r>
              <a:rPr lang="en-US" altLang="it-IT" sz="2800" i="1" dirty="0"/>
              <a:t> di </a:t>
            </a:r>
            <a:r>
              <a:rPr lang="en-US" altLang="it-IT" sz="2800" i="1" dirty="0" err="1"/>
              <a:t>riferimento</a:t>
            </a:r>
            <a:r>
              <a:rPr lang="en-US" altLang="it-IT" sz="2800" i="1" dirty="0"/>
              <a:t>: Java</a:t>
            </a:r>
            <a:endParaRPr lang="en-US" altLang="it-IT" sz="2800" i="1" dirty="0">
              <a:cs typeface="Arial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it-IT" sz="2800" i="1" dirty="0"/>
              <a:t>Il </a:t>
            </a:r>
            <a:r>
              <a:rPr lang="en-US" altLang="it-IT" sz="2800" i="1" dirty="0" err="1"/>
              <a:t>corso</a:t>
            </a:r>
            <a:r>
              <a:rPr lang="en-US" altLang="it-IT" sz="2800" i="1" dirty="0"/>
              <a:t> </a:t>
            </a:r>
            <a:r>
              <a:rPr lang="en-US" altLang="it-IT" sz="2800" i="1" dirty="0" err="1"/>
              <a:t>si</a:t>
            </a:r>
            <a:r>
              <a:rPr lang="en-US" altLang="it-IT" sz="2800" i="1" dirty="0"/>
              <a:t> propone </a:t>
            </a:r>
            <a:r>
              <a:rPr lang="en-US" altLang="it-IT" sz="2800" i="1" dirty="0" err="1"/>
              <a:t>inoltre</a:t>
            </a:r>
            <a:r>
              <a:rPr lang="en-US" altLang="it-IT" sz="2800" i="1" dirty="0"/>
              <a:t> di </a:t>
            </a:r>
            <a:r>
              <a:rPr lang="en-US" altLang="it-IT" sz="2800" i="1" dirty="0" err="1"/>
              <a:t>fornire</a:t>
            </a:r>
            <a:r>
              <a:rPr lang="en-US" altLang="it-IT" sz="2800" i="1" dirty="0"/>
              <a:t> </a:t>
            </a:r>
            <a:r>
              <a:rPr lang="en-US" altLang="it-IT" sz="2800" i="1" dirty="0" err="1"/>
              <a:t>conoscenze</a:t>
            </a:r>
            <a:r>
              <a:rPr lang="en-US" altLang="it-IT" sz="2800" i="1" dirty="0"/>
              <a:t> di base </a:t>
            </a:r>
            <a:r>
              <a:rPr lang="en-US" altLang="it-IT" sz="2800" i="1" dirty="0" err="1"/>
              <a:t>nell'ambito</a:t>
            </a:r>
            <a:r>
              <a:rPr lang="en-US" altLang="it-IT" sz="2800" i="1" dirty="0"/>
              <a:t> </a:t>
            </a:r>
            <a:r>
              <a:rPr lang="en-US" altLang="it-IT" sz="2800" i="1" dirty="0" err="1"/>
              <a:t>della</a:t>
            </a:r>
            <a:r>
              <a:rPr lang="en-US" altLang="it-IT" sz="2800" i="1" dirty="0"/>
              <a:t> </a:t>
            </a:r>
            <a:r>
              <a:rPr lang="en-US" altLang="it-IT" sz="2800" i="1" dirty="0" err="1"/>
              <a:t>progettazione</a:t>
            </a:r>
            <a:r>
              <a:rPr lang="en-US" altLang="it-IT" sz="2800" i="1" dirty="0"/>
              <a:t> del software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altLang="it-IT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04664"/>
            <a:ext cx="7543800" cy="864394"/>
          </a:xfrm>
        </p:spPr>
        <p:txBody>
          <a:bodyPr/>
          <a:lstStyle/>
          <a:p>
            <a:pPr eaLnBrk="1" hangingPunct="1"/>
            <a:r>
              <a:rPr lang="en-US" altLang="it-IT" err="1"/>
              <a:t>Contenuti</a:t>
            </a:r>
            <a:r>
              <a:rPr lang="en-US" altLang="it-IT"/>
              <a:t> (1/2) </a:t>
            </a:r>
            <a:br>
              <a:rPr lang="en-US" altLang="it-IT"/>
            </a:br>
            <a:endParaRPr lang="en-US" altLang="it-IT" sz="320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980728"/>
            <a:ext cx="8229600" cy="561662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lvl="1" indent="-347345"/>
            <a:r>
              <a:rPr lang="en-US" sz="2000" b="1" i="1" err="1">
                <a:ea typeface="+mn-lt"/>
                <a:cs typeface="+mn-lt"/>
              </a:rPr>
              <a:t>Richiami</a:t>
            </a:r>
            <a:r>
              <a:rPr lang="en-US" sz="2000" b="1" i="1">
                <a:ea typeface="+mn-lt"/>
                <a:cs typeface="+mn-lt"/>
              </a:rPr>
              <a:t> e </a:t>
            </a:r>
            <a:r>
              <a:rPr lang="en-US" sz="2000" b="1" i="1" err="1">
                <a:ea typeface="+mn-lt"/>
                <a:cs typeface="+mn-lt"/>
              </a:rPr>
              <a:t>fondamenti</a:t>
            </a:r>
            <a:r>
              <a:rPr lang="en-US" sz="2000" b="1" i="1">
                <a:ea typeface="+mn-lt"/>
                <a:cs typeface="+mn-lt"/>
              </a:rPr>
              <a:t> di </a:t>
            </a:r>
            <a:r>
              <a:rPr lang="en-US" sz="2000" b="1" i="1" err="1">
                <a:ea typeface="+mn-lt"/>
                <a:cs typeface="+mn-lt"/>
              </a:rPr>
              <a:t>programmazione</a:t>
            </a:r>
            <a:r>
              <a:rPr lang="en-US" sz="2000" b="1" i="1">
                <a:ea typeface="+mn-lt"/>
                <a:cs typeface="+mn-lt"/>
              </a:rPr>
              <a:t> in Java:</a:t>
            </a:r>
            <a:br>
              <a:rPr lang="en-US" b="1" i="1"/>
            </a:br>
            <a:r>
              <a:rPr lang="en-US" sz="1800" err="1">
                <a:ea typeface="+mn-lt"/>
                <a:cs typeface="+mn-lt"/>
              </a:rPr>
              <a:t>Ciclo</a:t>
            </a:r>
            <a:r>
              <a:rPr lang="en-US" sz="1800">
                <a:ea typeface="+mn-lt"/>
                <a:cs typeface="+mn-lt"/>
              </a:rPr>
              <a:t> di </a:t>
            </a:r>
            <a:r>
              <a:rPr lang="en-US" sz="1800" err="1">
                <a:ea typeface="+mn-lt"/>
                <a:cs typeface="+mn-lt"/>
              </a:rPr>
              <a:t>sviluppo</a:t>
            </a:r>
            <a:r>
              <a:rPr lang="en-US" sz="1800">
                <a:ea typeface="+mn-lt"/>
                <a:cs typeface="+mn-lt"/>
              </a:rPr>
              <a:t> di un </a:t>
            </a:r>
            <a:r>
              <a:rPr lang="en-US" sz="1800" err="1">
                <a:ea typeface="+mn-lt"/>
                <a:cs typeface="+mn-lt"/>
              </a:rPr>
              <a:t>programma</a:t>
            </a:r>
            <a:r>
              <a:rPr lang="en-US" sz="1800">
                <a:ea typeface="+mn-lt"/>
                <a:cs typeface="+mn-lt"/>
              </a:rPr>
              <a:t> Java, Java Virtual Machine, bytecode. SDK. Il </a:t>
            </a:r>
            <a:r>
              <a:rPr lang="en-US" sz="1800" err="1">
                <a:ea typeface="+mn-lt"/>
                <a:cs typeface="+mn-lt"/>
              </a:rPr>
              <a:t>sistema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dei</a:t>
            </a:r>
            <a:r>
              <a:rPr lang="en-US" sz="1800">
                <a:ea typeface="+mn-lt"/>
                <a:cs typeface="+mn-lt"/>
              </a:rPr>
              <a:t> tipi. </a:t>
            </a:r>
            <a:r>
              <a:rPr lang="en-US" sz="1800" err="1">
                <a:ea typeface="+mn-lt"/>
                <a:cs typeface="+mn-lt"/>
              </a:rPr>
              <a:t>Sottoprogrammi</a:t>
            </a:r>
            <a:r>
              <a:rPr lang="en-US" sz="1800">
                <a:ea typeface="+mn-lt"/>
                <a:cs typeface="+mn-lt"/>
              </a:rPr>
              <a:t> e </a:t>
            </a:r>
            <a:r>
              <a:rPr lang="en-US" sz="1800" err="1">
                <a:ea typeface="+mn-lt"/>
                <a:cs typeface="+mn-lt"/>
              </a:rPr>
              <a:t>metodi</a:t>
            </a:r>
            <a:r>
              <a:rPr lang="en-US" sz="1800">
                <a:ea typeface="+mn-lt"/>
                <a:cs typeface="+mn-lt"/>
              </a:rPr>
              <a:t>. </a:t>
            </a:r>
            <a:r>
              <a:rPr lang="en-US" sz="1800" err="1">
                <a:ea typeface="+mn-lt"/>
                <a:cs typeface="+mn-lt"/>
              </a:rPr>
              <a:t>Modularizzazione</a:t>
            </a:r>
            <a:r>
              <a:rPr lang="en-US" sz="1800">
                <a:ea typeface="+mn-lt"/>
                <a:cs typeface="+mn-lt"/>
              </a:rPr>
              <a:t>, packages.</a:t>
            </a:r>
            <a:endParaRPr lang="en-US" sz="1800">
              <a:cs typeface="Arial"/>
            </a:endParaRPr>
          </a:p>
          <a:p>
            <a:pPr lvl="1" indent="-347345"/>
            <a:r>
              <a:rPr lang="en-US" sz="2000" b="1" i="1" err="1">
                <a:ea typeface="+mn-lt"/>
                <a:cs typeface="+mn-lt"/>
              </a:rPr>
              <a:t>Concetti</a:t>
            </a:r>
            <a:r>
              <a:rPr lang="en-US" sz="2000" b="1" i="1">
                <a:ea typeface="+mn-lt"/>
                <a:cs typeface="+mn-lt"/>
              </a:rPr>
              <a:t> </a:t>
            </a:r>
            <a:r>
              <a:rPr lang="en-US" sz="2000" b="1" i="1" err="1">
                <a:ea typeface="+mn-lt"/>
                <a:cs typeface="+mn-lt"/>
              </a:rPr>
              <a:t>fondamentali</a:t>
            </a:r>
            <a:r>
              <a:rPr lang="en-US" sz="2000" b="1" i="1">
                <a:ea typeface="+mn-lt"/>
                <a:cs typeface="+mn-lt"/>
              </a:rPr>
              <a:t> </a:t>
            </a:r>
            <a:r>
              <a:rPr lang="en-US" sz="2000" b="1" i="1" err="1">
                <a:ea typeface="+mn-lt"/>
                <a:cs typeface="+mn-lt"/>
              </a:rPr>
              <a:t>della</a:t>
            </a:r>
            <a:r>
              <a:rPr lang="en-US" sz="2000" b="1" i="1">
                <a:ea typeface="+mn-lt"/>
                <a:cs typeface="+mn-lt"/>
              </a:rPr>
              <a:t> </a:t>
            </a:r>
            <a:r>
              <a:rPr lang="en-US" sz="2000" b="1" i="1" err="1">
                <a:ea typeface="+mn-lt"/>
                <a:cs typeface="+mn-lt"/>
              </a:rPr>
              <a:t>programmazione</a:t>
            </a:r>
            <a:r>
              <a:rPr lang="en-US" sz="2000" b="1" i="1">
                <a:ea typeface="+mn-lt"/>
                <a:cs typeface="+mn-lt"/>
              </a:rPr>
              <a:t> </a:t>
            </a:r>
            <a:r>
              <a:rPr lang="en-US" sz="2000" b="1" i="1" err="1">
                <a:ea typeface="+mn-lt"/>
                <a:cs typeface="+mn-lt"/>
              </a:rPr>
              <a:t>orientata</a:t>
            </a:r>
            <a:r>
              <a:rPr lang="en-US" sz="2000" b="1" i="1">
                <a:ea typeface="+mn-lt"/>
                <a:cs typeface="+mn-lt"/>
              </a:rPr>
              <a:t> </a:t>
            </a:r>
            <a:r>
              <a:rPr lang="en-US" sz="2000" b="1" i="1" err="1">
                <a:ea typeface="+mn-lt"/>
                <a:cs typeface="+mn-lt"/>
              </a:rPr>
              <a:t>agli</a:t>
            </a:r>
            <a:r>
              <a:rPr lang="en-US" sz="2000" b="1" i="1">
                <a:ea typeface="+mn-lt"/>
                <a:cs typeface="+mn-lt"/>
              </a:rPr>
              <a:t> </a:t>
            </a:r>
            <a:r>
              <a:rPr lang="en-US" sz="2000" b="1" i="1" err="1">
                <a:ea typeface="+mn-lt"/>
                <a:cs typeface="+mn-lt"/>
              </a:rPr>
              <a:t>oggetti</a:t>
            </a:r>
            <a:r>
              <a:rPr lang="en-US" sz="2000" b="1" i="1">
                <a:ea typeface="+mn-lt"/>
                <a:cs typeface="+mn-lt"/>
              </a:rPr>
              <a:t>:</a:t>
            </a:r>
            <a:br>
              <a:rPr lang="en-US" b="1">
                <a:cs typeface="Arial"/>
              </a:rPr>
            </a:br>
            <a:r>
              <a:rPr lang="en-US" sz="1800">
                <a:ea typeface="+mn-lt"/>
                <a:cs typeface="+mn-lt"/>
              </a:rPr>
              <a:t>Il </a:t>
            </a:r>
            <a:r>
              <a:rPr lang="en-US" sz="1800" err="1">
                <a:ea typeface="+mn-lt"/>
                <a:cs typeface="+mn-lt"/>
              </a:rPr>
              <a:t>concetto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astrazione</a:t>
            </a:r>
            <a:r>
              <a:rPr lang="en-US" sz="1800">
                <a:ea typeface="+mn-lt"/>
                <a:cs typeface="+mn-lt"/>
              </a:rPr>
              <a:t>. </a:t>
            </a:r>
            <a:r>
              <a:rPr lang="en-US" sz="1800" err="1">
                <a:ea typeface="+mn-lt"/>
                <a:cs typeface="+mn-lt"/>
              </a:rPr>
              <a:t>Astrazione</a:t>
            </a:r>
            <a:r>
              <a:rPr lang="en-US" sz="1800">
                <a:ea typeface="+mn-lt"/>
                <a:cs typeface="+mn-lt"/>
              </a:rPr>
              <a:t> sui </a:t>
            </a:r>
            <a:r>
              <a:rPr lang="en-US" sz="1800" err="1">
                <a:ea typeface="+mn-lt"/>
                <a:cs typeface="+mn-lt"/>
              </a:rPr>
              <a:t>dati</a:t>
            </a:r>
            <a:r>
              <a:rPr lang="en-US" sz="1800">
                <a:ea typeface="+mn-lt"/>
                <a:cs typeface="+mn-lt"/>
              </a:rPr>
              <a:t> e </a:t>
            </a:r>
            <a:r>
              <a:rPr lang="en-US" sz="1800" err="1">
                <a:ea typeface="+mn-lt"/>
                <a:cs typeface="+mn-lt"/>
              </a:rPr>
              <a:t>sul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controllo</a:t>
            </a:r>
            <a:r>
              <a:rPr lang="en-US" sz="1800">
                <a:ea typeface="+mn-lt"/>
                <a:cs typeface="+mn-lt"/>
              </a:rPr>
              <a:t>. Il </a:t>
            </a:r>
            <a:r>
              <a:rPr lang="en-US" sz="1800" err="1">
                <a:ea typeface="+mn-lt"/>
                <a:cs typeface="+mn-lt"/>
              </a:rPr>
              <a:t>concetto</a:t>
            </a:r>
            <a:r>
              <a:rPr lang="en-US" sz="1800">
                <a:ea typeface="+mn-lt"/>
                <a:cs typeface="+mn-lt"/>
              </a:rPr>
              <a:t> di Modulo. Tipo di </a:t>
            </a:r>
            <a:r>
              <a:rPr lang="en-US" sz="1800" err="1">
                <a:ea typeface="+mn-lt"/>
                <a:cs typeface="+mn-lt"/>
              </a:rPr>
              <a:t>dato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astratto</a:t>
            </a:r>
            <a:r>
              <a:rPr lang="en-US" sz="1800">
                <a:ea typeface="+mn-lt"/>
                <a:cs typeface="+mn-lt"/>
              </a:rPr>
              <a:t> e </a:t>
            </a:r>
            <a:r>
              <a:rPr lang="en-US" sz="1800" err="1">
                <a:ea typeface="+mn-lt"/>
                <a:cs typeface="+mn-lt"/>
              </a:rPr>
              <a:t>ruolo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delle</a:t>
            </a:r>
            <a:r>
              <a:rPr lang="en-US" sz="1800">
                <a:ea typeface="+mn-lt"/>
                <a:cs typeface="+mn-lt"/>
              </a:rPr>
              <a:t> </a:t>
            </a:r>
            <a:r>
              <a:rPr lang="en-US" sz="1800" err="1">
                <a:ea typeface="+mn-lt"/>
                <a:cs typeface="+mn-lt"/>
              </a:rPr>
              <a:t>interfacce</a:t>
            </a:r>
            <a:r>
              <a:rPr lang="en-US" sz="1800">
                <a:ea typeface="+mn-lt"/>
                <a:cs typeface="+mn-lt"/>
              </a:rPr>
              <a:t>.</a:t>
            </a:r>
            <a:br>
              <a:rPr lang="en-US" sz="1800">
                <a:cs typeface="Arial"/>
              </a:rPr>
            </a:br>
            <a:r>
              <a:rPr lang="en-US" sz="1800" err="1">
                <a:ea typeface="+mn-lt"/>
                <a:cs typeface="+mn-lt"/>
              </a:rPr>
              <a:t>Paradigma</a:t>
            </a:r>
            <a:r>
              <a:rPr lang="en-US" sz="1800">
                <a:ea typeface="+mn-lt"/>
                <a:cs typeface="+mn-lt"/>
              </a:rPr>
              <a:t> di </a:t>
            </a:r>
            <a:r>
              <a:rPr lang="en-US" sz="1800" err="1">
                <a:ea typeface="+mn-lt"/>
                <a:cs typeface="+mn-lt"/>
              </a:rPr>
              <a:t>programmazione</a:t>
            </a:r>
            <a:r>
              <a:rPr lang="en-US" sz="1800">
                <a:ea typeface="+mn-lt"/>
                <a:cs typeface="+mn-lt"/>
              </a:rPr>
              <a:t> OO. </a:t>
            </a:r>
            <a:r>
              <a:rPr lang="en-US" sz="1800" err="1">
                <a:ea typeface="+mn-lt"/>
                <a:cs typeface="+mn-lt"/>
              </a:rPr>
              <a:t>Incapsulamento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classi</a:t>
            </a:r>
            <a:r>
              <a:rPr lang="en-US" sz="1800">
                <a:ea typeface="+mn-lt"/>
                <a:cs typeface="+mn-lt"/>
              </a:rPr>
              <a:t> ed </a:t>
            </a:r>
            <a:r>
              <a:rPr lang="en-US" sz="1800" err="1">
                <a:ea typeface="+mn-lt"/>
                <a:cs typeface="+mn-lt"/>
              </a:rPr>
              <a:t>oggetti</a:t>
            </a:r>
            <a:r>
              <a:rPr lang="en-US" sz="1800">
                <a:ea typeface="+mn-lt"/>
                <a:cs typeface="+mn-lt"/>
              </a:rPr>
              <a:t>. </a:t>
            </a:r>
            <a:r>
              <a:rPr lang="en-US" sz="1800" err="1">
                <a:ea typeface="+mn-lt"/>
                <a:cs typeface="+mn-lt"/>
              </a:rPr>
              <a:t>Metodi</a:t>
            </a:r>
            <a:r>
              <a:rPr lang="en-US" sz="1800">
                <a:ea typeface="+mn-lt"/>
                <a:cs typeface="+mn-lt"/>
              </a:rPr>
              <a:t>. </a:t>
            </a:r>
            <a:r>
              <a:rPr lang="en-US" sz="1800" err="1">
                <a:ea typeface="+mn-lt"/>
                <a:cs typeface="+mn-lt"/>
              </a:rPr>
              <a:t>Costruttori</a:t>
            </a:r>
            <a:r>
              <a:rPr lang="en-US" sz="1800">
                <a:ea typeface="+mn-lt"/>
                <a:cs typeface="+mn-lt"/>
              </a:rPr>
              <a:t>. Overloading and overriding. </a:t>
            </a:r>
            <a:r>
              <a:rPr lang="en-US" sz="1800" err="1">
                <a:ea typeface="+mn-lt"/>
                <a:cs typeface="+mn-lt"/>
              </a:rPr>
              <a:t>Relazione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tra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classi</a:t>
            </a:r>
            <a:r>
              <a:rPr lang="en-US" sz="1800">
                <a:ea typeface="+mn-lt"/>
                <a:cs typeface="+mn-lt"/>
              </a:rPr>
              <a:t>: </a:t>
            </a:r>
            <a:r>
              <a:rPr lang="en-US" sz="1800" err="1">
                <a:ea typeface="+mn-lt"/>
                <a:cs typeface="+mn-lt"/>
              </a:rPr>
              <a:t>composizione</a:t>
            </a:r>
            <a:r>
              <a:rPr lang="en-US" sz="1800">
                <a:ea typeface="+mn-lt"/>
                <a:cs typeface="+mn-lt"/>
              </a:rPr>
              <a:t>, </a:t>
            </a:r>
            <a:r>
              <a:rPr lang="en-US" sz="1800" err="1">
                <a:ea typeface="+mn-lt"/>
                <a:cs typeface="+mn-lt"/>
              </a:rPr>
              <a:t>associazione</a:t>
            </a:r>
            <a:r>
              <a:rPr lang="en-US" sz="1800">
                <a:ea typeface="+mn-lt"/>
                <a:cs typeface="+mn-lt"/>
              </a:rPr>
              <a:t> e </a:t>
            </a:r>
            <a:r>
              <a:rPr lang="en-US" sz="1800" err="1">
                <a:ea typeface="+mn-lt"/>
                <a:cs typeface="+mn-lt"/>
              </a:rPr>
              <a:t>ereditarieta</a:t>
            </a:r>
            <a:r>
              <a:rPr lang="en-US" sz="1800">
                <a:ea typeface="+mn-lt"/>
                <a:cs typeface="+mn-lt"/>
              </a:rPr>
              <a:t>̀. </a:t>
            </a:r>
            <a:r>
              <a:rPr lang="en-US" sz="1800" err="1">
                <a:ea typeface="+mn-lt"/>
                <a:cs typeface="+mn-lt"/>
              </a:rPr>
              <a:t>Classi</a:t>
            </a:r>
            <a:r>
              <a:rPr lang="en-US" sz="1800">
                <a:ea typeface="+mn-lt"/>
                <a:cs typeface="+mn-lt"/>
              </a:rPr>
              <a:t> derivate e </a:t>
            </a:r>
            <a:r>
              <a:rPr lang="en-US" sz="1800" err="1">
                <a:ea typeface="+mn-lt"/>
                <a:cs typeface="+mn-lt"/>
              </a:rPr>
              <a:t>relazione</a:t>
            </a:r>
            <a:r>
              <a:rPr lang="en-US" sz="1800">
                <a:ea typeface="+mn-lt"/>
                <a:cs typeface="+mn-lt"/>
              </a:rPr>
              <a:t> base-</a:t>
            </a:r>
            <a:r>
              <a:rPr lang="en-US" sz="1800" err="1">
                <a:ea typeface="+mn-lt"/>
                <a:cs typeface="+mn-lt"/>
              </a:rPr>
              <a:t>derivata</a:t>
            </a:r>
            <a:r>
              <a:rPr lang="en-US" sz="1800">
                <a:ea typeface="+mn-lt"/>
                <a:cs typeface="+mn-lt"/>
              </a:rPr>
              <a:t>. </a:t>
            </a:r>
            <a:r>
              <a:rPr lang="en-US" sz="1800" err="1">
                <a:ea typeface="+mn-lt"/>
                <a:cs typeface="+mn-lt"/>
              </a:rPr>
              <a:t>Polimorfismo</a:t>
            </a:r>
            <a:r>
              <a:rPr lang="en-US" sz="1800">
                <a:ea typeface="+mn-lt"/>
                <a:cs typeface="+mn-lt"/>
              </a:rPr>
              <a:t>. </a:t>
            </a:r>
            <a:endParaRPr lang="en-US" sz="1800">
              <a:cs typeface="Arial"/>
            </a:endParaRPr>
          </a:p>
          <a:p>
            <a:pPr lvl="1" indent="-347345"/>
            <a:r>
              <a:rPr lang="en-US" sz="2000" b="1" i="1" err="1">
                <a:ea typeface="+mn-lt"/>
                <a:cs typeface="+mn-lt"/>
              </a:rPr>
              <a:t>Programmazione</a:t>
            </a:r>
            <a:r>
              <a:rPr lang="en-US" sz="2000" b="1" i="1">
                <a:ea typeface="+mn-lt"/>
                <a:cs typeface="+mn-lt"/>
              </a:rPr>
              <a:t> </a:t>
            </a:r>
            <a:r>
              <a:rPr lang="en-US" sz="2000" b="1" i="1" err="1">
                <a:ea typeface="+mn-lt"/>
                <a:cs typeface="+mn-lt"/>
              </a:rPr>
              <a:t>orientata</a:t>
            </a:r>
            <a:r>
              <a:rPr lang="en-US" sz="2000" b="1" i="1">
                <a:ea typeface="+mn-lt"/>
                <a:cs typeface="+mn-lt"/>
              </a:rPr>
              <a:t> </a:t>
            </a:r>
            <a:r>
              <a:rPr lang="en-US" sz="2000" b="1" i="1" err="1">
                <a:ea typeface="+mn-lt"/>
                <a:cs typeface="+mn-lt"/>
              </a:rPr>
              <a:t>agli</a:t>
            </a:r>
            <a:r>
              <a:rPr lang="en-US" sz="2000" b="1" i="1">
                <a:ea typeface="+mn-lt"/>
                <a:cs typeface="+mn-lt"/>
              </a:rPr>
              <a:t> </a:t>
            </a:r>
            <a:r>
              <a:rPr lang="en-US" sz="2000" b="1" i="1" err="1">
                <a:ea typeface="+mn-lt"/>
                <a:cs typeface="+mn-lt"/>
              </a:rPr>
              <a:t>oggetti</a:t>
            </a:r>
            <a:r>
              <a:rPr lang="en-US" sz="2000" b="1" i="1">
                <a:ea typeface="+mn-lt"/>
                <a:cs typeface="+mn-lt"/>
              </a:rPr>
              <a:t> in Java:</a:t>
            </a:r>
            <a:br>
              <a:rPr lang="en-US" b="1" i="1">
                <a:cs typeface="Arial"/>
              </a:rPr>
            </a:br>
            <a:r>
              <a:rPr lang="en-US" sz="1800" err="1">
                <a:ea typeface="+mn-lt"/>
                <a:cs typeface="+mn-lt"/>
              </a:rPr>
              <a:t>Classi</a:t>
            </a:r>
            <a:r>
              <a:rPr lang="en-US" sz="1800">
                <a:ea typeface="+mn-lt"/>
                <a:cs typeface="+mn-lt"/>
              </a:rPr>
              <a:t> e </a:t>
            </a:r>
            <a:r>
              <a:rPr lang="en-US" sz="1800" err="1">
                <a:ea typeface="+mn-lt"/>
                <a:cs typeface="+mn-lt"/>
              </a:rPr>
              <a:t>oggetti</a:t>
            </a:r>
            <a:r>
              <a:rPr lang="en-US" sz="1800">
                <a:ea typeface="+mn-lt"/>
                <a:cs typeface="+mn-lt"/>
              </a:rPr>
              <a:t>, </a:t>
            </a:r>
            <a:r>
              <a:rPr lang="en-US" sz="1800" err="1">
                <a:ea typeface="+mn-lt"/>
                <a:cs typeface="+mn-lt"/>
              </a:rPr>
              <a:t>ereditarieta</a:t>
            </a:r>
            <a:r>
              <a:rPr lang="en-US" sz="1800">
                <a:ea typeface="+mn-lt"/>
                <a:cs typeface="+mn-lt"/>
              </a:rPr>
              <a:t>̀ e </a:t>
            </a:r>
            <a:r>
              <a:rPr lang="en-US" sz="1800" err="1">
                <a:ea typeface="+mn-lt"/>
                <a:cs typeface="+mn-lt"/>
              </a:rPr>
              <a:t>polimorfismo</a:t>
            </a:r>
            <a:r>
              <a:rPr lang="en-US" sz="1800">
                <a:ea typeface="+mn-lt"/>
                <a:cs typeface="+mn-lt"/>
              </a:rPr>
              <a:t> in Java. </a:t>
            </a:r>
            <a:r>
              <a:rPr lang="en-US" sz="1800" err="1">
                <a:ea typeface="+mn-lt"/>
                <a:cs typeface="+mn-lt"/>
              </a:rPr>
              <a:t>Controllo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della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visibilita</a:t>
            </a:r>
            <a:r>
              <a:rPr lang="en-US" sz="1800">
                <a:ea typeface="+mn-lt"/>
                <a:cs typeface="+mn-lt"/>
              </a:rPr>
              <a:t>̀ di </a:t>
            </a:r>
            <a:r>
              <a:rPr lang="en-US" sz="1800" err="1">
                <a:ea typeface="+mn-lt"/>
                <a:cs typeface="+mn-lt"/>
              </a:rPr>
              <a:t>attributi</a:t>
            </a:r>
            <a:r>
              <a:rPr lang="en-US" sz="1800">
                <a:ea typeface="+mn-lt"/>
                <a:cs typeface="+mn-lt"/>
              </a:rPr>
              <a:t> e </a:t>
            </a:r>
            <a:r>
              <a:rPr lang="en-US" sz="1800" err="1">
                <a:ea typeface="+mn-lt"/>
                <a:cs typeface="+mn-lt"/>
              </a:rPr>
              <a:t>metodi</a:t>
            </a:r>
            <a:r>
              <a:rPr lang="en-US" sz="1800">
                <a:ea typeface="+mn-lt"/>
                <a:cs typeface="+mn-lt"/>
              </a:rPr>
              <a:t>. </a:t>
            </a:r>
            <a:r>
              <a:rPr lang="en-US" sz="1800" err="1">
                <a:ea typeface="+mn-lt"/>
                <a:cs typeface="+mn-lt"/>
              </a:rPr>
              <a:t>Classi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astratte</a:t>
            </a:r>
            <a:r>
              <a:rPr lang="en-US" sz="1800">
                <a:ea typeface="+mn-lt"/>
                <a:cs typeface="+mn-lt"/>
              </a:rPr>
              <a:t> ed </a:t>
            </a:r>
            <a:r>
              <a:rPr lang="en-US" sz="1800" err="1">
                <a:ea typeface="+mn-lt"/>
                <a:cs typeface="+mn-lt"/>
              </a:rPr>
              <a:t>interfacce</a:t>
            </a:r>
            <a:r>
              <a:rPr lang="en-US" sz="1800">
                <a:ea typeface="+mn-lt"/>
                <a:cs typeface="+mn-lt"/>
              </a:rPr>
              <a:t>. </a:t>
            </a:r>
            <a:r>
              <a:rPr lang="en-US" sz="1800" err="1">
                <a:ea typeface="+mn-lt"/>
                <a:cs typeface="+mn-lt"/>
              </a:rPr>
              <a:t>Composizione</a:t>
            </a:r>
            <a:r>
              <a:rPr lang="en-US" sz="1800">
                <a:ea typeface="+mn-lt"/>
                <a:cs typeface="+mn-lt"/>
              </a:rPr>
              <a:t> e </a:t>
            </a:r>
            <a:r>
              <a:rPr lang="en-US" sz="1800" err="1">
                <a:ea typeface="+mn-lt"/>
                <a:cs typeface="+mn-lt"/>
              </a:rPr>
              <a:t>associazione</a:t>
            </a:r>
            <a:r>
              <a:rPr lang="en-US" sz="1800">
                <a:ea typeface="+mn-lt"/>
                <a:cs typeface="+mn-lt"/>
              </a:rPr>
              <a:t> in Java. </a:t>
            </a:r>
            <a:endParaRPr lang="en-US" altLang="it-IT" sz="2000"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BFFB4-BF6A-7CF3-D4D8-E8712682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BB7E4F5-EF9D-8D12-3047-BD659638D4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404664"/>
            <a:ext cx="7543800" cy="864394"/>
          </a:xfrm>
        </p:spPr>
        <p:txBody>
          <a:bodyPr/>
          <a:lstStyle/>
          <a:p>
            <a:pPr eaLnBrk="1" hangingPunct="1"/>
            <a:r>
              <a:rPr lang="en-US" altLang="it-IT" err="1"/>
              <a:t>Contenuti</a:t>
            </a:r>
            <a:r>
              <a:rPr lang="en-US" altLang="it-IT"/>
              <a:t> (2/2) </a:t>
            </a:r>
            <a:br>
              <a:rPr lang="en-US" altLang="it-IT"/>
            </a:br>
            <a:endParaRPr lang="en-US" altLang="it-IT" sz="320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6AAC938-0691-B731-0F62-22E3A50C66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6" y="1124744"/>
            <a:ext cx="8229600" cy="561662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altLang="it-IT" sz="2100" b="1" i="1" dirty="0" err="1"/>
              <a:t>Progettazione</a:t>
            </a:r>
            <a:r>
              <a:rPr lang="en-US" altLang="it-IT" sz="2100" b="1" i="1" dirty="0"/>
              <a:t> e </a:t>
            </a:r>
            <a:r>
              <a:rPr lang="en-US" altLang="it-IT" sz="2100" b="1" i="1" dirty="0" err="1"/>
              <a:t>linguaggio</a:t>
            </a:r>
            <a:r>
              <a:rPr lang="en-US" altLang="it-IT" sz="2100" b="1" i="1" dirty="0"/>
              <a:t> UML.</a:t>
            </a:r>
            <a:endParaRPr lang="en-US" altLang="it-IT" sz="2100" b="1" i="1" dirty="0">
              <a:cs typeface="Arial"/>
            </a:endParaRPr>
          </a:p>
          <a:p>
            <a:pPr lvl="1" indent="-347345" eaLnBrk="1" hangingPunct="1"/>
            <a:r>
              <a:rPr lang="en-US" altLang="it-IT" sz="2000" i="1" dirty="0" err="1"/>
              <a:t>Progettazione</a:t>
            </a:r>
            <a:r>
              <a:rPr lang="en-US" altLang="it-IT" sz="2000" i="1" dirty="0"/>
              <a:t> del software (</a:t>
            </a:r>
            <a:r>
              <a:rPr lang="en-US" altLang="it-IT" sz="2000" i="1" dirty="0" err="1"/>
              <a:t>cenni</a:t>
            </a:r>
            <a:r>
              <a:rPr lang="en-US" altLang="it-IT" sz="2000" i="1" dirty="0"/>
              <a:t>)</a:t>
            </a:r>
            <a:r>
              <a:rPr lang="en-US" altLang="it-IT" sz="2000" b="1" i="1" dirty="0"/>
              <a:t>. </a:t>
            </a:r>
            <a:r>
              <a:rPr lang="en-US" altLang="it-IT" sz="2000" i="1" dirty="0" err="1"/>
              <a:t>Modularizzazione</a:t>
            </a:r>
            <a:r>
              <a:rPr lang="en-US" altLang="it-IT" sz="2000" i="1" dirty="0"/>
              <a:t> del software e </a:t>
            </a:r>
            <a:r>
              <a:rPr lang="en-US" altLang="it-IT" sz="2000" i="1" dirty="0" err="1"/>
              <a:t>strumenti</a:t>
            </a:r>
            <a:r>
              <a:rPr lang="en-US" altLang="it-IT" sz="2000" i="1" dirty="0"/>
              <a:t> per la </a:t>
            </a:r>
            <a:r>
              <a:rPr lang="en-US" altLang="it-IT" sz="2000" i="1" dirty="0" err="1"/>
              <a:t>modularizzazione</a:t>
            </a:r>
            <a:r>
              <a:rPr lang="en-US" altLang="it-IT" sz="2000" i="1" dirty="0"/>
              <a:t>.</a:t>
            </a:r>
            <a:r>
              <a:rPr lang="en-US" altLang="it-IT" sz="2000" b="1" i="1" dirty="0"/>
              <a:t> </a:t>
            </a:r>
            <a:r>
              <a:rPr lang="en-US" altLang="it-IT" sz="2000" i="1" dirty="0"/>
              <a:t>Il </a:t>
            </a:r>
            <a:r>
              <a:rPr lang="en-US" altLang="it-IT" sz="2000" i="1" dirty="0" err="1"/>
              <a:t>linguaggio</a:t>
            </a:r>
            <a:r>
              <a:rPr lang="en-US" altLang="it-IT" sz="2000" i="1" dirty="0"/>
              <a:t> UML (</a:t>
            </a:r>
            <a:r>
              <a:rPr lang="en-US" altLang="it-IT" sz="2000" i="1" dirty="0" err="1"/>
              <a:t>cenni</a:t>
            </a:r>
            <a:r>
              <a:rPr lang="en-US" altLang="it-IT" sz="2000" i="1"/>
              <a:t>)</a:t>
            </a:r>
            <a:r>
              <a:rPr lang="en-US" altLang="it-IT" sz="2000" b="1" i="1"/>
              <a:t> </a:t>
            </a:r>
            <a:r>
              <a:rPr lang="en-US" altLang="it-IT" sz="2000" i="1"/>
              <a:t>Da UML a Java.</a:t>
            </a:r>
            <a:endParaRPr lang="it-IT" altLang="it-IT" sz="2000" b="1" i="1" dirty="0">
              <a:cs typeface="Arial"/>
            </a:endParaRPr>
          </a:p>
          <a:p>
            <a:pPr eaLnBrk="1" hangingPunct="1"/>
            <a:r>
              <a:rPr lang="it-IT" altLang="it-IT" sz="2100" b="1" i="1" dirty="0"/>
              <a:t>Aspetti avanzati di programmazione.</a:t>
            </a:r>
            <a:endParaRPr lang="it-IT" altLang="it-IT" sz="2100" b="1" i="1" dirty="0">
              <a:cs typeface="Arial"/>
            </a:endParaRPr>
          </a:p>
          <a:p>
            <a:pPr lvl="1" indent="-347345" eaLnBrk="1" hangingPunct="1"/>
            <a:r>
              <a:rPr lang="it-IT" altLang="it-IT" sz="2000" i="1" dirty="0" err="1"/>
              <a:t>Ricorsione</a:t>
            </a:r>
            <a:r>
              <a:rPr lang="it-IT" altLang="it-IT" sz="2000" i="1" dirty="0"/>
              <a:t>.</a:t>
            </a:r>
            <a:r>
              <a:rPr lang="it-IT" altLang="it-IT" sz="2000" b="1" i="1" dirty="0"/>
              <a:t> </a:t>
            </a:r>
          </a:p>
          <a:p>
            <a:pPr lvl="1" eaLnBrk="1" hangingPunct="1"/>
            <a:r>
              <a:rPr lang="it-IT" altLang="it-IT" sz="2000" i="1" dirty="0"/>
              <a:t>Gestione delle eccezioni.</a:t>
            </a:r>
            <a:r>
              <a:rPr lang="en-US" altLang="it-IT" sz="2000" dirty="0"/>
              <a:t> </a:t>
            </a:r>
            <a:endParaRPr lang="en-US" altLang="it-IT" sz="2000" dirty="0">
              <a:cs typeface="Arial"/>
            </a:endParaRPr>
          </a:p>
          <a:p>
            <a:pPr eaLnBrk="1" hangingPunct="1"/>
            <a:r>
              <a:rPr lang="it-IT" altLang="it-IT" sz="2100" b="1" i="1" dirty="0"/>
              <a:t>Strutture dati e algoritmi.</a:t>
            </a:r>
            <a:endParaRPr lang="it-IT" altLang="it-IT" sz="2100" b="1" i="1" dirty="0">
              <a:cs typeface="Arial"/>
            </a:endParaRPr>
          </a:p>
          <a:p>
            <a:pPr lvl="1" indent="-347345" eaLnBrk="1" hangingPunct="1"/>
            <a:r>
              <a:rPr lang="it-IT" altLang="it-IT" sz="2000" i="1" dirty="0"/>
              <a:t>Liste, liste ordinate, pile, code</a:t>
            </a:r>
            <a:endParaRPr lang="it-IT" altLang="it-IT" sz="2000" i="1" dirty="0">
              <a:cs typeface="Arial"/>
            </a:endParaRPr>
          </a:p>
          <a:p>
            <a:pPr>
              <a:buClr>
                <a:srgbClr val="330066"/>
              </a:buClr>
            </a:pPr>
            <a:r>
              <a:rPr lang="it-IT" altLang="it-IT" sz="2100" b="1" i="1" dirty="0"/>
              <a:t>Elementi di progettazione di interfacce grafiche in Java.</a:t>
            </a:r>
          </a:p>
          <a:p>
            <a:pPr marL="344170" lvl="1" indent="0" eaLnBrk="1" hangingPunct="1">
              <a:buNone/>
            </a:pPr>
            <a:endParaRPr lang="en-US" altLang="it-IT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5231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66529" y="-459432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it-IT" err="1"/>
              <a:t>Esercitazioni</a:t>
            </a:r>
            <a:endParaRPr lang="en-US" altLang="it-IT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529" y="1268760"/>
            <a:ext cx="8229600" cy="4825007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altLang="it-IT" sz="2400"/>
              <a:t>In aula o in </a:t>
            </a:r>
            <a:r>
              <a:rPr lang="en-US" altLang="it-IT" sz="2400" err="1"/>
              <a:t>laboratorio</a:t>
            </a:r>
            <a:r>
              <a:rPr lang="en-US" altLang="it-IT" sz="2400"/>
              <a:t> (</a:t>
            </a:r>
            <a:r>
              <a:rPr lang="en-US" altLang="it-IT" sz="2400" err="1"/>
              <a:t>ove</a:t>
            </a:r>
            <a:r>
              <a:rPr lang="en-US" altLang="it-IT" sz="2400"/>
              <a:t> possible)</a:t>
            </a:r>
          </a:p>
          <a:p>
            <a:pPr eaLnBrk="1" hangingPunct="1">
              <a:defRPr/>
            </a:pPr>
            <a:endParaRPr lang="en-US" altLang="it-IT" sz="2400"/>
          </a:p>
          <a:p>
            <a:pPr>
              <a:defRPr/>
            </a:pPr>
            <a:r>
              <a:rPr lang="en-US" altLang="it-IT" sz="2400"/>
              <a:t>Per </a:t>
            </a:r>
            <a:r>
              <a:rPr lang="en-US" altLang="it-IT" sz="2400" err="1"/>
              <a:t>consentire</a:t>
            </a:r>
            <a:r>
              <a:rPr lang="en-US" altLang="it-IT" sz="2400"/>
              <a:t> a tutti di </a:t>
            </a:r>
            <a:r>
              <a:rPr lang="en-US" altLang="it-IT" sz="2400" err="1"/>
              <a:t>svolgere</a:t>
            </a:r>
            <a:r>
              <a:rPr lang="en-US" altLang="it-IT" sz="2400"/>
              <a:t> </a:t>
            </a:r>
            <a:r>
              <a:rPr lang="en-US" altLang="it-IT" sz="2400" err="1"/>
              <a:t>esercitazioni</a:t>
            </a:r>
            <a:r>
              <a:rPr lang="en-US" altLang="it-IT" sz="2400"/>
              <a:t> in </a:t>
            </a:r>
            <a:r>
              <a:rPr lang="en-US" altLang="it-IT" sz="2400" err="1"/>
              <a:t>laboratorio</a:t>
            </a:r>
            <a:r>
              <a:rPr lang="en-US" altLang="it-IT" sz="2400"/>
              <a:t> </a:t>
            </a:r>
            <a:r>
              <a:rPr lang="en-US" altLang="it-IT" sz="2400" err="1"/>
              <a:t>potranno</a:t>
            </a:r>
            <a:r>
              <a:rPr lang="en-US" altLang="it-IT" sz="2400"/>
              <a:t> </a:t>
            </a:r>
            <a:r>
              <a:rPr lang="en-US" altLang="it-IT" sz="2400" err="1"/>
              <a:t>essere</a:t>
            </a:r>
            <a:r>
              <a:rPr lang="en-US" altLang="it-IT" sz="2400"/>
              <a:t> </a:t>
            </a:r>
            <a:r>
              <a:rPr lang="en-US" altLang="it-IT" sz="2400" err="1"/>
              <a:t>organizzati</a:t>
            </a:r>
            <a:r>
              <a:rPr lang="en-US" altLang="it-IT" sz="2400"/>
              <a:t> </a:t>
            </a:r>
            <a:r>
              <a:rPr lang="en-US" altLang="it-IT" sz="2400" err="1"/>
              <a:t>dei</a:t>
            </a:r>
            <a:r>
              <a:rPr lang="en-US" altLang="it-IT" sz="2400"/>
              <a:t> </a:t>
            </a:r>
            <a:r>
              <a:rPr lang="en-US" altLang="it-IT" sz="2400" err="1"/>
              <a:t>turni</a:t>
            </a:r>
            <a:r>
              <a:rPr lang="en-US" altLang="it-IT" sz="2400"/>
              <a:t> a </a:t>
            </a:r>
            <a:r>
              <a:rPr lang="en-US" altLang="it-IT" sz="2400" err="1"/>
              <a:t>rotazione</a:t>
            </a:r>
            <a:r>
              <a:rPr lang="en-US" altLang="it-IT" sz="2400"/>
              <a:t>.</a:t>
            </a:r>
            <a:endParaRPr lang="en-US"/>
          </a:p>
          <a:p>
            <a:pPr marL="0" indent="0" eaLnBrk="1" hangingPunct="1">
              <a:buNone/>
              <a:defRPr/>
            </a:pPr>
            <a:endParaRPr lang="en-US" altLang="it-IT" sz="2400"/>
          </a:p>
          <a:p>
            <a:pPr>
              <a:defRPr/>
            </a:pPr>
            <a:r>
              <a:rPr lang="en-US" altLang="it-IT" sz="2400"/>
              <a:t>Le </a:t>
            </a:r>
            <a:r>
              <a:rPr lang="en-US" altLang="it-IT" sz="2400" err="1"/>
              <a:t>esercitazioni</a:t>
            </a:r>
            <a:r>
              <a:rPr lang="en-US" altLang="it-IT" sz="2400"/>
              <a:t> in </a:t>
            </a:r>
            <a:r>
              <a:rPr lang="en-US" altLang="it-IT" sz="2400" err="1"/>
              <a:t>laboratorio</a:t>
            </a:r>
            <a:r>
              <a:rPr lang="en-US" altLang="it-IT" sz="2400"/>
              <a:t> </a:t>
            </a:r>
            <a:r>
              <a:rPr lang="en-US" altLang="it-IT" sz="2400" err="1"/>
              <a:t>verranno</a:t>
            </a:r>
            <a:r>
              <a:rPr lang="en-US" altLang="it-IT" sz="2400"/>
              <a:t> </a:t>
            </a:r>
            <a:r>
              <a:rPr lang="en-US" altLang="it-IT" sz="2400" err="1"/>
              <a:t>organizzate</a:t>
            </a:r>
            <a:r>
              <a:rPr lang="en-US" altLang="it-IT" sz="2400"/>
              <a:t> </a:t>
            </a:r>
            <a:r>
              <a:rPr lang="en-US" altLang="it-IT" sz="2400" err="1"/>
              <a:t>utilizzando</a:t>
            </a:r>
            <a:r>
              <a:rPr lang="en-US" altLang="it-IT" sz="2400"/>
              <a:t> </a:t>
            </a:r>
            <a:r>
              <a:rPr lang="en-US" altLang="it-IT" sz="2400" err="1"/>
              <a:t>alcune</a:t>
            </a:r>
            <a:r>
              <a:rPr lang="en-US" altLang="it-IT" sz="2400"/>
              <a:t> </a:t>
            </a:r>
            <a:r>
              <a:rPr lang="en-US" altLang="it-IT" sz="2400" err="1"/>
              <a:t>funzionalità</a:t>
            </a:r>
            <a:r>
              <a:rPr lang="en-US" altLang="it-IT" sz="2400"/>
              <a:t> del </a:t>
            </a:r>
            <a:r>
              <a:rPr lang="en-US" altLang="it-IT" sz="2400" err="1"/>
              <a:t>sito</a:t>
            </a:r>
            <a:r>
              <a:rPr lang="en-US" altLang="it-IT" sz="2400"/>
              <a:t> </a:t>
            </a:r>
            <a:r>
              <a:rPr lang="en-US" altLang="it-IT" sz="2400" err="1"/>
              <a:t>docente</a:t>
            </a:r>
            <a:endParaRPr lang="en-US" altLang="it-IT" sz="2400">
              <a:cs typeface="Arial"/>
            </a:endParaRPr>
          </a:p>
          <a:p>
            <a:pPr eaLnBrk="1" hangingPunct="1">
              <a:defRPr/>
            </a:pPr>
            <a:endParaRPr lang="en-US" altLang="it-IT" sz="2400"/>
          </a:p>
          <a:p>
            <a:pPr>
              <a:defRPr/>
            </a:pPr>
            <a:r>
              <a:rPr lang="en-US" altLang="it-IT" sz="2400"/>
              <a:t>Le </a:t>
            </a:r>
            <a:r>
              <a:rPr lang="en-US" altLang="it-IT" sz="2400" err="1"/>
              <a:t>esercitazioni</a:t>
            </a:r>
            <a:r>
              <a:rPr lang="en-US" altLang="it-IT" sz="2400"/>
              <a:t> </a:t>
            </a:r>
            <a:r>
              <a:rPr lang="en-US" altLang="it-IT" sz="2400" err="1"/>
              <a:t>fanno</a:t>
            </a:r>
            <a:r>
              <a:rPr lang="en-US" altLang="it-IT" sz="2400"/>
              <a:t> </a:t>
            </a:r>
            <a:r>
              <a:rPr lang="en-US" altLang="it-IT" sz="2400" err="1"/>
              <a:t>parte</a:t>
            </a:r>
            <a:r>
              <a:rPr lang="en-US" altLang="it-IT" sz="2400"/>
              <a:t> </a:t>
            </a:r>
            <a:r>
              <a:rPr lang="en-US" altLang="it-IT" sz="2400" err="1"/>
              <a:t>integrante</a:t>
            </a:r>
            <a:r>
              <a:rPr lang="en-US" altLang="it-IT" sz="2400"/>
              <a:t> del </a:t>
            </a:r>
            <a:r>
              <a:rPr lang="en-US" altLang="it-IT" sz="2400" err="1"/>
              <a:t>corso</a:t>
            </a:r>
            <a:endParaRPr lang="en-US" altLang="it-IT" sz="2400">
              <a:cs typeface="Arial"/>
            </a:endParaRPr>
          </a:p>
          <a:p>
            <a:pPr eaLnBrk="1" hangingPunct="1">
              <a:defRPr/>
            </a:pPr>
            <a:endParaRPr lang="en-US" altLang="it-IT" sz="2400"/>
          </a:p>
          <a:p>
            <a:pPr marL="0" indent="0" eaLnBrk="1" hangingPunct="1">
              <a:buFont typeface="Wingdings" pitchFamily="2" charset="2"/>
              <a:buNone/>
              <a:defRPr/>
            </a:pPr>
            <a:endParaRPr lang="en-US" altLang="it-IT" sz="2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613FB-7B67-4120-91F7-6D13097C3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70" y="-243408"/>
            <a:ext cx="7543800" cy="1295400"/>
          </a:xfrm>
        </p:spPr>
        <p:txBody>
          <a:bodyPr/>
          <a:lstStyle/>
          <a:p>
            <a:r>
              <a:rPr lang="it-IT" err="1"/>
              <a:t>Homework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78C86-3B79-4B40-90C3-0A019EDA2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40768"/>
            <a:ext cx="8229600" cy="44116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it-IT" sz="3200"/>
              <a:t>Homework </a:t>
            </a:r>
            <a:r>
              <a:rPr lang="en-US" altLang="it-IT" sz="3200" err="1"/>
              <a:t>consentiranno</a:t>
            </a:r>
            <a:r>
              <a:rPr lang="en-US" altLang="it-IT" sz="3200"/>
              <a:t> </a:t>
            </a:r>
            <a:r>
              <a:rPr lang="en-US" altLang="it-IT" sz="3200" err="1">
                <a:solidFill>
                  <a:srgbClr val="FF0000"/>
                </a:solidFill>
              </a:rPr>
              <a:t>l’applicazione</a:t>
            </a:r>
            <a:r>
              <a:rPr lang="en-US" altLang="it-IT" sz="3200">
                <a:solidFill>
                  <a:srgbClr val="FF0000"/>
                </a:solidFill>
              </a:rPr>
              <a:t> e </a:t>
            </a:r>
            <a:r>
              <a:rPr lang="en-US" altLang="it-IT" sz="3200" err="1">
                <a:solidFill>
                  <a:srgbClr val="FF0000"/>
                </a:solidFill>
              </a:rPr>
              <a:t>l’approfondimento</a:t>
            </a:r>
            <a:r>
              <a:rPr lang="en-US" altLang="it-IT" sz="3200">
                <a:solidFill>
                  <a:srgbClr val="FF0000"/>
                </a:solidFill>
              </a:rPr>
              <a:t> </a:t>
            </a:r>
            <a:r>
              <a:rPr lang="en-US" altLang="it-IT" sz="3200" err="1">
                <a:solidFill>
                  <a:srgbClr val="FF0000"/>
                </a:solidFill>
              </a:rPr>
              <a:t>dei</a:t>
            </a:r>
            <a:r>
              <a:rPr lang="en-US" altLang="it-IT" sz="3200">
                <a:solidFill>
                  <a:srgbClr val="FF0000"/>
                </a:solidFill>
              </a:rPr>
              <a:t> </a:t>
            </a:r>
            <a:r>
              <a:rPr lang="en-US" altLang="it-IT" sz="3200" err="1">
                <a:solidFill>
                  <a:srgbClr val="FF0000"/>
                </a:solidFill>
              </a:rPr>
              <a:t>concetti</a:t>
            </a:r>
            <a:r>
              <a:rPr lang="en-US" altLang="it-IT" sz="3200">
                <a:solidFill>
                  <a:srgbClr val="FF0000"/>
                </a:solidFill>
              </a:rPr>
              <a:t> </a:t>
            </a:r>
            <a:r>
              <a:rPr lang="en-US" altLang="it-IT" sz="3200" err="1">
                <a:solidFill>
                  <a:srgbClr val="FF0000"/>
                </a:solidFill>
              </a:rPr>
              <a:t>illustrati</a:t>
            </a:r>
            <a:r>
              <a:rPr lang="en-US" altLang="it-IT" sz="3200">
                <a:solidFill>
                  <a:srgbClr val="FF0000"/>
                </a:solidFill>
              </a:rPr>
              <a:t> </a:t>
            </a:r>
            <a:r>
              <a:rPr lang="en-US" altLang="it-IT" sz="3200" err="1">
                <a:solidFill>
                  <a:srgbClr val="FF0000"/>
                </a:solidFill>
              </a:rPr>
              <a:t>durante</a:t>
            </a:r>
            <a:r>
              <a:rPr lang="en-US" altLang="it-IT" sz="3200">
                <a:solidFill>
                  <a:srgbClr val="FF0000"/>
                </a:solidFill>
              </a:rPr>
              <a:t> le </a:t>
            </a:r>
            <a:r>
              <a:rPr lang="en-US" altLang="it-IT" sz="3200" err="1">
                <a:solidFill>
                  <a:srgbClr val="FF0000"/>
                </a:solidFill>
              </a:rPr>
              <a:t>lezioni</a:t>
            </a:r>
            <a:endParaRPr lang="en-US" altLang="it-IT" sz="320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altLang="it-IT" sz="3200" b="1" err="1"/>
              <a:t>Gli</a:t>
            </a:r>
            <a:r>
              <a:rPr lang="en-US" altLang="it-IT" sz="3200" b="1"/>
              <a:t> homework </a:t>
            </a:r>
            <a:r>
              <a:rPr lang="en-US" altLang="it-IT" sz="3200" b="1" err="1"/>
              <a:t>sono</a:t>
            </a:r>
            <a:r>
              <a:rPr lang="en-US" altLang="it-IT" sz="3200" b="1"/>
              <a:t> </a:t>
            </a:r>
            <a:r>
              <a:rPr lang="en-US" altLang="it-IT" sz="3200" b="1" err="1"/>
              <a:t>obbligatori</a:t>
            </a:r>
            <a:r>
              <a:rPr lang="en-US" altLang="it-IT" sz="3200" b="1"/>
              <a:t> </a:t>
            </a:r>
            <a:r>
              <a:rPr lang="en-US" altLang="it-IT" sz="3200"/>
              <a:t>e </a:t>
            </a:r>
            <a:r>
              <a:rPr lang="en-US" altLang="it-IT" sz="3200" err="1"/>
              <a:t>dovranno</a:t>
            </a:r>
            <a:r>
              <a:rPr lang="en-US" altLang="it-IT" sz="3200"/>
              <a:t> </a:t>
            </a:r>
            <a:r>
              <a:rPr lang="en-US" altLang="it-IT" sz="3200" err="1"/>
              <a:t>essere</a:t>
            </a:r>
            <a:r>
              <a:rPr lang="en-US" altLang="it-IT" sz="3200"/>
              <a:t> </a:t>
            </a:r>
            <a:r>
              <a:rPr lang="en-US" altLang="it-IT" sz="3200" err="1"/>
              <a:t>consegnati</a:t>
            </a:r>
            <a:r>
              <a:rPr lang="en-US" altLang="it-IT" sz="3200"/>
              <a:t> </a:t>
            </a:r>
            <a:r>
              <a:rPr lang="en-US" altLang="it-IT" sz="3200" err="1"/>
              <a:t>entro</a:t>
            </a:r>
            <a:r>
              <a:rPr lang="en-US" altLang="it-IT" sz="3200"/>
              <a:t> la data </a:t>
            </a:r>
            <a:r>
              <a:rPr lang="en-US" altLang="it-IT" sz="3200" err="1"/>
              <a:t>indicata</a:t>
            </a:r>
            <a:r>
              <a:rPr lang="en-US" altLang="it-IT" sz="3200"/>
              <a:t> ma non </a:t>
            </a:r>
            <a:r>
              <a:rPr lang="en-US" altLang="it-IT" sz="3200" err="1"/>
              <a:t>contribuiscono</a:t>
            </a:r>
            <a:r>
              <a:rPr lang="en-US" altLang="it-IT" sz="3200"/>
              <a:t> </a:t>
            </a:r>
            <a:r>
              <a:rPr lang="en-US" altLang="it-IT" sz="3200" err="1"/>
              <a:t>alla</a:t>
            </a:r>
            <a:r>
              <a:rPr lang="en-US" altLang="it-IT" sz="3200"/>
              <a:t> </a:t>
            </a:r>
            <a:r>
              <a:rPr lang="en-US" altLang="it-IT" sz="3200" err="1"/>
              <a:t>valutazione</a:t>
            </a:r>
            <a:r>
              <a:rPr lang="en-US" altLang="it-IT" sz="3200"/>
              <a:t> finale</a:t>
            </a:r>
          </a:p>
          <a:p>
            <a:pPr eaLnBrk="1" hangingPunct="1">
              <a:defRPr/>
            </a:pPr>
            <a:r>
              <a:rPr lang="en-US" altLang="it-IT" sz="3200"/>
              <a:t>Non ci </a:t>
            </a:r>
            <a:r>
              <a:rPr lang="en-US" altLang="it-IT" sz="3200" err="1"/>
              <a:t>saranno</a:t>
            </a:r>
            <a:r>
              <a:rPr lang="en-US" altLang="it-IT" sz="3200"/>
              <a:t> prove in </a:t>
            </a:r>
            <a:r>
              <a:rPr lang="en-US" altLang="it-IT" sz="3200" err="1"/>
              <a:t>itinere</a:t>
            </a:r>
            <a:r>
              <a:rPr lang="en-US" altLang="it-IT" sz="3200"/>
              <a:t>, </a:t>
            </a:r>
            <a:r>
              <a:rPr lang="en-US" altLang="it-IT" sz="3200" err="1"/>
              <a:t>pertanto</a:t>
            </a:r>
            <a:r>
              <a:rPr lang="en-US" altLang="it-IT" sz="3200"/>
              <a:t> il </a:t>
            </a:r>
            <a:r>
              <a:rPr lang="en-US" altLang="it-IT" sz="3200" err="1"/>
              <a:t>ruolo</a:t>
            </a:r>
            <a:r>
              <a:rPr lang="en-US" altLang="it-IT" sz="3200"/>
              <a:t> </a:t>
            </a:r>
            <a:r>
              <a:rPr lang="en-US" altLang="it-IT" sz="3200" err="1"/>
              <a:t>degli</a:t>
            </a:r>
            <a:r>
              <a:rPr lang="en-US" altLang="it-IT" sz="3200"/>
              <a:t> homework è fondamentale</a:t>
            </a:r>
          </a:p>
        </p:txBody>
      </p:sp>
    </p:spTree>
    <p:extLst>
      <p:ext uri="{BB962C8B-B14F-4D97-AF65-F5344CB8AC3E}">
        <p14:creationId xmlns:p14="http://schemas.microsoft.com/office/powerpoint/2010/main" val="1896502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9144000" cy="431800"/>
          </a:xfrm>
        </p:spPr>
        <p:txBody>
          <a:bodyPr/>
          <a:lstStyle/>
          <a:p>
            <a:pPr eaLnBrk="1" hangingPunct="1"/>
            <a:r>
              <a:rPr lang="en-GB" altLang="it-IT" sz="3200" err="1"/>
              <a:t>Libro</a:t>
            </a:r>
            <a:r>
              <a:rPr lang="en-GB" altLang="it-IT" sz="3200"/>
              <a:t> di </a:t>
            </a:r>
            <a:r>
              <a:rPr lang="en-GB" altLang="it-IT" sz="3200" err="1"/>
              <a:t>riferimento</a:t>
            </a:r>
            <a:r>
              <a:rPr lang="en-GB" altLang="it-IT" sz="3200"/>
              <a:t> e </a:t>
            </a:r>
            <a:r>
              <a:rPr lang="en-GB" altLang="it-IT" sz="3200" err="1"/>
              <a:t>approfondimenti</a:t>
            </a:r>
            <a:endParaRPr lang="en-GB" altLang="it-IT" sz="320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980728"/>
            <a:ext cx="8289106" cy="568863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lnSpc>
                <a:spcPct val="80000"/>
              </a:lnSpc>
            </a:pPr>
            <a:endParaRPr lang="en-GB" altLang="it-IT" sz="2400" b="1"/>
          </a:p>
          <a:p>
            <a:pPr eaLnBrk="1" hangingPunct="1">
              <a:lnSpc>
                <a:spcPct val="80000"/>
              </a:lnSpc>
            </a:pPr>
            <a:r>
              <a:rPr lang="en-GB" altLang="it-IT" sz="2400" b="1" err="1"/>
              <a:t>Testo</a:t>
            </a:r>
            <a:r>
              <a:rPr lang="en-GB" altLang="it-IT" sz="2400" b="1"/>
              <a:t> di </a:t>
            </a:r>
            <a:r>
              <a:rPr lang="en-GB" altLang="it-IT" sz="2400" b="1" err="1"/>
              <a:t>riferimento</a:t>
            </a:r>
            <a:r>
              <a:rPr lang="en-GB" altLang="it-IT" sz="2400" b="1"/>
              <a:t>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GB" altLang="it-IT" sz="2400"/>
          </a:p>
          <a:p>
            <a:pPr lvl="1" eaLnBrk="1" hangingPunct="1">
              <a:lnSpc>
                <a:spcPct val="80000"/>
              </a:lnSpc>
            </a:pPr>
            <a:r>
              <a:rPr lang="en-US" altLang="it-IT" sz="2400" b="1" err="1"/>
              <a:t>H.M.Deitel</a:t>
            </a:r>
            <a:r>
              <a:rPr lang="en-US" altLang="it-IT" sz="2400" b="1"/>
              <a:t>, </a:t>
            </a:r>
            <a:r>
              <a:rPr lang="en-US" altLang="it-IT" sz="2400" b="1" err="1"/>
              <a:t>P.J.Deitel</a:t>
            </a:r>
            <a:r>
              <a:rPr lang="en-US" altLang="it-IT" sz="2400" b="1"/>
              <a:t>, “</a:t>
            </a:r>
            <a:r>
              <a:rPr lang="en-US" altLang="it-IT" sz="2400" b="1" err="1"/>
              <a:t>Programmare</a:t>
            </a:r>
            <a:r>
              <a:rPr lang="en-US" altLang="it-IT" sz="2400" b="1"/>
              <a:t> in Java”, </a:t>
            </a:r>
            <a:r>
              <a:rPr lang="en-US" altLang="it-IT" sz="2400" b="1" err="1"/>
              <a:t>Undicesima</a:t>
            </a:r>
            <a:r>
              <a:rPr lang="en-US" altLang="it-IT" sz="2400" b="1"/>
              <a:t> </a:t>
            </a:r>
            <a:r>
              <a:rPr lang="en-US" altLang="it-IT" sz="2400" b="1" err="1"/>
              <a:t>edizione</a:t>
            </a:r>
            <a:r>
              <a:rPr lang="en-US" altLang="it-IT" sz="2400" b="1"/>
              <a:t>, Pearson (in </a:t>
            </a:r>
            <a:r>
              <a:rPr lang="en-US" altLang="it-IT" sz="2400" b="1" err="1"/>
              <a:t>italiano</a:t>
            </a:r>
            <a:r>
              <a:rPr lang="en-US" altLang="it-IT" sz="2400" b="1"/>
              <a:t>)</a:t>
            </a:r>
          </a:p>
          <a:p>
            <a:pPr marL="344487" lvl="1" indent="0" eaLnBrk="1" hangingPunct="1">
              <a:lnSpc>
                <a:spcPct val="80000"/>
              </a:lnSpc>
              <a:buNone/>
            </a:pPr>
            <a:r>
              <a:rPr lang="en-US" altLang="it-IT" sz="2400" err="1"/>
              <a:t>oppure</a:t>
            </a:r>
            <a:endParaRPr lang="en-US" altLang="it-IT" sz="2400"/>
          </a:p>
          <a:p>
            <a:pPr lvl="1" eaLnBrk="1" hangingPunct="1">
              <a:lnSpc>
                <a:spcPct val="80000"/>
              </a:lnSpc>
            </a:pPr>
            <a:r>
              <a:rPr lang="en-US" altLang="it-IT" sz="2400" err="1"/>
              <a:t>H.M.Deitel</a:t>
            </a:r>
            <a:r>
              <a:rPr lang="en-US" altLang="it-IT" sz="2400"/>
              <a:t>, </a:t>
            </a:r>
            <a:r>
              <a:rPr lang="en-US" altLang="it-IT" sz="2400" err="1"/>
              <a:t>P.J.Deitel</a:t>
            </a:r>
            <a:r>
              <a:rPr lang="en-US" altLang="it-IT" sz="2400"/>
              <a:t>, “Java How to Program”, early objects, eleventh edition, </a:t>
            </a:r>
            <a:r>
              <a:rPr lang="en-US" altLang="it-IT" sz="2400" err="1"/>
              <a:t>Deitel</a:t>
            </a:r>
            <a:r>
              <a:rPr lang="en-US" altLang="it-IT" sz="2400"/>
              <a:t> eds. (in inglese)</a:t>
            </a:r>
          </a:p>
          <a:p>
            <a:pPr marL="344487" lvl="1" indent="0" eaLnBrk="1" hangingPunct="1">
              <a:lnSpc>
                <a:spcPct val="80000"/>
              </a:lnSpc>
              <a:buNone/>
            </a:pPr>
            <a:endParaRPr lang="en-US" altLang="it-IT" sz="2400"/>
          </a:p>
          <a:p>
            <a:pPr eaLnBrk="1" hangingPunct="1">
              <a:lnSpc>
                <a:spcPct val="80000"/>
              </a:lnSpc>
            </a:pPr>
            <a:r>
              <a:rPr lang="en-GB" altLang="it-IT" sz="2400" b="1" err="1"/>
              <a:t>Lucidi</a:t>
            </a:r>
            <a:r>
              <a:rPr lang="en-GB" altLang="it-IT" sz="2400" b="1"/>
              <a:t>, </a:t>
            </a:r>
            <a:r>
              <a:rPr lang="en-GB" altLang="it-IT" sz="2400" b="1" err="1"/>
              <a:t>esercizi</a:t>
            </a:r>
            <a:r>
              <a:rPr lang="en-GB" altLang="it-IT" sz="2400" b="1"/>
              <a:t> e </a:t>
            </a:r>
            <a:r>
              <a:rPr lang="en-GB" altLang="it-IT" sz="2400" b="1" err="1"/>
              <a:t>altro</a:t>
            </a:r>
            <a:r>
              <a:rPr lang="en-GB" altLang="it-IT" sz="2400" b="1"/>
              <a:t> </a:t>
            </a:r>
            <a:r>
              <a:rPr lang="en-GB" altLang="it-IT" sz="2400" b="1" err="1"/>
              <a:t>materiale</a:t>
            </a:r>
            <a:r>
              <a:rPr lang="en-GB" altLang="it-IT" sz="2400" b="1"/>
              <a:t> </a:t>
            </a:r>
            <a:r>
              <a:rPr lang="en-GB" altLang="it-IT" sz="2400" b="1" err="1"/>
              <a:t>didattico</a:t>
            </a:r>
            <a:r>
              <a:rPr lang="en-GB" altLang="it-IT" sz="2400" b="1"/>
              <a:t> </a:t>
            </a:r>
            <a:r>
              <a:rPr lang="en-GB" altLang="it-IT" sz="2400" b="1" err="1"/>
              <a:t>reso</a:t>
            </a:r>
            <a:r>
              <a:rPr lang="en-GB" altLang="it-IT" sz="2400" b="1"/>
              <a:t> </a:t>
            </a:r>
            <a:r>
              <a:rPr lang="en-GB" altLang="it-IT" sz="2400" b="1" err="1"/>
              <a:t>disponibile</a:t>
            </a:r>
            <a:r>
              <a:rPr lang="en-GB" altLang="it-IT" sz="2400" b="1"/>
              <a:t> </a:t>
            </a:r>
            <a:r>
              <a:rPr lang="en-GB" altLang="it-IT" sz="2400" b="1" err="1"/>
              <a:t>sulle</a:t>
            </a:r>
            <a:r>
              <a:rPr lang="en-GB" altLang="it-IT" sz="2400" b="1"/>
              <a:t> </a:t>
            </a:r>
            <a:r>
              <a:rPr lang="en-GB" altLang="it-IT" sz="2400" b="1" err="1"/>
              <a:t>piattaforme</a:t>
            </a:r>
            <a:r>
              <a:rPr lang="en-GB" altLang="it-IT" sz="2400" b="1"/>
              <a:t> web </a:t>
            </a:r>
            <a:r>
              <a:rPr lang="en-GB" altLang="it-IT" sz="2400" b="1" err="1"/>
              <a:t>docenti</a:t>
            </a:r>
            <a:r>
              <a:rPr lang="en-GB" altLang="it-IT" sz="2400" b="1"/>
              <a:t>/Teams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ook cover with a blue spiral&#10;&#10;Description automatically generated">
            <a:extLst>
              <a:ext uri="{FF2B5EF4-FFF2-40B4-BE49-F238E27FC236}">
                <a16:creationId xmlns:a16="http://schemas.microsoft.com/office/drawing/2014/main" id="{7B5E8576-B2A8-5BC7-021D-B138910BC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25" y="414252"/>
            <a:ext cx="4261697" cy="60227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1484784"/>
            <a:ext cx="3879875" cy="386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88058"/>
      </p:ext>
    </p:extLst>
  </p:cSld>
  <p:clrMapOvr>
    <a:masterClrMapping/>
  </p:clrMapOvr>
</p:sld>
</file>

<file path=ppt/theme/theme1.xml><?xml version="1.0" encoding="utf-8"?>
<a:theme xmlns:a="http://schemas.openxmlformats.org/drawingml/2006/main" name="Rete">
  <a:themeElements>
    <a:clrScheme name="Re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e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75877EE1B70A4284EAAAD4F5DAB5A8" ma:contentTypeVersion="3" ma:contentTypeDescription="Create a new document." ma:contentTypeScope="" ma:versionID="f90efe8b9a013048999e04d4d7cbb7e6">
  <xsd:schema xmlns:xsd="http://www.w3.org/2001/XMLSchema" xmlns:xs="http://www.w3.org/2001/XMLSchema" xmlns:p="http://schemas.microsoft.com/office/2006/metadata/properties" xmlns:ns2="26b08820-12d9-4581-8254-4e993db2160e" targetNamespace="http://schemas.microsoft.com/office/2006/metadata/properties" ma:root="true" ma:fieldsID="f6cef277e2c68d9d910b222ad249d322" ns2:_="">
    <xsd:import namespace="26b08820-12d9-4581-8254-4e993db21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08820-12d9-4581-8254-4e993db216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695219-AD28-4986-B1A7-0148E33ED9CA}"/>
</file>

<file path=customXml/itemProps2.xml><?xml version="1.0" encoding="utf-8"?>
<ds:datastoreItem xmlns:ds="http://schemas.openxmlformats.org/officeDocument/2006/customXml" ds:itemID="{697C592E-BCAD-479E-8748-D31FA75E5B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45A0E5-6525-46EB-8C63-1D1F1659C963}">
  <ds:schemaRefs>
    <ds:schemaRef ds:uri="17cb46fe-fb09-4fdf-a472-4e2c88d31c8c"/>
    <ds:schemaRef ds:uri="35be80a6-5618-4845-bacd-cf0098900a47"/>
    <ds:schemaRef ds:uri="5387fd40-4559-49a3-8457-9f9a85abe1c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0</TotalTime>
  <Words>489</Words>
  <Application>Microsoft Office PowerPoint</Application>
  <PresentationFormat>Presentazione su schermo (4:3)</PresentationFormat>
  <Paragraphs>48</Paragraphs>
  <Slides>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Wingdings</vt:lpstr>
      <vt:lpstr>Rete</vt:lpstr>
      <vt:lpstr>Corso di Programmazione </vt:lpstr>
      <vt:lpstr>Obiettivi</vt:lpstr>
      <vt:lpstr>Contenuti (1/2)  </vt:lpstr>
      <vt:lpstr>Contenuti (2/2)  </vt:lpstr>
      <vt:lpstr>Esercitazioni</vt:lpstr>
      <vt:lpstr>Homework</vt:lpstr>
      <vt:lpstr>Libro di riferimento e approfondimenti</vt:lpstr>
      <vt:lpstr>Presentazione standard di PowerPoint</vt:lpstr>
      <vt:lpstr>Presentazione standard di PowerPoint</vt:lpstr>
    </vt:vector>
  </TitlesOfParts>
  <Company>grid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Introduzione al corso (1)</dc:title>
  <dc:creator>vittorin</dc:creator>
  <cp:lastModifiedBy>Flora Amato</cp:lastModifiedBy>
  <cp:revision>8</cp:revision>
  <dcterms:created xsi:type="dcterms:W3CDTF">2001-02-19T15:17:19Z</dcterms:created>
  <dcterms:modified xsi:type="dcterms:W3CDTF">2026-03-04T08:47:38Z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0x010100C075877EE1B70A4284EAAAD4F5DAB5A8</vt:lpwstr>
  </property>
  <property fmtid="{D5CDD505-2E9C-101B-9397-08002B2CF9AE}" pid="3" name="MSIP_Label_2ad0b24d-6422-44b0-b3de-abb3a9e8c81a_SiteId">
    <vt:lpwstr>2fcfe26a-bb62-46b0-b1e3-28f9da0c45fd</vt:lpwstr>
  </property>
  <property fmtid="{D5CDD505-2E9C-101B-9397-08002B2CF9AE}" pid="4" name="MSIP_Label_2ad0b24d-6422-44b0-b3de-abb3a9e8c81a_Name">
    <vt:lpwstr>defa4170-0d19-0005-0004-bc88714345d2</vt:lpwstr>
  </property>
  <property fmtid="{D5CDD505-2E9C-101B-9397-08002B2CF9AE}" pid="5" name="MSIP_Label_2ad0b24d-6422-44b0-b3de-abb3a9e8c81a_ContentBits">
    <vt:lpwstr>0</vt:lpwstr>
  </property>
  <property fmtid="{D5CDD505-2E9C-101B-9397-08002B2CF9AE}" pid="6" name="MSIP_Label_2ad0b24d-6422-44b0-b3de-abb3a9e8c81a_Enabled">
    <vt:lpwstr>true</vt:lpwstr>
  </property>
  <property fmtid="{D5CDD505-2E9C-101B-9397-08002B2CF9AE}" pid="7" name="MSIP_Label_2ad0b24d-6422-44b0-b3de-abb3a9e8c81a_SetDate">
    <vt:lpwstr>2024-02-20T13:14:04Z</vt:lpwstr>
  </property>
  <property fmtid="{D5CDD505-2E9C-101B-9397-08002B2CF9AE}" pid="8" name="MSIP_Label_2ad0b24d-6422-44b0-b3de-abb3a9e8c81a_Method">
    <vt:lpwstr>Standard</vt:lpwstr>
  </property>
  <property fmtid="{D5CDD505-2E9C-101B-9397-08002B2CF9AE}" pid="9" name="MSIP_Label_2ad0b24d-6422-44b0-b3de-abb3a9e8c81a_ActionId">
    <vt:lpwstr>9eb841bb-7a23-4975-a22e-32f2d8a22284</vt:lpwstr>
  </property>
  <property fmtid="{D5CDD505-2E9C-101B-9397-08002B2CF9AE}" pid="10" name="MediaServiceImageTags">
    <vt:lpwstr/>
  </property>
</Properties>
</file>