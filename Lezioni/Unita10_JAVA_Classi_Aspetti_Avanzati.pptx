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4" r:id="rId4"/>
  </p:sldMasterIdLst>
  <p:notesMasterIdLst>
    <p:notesMasterId r:id="rId34"/>
  </p:notesMasterIdLst>
  <p:handoutMasterIdLst>
    <p:handoutMasterId r:id="rId35"/>
  </p:handoutMasterIdLst>
  <p:sldIdLst>
    <p:sldId id="265" r:id="rId5"/>
    <p:sldId id="345" r:id="rId6"/>
    <p:sldId id="348" r:id="rId7"/>
    <p:sldId id="349" r:id="rId8"/>
    <p:sldId id="350" r:id="rId9"/>
    <p:sldId id="351" r:id="rId10"/>
    <p:sldId id="355" r:id="rId11"/>
    <p:sldId id="356" r:id="rId12"/>
    <p:sldId id="357" r:id="rId13"/>
    <p:sldId id="352" r:id="rId14"/>
    <p:sldId id="358" r:id="rId15"/>
    <p:sldId id="359" r:id="rId16"/>
    <p:sldId id="360" r:id="rId17"/>
    <p:sldId id="347" r:id="rId18"/>
    <p:sldId id="361" r:id="rId19"/>
    <p:sldId id="363" r:id="rId20"/>
    <p:sldId id="362" r:id="rId21"/>
    <p:sldId id="366" r:id="rId22"/>
    <p:sldId id="346" r:id="rId23"/>
    <p:sldId id="367" r:id="rId24"/>
    <p:sldId id="368" r:id="rId25"/>
    <p:sldId id="364" r:id="rId26"/>
    <p:sldId id="365" r:id="rId27"/>
    <p:sldId id="369" r:id="rId28"/>
    <p:sldId id="344" r:id="rId29"/>
    <p:sldId id="371" r:id="rId30"/>
    <p:sldId id="372" r:id="rId31"/>
    <p:sldId id="373" r:id="rId32"/>
    <p:sldId id="343" r:id="rId33"/>
  </p:sldIdLst>
  <p:sldSz cx="9144000" cy="6858000" type="screen4x3"/>
  <p:notesSz cx="7099300" cy="10234613"/>
  <p:defaultTextStyle>
    <a:defPPr>
      <a:defRPr lang="it-IT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09" autoAdjust="0"/>
    <p:restoredTop sz="94679"/>
  </p:normalViewPr>
  <p:slideViewPr>
    <p:cSldViewPr>
      <p:cViewPr varScale="1">
        <p:scale>
          <a:sx n="104" d="100"/>
          <a:sy n="104" d="100"/>
        </p:scale>
        <p:origin x="1488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9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DD207D78-5015-8475-54C2-0A9B46ADAA1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84513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1" tIns="47476" rIns="94951" bIns="47476" numCol="1" anchor="t" anchorCtr="0" compatLnSpc="1">
            <a:prstTxWarp prst="textNoShape">
              <a:avLst/>
            </a:prstTxWarp>
          </a:bodyPr>
          <a:lstStyle>
            <a:lvl1pPr defTabSz="949325" eaLnBrk="0" hangingPunct="0">
              <a:defRPr sz="1200" smtClean="0">
                <a:latin typeface="Verdana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9822A352-A7D7-027B-AD15-9DBC932BD7A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59238" y="0"/>
            <a:ext cx="3003550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1" tIns="47476" rIns="94951" bIns="47476" numCol="1" anchor="t" anchorCtr="0" compatLnSpc="1">
            <a:prstTxWarp prst="textNoShape">
              <a:avLst/>
            </a:prstTxWarp>
          </a:bodyPr>
          <a:lstStyle>
            <a:lvl1pPr algn="r" defTabSz="949325" eaLnBrk="0" hangingPunct="0">
              <a:defRPr sz="1200" smtClean="0">
                <a:latin typeface="Verdana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2921BFE9-C9D8-1C38-3838-EC1FE748462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84513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1" tIns="47476" rIns="94951" bIns="47476" numCol="1" anchor="b" anchorCtr="0" compatLnSpc="1">
            <a:prstTxWarp prst="textNoShape">
              <a:avLst/>
            </a:prstTxWarp>
          </a:bodyPr>
          <a:lstStyle>
            <a:lvl1pPr defTabSz="949325" eaLnBrk="0" hangingPunct="0">
              <a:defRPr sz="1200" smtClean="0">
                <a:latin typeface="Verdana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5845" name="Rectangle 5">
            <a:extLst>
              <a:ext uri="{FF2B5EF4-FFF2-40B4-BE49-F238E27FC236}">
                <a16:creationId xmlns:a16="http://schemas.microsoft.com/office/drawing/2014/main" id="{214275AA-9546-0FE4-B537-4855F5E1438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59238" y="9721850"/>
            <a:ext cx="3003550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1" tIns="47476" rIns="94951" bIns="47476" numCol="1" anchor="b" anchorCtr="0" compatLnSpc="1">
            <a:prstTxWarp prst="textNoShape">
              <a:avLst/>
            </a:prstTxWarp>
          </a:bodyPr>
          <a:lstStyle>
            <a:lvl1pPr algn="r" defTabSz="949325" eaLnBrk="0" hangingPunct="0">
              <a:defRPr sz="1200">
                <a:latin typeface="Verdana" panose="020B0604030504040204" pitchFamily="34" charset="0"/>
              </a:defRPr>
            </a:lvl1pPr>
          </a:lstStyle>
          <a:p>
            <a:fld id="{2993C5AB-CE10-C94B-82A8-3847F79289AD}" type="slidenum">
              <a:rPr lang="it-IT" altLang="it-IT"/>
              <a:pPr/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7E33C1-1FAE-ED41-A3D6-CD02F3B367D8}" type="datetimeFigureOut">
              <a:rPr lang="it-IT" smtClean="0"/>
              <a:t>26/03/25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31BA5-3816-174C-B7A9-A8BBEA3C2A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2047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13A92D85-8CAA-49AF-BE8D-CEECBCD97772}" type="slidenum">
              <a:rPr lang="en-US" altLang="it-IT">
                <a:latin typeface="Times New Roman" pitchFamily="18" charset="0"/>
              </a:rPr>
              <a:pPr/>
              <a:t>1</a:t>
            </a:fld>
            <a:endParaRPr lang="en-US" altLang="it-IT">
              <a:latin typeface="Times New Roman" pitchFamily="18" charset="0"/>
            </a:endParaRPr>
          </a:p>
        </p:txBody>
      </p:sp>
      <p:sp>
        <p:nvSpPr>
          <p:cNvPr id="14339" name="Rectangle 2"/>
          <p:cNvSpPr txBox="1">
            <a:spLocks noGrp="1" noChangeArrowheads="1"/>
          </p:cNvSpPr>
          <p:nvPr/>
        </p:nvSpPr>
        <p:spPr bwMode="auto">
          <a:xfrm>
            <a:off x="0" y="1"/>
            <a:ext cx="3078048" cy="510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it-IT" sz="1200"/>
              <a:t>Università di Napoli Federico II - Facoltà di Ingegneria - Corso di Laurea in Ingegneria Informatica</a:t>
            </a:r>
          </a:p>
        </p:txBody>
      </p:sp>
      <p:sp>
        <p:nvSpPr>
          <p:cNvPr id="143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31BA5-3816-174C-B7A9-A8BBEA3C2A38}" type="slidenum">
              <a:rPr lang="it-IT" smtClean="0"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2314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>
            <a:extLst>
              <a:ext uri="{FF2B5EF4-FFF2-40B4-BE49-F238E27FC236}">
                <a16:creationId xmlns:a16="http://schemas.microsoft.com/office/drawing/2014/main" id="{EDFB8E36-2692-9471-EECA-AA61B7A6D7F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grpSp>
        <p:nvGrpSpPr>
          <p:cNvPr id="3" name="Group 8">
            <a:extLst>
              <a:ext uri="{FF2B5EF4-FFF2-40B4-BE49-F238E27FC236}">
                <a16:creationId xmlns:a16="http://schemas.microsoft.com/office/drawing/2014/main" id="{0260E3BE-B81E-7C4D-1F34-F0D3085ECB86}"/>
              </a:ext>
            </a:extLst>
          </p:cNvPr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4" name="Oval 9">
              <a:extLst>
                <a:ext uri="{FF2B5EF4-FFF2-40B4-BE49-F238E27FC236}">
                  <a16:creationId xmlns:a16="http://schemas.microsoft.com/office/drawing/2014/main" id="{C4259D16-DEFD-027C-00D8-3A2E8BF1C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5" name="Oval 10">
              <a:extLst>
                <a:ext uri="{FF2B5EF4-FFF2-40B4-BE49-F238E27FC236}">
                  <a16:creationId xmlns:a16="http://schemas.microsoft.com/office/drawing/2014/main" id="{AD783EDC-DD0A-A35A-1F67-0271D9CF4C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6" name="Oval 11">
              <a:extLst>
                <a:ext uri="{FF2B5EF4-FFF2-40B4-BE49-F238E27FC236}">
                  <a16:creationId xmlns:a16="http://schemas.microsoft.com/office/drawing/2014/main" id="{B8DD6095-01B2-14AB-C09E-5AC7F8FCE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7" name="Oval 12">
              <a:extLst>
                <a:ext uri="{FF2B5EF4-FFF2-40B4-BE49-F238E27FC236}">
                  <a16:creationId xmlns:a16="http://schemas.microsoft.com/office/drawing/2014/main" id="{A8CC8D34-A6F6-6FBC-E306-651CD229A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8" name="Oval 13">
              <a:extLst>
                <a:ext uri="{FF2B5EF4-FFF2-40B4-BE49-F238E27FC236}">
                  <a16:creationId xmlns:a16="http://schemas.microsoft.com/office/drawing/2014/main" id="{542DB62A-02AF-010E-6938-3AEE62E6D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9" name="Oval 14">
              <a:extLst>
                <a:ext uri="{FF2B5EF4-FFF2-40B4-BE49-F238E27FC236}">
                  <a16:creationId xmlns:a16="http://schemas.microsoft.com/office/drawing/2014/main" id="{AE010F5C-5AF7-E68D-CF2E-CA01AC2BAF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0" name="Oval 15">
              <a:extLst>
                <a:ext uri="{FF2B5EF4-FFF2-40B4-BE49-F238E27FC236}">
                  <a16:creationId xmlns:a16="http://schemas.microsoft.com/office/drawing/2014/main" id="{8C779B22-3271-BC34-3025-A5D63D14E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1" name="Oval 16">
              <a:extLst>
                <a:ext uri="{FF2B5EF4-FFF2-40B4-BE49-F238E27FC236}">
                  <a16:creationId xmlns:a16="http://schemas.microsoft.com/office/drawing/2014/main" id="{99FCA170-A778-8F8B-1728-AF6FD4FBE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" name="Oval 17">
              <a:extLst>
                <a:ext uri="{FF2B5EF4-FFF2-40B4-BE49-F238E27FC236}">
                  <a16:creationId xmlns:a16="http://schemas.microsoft.com/office/drawing/2014/main" id="{BB691FF7-E84E-84B9-5AB5-E565A5255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3" name="Oval 18">
              <a:extLst>
                <a:ext uri="{FF2B5EF4-FFF2-40B4-BE49-F238E27FC236}">
                  <a16:creationId xmlns:a16="http://schemas.microsoft.com/office/drawing/2014/main" id="{E57164C9-E297-D2B3-8152-40E66F1624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4" name="Oval 19">
              <a:extLst>
                <a:ext uri="{FF2B5EF4-FFF2-40B4-BE49-F238E27FC236}">
                  <a16:creationId xmlns:a16="http://schemas.microsoft.com/office/drawing/2014/main" id="{F0FEB2EE-0ED2-85C2-85F1-83A1BB6E8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5" name="Oval 20">
              <a:extLst>
                <a:ext uri="{FF2B5EF4-FFF2-40B4-BE49-F238E27FC236}">
                  <a16:creationId xmlns:a16="http://schemas.microsoft.com/office/drawing/2014/main" id="{49A3026D-6EB7-1E81-AEF6-4979F5EC9D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6" name="Oval 21">
              <a:extLst>
                <a:ext uri="{FF2B5EF4-FFF2-40B4-BE49-F238E27FC236}">
                  <a16:creationId xmlns:a16="http://schemas.microsoft.com/office/drawing/2014/main" id="{92F59D63-53F1-080B-7142-39B65BAE0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7" name="Oval 22">
              <a:extLst>
                <a:ext uri="{FF2B5EF4-FFF2-40B4-BE49-F238E27FC236}">
                  <a16:creationId xmlns:a16="http://schemas.microsoft.com/office/drawing/2014/main" id="{2F054441-EC9C-B07B-75BB-2D08F53AA3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8" name="Oval 23">
              <a:extLst>
                <a:ext uri="{FF2B5EF4-FFF2-40B4-BE49-F238E27FC236}">
                  <a16:creationId xmlns:a16="http://schemas.microsoft.com/office/drawing/2014/main" id="{E3B97A58-18DB-0DF0-CA1A-31169D30A0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9" name="Oval 24">
              <a:extLst>
                <a:ext uri="{FF2B5EF4-FFF2-40B4-BE49-F238E27FC236}">
                  <a16:creationId xmlns:a16="http://schemas.microsoft.com/office/drawing/2014/main" id="{888DF6CF-3E0A-8611-1A78-1D288081E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0" name="Oval 25">
              <a:extLst>
                <a:ext uri="{FF2B5EF4-FFF2-40B4-BE49-F238E27FC236}">
                  <a16:creationId xmlns:a16="http://schemas.microsoft.com/office/drawing/2014/main" id="{C32031F4-1263-B0FB-2B55-5D4BD1074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1" name="Oval 26">
              <a:extLst>
                <a:ext uri="{FF2B5EF4-FFF2-40B4-BE49-F238E27FC236}">
                  <a16:creationId xmlns:a16="http://schemas.microsoft.com/office/drawing/2014/main" id="{76A419EE-5229-9FE5-E748-520534AEE8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2" name="Oval 27">
              <a:extLst>
                <a:ext uri="{FF2B5EF4-FFF2-40B4-BE49-F238E27FC236}">
                  <a16:creationId xmlns:a16="http://schemas.microsoft.com/office/drawing/2014/main" id="{9627FAA7-CEF8-A621-0C1F-570876CE7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3" name="Oval 28">
              <a:extLst>
                <a:ext uri="{FF2B5EF4-FFF2-40B4-BE49-F238E27FC236}">
                  <a16:creationId xmlns:a16="http://schemas.microsoft.com/office/drawing/2014/main" id="{1EDA2367-81CD-DEAC-7E02-B1C0519A2C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4" name="Oval 29">
              <a:extLst>
                <a:ext uri="{FF2B5EF4-FFF2-40B4-BE49-F238E27FC236}">
                  <a16:creationId xmlns:a16="http://schemas.microsoft.com/office/drawing/2014/main" id="{75DCDEE2-83B3-536E-6123-004E0BFA8B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5" name="Oval 30">
              <a:extLst>
                <a:ext uri="{FF2B5EF4-FFF2-40B4-BE49-F238E27FC236}">
                  <a16:creationId xmlns:a16="http://schemas.microsoft.com/office/drawing/2014/main" id="{B9ADC3D3-B430-3D9A-7AF0-EBB2F85C2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6" name="Oval 31">
              <a:extLst>
                <a:ext uri="{FF2B5EF4-FFF2-40B4-BE49-F238E27FC236}">
                  <a16:creationId xmlns:a16="http://schemas.microsoft.com/office/drawing/2014/main" id="{71AE266B-6D1B-166C-6474-3A27D5FCA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7" name="Oval 32">
              <a:extLst>
                <a:ext uri="{FF2B5EF4-FFF2-40B4-BE49-F238E27FC236}">
                  <a16:creationId xmlns:a16="http://schemas.microsoft.com/office/drawing/2014/main" id="{BD55B242-AB5F-2401-9701-41ACCCEBD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8" name="Oval 33">
              <a:extLst>
                <a:ext uri="{FF2B5EF4-FFF2-40B4-BE49-F238E27FC236}">
                  <a16:creationId xmlns:a16="http://schemas.microsoft.com/office/drawing/2014/main" id="{9DB4E7FD-8EA2-A662-9B6D-97427264B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9" name="Oval 34">
              <a:extLst>
                <a:ext uri="{FF2B5EF4-FFF2-40B4-BE49-F238E27FC236}">
                  <a16:creationId xmlns:a16="http://schemas.microsoft.com/office/drawing/2014/main" id="{7EE16CBA-D536-A892-BE2D-F1B598088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0" name="Oval 35">
              <a:extLst>
                <a:ext uri="{FF2B5EF4-FFF2-40B4-BE49-F238E27FC236}">
                  <a16:creationId xmlns:a16="http://schemas.microsoft.com/office/drawing/2014/main" id="{DB4E9432-8633-35E7-4E11-437B5B28E7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1" name="Oval 36">
              <a:extLst>
                <a:ext uri="{FF2B5EF4-FFF2-40B4-BE49-F238E27FC236}">
                  <a16:creationId xmlns:a16="http://schemas.microsoft.com/office/drawing/2014/main" id="{CD2BB0AB-815A-5DDA-5E4B-6789CA42F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2" name="Oval 37">
              <a:extLst>
                <a:ext uri="{FF2B5EF4-FFF2-40B4-BE49-F238E27FC236}">
                  <a16:creationId xmlns:a16="http://schemas.microsoft.com/office/drawing/2014/main" id="{A6EA0308-12B1-3EB3-3907-EF3F7AAC3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3" name="Oval 38">
              <a:extLst>
                <a:ext uri="{FF2B5EF4-FFF2-40B4-BE49-F238E27FC236}">
                  <a16:creationId xmlns:a16="http://schemas.microsoft.com/office/drawing/2014/main" id="{AA8F3A92-6AB1-2F62-4BBD-D41DC8918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4" name="Oval 39">
              <a:extLst>
                <a:ext uri="{FF2B5EF4-FFF2-40B4-BE49-F238E27FC236}">
                  <a16:creationId xmlns:a16="http://schemas.microsoft.com/office/drawing/2014/main" id="{03A31CF4-50B7-629F-B52C-50EA5006A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</p:grpSp>
      <p:sp>
        <p:nvSpPr>
          <p:cNvPr id="35" name="Line 40">
            <a:extLst>
              <a:ext uri="{FF2B5EF4-FFF2-40B4-BE49-F238E27FC236}">
                <a16:creationId xmlns:a16="http://schemas.microsoft.com/office/drawing/2014/main" id="{8B7EAAE9-3BF6-0C31-F5C4-2C0F97DAAC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Fare clic per modificare lo stile del titolo</a:t>
            </a:r>
          </a:p>
        </p:txBody>
      </p:sp>
      <p:sp>
        <p:nvSpPr>
          <p:cNvPr id="12800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n-US" altLang="en-US"/>
              <a:t>Fare clic per modificare lo stile del sottotitolo dello schema</a:t>
            </a:r>
          </a:p>
        </p:txBody>
      </p:sp>
      <p:sp>
        <p:nvSpPr>
          <p:cNvPr id="36" name="Rectangle 5">
            <a:extLst>
              <a:ext uri="{FF2B5EF4-FFF2-40B4-BE49-F238E27FC236}">
                <a16:creationId xmlns:a16="http://schemas.microsoft.com/office/drawing/2014/main" id="{52FE5966-D775-3B11-7827-48722D2473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7" name="Rectangle 6">
            <a:extLst>
              <a:ext uri="{FF2B5EF4-FFF2-40B4-BE49-F238E27FC236}">
                <a16:creationId xmlns:a16="http://schemas.microsoft.com/office/drawing/2014/main" id="{6DEA5970-F6FB-6FA9-E48E-0B51FBC596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8" name="Rectangle 7">
            <a:extLst>
              <a:ext uri="{FF2B5EF4-FFF2-40B4-BE49-F238E27FC236}">
                <a16:creationId xmlns:a16="http://schemas.microsoft.com/office/drawing/2014/main" id="{BA53554F-80D1-21F4-9987-92A6A12374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259C2B-F7FC-894A-A5CE-3A355566020C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6501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BFD8F56-330C-0DFF-7EA5-ECA50C8680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A3548D-F7D7-5837-C8A5-0A9C5809FF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637D6A2-E719-6297-E26C-3BF9C2C24E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77A2BB-1426-7940-AF0E-EE4E29273AED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4310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F73A563-6027-417E-CA97-E19B258A02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7E5D0DD-E42A-76B8-C2FB-2D2A9B01AC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53B55BA-0823-B634-AC39-EEEA7AF447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EDBACB-E365-024E-8DDD-EE008340169D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9239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C3F66DE-EDD0-F0F2-8577-76FAE75902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1192FEB-B604-47A1-0075-C41AD53180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183D859C-9F71-8DF9-FBB4-1C0445764B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2A83B4-F1DF-4E4F-AFF4-9C3CF4F2EE23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7803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67D42D32-0621-8886-9371-F7120B9BF0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F8B44152-4BA3-7266-A04B-D335016E2B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B95D3AC-EBB1-FA5C-DF4C-D37CFABE54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9AD412-AFBC-C94F-B6D8-900608A6D289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5156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CE6213C-10B3-BEF7-3A61-E42ED37B61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4E22DD4-22EB-98B3-FE75-208718E635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E96E866-9E98-E4BA-F841-51305A0EE8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D09F61-55F9-6F4A-8175-A32FE726ADBB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6636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29441F79-35C1-AFF2-0708-F85EC7AD73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9000A7E-D812-EDF3-0364-49AD895A5C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CB2BA7C5-B5D6-6375-8DB4-0A1D52B9B2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4D88D2-B4F4-C54E-A11C-7867C43B62F9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4048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E1E842-7E67-81CD-A5D3-D9B08709E2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CC25817-0234-9637-49C9-4232ADCFA6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08BFAF4-2AF6-18D4-2785-20165B45BC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907342-6BA4-894D-B109-9E49F17A1124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597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9CFEF3A-02C8-DD78-F338-9F2A34E15C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5638AD8-6FF8-D888-FB09-9C37E16817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623D5E3C-2ACF-28C6-DBA0-AFB717CF25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1AC580-8BE5-F743-8E8E-F69DF682E6DD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5306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C3BF3F4-009A-DDD1-8C88-42798690F8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7AAA62B-33A2-4415-863C-046DB60ABB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43B5BA7-12E7-1A57-C171-35598BC01B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73340D-9F62-2745-A3EF-6420F06DF7CE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1293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72EC48A-2092-7B54-D2AA-889BA9C6A2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29B5314-B07B-4F0A-2AD8-CB77E42950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6AC837E0-0F2D-0A1C-0E2C-402978B1AD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CC9615-8AFF-D943-AC5A-34CC66FE437F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5795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Line 2">
            <a:extLst>
              <a:ext uri="{FF2B5EF4-FFF2-40B4-BE49-F238E27FC236}">
                <a16:creationId xmlns:a16="http://schemas.microsoft.com/office/drawing/2014/main" id="{540C9EE9-F88F-0FCE-D63A-BD6403DA705B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2D8BF64B-CABB-23F6-B464-30E708F6BB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Fare clic per modificare lo stile del titolo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1757F452-E11B-F73F-9D31-9E64F7BCF0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Fare clic per modificare gli stili del testo dello schema</a:t>
            </a:r>
          </a:p>
          <a:p>
            <a:pPr lvl="1"/>
            <a:r>
              <a:rPr lang="en-US" altLang="en-US"/>
              <a:t>Secondo livello</a:t>
            </a:r>
          </a:p>
          <a:p>
            <a:pPr lvl="2"/>
            <a:r>
              <a:rPr lang="en-US" altLang="en-US"/>
              <a:t>Terzo livello</a:t>
            </a:r>
          </a:p>
          <a:p>
            <a:pPr lvl="3"/>
            <a:r>
              <a:rPr lang="en-US" altLang="en-US"/>
              <a:t>Quarto livello</a:t>
            </a:r>
          </a:p>
          <a:p>
            <a:pPr lvl="4"/>
            <a:r>
              <a:rPr lang="en-US" altLang="en-US"/>
              <a:t>Quinto livello</a:t>
            </a:r>
          </a:p>
        </p:txBody>
      </p:sp>
      <p:sp>
        <p:nvSpPr>
          <p:cNvPr id="126981" name="Rectangle 5">
            <a:extLst>
              <a:ext uri="{FF2B5EF4-FFF2-40B4-BE49-F238E27FC236}">
                <a16:creationId xmlns:a16="http://schemas.microsoft.com/office/drawing/2014/main" id="{E6E10625-B6F2-4C53-9CCC-6419A01A347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6982" name="Rectangle 6">
            <a:extLst>
              <a:ext uri="{FF2B5EF4-FFF2-40B4-BE49-F238E27FC236}">
                <a16:creationId xmlns:a16="http://schemas.microsoft.com/office/drawing/2014/main" id="{C7332706-7FFA-54A1-EC44-C94B73721F8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6983" name="Rectangle 7">
            <a:extLst>
              <a:ext uri="{FF2B5EF4-FFF2-40B4-BE49-F238E27FC236}">
                <a16:creationId xmlns:a16="http://schemas.microsoft.com/office/drawing/2014/main" id="{0C95B491-8644-1183-0E63-D7A1B6E66B5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BB36E27F-A467-C343-A682-197048FF27E3}" type="slidenum">
              <a:rPr lang="en-US" altLang="en-US"/>
              <a:pPr/>
              <a:t>‹N›</a:t>
            </a:fld>
            <a:endParaRPr lang="en-US" altLang="en-US"/>
          </a:p>
        </p:txBody>
      </p:sp>
      <p:grpSp>
        <p:nvGrpSpPr>
          <p:cNvPr id="5128" name="Group 8">
            <a:extLst>
              <a:ext uri="{FF2B5EF4-FFF2-40B4-BE49-F238E27FC236}">
                <a16:creationId xmlns:a16="http://schemas.microsoft.com/office/drawing/2014/main" id="{87E611C9-A6DF-E642-A92D-7350DE5CB4ED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26985" name="Oval 9">
              <a:extLst>
                <a:ext uri="{FF2B5EF4-FFF2-40B4-BE49-F238E27FC236}">
                  <a16:creationId xmlns:a16="http://schemas.microsoft.com/office/drawing/2014/main" id="{458D5DA2-D63A-BCA2-4131-9337A9F53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86" name="Oval 10">
              <a:extLst>
                <a:ext uri="{FF2B5EF4-FFF2-40B4-BE49-F238E27FC236}">
                  <a16:creationId xmlns:a16="http://schemas.microsoft.com/office/drawing/2014/main" id="{8890EB0F-7369-8915-F4A5-1ABAFF6DF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87" name="Oval 11">
              <a:extLst>
                <a:ext uri="{FF2B5EF4-FFF2-40B4-BE49-F238E27FC236}">
                  <a16:creationId xmlns:a16="http://schemas.microsoft.com/office/drawing/2014/main" id="{E4F63A04-47F0-7C06-3808-CB8141CE7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88" name="Oval 12">
              <a:extLst>
                <a:ext uri="{FF2B5EF4-FFF2-40B4-BE49-F238E27FC236}">
                  <a16:creationId xmlns:a16="http://schemas.microsoft.com/office/drawing/2014/main" id="{CBD03CE4-70F6-E7AF-484F-7B3A19CDC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72"/>
              <a:ext cx="80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89" name="Oval 13">
              <a:extLst>
                <a:ext uri="{FF2B5EF4-FFF2-40B4-BE49-F238E27FC236}">
                  <a16:creationId xmlns:a16="http://schemas.microsoft.com/office/drawing/2014/main" id="{122C697E-12A5-96C9-3160-E711DA983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072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0" name="Oval 14">
              <a:extLst>
                <a:ext uri="{FF2B5EF4-FFF2-40B4-BE49-F238E27FC236}">
                  <a16:creationId xmlns:a16="http://schemas.microsoft.com/office/drawing/2014/main" id="{3582F47B-BA78-75EC-BA11-733D26F13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072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1" name="Oval 15">
              <a:extLst>
                <a:ext uri="{FF2B5EF4-FFF2-40B4-BE49-F238E27FC236}">
                  <a16:creationId xmlns:a16="http://schemas.microsoft.com/office/drawing/2014/main" id="{E4A13053-C19F-F749-4FC6-0834BB3E1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072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2" name="Oval 16">
              <a:extLst>
                <a:ext uri="{FF2B5EF4-FFF2-40B4-BE49-F238E27FC236}">
                  <a16:creationId xmlns:a16="http://schemas.microsoft.com/office/drawing/2014/main" id="{F39340F1-2AD8-DD98-83D4-1A092CD31A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184"/>
              <a:ext cx="80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3" name="Oval 17">
              <a:extLst>
                <a:ext uri="{FF2B5EF4-FFF2-40B4-BE49-F238E27FC236}">
                  <a16:creationId xmlns:a16="http://schemas.microsoft.com/office/drawing/2014/main" id="{B294C5ED-458D-6FC0-9242-727420D4C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184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4" name="Oval 18">
              <a:extLst>
                <a:ext uri="{FF2B5EF4-FFF2-40B4-BE49-F238E27FC236}">
                  <a16:creationId xmlns:a16="http://schemas.microsoft.com/office/drawing/2014/main" id="{3ADB9F1A-BAEB-E633-420A-C49EEBFDF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184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5" name="Oval 19">
              <a:extLst>
                <a:ext uri="{FF2B5EF4-FFF2-40B4-BE49-F238E27FC236}">
                  <a16:creationId xmlns:a16="http://schemas.microsoft.com/office/drawing/2014/main" id="{4D7FD144-559C-A9A8-B783-6F3C8C1AD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184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6" name="Oval 20">
              <a:extLst>
                <a:ext uri="{FF2B5EF4-FFF2-40B4-BE49-F238E27FC236}">
                  <a16:creationId xmlns:a16="http://schemas.microsoft.com/office/drawing/2014/main" id="{598E7249-26AB-193F-D1E8-83E0BB4997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184"/>
              <a:ext cx="80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7" name="Oval 21">
              <a:extLst>
                <a:ext uri="{FF2B5EF4-FFF2-40B4-BE49-F238E27FC236}">
                  <a16:creationId xmlns:a16="http://schemas.microsoft.com/office/drawing/2014/main" id="{9C12A3DE-C91F-BC4E-628C-84B979154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8" name="Oval 22">
              <a:extLst>
                <a:ext uri="{FF2B5EF4-FFF2-40B4-BE49-F238E27FC236}">
                  <a16:creationId xmlns:a16="http://schemas.microsoft.com/office/drawing/2014/main" id="{8BC5A21A-9F25-DAB9-43EB-B51E736AF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9" name="Oval 23">
              <a:extLst>
                <a:ext uri="{FF2B5EF4-FFF2-40B4-BE49-F238E27FC236}">
                  <a16:creationId xmlns:a16="http://schemas.microsoft.com/office/drawing/2014/main" id="{7F64B40F-951B-2C62-6BCE-9ED069F21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0" name="Oval 24">
              <a:extLst>
                <a:ext uri="{FF2B5EF4-FFF2-40B4-BE49-F238E27FC236}">
                  <a16:creationId xmlns:a16="http://schemas.microsoft.com/office/drawing/2014/main" id="{CA178D50-6275-0362-E00C-1CA73A48C9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296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1" name="Oval 25">
              <a:extLst>
                <a:ext uri="{FF2B5EF4-FFF2-40B4-BE49-F238E27FC236}">
                  <a16:creationId xmlns:a16="http://schemas.microsoft.com/office/drawing/2014/main" id="{281982FD-F23F-8D3A-3E1C-E1DD238A7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2" name="Oval 26">
              <a:extLst>
                <a:ext uri="{FF2B5EF4-FFF2-40B4-BE49-F238E27FC236}">
                  <a16:creationId xmlns:a16="http://schemas.microsoft.com/office/drawing/2014/main" id="{C8D7E381-17EC-2A89-CD07-B648B12E46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3" name="Oval 27">
              <a:extLst>
                <a:ext uri="{FF2B5EF4-FFF2-40B4-BE49-F238E27FC236}">
                  <a16:creationId xmlns:a16="http://schemas.microsoft.com/office/drawing/2014/main" id="{32DD81C6-B5B4-9147-3851-21E281145B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408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4" name="Oval 28">
              <a:extLst>
                <a:ext uri="{FF2B5EF4-FFF2-40B4-BE49-F238E27FC236}">
                  <a16:creationId xmlns:a16="http://schemas.microsoft.com/office/drawing/2014/main" id="{72A66D00-BE9F-69EA-1631-391C47D4A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408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5" name="Oval 29">
              <a:extLst>
                <a:ext uri="{FF2B5EF4-FFF2-40B4-BE49-F238E27FC236}">
                  <a16:creationId xmlns:a16="http://schemas.microsoft.com/office/drawing/2014/main" id="{4C144CCF-2806-BF73-1213-3BD291D67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6" name="Oval 30">
              <a:extLst>
                <a:ext uri="{FF2B5EF4-FFF2-40B4-BE49-F238E27FC236}">
                  <a16:creationId xmlns:a16="http://schemas.microsoft.com/office/drawing/2014/main" id="{158CC9C8-184C-9D09-DC3D-D6F8628B2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7" name="Oval 31">
              <a:extLst>
                <a:ext uri="{FF2B5EF4-FFF2-40B4-BE49-F238E27FC236}">
                  <a16:creationId xmlns:a16="http://schemas.microsoft.com/office/drawing/2014/main" id="{A2309C93-ECEF-5DD8-56EA-69EB76E34B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8" name="Oval 32">
              <a:extLst>
                <a:ext uri="{FF2B5EF4-FFF2-40B4-BE49-F238E27FC236}">
                  <a16:creationId xmlns:a16="http://schemas.microsoft.com/office/drawing/2014/main" id="{1EE4CEBC-BED7-E548-7FD1-EA407310AE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9" name="Oval 33">
              <a:extLst>
                <a:ext uri="{FF2B5EF4-FFF2-40B4-BE49-F238E27FC236}">
                  <a16:creationId xmlns:a16="http://schemas.microsoft.com/office/drawing/2014/main" id="{15ADF64A-190F-BB60-3CCD-4BE3E5B73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520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0" name="Oval 34">
              <a:extLst>
                <a:ext uri="{FF2B5EF4-FFF2-40B4-BE49-F238E27FC236}">
                  <a16:creationId xmlns:a16="http://schemas.microsoft.com/office/drawing/2014/main" id="{C7D2FB20-9F35-8F71-8BD9-786281D14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632"/>
              <a:ext cx="80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1" name="Oval 35">
              <a:extLst>
                <a:ext uri="{FF2B5EF4-FFF2-40B4-BE49-F238E27FC236}">
                  <a16:creationId xmlns:a16="http://schemas.microsoft.com/office/drawing/2014/main" id="{5890642F-1E56-8F36-DBB7-B71269DE7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632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2" name="Oval 36">
              <a:extLst>
                <a:ext uri="{FF2B5EF4-FFF2-40B4-BE49-F238E27FC236}">
                  <a16:creationId xmlns:a16="http://schemas.microsoft.com/office/drawing/2014/main" id="{5F10B179-9CAF-6B7F-6F27-C4938A33F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632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3" name="Oval 37">
              <a:extLst>
                <a:ext uri="{FF2B5EF4-FFF2-40B4-BE49-F238E27FC236}">
                  <a16:creationId xmlns:a16="http://schemas.microsoft.com/office/drawing/2014/main" id="{DACD2D39-EA14-9019-44C2-236A45B61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632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4" name="Oval 38">
              <a:extLst>
                <a:ext uri="{FF2B5EF4-FFF2-40B4-BE49-F238E27FC236}">
                  <a16:creationId xmlns:a16="http://schemas.microsoft.com/office/drawing/2014/main" id="{0BE3EBF9-755C-1F41-6924-622E229F3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5" name="Oval 39">
              <a:extLst>
                <a:ext uri="{FF2B5EF4-FFF2-40B4-BE49-F238E27FC236}">
                  <a16:creationId xmlns:a16="http://schemas.microsoft.com/office/drawing/2014/main" id="{B69D5D9E-9F51-7F63-AD38-956B5A997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6" r:id="rId2"/>
    <p:sldLayoutId id="2147483705" r:id="rId3"/>
    <p:sldLayoutId id="2147483704" r:id="rId4"/>
    <p:sldLayoutId id="2147483703" r:id="rId5"/>
    <p:sldLayoutId id="2147483702" r:id="rId6"/>
    <p:sldLayoutId id="2147483701" r:id="rId7"/>
    <p:sldLayoutId id="2147483700" r:id="rId8"/>
    <p:sldLayoutId id="2147483699" r:id="rId9"/>
    <p:sldLayoutId id="2147483698" r:id="rId10"/>
    <p:sldLayoutId id="214748369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4829" y="1563216"/>
            <a:ext cx="7235825" cy="1152525"/>
          </a:xfrm>
        </p:spPr>
        <p:txBody>
          <a:bodyPr/>
          <a:lstStyle/>
          <a:p>
            <a:pPr algn="ctr" eaLnBrk="1" hangingPunct="1"/>
            <a:br>
              <a:rPr lang="en-US" altLang="it-IT" sz="4000" dirty="0">
                <a:latin typeface="Times New Roman" pitchFamily="18" charset="0"/>
              </a:rPr>
            </a:br>
            <a:r>
              <a:rPr lang="en-US" altLang="it-IT" sz="4000" dirty="0">
                <a:latin typeface="Times New Roman" pitchFamily="18" charset="0"/>
              </a:rPr>
              <a:t> Corso di </a:t>
            </a:r>
            <a:r>
              <a:rPr lang="en-US" altLang="it-IT" sz="4000" dirty="0" err="1">
                <a:latin typeface="Times New Roman" pitchFamily="18" charset="0"/>
              </a:rPr>
              <a:t>Programmazione</a:t>
            </a:r>
            <a:endParaRPr lang="en-US" altLang="it-IT" sz="4000" b="0" i="1" dirty="0">
              <a:latin typeface="Times New Roman" pitchFamily="18" charset="0"/>
            </a:endParaRPr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-138112" y="3049588"/>
            <a:ext cx="7235825" cy="2362200"/>
          </a:xfrm>
        </p:spPr>
        <p:txBody>
          <a:bodyPr/>
          <a:lstStyle/>
          <a:p>
            <a:pPr eaLnBrk="1" hangingPunct="1"/>
            <a:r>
              <a:rPr lang="en-US" altLang="it-IT" sz="3600" b="1" i="1" dirty="0" err="1">
                <a:latin typeface="Times New Roman" pitchFamily="18" charset="0"/>
              </a:rPr>
              <a:t>Classi</a:t>
            </a:r>
            <a:r>
              <a:rPr lang="en-US" altLang="it-IT" sz="3600" b="1" i="1" dirty="0">
                <a:latin typeface="Times New Roman" pitchFamily="18" charset="0"/>
              </a:rPr>
              <a:t>: </a:t>
            </a:r>
            <a:r>
              <a:rPr lang="en-US" altLang="it-IT" sz="3600" b="1" i="1" dirty="0" err="1">
                <a:latin typeface="Times New Roman" pitchFamily="18" charset="0"/>
              </a:rPr>
              <a:t>aspetti</a:t>
            </a:r>
            <a:r>
              <a:rPr lang="en-US" altLang="it-IT" sz="3600" b="1" i="1" dirty="0">
                <a:latin typeface="Times New Roman" pitchFamily="18" charset="0"/>
              </a:rPr>
              <a:t> </a:t>
            </a:r>
            <a:r>
              <a:rPr lang="en-US" altLang="it-IT" sz="3600" b="1" i="1" dirty="0" err="1">
                <a:latin typeface="Times New Roman" pitchFamily="18" charset="0"/>
              </a:rPr>
              <a:t>avanzati</a:t>
            </a:r>
            <a:r>
              <a:rPr lang="en-US" altLang="it-IT" sz="3600" b="1" i="1" dirty="0">
                <a:latin typeface="Times New Roman" pitchFamily="18" charset="0"/>
              </a:rPr>
              <a:t> </a:t>
            </a:r>
          </a:p>
          <a:p>
            <a:pPr eaLnBrk="1" hangingPunct="1"/>
            <a:endParaRPr lang="en-US" altLang="it-IT" sz="4100" b="1" i="1" dirty="0">
              <a:latin typeface="Times New Roman" pitchFamily="18" charset="0"/>
            </a:endParaRPr>
          </a:p>
          <a:p>
            <a:pPr eaLnBrk="1" hangingPunct="1"/>
            <a:endParaRPr lang="en-US" altLang="it-IT" sz="4100" b="1" i="1" dirty="0">
              <a:latin typeface="Times New Roman" pitchFamily="18" charset="0"/>
            </a:endParaRPr>
          </a:p>
        </p:txBody>
      </p:sp>
      <p:sp>
        <p:nvSpPr>
          <p:cNvPr id="3077" name="Text Box 6"/>
          <p:cNvSpPr txBox="1">
            <a:spLocks noChangeArrowheads="1"/>
          </p:cNvSpPr>
          <p:nvPr/>
        </p:nvSpPr>
        <p:spPr bwMode="auto">
          <a:xfrm>
            <a:off x="539750" y="260350"/>
            <a:ext cx="67195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it-IT" altLang="it-IT" sz="1200" dirty="0"/>
              <a:t>Università di Napoli Federico II - </a:t>
            </a:r>
            <a:r>
              <a:rPr lang="en-GB" altLang="it-IT" sz="1200" dirty="0"/>
              <a:t>Dip. di </a:t>
            </a:r>
            <a:r>
              <a:rPr lang="en-GB" altLang="it-IT" sz="1200" dirty="0" err="1"/>
              <a:t>Ingegneria</a:t>
            </a:r>
            <a:r>
              <a:rPr lang="en-GB" altLang="it-IT" sz="1200" dirty="0"/>
              <a:t> </a:t>
            </a:r>
            <a:r>
              <a:rPr lang="en-GB" altLang="it-IT" sz="1200" dirty="0" err="1"/>
              <a:t>Elettrica</a:t>
            </a:r>
            <a:r>
              <a:rPr lang="en-GB" altLang="it-IT" sz="1200" dirty="0"/>
              <a:t> e </a:t>
            </a:r>
            <a:r>
              <a:rPr lang="en-GB" altLang="it-IT" sz="1200" dirty="0" err="1"/>
              <a:t>delle</a:t>
            </a:r>
            <a:r>
              <a:rPr lang="en-GB" altLang="it-IT" sz="1200" dirty="0"/>
              <a:t> </a:t>
            </a:r>
            <a:r>
              <a:rPr lang="en-GB" altLang="it-IT" sz="1200" dirty="0" err="1"/>
              <a:t>Tecnologie</a:t>
            </a:r>
            <a:r>
              <a:rPr lang="en-GB" altLang="it-IT" sz="1200" dirty="0"/>
              <a:t> </a:t>
            </a:r>
            <a:r>
              <a:rPr lang="en-GB" altLang="it-IT" sz="1200" dirty="0" err="1"/>
              <a:t>dell’Informazione</a:t>
            </a:r>
            <a:r>
              <a:rPr lang="en-GB" altLang="it-IT" sz="1200" dirty="0"/>
              <a:t> </a:t>
            </a:r>
          </a:p>
          <a:p>
            <a:pPr eaLnBrk="1" hangingPunct="1"/>
            <a:r>
              <a:rPr lang="it-IT" altLang="it-IT" sz="1200" dirty="0"/>
              <a:t>Corso di Laurea in Ingegneria Informatica</a:t>
            </a:r>
            <a:endParaRPr lang="en-US" altLang="it-IT" sz="1200" dirty="0"/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194" y="373448"/>
            <a:ext cx="846916" cy="895311"/>
          </a:xfrm>
          <a:prstGeom prst="rect">
            <a:avLst/>
          </a:prstGeom>
        </p:spPr>
      </p:pic>
      <p:pic>
        <p:nvPicPr>
          <p:cNvPr id="1026" name="Picture 2" descr="Java, logo, logos icon - Free download on Iconfinder">
            <a:extLst>
              <a:ext uri="{FF2B5EF4-FFF2-40B4-BE49-F238E27FC236}">
                <a16:creationId xmlns:a16="http://schemas.microsoft.com/office/drawing/2014/main" id="{8F51CA07-A1A5-AA38-5BB4-4B67B1526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5014466"/>
            <a:ext cx="16002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C458D3-424E-6AA1-7364-751071FB7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271" y="116632"/>
            <a:ext cx="7543800" cy="1295400"/>
          </a:xfrm>
        </p:spPr>
        <p:txBody>
          <a:bodyPr/>
          <a:lstStyle/>
          <a:p>
            <a:r>
              <a:rPr lang="it-IT" sz="3200" dirty="0"/>
              <a:t>Metodi e accesso ai membri </a:t>
            </a:r>
            <a:br>
              <a:rPr lang="it-IT" sz="3200" dirty="0"/>
            </a:br>
            <a:endParaRPr lang="it-IT" sz="3200" i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C67DCE6-67BF-5312-5069-764AE5D26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271" y="1223169"/>
            <a:ext cx="8229600" cy="4411662"/>
          </a:xfrm>
        </p:spPr>
        <p:txBody>
          <a:bodyPr/>
          <a:lstStyle/>
          <a:p>
            <a:r>
              <a:rPr lang="it-IT" sz="2300" dirty="0"/>
              <a:t>La nostra prima applicazione Java utilizza più oggetti della classe Counter</a:t>
            </a:r>
          </a:p>
          <a:p>
            <a:r>
              <a:rPr lang="it-IT" sz="2300" dirty="0"/>
              <a:t>Ad esempio invoca il metodo </a:t>
            </a:r>
            <a:r>
              <a:rPr lang="it-IT" sz="2300" dirty="0" err="1"/>
              <a:t>get_value</a:t>
            </a:r>
            <a:r>
              <a:rPr lang="it-IT" sz="2300" dirty="0"/>
              <a:t>() sull’oggetto </a:t>
            </a:r>
            <a:r>
              <a:rPr lang="it-IT" sz="2300" b="1" i="1" dirty="0"/>
              <a:t>c</a:t>
            </a:r>
            <a:r>
              <a:rPr lang="it-IT" sz="2300" dirty="0"/>
              <a:t> e il metodo </a:t>
            </a:r>
            <a:r>
              <a:rPr lang="it-IT" sz="2300" dirty="0" err="1"/>
              <a:t>set_max</a:t>
            </a:r>
            <a:r>
              <a:rPr lang="it-IT" sz="2300" dirty="0"/>
              <a:t>(…) sull’oggetto </a:t>
            </a:r>
            <a:r>
              <a:rPr lang="it-IT" sz="2300" b="1" i="1" dirty="0"/>
              <a:t>d</a:t>
            </a:r>
          </a:p>
          <a:p>
            <a:r>
              <a:rPr lang="it-IT" sz="2300" dirty="0"/>
              <a:t>Ma se noi guardiamo l’implementazione dei metodi, al loro interno non c’è nulla che dica esplicitamente su quale oggetto il metodo deve essere eseguito! </a:t>
            </a:r>
          </a:p>
          <a:p>
            <a:r>
              <a:rPr lang="it-IT" sz="2300" dirty="0"/>
              <a:t>Come fa il metodo a riferirsi ai membri dell’oggetto su cui è invocato???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538BE9E-BD9F-BE0E-984E-50E3516270C4}"/>
              </a:ext>
            </a:extLst>
          </p:cNvPr>
          <p:cNvSpPr txBox="1"/>
          <p:nvPr/>
        </p:nvSpPr>
        <p:spPr>
          <a:xfrm>
            <a:off x="2699792" y="4437112"/>
            <a:ext cx="4102405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dirty="0"/>
              <a:t>public long </a:t>
            </a:r>
            <a:r>
              <a:rPr lang="it-IT" dirty="0" err="1"/>
              <a:t>get_value</a:t>
            </a:r>
            <a:r>
              <a:rPr lang="it-IT" dirty="0"/>
              <a:t>() {</a:t>
            </a:r>
            <a:r>
              <a:rPr lang="it-IT" dirty="0" err="1"/>
              <a:t>return</a:t>
            </a:r>
            <a:r>
              <a:rPr lang="it-IT" dirty="0"/>
              <a:t> </a:t>
            </a:r>
            <a:r>
              <a:rPr lang="it-IT" dirty="0" err="1"/>
              <a:t>value</a:t>
            </a:r>
            <a:r>
              <a:rPr lang="it-IT" dirty="0"/>
              <a:t>;}</a:t>
            </a:r>
          </a:p>
          <a:p>
            <a:r>
              <a:rPr lang="it-IT" dirty="0"/>
              <a:t>public </a:t>
            </a:r>
            <a:r>
              <a:rPr lang="it-IT" dirty="0" err="1"/>
              <a:t>void</a:t>
            </a:r>
            <a:r>
              <a:rPr lang="it-IT" dirty="0"/>
              <a:t> </a:t>
            </a:r>
            <a:r>
              <a:rPr lang="it-IT" dirty="0" err="1"/>
              <a:t>set_max</a:t>
            </a:r>
            <a:r>
              <a:rPr lang="it-IT" dirty="0"/>
              <a:t>(long m) {max=m;}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3EFD251-A4F6-B1A0-3678-3B295A287F19}"/>
              </a:ext>
            </a:extLst>
          </p:cNvPr>
          <p:cNvSpPr txBox="1"/>
          <p:nvPr/>
        </p:nvSpPr>
        <p:spPr>
          <a:xfrm>
            <a:off x="1838017" y="5293843"/>
            <a:ext cx="1723549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dirty="0" err="1"/>
              <a:t>c.get_value</a:t>
            </a:r>
            <a:r>
              <a:rPr lang="it-IT" dirty="0"/>
              <a:t>()</a:t>
            </a:r>
          </a:p>
          <a:p>
            <a:r>
              <a:rPr lang="it-IT" dirty="0" err="1"/>
              <a:t>d.set_max</a:t>
            </a:r>
            <a:r>
              <a:rPr lang="it-IT" dirty="0"/>
              <a:t>(20)</a:t>
            </a:r>
          </a:p>
        </p:txBody>
      </p:sp>
      <p:sp>
        <p:nvSpPr>
          <p:cNvPr id="7" name="Fumetto 3 6">
            <a:extLst>
              <a:ext uri="{FF2B5EF4-FFF2-40B4-BE49-F238E27FC236}">
                <a16:creationId xmlns:a16="http://schemas.microsoft.com/office/drawing/2014/main" id="{3DD2494F-D4C4-7F00-33D0-F3CBB4071641}"/>
              </a:ext>
            </a:extLst>
          </p:cNvPr>
          <p:cNvSpPr/>
          <p:nvPr/>
        </p:nvSpPr>
        <p:spPr bwMode="auto">
          <a:xfrm>
            <a:off x="4724896" y="5572829"/>
            <a:ext cx="3816424" cy="1168539"/>
          </a:xfrm>
          <a:prstGeom prst="wedgeEllipseCallout">
            <a:avLst>
              <a:gd name="adj1" fmla="val -22335"/>
              <a:gd name="adj2" fmla="val -99693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sz="1200" dirty="0"/>
              <a:t>Come faccio a sapere all’interno del metodo se la </a:t>
            </a:r>
            <a:r>
              <a:rPr lang="it-IT" sz="1200" dirty="0" err="1"/>
              <a:t>varaibili</a:t>
            </a:r>
            <a:r>
              <a:rPr lang="it-IT" sz="1200" dirty="0"/>
              <a:t> di istanza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sz="1200" dirty="0" err="1"/>
              <a:t>value</a:t>
            </a:r>
            <a:r>
              <a:rPr lang="it-IT" sz="1200" dirty="0"/>
              <a:t> e max sono quelle di c piuttosto che quelle di d?</a:t>
            </a:r>
            <a:endParaRPr kumimoji="0" lang="it-IT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559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F51CBD5-5388-77C1-B3C5-93F90FCDC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-243408"/>
            <a:ext cx="7543800" cy="1295400"/>
          </a:xfrm>
        </p:spPr>
        <p:txBody>
          <a:bodyPr/>
          <a:lstStyle/>
          <a:p>
            <a:r>
              <a:rPr lang="it-IT" dirty="0"/>
              <a:t>Il riferimento </a:t>
            </a:r>
            <a:r>
              <a:rPr lang="it-IT" i="1" dirty="0" err="1">
                <a:solidFill>
                  <a:srgbClr val="FF0000"/>
                </a:solidFill>
              </a:rPr>
              <a:t>this</a:t>
            </a:r>
            <a:endParaRPr lang="it-IT" i="1" dirty="0">
              <a:solidFill>
                <a:srgbClr val="FF0000"/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07F3E7E-012D-CC44-C3ED-68E0A8CCD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3573983"/>
          </a:xfrm>
        </p:spPr>
        <p:txBody>
          <a:bodyPr/>
          <a:lstStyle/>
          <a:p>
            <a:r>
              <a:rPr lang="it-IT" altLang="it-IT" sz="2400" dirty="0"/>
              <a:t>Nella definizione di TUTTI i metodi NON STATICI di una classe il compilatore introduce un riferimento </a:t>
            </a:r>
            <a:r>
              <a:rPr lang="it-IT" altLang="it-IT" sz="2400" i="1" dirty="0"/>
              <a:t>nascosto</a:t>
            </a:r>
            <a:r>
              <a:rPr lang="it-IT" altLang="it-IT" sz="2400" dirty="0"/>
              <a:t> che è il riferimento </a:t>
            </a:r>
            <a:r>
              <a:rPr lang="it-IT" altLang="it-IT" sz="2400" b="1" i="1" dirty="0"/>
              <a:t>all’oggetto corrente</a:t>
            </a:r>
            <a:r>
              <a:rPr lang="it-IT" altLang="it-IT" sz="2400" dirty="0"/>
              <a:t>, </a:t>
            </a:r>
            <a:r>
              <a:rPr lang="it-IT" altLang="it-IT" sz="2400" u="sng" dirty="0"/>
              <a:t>quello sul quale il metodo viene applicato</a:t>
            </a:r>
          </a:p>
          <a:p>
            <a:r>
              <a:rPr lang="it-IT" sz="2400" dirty="0">
                <a:effectLst/>
                <a:latin typeface="Arial" panose="020B0604020202020204" pitchFamily="34" charset="0"/>
              </a:rPr>
              <a:t>Il</a:t>
            </a:r>
            <a:r>
              <a:rPr lang="it-IT" sz="2400" dirty="0">
                <a:latin typeface="Arial" panose="020B0604020202020204" pitchFamily="34" charset="0"/>
              </a:rPr>
              <a:t> nome di tale riferimento è </a:t>
            </a:r>
            <a:r>
              <a:rPr lang="it-IT" sz="2400" i="1" dirty="0" err="1">
                <a:solidFill>
                  <a:srgbClr val="FF0000"/>
                </a:solidFill>
                <a:latin typeface="Arial" panose="020B0604020202020204" pitchFamily="34" charset="0"/>
              </a:rPr>
              <a:t>this</a:t>
            </a:r>
            <a:r>
              <a:rPr lang="it-IT" sz="2400" dirty="0">
                <a:latin typeface="Arial" panose="020B0604020202020204" pitchFamily="34" charset="0"/>
              </a:rPr>
              <a:t> (ed è ovviamente un nome riservato del linguaggio)</a:t>
            </a:r>
          </a:p>
          <a:p>
            <a:r>
              <a:rPr lang="it-IT" sz="2400" dirty="0">
                <a:latin typeface="Arial" panose="020B0604020202020204" pitchFamily="34" charset="0"/>
              </a:rPr>
              <a:t>All’atto della chiamata del metodo, quando è noto l’oggetto su cui il metodo è invocato, a </a:t>
            </a:r>
            <a:r>
              <a:rPr lang="it-IT" sz="2400" i="1" dirty="0" err="1">
                <a:solidFill>
                  <a:srgbClr val="FF0000"/>
                </a:solidFill>
                <a:latin typeface="Arial" panose="020B0604020202020204" pitchFamily="34" charset="0"/>
              </a:rPr>
              <a:t>this</a:t>
            </a:r>
            <a:r>
              <a:rPr lang="it-IT" sz="2400" dirty="0">
                <a:latin typeface="Arial" panose="020B0604020202020204" pitchFamily="34" charset="0"/>
              </a:rPr>
              <a:t> </a:t>
            </a:r>
            <a:r>
              <a:rPr lang="it-IT" sz="2400" u="sng" dirty="0">
                <a:latin typeface="Arial" panose="020B0604020202020204" pitchFamily="34" charset="0"/>
              </a:rPr>
              <a:t>viene assegnato il riferimento all’oggetto corrente</a:t>
            </a:r>
          </a:p>
          <a:p>
            <a:r>
              <a:rPr lang="it-IT" sz="2400" i="1" dirty="0" err="1">
                <a:solidFill>
                  <a:srgbClr val="FF0000"/>
                </a:solidFill>
                <a:latin typeface="Arial" panose="020B0604020202020204" pitchFamily="34" charset="0"/>
              </a:rPr>
              <a:t>this</a:t>
            </a:r>
            <a:r>
              <a:rPr lang="it-IT" sz="2400" i="1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it-IT" sz="2400" dirty="0">
                <a:latin typeface="Arial" panose="020B0604020202020204" pitchFamily="34" charset="0"/>
              </a:rPr>
              <a:t>ovviamente non può essere modificato all’interno del metodo ma solo usato</a:t>
            </a:r>
            <a:endParaRPr lang="it-IT" sz="2400" dirty="0"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463667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B005A5-61C6-D260-7C5F-D77BBE999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459432"/>
            <a:ext cx="7543800" cy="1295400"/>
          </a:xfrm>
        </p:spPr>
        <p:txBody>
          <a:bodyPr/>
          <a:lstStyle/>
          <a:p>
            <a:r>
              <a:rPr lang="it-IT" dirty="0"/>
              <a:t>Uso implicito di </a:t>
            </a:r>
            <a:r>
              <a:rPr lang="it-IT" i="1" dirty="0" err="1"/>
              <a:t>this</a:t>
            </a:r>
            <a:endParaRPr lang="it-IT" i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64C1F66-20FB-FB76-262A-C45FDDC13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368" y="993539"/>
            <a:ext cx="8291264" cy="4411662"/>
          </a:xfrm>
        </p:spPr>
        <p:txBody>
          <a:bodyPr/>
          <a:lstStyle/>
          <a:p>
            <a:r>
              <a:rPr lang="it-IT" sz="2400" dirty="0">
                <a:effectLst/>
                <a:latin typeface="Arial" panose="020B0604020202020204" pitchFamily="34" charset="0"/>
              </a:rPr>
              <a:t>I metodi quindi riescono a riferirsi all’oggetto su cui sono applicati in esecuzione perché in realtà nel codice </a:t>
            </a:r>
            <a:r>
              <a:rPr lang="it-IT" sz="2400" dirty="0">
                <a:latin typeface="Arial" panose="020B0604020202020204" pitchFamily="34" charset="0"/>
              </a:rPr>
              <a:t>viene </a:t>
            </a:r>
            <a:r>
              <a:rPr lang="it-IT" sz="2400" dirty="0">
                <a:effectLst/>
                <a:latin typeface="Arial" panose="020B0604020202020204" pitchFamily="34" charset="0"/>
              </a:rPr>
              <a:t>usato il riferimento </a:t>
            </a:r>
            <a:r>
              <a:rPr lang="it-IT" sz="2400" i="1" dirty="0">
                <a:effectLst/>
                <a:latin typeface="Arial" panose="020B0604020202020204" pitchFamily="34" charset="0"/>
              </a:rPr>
              <a:t>implicito</a:t>
            </a:r>
            <a:r>
              <a:rPr lang="it-IT" sz="2400" dirty="0">
                <a:effectLst/>
                <a:latin typeface="Arial" panose="020B0604020202020204" pitchFamily="34" charset="0"/>
              </a:rPr>
              <a:t> </a:t>
            </a:r>
            <a:r>
              <a:rPr lang="it-IT" sz="2400" i="1" dirty="0" err="1">
                <a:solidFill>
                  <a:srgbClr val="FF0000"/>
                </a:solidFill>
                <a:latin typeface="Arial" panose="020B0604020202020204" pitchFamily="34" charset="0"/>
              </a:rPr>
              <a:t>this</a:t>
            </a:r>
            <a:endParaRPr lang="it-IT" sz="2400" i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r>
              <a:rPr lang="it-IT" sz="2400" i="1" dirty="0">
                <a:effectLst/>
                <a:latin typeface="Arial" panose="020B0604020202020204" pitchFamily="34" charset="0"/>
              </a:rPr>
              <a:t>Nella maggior parte de</a:t>
            </a:r>
            <a:r>
              <a:rPr lang="it-IT" sz="2400" i="1" dirty="0">
                <a:latin typeface="Arial" panose="020B0604020202020204" pitchFamily="34" charset="0"/>
              </a:rPr>
              <a:t>i casi </a:t>
            </a:r>
            <a:r>
              <a:rPr lang="it-IT" sz="2400" i="1" dirty="0" err="1">
                <a:latin typeface="Arial" panose="020B0604020202020204" pitchFamily="34" charset="0"/>
              </a:rPr>
              <a:t>this</a:t>
            </a:r>
            <a:r>
              <a:rPr lang="it-IT" sz="2400" i="1" dirty="0">
                <a:latin typeface="Arial" panose="020B0604020202020204" pitchFamily="34" charset="0"/>
              </a:rPr>
              <a:t> è usato implicitamente, cioè </a:t>
            </a:r>
            <a:r>
              <a:rPr lang="it-IT" sz="2400" b="1" i="1" dirty="0">
                <a:latin typeface="Arial" panose="020B0604020202020204" pitchFamily="34" charset="0"/>
              </a:rPr>
              <a:t>non è necessario utilizzarlo esplicitamente </a:t>
            </a:r>
            <a:r>
              <a:rPr lang="it-IT" sz="2400" i="1" dirty="0">
                <a:latin typeface="Arial" panose="020B0604020202020204" pitchFamily="34" charset="0"/>
              </a:rPr>
              <a:t>per accedere alle variabili di istanza e invocare metodi della classe </a:t>
            </a:r>
            <a:endParaRPr lang="it-IT" sz="2400" dirty="0">
              <a:effectLst/>
              <a:latin typeface="Arial" panose="020B0604020202020204" pitchFamily="34" charset="0"/>
            </a:endParaRPr>
          </a:p>
          <a:p>
            <a:r>
              <a:rPr lang="it-IT" sz="2400" dirty="0"/>
              <a:t>Nel codice della classe Counter è COME SE fosse scritto:</a:t>
            </a:r>
          </a:p>
          <a:p>
            <a:endParaRPr lang="it-IT" sz="2400" dirty="0"/>
          </a:p>
          <a:p>
            <a:pPr marL="0" indent="0">
              <a:buNone/>
            </a:pPr>
            <a:endParaRPr lang="it-IT" sz="2400" dirty="0"/>
          </a:p>
          <a:p>
            <a:r>
              <a:rPr lang="it-IT" sz="2400" dirty="0"/>
              <a:t>Quando il metodo vene invocato, ad esempio sull’oggetto </a:t>
            </a:r>
            <a:r>
              <a:rPr lang="it-IT" sz="2400" i="1" dirty="0"/>
              <a:t>c</a:t>
            </a:r>
            <a:r>
              <a:rPr lang="it-IT" sz="2400" dirty="0"/>
              <a:t>, </a:t>
            </a:r>
            <a:r>
              <a:rPr lang="it-IT" sz="2400" i="1" dirty="0" err="1">
                <a:solidFill>
                  <a:srgbClr val="FF0000"/>
                </a:solidFill>
              </a:rPr>
              <a:t>this</a:t>
            </a:r>
            <a:r>
              <a:rPr lang="it-IT" sz="2400" dirty="0"/>
              <a:t> viene inizializzato come riferimento a </a:t>
            </a:r>
            <a:r>
              <a:rPr lang="it-IT" sz="2400" i="1" dirty="0"/>
              <a:t>c e il metodo lavora quindi direttamente sull’oggetto c tramite </a:t>
            </a:r>
            <a:r>
              <a:rPr lang="it-IT" sz="2400" i="1" dirty="0" err="1"/>
              <a:t>this</a:t>
            </a:r>
            <a:r>
              <a:rPr lang="it-IT" sz="2400" i="1" dirty="0"/>
              <a:t>.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E2E89CB-3FF1-7C93-EB54-6C2DF4A5EF75}"/>
              </a:ext>
            </a:extLst>
          </p:cNvPr>
          <p:cNvSpPr txBox="1"/>
          <p:nvPr/>
        </p:nvSpPr>
        <p:spPr>
          <a:xfrm>
            <a:off x="2123728" y="4437112"/>
            <a:ext cx="4525598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dirty="0"/>
              <a:t>public long </a:t>
            </a:r>
            <a:r>
              <a:rPr lang="it-IT" dirty="0" err="1"/>
              <a:t>get_value</a:t>
            </a:r>
            <a:r>
              <a:rPr lang="it-IT" dirty="0"/>
              <a:t>() {</a:t>
            </a:r>
            <a:r>
              <a:rPr lang="it-IT" dirty="0" err="1"/>
              <a:t>return</a:t>
            </a:r>
            <a:r>
              <a:rPr lang="it-IT" dirty="0"/>
              <a:t> </a:t>
            </a:r>
            <a:r>
              <a:rPr lang="it-IT" dirty="0" err="1">
                <a:solidFill>
                  <a:srgbClr val="FF0000"/>
                </a:solidFill>
              </a:rPr>
              <a:t>this.</a:t>
            </a:r>
            <a:r>
              <a:rPr lang="it-IT" dirty="0" err="1"/>
              <a:t>value</a:t>
            </a:r>
            <a:r>
              <a:rPr lang="it-IT" dirty="0"/>
              <a:t>;}</a:t>
            </a:r>
          </a:p>
          <a:p>
            <a:r>
              <a:rPr lang="it-IT" dirty="0"/>
              <a:t>public </a:t>
            </a:r>
            <a:r>
              <a:rPr lang="it-IT" dirty="0" err="1"/>
              <a:t>void</a:t>
            </a:r>
            <a:r>
              <a:rPr lang="it-IT" dirty="0"/>
              <a:t> </a:t>
            </a:r>
            <a:r>
              <a:rPr lang="it-IT" dirty="0" err="1"/>
              <a:t>set_max</a:t>
            </a:r>
            <a:r>
              <a:rPr lang="it-IT" dirty="0"/>
              <a:t>(long m) {</a:t>
            </a:r>
            <a:r>
              <a:rPr lang="it-IT" dirty="0" err="1">
                <a:solidFill>
                  <a:srgbClr val="FF0000"/>
                </a:solidFill>
              </a:rPr>
              <a:t>this.</a:t>
            </a:r>
            <a:r>
              <a:rPr lang="it-IT" dirty="0" err="1"/>
              <a:t>max</a:t>
            </a:r>
            <a:r>
              <a:rPr lang="it-IT" dirty="0"/>
              <a:t>=m;}</a:t>
            </a:r>
          </a:p>
        </p:txBody>
      </p:sp>
    </p:spTree>
    <p:extLst>
      <p:ext uri="{BB962C8B-B14F-4D97-AF65-F5344CB8AC3E}">
        <p14:creationId xmlns:p14="http://schemas.microsoft.com/office/powerpoint/2010/main" val="1339896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D2A42F-0991-AB5B-39DA-4A0D841A3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87424"/>
            <a:ext cx="7543800" cy="1295400"/>
          </a:xfrm>
        </p:spPr>
        <p:txBody>
          <a:bodyPr/>
          <a:lstStyle/>
          <a:p>
            <a:r>
              <a:rPr lang="it-IT" dirty="0"/>
              <a:t>Uso esplicito di </a:t>
            </a:r>
            <a:r>
              <a:rPr lang="it-IT" i="1" dirty="0" err="1"/>
              <a:t>this</a:t>
            </a:r>
            <a:endParaRPr lang="it-IT" i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F519028-AA03-A586-7948-F2342B183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23169"/>
            <a:ext cx="8229600" cy="4411662"/>
          </a:xfrm>
        </p:spPr>
        <p:txBody>
          <a:bodyPr/>
          <a:lstStyle/>
          <a:p>
            <a:r>
              <a:rPr lang="it-IT" sz="2800" dirty="0"/>
              <a:t>Il più delle volte quindi il programmatore non deve usare </a:t>
            </a:r>
            <a:r>
              <a:rPr lang="it-IT" sz="2800" b="1" i="1" dirty="0" err="1"/>
              <a:t>this</a:t>
            </a:r>
            <a:r>
              <a:rPr lang="it-IT" sz="2800" dirty="0"/>
              <a:t> esplicitamente</a:t>
            </a:r>
          </a:p>
          <a:p>
            <a:r>
              <a:rPr lang="it-IT" sz="2800" dirty="0"/>
              <a:t>Si possono determinare però alcune circostanze in cui l’uso esplicito di </a:t>
            </a:r>
            <a:r>
              <a:rPr lang="it-IT" sz="2800" b="1" i="1" dirty="0" err="1"/>
              <a:t>this</a:t>
            </a:r>
            <a:r>
              <a:rPr lang="it-IT" sz="2800" dirty="0"/>
              <a:t> diviene necessario:</a:t>
            </a:r>
          </a:p>
          <a:p>
            <a:pPr lvl="1"/>
            <a:r>
              <a:rPr lang="it-IT" sz="2400" u="sng" dirty="0"/>
              <a:t>In generale, per riferirsi a tutto l’oggetto corrente </a:t>
            </a:r>
          </a:p>
          <a:p>
            <a:pPr lvl="1"/>
            <a:r>
              <a:rPr lang="it-IT" sz="2400" dirty="0"/>
              <a:t>All’interno di un costruttore </a:t>
            </a:r>
            <a:r>
              <a:rPr lang="it-IT" sz="2400" u="sng" dirty="0"/>
              <a:t>per invocare un altro costruttore</a:t>
            </a:r>
            <a:r>
              <a:rPr lang="it-IT" sz="2400" dirty="0"/>
              <a:t> della classe</a:t>
            </a:r>
            <a:endParaRPr lang="it-IT" sz="2400" u="sng" dirty="0"/>
          </a:p>
          <a:p>
            <a:pPr lvl="1"/>
            <a:r>
              <a:rPr lang="it-IT" sz="2400" u="sng" dirty="0"/>
              <a:t>Per disambiguare </a:t>
            </a:r>
            <a:r>
              <a:rPr lang="it-IT" sz="2400" dirty="0"/>
              <a:t>nel caso si usino variabili locali che hanno lo stesso nome di variabili di istanza (cosa comunque assolutamente sconsigliata)</a:t>
            </a:r>
          </a:p>
          <a:p>
            <a:r>
              <a:rPr lang="it-IT" sz="2800" dirty="0"/>
              <a:t>Approfondiremo l’utilizzo esplicito di </a:t>
            </a:r>
            <a:r>
              <a:rPr lang="it-IT" sz="2800" dirty="0" err="1"/>
              <a:t>this</a:t>
            </a:r>
            <a:r>
              <a:rPr lang="it-IT" sz="2800" dirty="0"/>
              <a:t> quando si renderà necessario</a:t>
            </a:r>
          </a:p>
          <a:p>
            <a:pPr marL="344487" lvl="1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88715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283E6A-1B97-2EEF-1F55-DD5462B8C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87424"/>
            <a:ext cx="7543800" cy="1295400"/>
          </a:xfrm>
        </p:spPr>
        <p:txBody>
          <a:bodyPr/>
          <a:lstStyle/>
          <a:p>
            <a:r>
              <a:rPr lang="it-IT" dirty="0"/>
              <a:t>Copia di oggetti (1/4)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73A6481-5BDC-16A3-9869-CCEB99AB3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223169"/>
            <a:ext cx="8229600" cy="4411662"/>
          </a:xfrm>
        </p:spPr>
        <p:txBody>
          <a:bodyPr/>
          <a:lstStyle/>
          <a:p>
            <a:r>
              <a:rPr lang="it-IT" dirty="0"/>
              <a:t>In Java come abbiamo visto gli oggetti si utilizzano attraverso riferimenti, che si comportano come puntatori all’oggetto</a:t>
            </a:r>
          </a:p>
          <a:p>
            <a:r>
              <a:rPr lang="it-IT" dirty="0"/>
              <a:t>Pertanto, dati ad esempio:</a:t>
            </a:r>
          </a:p>
          <a:p>
            <a:pPr marL="0" indent="0">
              <a:buNone/>
            </a:pPr>
            <a:r>
              <a:rPr lang="it-IT" dirty="0"/>
              <a:t>    </a:t>
            </a:r>
            <a:r>
              <a:rPr lang="it-IT" dirty="0">
                <a:solidFill>
                  <a:srgbClr val="FF0000"/>
                </a:solidFill>
              </a:rPr>
              <a:t>Counter b=new Counter(4);</a:t>
            </a:r>
          </a:p>
          <a:p>
            <a:pPr marL="0" indent="0">
              <a:buNone/>
            </a:pPr>
            <a:r>
              <a:rPr lang="it-IT" dirty="0">
                <a:solidFill>
                  <a:srgbClr val="FF0000"/>
                </a:solidFill>
              </a:rPr>
              <a:t>    Counter c;</a:t>
            </a:r>
          </a:p>
          <a:p>
            <a:r>
              <a:rPr lang="it-IT" dirty="0"/>
              <a:t>l’assegnazione: </a:t>
            </a:r>
            <a:r>
              <a:rPr lang="it-IT" dirty="0">
                <a:solidFill>
                  <a:srgbClr val="FF0000"/>
                </a:solidFill>
              </a:rPr>
              <a:t>c=b</a:t>
            </a:r>
            <a:r>
              <a:rPr lang="it-IT" dirty="0"/>
              <a:t> NON effettua una copia tra oggetti ma una copia tra riferimenti</a:t>
            </a:r>
          </a:p>
          <a:p>
            <a:r>
              <a:rPr lang="it-IT" dirty="0"/>
              <a:t>Se non gestita correttamente quindi la copia può creare situazioni gravi di errore…</a:t>
            </a:r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87915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1D5EF5-C444-915F-3B64-DA29D3952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800" y="-447619"/>
            <a:ext cx="8147248" cy="1295400"/>
          </a:xfrm>
        </p:spPr>
        <p:txBody>
          <a:bodyPr/>
          <a:lstStyle/>
          <a:p>
            <a:r>
              <a:rPr lang="it-IT" dirty="0"/>
              <a:t>Effetti della copia tra riferimenti </a:t>
            </a:r>
          </a:p>
        </p:txBody>
      </p:sp>
      <p:grpSp>
        <p:nvGrpSpPr>
          <p:cNvPr id="51" name="Gruppo 50">
            <a:extLst>
              <a:ext uri="{FF2B5EF4-FFF2-40B4-BE49-F238E27FC236}">
                <a16:creationId xmlns:a16="http://schemas.microsoft.com/office/drawing/2014/main" id="{8E5278B8-D6A0-DE10-13AD-1618CA6C0B10}"/>
              </a:ext>
            </a:extLst>
          </p:cNvPr>
          <p:cNvGrpSpPr/>
          <p:nvPr/>
        </p:nvGrpSpPr>
        <p:grpSpPr>
          <a:xfrm>
            <a:off x="537717" y="927806"/>
            <a:ext cx="7706015" cy="2183514"/>
            <a:chOff x="537717" y="927806"/>
            <a:chExt cx="7706015" cy="2183514"/>
          </a:xfrm>
        </p:grpSpPr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2C1124AD-B0C2-4EC0-7EB3-A715D4779CD2}"/>
                </a:ext>
              </a:extLst>
            </p:cNvPr>
            <p:cNvSpPr txBox="1"/>
            <p:nvPr/>
          </p:nvSpPr>
          <p:spPr>
            <a:xfrm>
              <a:off x="537717" y="1758138"/>
              <a:ext cx="2986715" cy="92333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marL="0" indent="0">
                <a:buNone/>
              </a:pPr>
              <a:r>
                <a:rPr lang="it-IT" dirty="0">
                  <a:solidFill>
                    <a:srgbClr val="FF0000"/>
                  </a:solidFill>
                </a:rPr>
                <a:t>Counter b=new Counter(4);</a:t>
              </a:r>
            </a:p>
            <a:p>
              <a:pPr marL="0" indent="0">
                <a:buNone/>
              </a:pPr>
              <a:r>
                <a:rPr lang="it-IT" dirty="0">
                  <a:solidFill>
                    <a:srgbClr val="FF0000"/>
                  </a:solidFill>
                </a:rPr>
                <a:t>Counter c;</a:t>
              </a:r>
            </a:p>
            <a:p>
              <a:r>
                <a:rPr lang="it-IT" dirty="0">
                  <a:solidFill>
                    <a:srgbClr val="FF0000"/>
                  </a:solidFill>
                </a:rPr>
                <a:t>c=b;</a:t>
              </a:r>
            </a:p>
          </p:txBody>
        </p:sp>
        <p:grpSp>
          <p:nvGrpSpPr>
            <p:cNvPr id="15" name="Gruppo 14">
              <a:extLst>
                <a:ext uri="{FF2B5EF4-FFF2-40B4-BE49-F238E27FC236}">
                  <a16:creationId xmlns:a16="http://schemas.microsoft.com/office/drawing/2014/main" id="{EC55E860-71C6-C9CF-A2CD-1C0398A52F35}"/>
                </a:ext>
              </a:extLst>
            </p:cNvPr>
            <p:cNvGrpSpPr/>
            <p:nvPr/>
          </p:nvGrpSpPr>
          <p:grpSpPr>
            <a:xfrm>
              <a:off x="3762522" y="927806"/>
              <a:ext cx="4481210" cy="1068960"/>
              <a:chOff x="3853838" y="1346284"/>
              <a:chExt cx="4481210" cy="1068960"/>
            </a:xfrm>
          </p:grpSpPr>
          <p:grpSp>
            <p:nvGrpSpPr>
              <p:cNvPr id="5" name="Gruppo 4">
                <a:extLst>
                  <a:ext uri="{FF2B5EF4-FFF2-40B4-BE49-F238E27FC236}">
                    <a16:creationId xmlns:a16="http://schemas.microsoft.com/office/drawing/2014/main" id="{72313D5B-4586-C216-5A43-790AFEE876B9}"/>
                  </a:ext>
                </a:extLst>
              </p:cNvPr>
              <p:cNvGrpSpPr/>
              <p:nvPr/>
            </p:nvGrpSpPr>
            <p:grpSpPr>
              <a:xfrm>
                <a:off x="3853838" y="1346284"/>
                <a:ext cx="4253019" cy="1061830"/>
                <a:chOff x="757494" y="4941167"/>
                <a:chExt cx="4253019" cy="1061830"/>
              </a:xfrm>
            </p:grpSpPr>
            <p:sp>
              <p:nvSpPr>
                <p:cNvPr id="6" name="Rettangolo 5">
                  <a:extLst>
                    <a:ext uri="{FF2B5EF4-FFF2-40B4-BE49-F238E27FC236}">
                      <a16:creationId xmlns:a16="http://schemas.microsoft.com/office/drawing/2014/main" id="{1CCA97A9-2575-5DAC-FB39-BDE6967B6B22}"/>
                    </a:ext>
                  </a:extLst>
                </p:cNvPr>
                <p:cNvSpPr/>
                <p:nvPr/>
              </p:nvSpPr>
              <p:spPr bwMode="auto">
                <a:xfrm>
                  <a:off x="1189542" y="5079667"/>
                  <a:ext cx="441146" cy="369332"/>
                </a:xfrm>
                <a:prstGeom prst="rect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it-IT" dirty="0"/>
                    <a:t>    </a:t>
                  </a:r>
                  <a:endParaRPr kumimoji="0" lang="it-IT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  <p:sp>
              <p:nvSpPr>
                <p:cNvPr id="7" name="CasellaDiTesto 6">
                  <a:extLst>
                    <a:ext uri="{FF2B5EF4-FFF2-40B4-BE49-F238E27FC236}">
                      <a16:creationId xmlns:a16="http://schemas.microsoft.com/office/drawing/2014/main" id="{BD790CAD-AAE2-5AEF-40DB-2F751AE8EC13}"/>
                    </a:ext>
                  </a:extLst>
                </p:cNvPr>
                <p:cNvSpPr txBox="1"/>
                <p:nvPr/>
              </p:nvSpPr>
              <p:spPr>
                <a:xfrm>
                  <a:off x="757494" y="5079667"/>
                  <a:ext cx="43204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t-IT" dirty="0"/>
                    <a:t>b</a:t>
                  </a:r>
                </a:p>
              </p:txBody>
            </p:sp>
            <p:sp>
              <p:nvSpPr>
                <p:cNvPr id="8" name="Rettangolo 7">
                  <a:extLst>
                    <a:ext uri="{FF2B5EF4-FFF2-40B4-BE49-F238E27FC236}">
                      <a16:creationId xmlns:a16="http://schemas.microsoft.com/office/drawing/2014/main" id="{3DECED4C-9244-3C0B-4BE0-4E6CE183876A}"/>
                    </a:ext>
                  </a:extLst>
                </p:cNvPr>
                <p:cNvSpPr/>
                <p:nvPr/>
              </p:nvSpPr>
              <p:spPr bwMode="auto">
                <a:xfrm>
                  <a:off x="2634251" y="4941167"/>
                  <a:ext cx="2376262" cy="646331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 w="12700" cap="flat" cmpd="sng" algn="ctr">
                  <a:solidFill>
                    <a:schemeClr val="accent2">
                      <a:lumMod val="20000"/>
                      <a:lumOff val="8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it-IT" sz="18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</a:rPr>
                    <a:t>Oggetto Counter</a:t>
                  </a:r>
                </a:p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it-IT" sz="18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</a:rPr>
                    <a:t>4 (max) 0 (</a:t>
                  </a:r>
                  <a:r>
                    <a:rPr kumimoji="0" lang="it-IT" sz="1800" b="0" i="0" u="none" strike="noStrike" cap="none" normalizeH="0" baseline="0" dirty="0" err="1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</a:rPr>
                    <a:t>value</a:t>
                  </a:r>
                  <a:r>
                    <a:rPr kumimoji="0" lang="it-IT" sz="18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</a:rPr>
                    <a:t>)</a:t>
                  </a:r>
                </a:p>
              </p:txBody>
            </p:sp>
            <p:cxnSp>
              <p:nvCxnSpPr>
                <p:cNvPr id="9" name="Connettore 1 8">
                  <a:extLst>
                    <a:ext uri="{FF2B5EF4-FFF2-40B4-BE49-F238E27FC236}">
                      <a16:creationId xmlns:a16="http://schemas.microsoft.com/office/drawing/2014/main" id="{012C74A9-C1F9-B99A-4C27-9124A01C2784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1410115" y="5264333"/>
                  <a:ext cx="1224136" cy="0"/>
                </a:xfrm>
                <a:prstGeom prst="line">
                  <a:avLst/>
                </a:prstGeom>
                <a:solidFill>
                  <a:schemeClr val="accent1"/>
                </a:solidFill>
                <a:ln w="25400" cap="rnd" cmpd="sng" algn="ctr">
                  <a:solidFill>
                    <a:schemeClr val="tx1"/>
                  </a:solidFill>
                  <a:prstDash val="solid"/>
                  <a:round/>
                  <a:headEnd type="oval" w="med" len="med"/>
                  <a:tailEnd type="triangle" w="med" len="med"/>
                </a:ln>
                <a:effectLst/>
              </p:spPr>
            </p:cxnSp>
            <p:sp>
              <p:nvSpPr>
                <p:cNvPr id="10" name="Rettangolo 9">
                  <a:extLst>
                    <a:ext uri="{FF2B5EF4-FFF2-40B4-BE49-F238E27FC236}">
                      <a16:creationId xmlns:a16="http://schemas.microsoft.com/office/drawing/2014/main" id="{1B886BEB-6828-772A-394C-036A6E39EB0F}"/>
                    </a:ext>
                  </a:extLst>
                </p:cNvPr>
                <p:cNvSpPr/>
                <p:nvPr/>
              </p:nvSpPr>
              <p:spPr bwMode="auto">
                <a:xfrm>
                  <a:off x="1189542" y="5633665"/>
                  <a:ext cx="441146" cy="369332"/>
                </a:xfrm>
                <a:prstGeom prst="rect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it-IT" dirty="0"/>
                    <a:t>    </a:t>
                  </a:r>
                  <a:endParaRPr kumimoji="0" lang="it-IT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  <p:sp>
              <p:nvSpPr>
                <p:cNvPr id="11" name="CasellaDiTesto 10">
                  <a:extLst>
                    <a:ext uri="{FF2B5EF4-FFF2-40B4-BE49-F238E27FC236}">
                      <a16:creationId xmlns:a16="http://schemas.microsoft.com/office/drawing/2014/main" id="{A33ED3A5-3F16-4762-CC48-832127D193FE}"/>
                    </a:ext>
                  </a:extLst>
                </p:cNvPr>
                <p:cNvSpPr txBox="1"/>
                <p:nvPr/>
              </p:nvSpPr>
              <p:spPr>
                <a:xfrm>
                  <a:off x="757494" y="5633665"/>
                  <a:ext cx="50597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t-IT" dirty="0"/>
                    <a:t>c</a:t>
                  </a:r>
                </a:p>
              </p:txBody>
            </p:sp>
          </p:grpSp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A91B82DA-7B5F-1897-33E4-B991F191E0E0}"/>
                  </a:ext>
                </a:extLst>
              </p:cNvPr>
              <p:cNvSpPr txBox="1"/>
              <p:nvPr/>
            </p:nvSpPr>
            <p:spPr>
              <a:xfrm>
                <a:off x="5649697" y="2045912"/>
                <a:ext cx="26853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dirty="0"/>
                  <a:t>Prima dell’assegnazione</a:t>
                </a:r>
              </a:p>
            </p:txBody>
          </p:sp>
        </p:grpSp>
        <p:grpSp>
          <p:nvGrpSpPr>
            <p:cNvPr id="16" name="Gruppo 15">
              <a:extLst>
                <a:ext uri="{FF2B5EF4-FFF2-40B4-BE49-F238E27FC236}">
                  <a16:creationId xmlns:a16="http://schemas.microsoft.com/office/drawing/2014/main" id="{5D48656E-A908-A0D3-EA1B-A92C1D2BF819}"/>
                </a:ext>
              </a:extLst>
            </p:cNvPr>
            <p:cNvGrpSpPr/>
            <p:nvPr/>
          </p:nvGrpSpPr>
          <p:grpSpPr>
            <a:xfrm>
              <a:off x="3778346" y="2041987"/>
              <a:ext cx="4253019" cy="1069333"/>
              <a:chOff x="3853838" y="1346284"/>
              <a:chExt cx="4253019" cy="1069333"/>
            </a:xfrm>
          </p:grpSpPr>
          <p:grpSp>
            <p:nvGrpSpPr>
              <p:cNvPr id="17" name="Gruppo 16">
                <a:extLst>
                  <a:ext uri="{FF2B5EF4-FFF2-40B4-BE49-F238E27FC236}">
                    <a16:creationId xmlns:a16="http://schemas.microsoft.com/office/drawing/2014/main" id="{2A057281-84E8-93F0-AF18-2BD87726481D}"/>
                  </a:ext>
                </a:extLst>
              </p:cNvPr>
              <p:cNvGrpSpPr/>
              <p:nvPr/>
            </p:nvGrpSpPr>
            <p:grpSpPr>
              <a:xfrm>
                <a:off x="3853838" y="1346284"/>
                <a:ext cx="4253019" cy="1061830"/>
                <a:chOff x="757494" y="4941167"/>
                <a:chExt cx="4253019" cy="1061830"/>
              </a:xfrm>
            </p:grpSpPr>
            <p:sp>
              <p:nvSpPr>
                <p:cNvPr id="19" name="Rettangolo 18">
                  <a:extLst>
                    <a:ext uri="{FF2B5EF4-FFF2-40B4-BE49-F238E27FC236}">
                      <a16:creationId xmlns:a16="http://schemas.microsoft.com/office/drawing/2014/main" id="{E6250201-8F52-9050-1D61-D8D4BB37C3CB}"/>
                    </a:ext>
                  </a:extLst>
                </p:cNvPr>
                <p:cNvSpPr/>
                <p:nvPr/>
              </p:nvSpPr>
              <p:spPr bwMode="auto">
                <a:xfrm>
                  <a:off x="1189542" y="5079667"/>
                  <a:ext cx="441146" cy="369332"/>
                </a:xfrm>
                <a:prstGeom prst="rect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it-IT" dirty="0"/>
                    <a:t>    </a:t>
                  </a:r>
                  <a:endParaRPr kumimoji="0" lang="it-IT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  <p:sp>
              <p:nvSpPr>
                <p:cNvPr id="20" name="CasellaDiTesto 19">
                  <a:extLst>
                    <a:ext uri="{FF2B5EF4-FFF2-40B4-BE49-F238E27FC236}">
                      <a16:creationId xmlns:a16="http://schemas.microsoft.com/office/drawing/2014/main" id="{93713AF7-6C51-D4BF-8CE5-29C68169ECBC}"/>
                    </a:ext>
                  </a:extLst>
                </p:cNvPr>
                <p:cNvSpPr txBox="1"/>
                <p:nvPr/>
              </p:nvSpPr>
              <p:spPr>
                <a:xfrm>
                  <a:off x="757494" y="5079667"/>
                  <a:ext cx="43204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t-IT" dirty="0"/>
                    <a:t>b</a:t>
                  </a:r>
                </a:p>
              </p:txBody>
            </p:sp>
            <p:sp>
              <p:nvSpPr>
                <p:cNvPr id="21" name="Rettangolo 20">
                  <a:extLst>
                    <a:ext uri="{FF2B5EF4-FFF2-40B4-BE49-F238E27FC236}">
                      <a16:creationId xmlns:a16="http://schemas.microsoft.com/office/drawing/2014/main" id="{254A20C9-434D-AFC5-F1FC-A70D15643E7B}"/>
                    </a:ext>
                  </a:extLst>
                </p:cNvPr>
                <p:cNvSpPr/>
                <p:nvPr/>
              </p:nvSpPr>
              <p:spPr bwMode="auto">
                <a:xfrm>
                  <a:off x="2634251" y="4941167"/>
                  <a:ext cx="2376262" cy="646331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 w="12700" cap="flat" cmpd="sng" algn="ctr">
                  <a:solidFill>
                    <a:schemeClr val="accent2">
                      <a:lumMod val="20000"/>
                      <a:lumOff val="8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it-IT" sz="18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</a:rPr>
                    <a:t>Oggetto Counter</a:t>
                  </a:r>
                </a:p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it-IT" sz="18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</a:rPr>
                    <a:t>4 (max) 0 (</a:t>
                  </a:r>
                  <a:r>
                    <a:rPr kumimoji="0" lang="it-IT" sz="1800" b="0" i="0" u="none" strike="noStrike" cap="none" normalizeH="0" baseline="0" dirty="0" err="1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</a:rPr>
                    <a:t>value</a:t>
                  </a:r>
                  <a:r>
                    <a:rPr kumimoji="0" lang="it-IT" sz="18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</a:rPr>
                    <a:t>)</a:t>
                  </a:r>
                </a:p>
              </p:txBody>
            </p:sp>
            <p:cxnSp>
              <p:nvCxnSpPr>
                <p:cNvPr id="22" name="Connettore 1 21">
                  <a:extLst>
                    <a:ext uri="{FF2B5EF4-FFF2-40B4-BE49-F238E27FC236}">
                      <a16:creationId xmlns:a16="http://schemas.microsoft.com/office/drawing/2014/main" id="{26F5B865-73FF-C689-FB3D-C4EB0C254556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1410115" y="5264333"/>
                  <a:ext cx="1224136" cy="0"/>
                </a:xfrm>
                <a:prstGeom prst="line">
                  <a:avLst/>
                </a:prstGeom>
                <a:solidFill>
                  <a:schemeClr val="accent1"/>
                </a:solidFill>
                <a:ln w="25400" cap="rnd" cmpd="sng" algn="ctr">
                  <a:solidFill>
                    <a:schemeClr val="tx1"/>
                  </a:solidFill>
                  <a:prstDash val="solid"/>
                  <a:round/>
                  <a:headEnd type="oval" w="med" len="med"/>
                  <a:tailEnd type="triangle" w="med" len="med"/>
                </a:ln>
                <a:effectLst/>
              </p:spPr>
            </p:cxnSp>
            <p:sp>
              <p:nvSpPr>
                <p:cNvPr id="23" name="Rettangolo 22">
                  <a:extLst>
                    <a:ext uri="{FF2B5EF4-FFF2-40B4-BE49-F238E27FC236}">
                      <a16:creationId xmlns:a16="http://schemas.microsoft.com/office/drawing/2014/main" id="{46D35203-9D55-A430-1C1F-22A75CF8A84E}"/>
                    </a:ext>
                  </a:extLst>
                </p:cNvPr>
                <p:cNvSpPr/>
                <p:nvPr/>
              </p:nvSpPr>
              <p:spPr bwMode="auto">
                <a:xfrm>
                  <a:off x="1189542" y="5633665"/>
                  <a:ext cx="441146" cy="369332"/>
                </a:xfrm>
                <a:prstGeom prst="rect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it-IT" dirty="0"/>
                    <a:t>    </a:t>
                  </a:r>
                  <a:endParaRPr kumimoji="0" lang="it-IT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endParaRPr>
                </a:p>
              </p:txBody>
            </p:sp>
            <p:sp>
              <p:nvSpPr>
                <p:cNvPr id="24" name="CasellaDiTesto 23">
                  <a:extLst>
                    <a:ext uri="{FF2B5EF4-FFF2-40B4-BE49-F238E27FC236}">
                      <a16:creationId xmlns:a16="http://schemas.microsoft.com/office/drawing/2014/main" id="{DE7A06AB-75F6-9D9E-D270-2CE69787C1B9}"/>
                    </a:ext>
                  </a:extLst>
                </p:cNvPr>
                <p:cNvSpPr txBox="1"/>
                <p:nvPr/>
              </p:nvSpPr>
              <p:spPr>
                <a:xfrm>
                  <a:off x="757494" y="5633665"/>
                  <a:ext cx="50597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t-IT" dirty="0"/>
                    <a:t>c</a:t>
                  </a:r>
                </a:p>
              </p:txBody>
            </p:sp>
          </p:grpSp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4517D3F7-B1E7-E7EC-6A87-A2DAB0135AD8}"/>
                  </a:ext>
                </a:extLst>
              </p:cNvPr>
              <p:cNvSpPr txBox="1"/>
              <p:nvPr/>
            </p:nvSpPr>
            <p:spPr>
              <a:xfrm>
                <a:off x="5728214" y="2046285"/>
                <a:ext cx="23775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dirty="0"/>
                  <a:t>Dopo l’assegnazione</a:t>
                </a:r>
              </a:p>
            </p:txBody>
          </p:sp>
        </p:grpSp>
        <p:cxnSp>
          <p:nvCxnSpPr>
            <p:cNvPr id="14" name="Connettore 1 13">
              <a:extLst>
                <a:ext uri="{FF2B5EF4-FFF2-40B4-BE49-F238E27FC236}">
                  <a16:creationId xmlns:a16="http://schemas.microsoft.com/office/drawing/2014/main" id="{25DCA814-AA1A-D7DA-2B71-19AE87DEF4FA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464308" y="2494567"/>
              <a:ext cx="1188414" cy="440383"/>
            </a:xfrm>
            <a:prstGeom prst="line">
              <a:avLst/>
            </a:prstGeom>
            <a:solidFill>
              <a:schemeClr val="accent1"/>
            </a:solidFill>
            <a:ln w="25400" cap="rnd" cmpd="sng" algn="ctr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ffectLst/>
          </p:spPr>
        </p:cxnSp>
      </p:grp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871BB7E1-A5BA-BADD-B678-EEB3A7610772}"/>
              </a:ext>
            </a:extLst>
          </p:cNvPr>
          <p:cNvSpPr txBox="1"/>
          <p:nvPr/>
        </p:nvSpPr>
        <p:spPr>
          <a:xfrm>
            <a:off x="518480" y="3798898"/>
            <a:ext cx="3025187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it-IT" dirty="0">
                <a:solidFill>
                  <a:srgbClr val="FF0000"/>
                </a:solidFill>
              </a:rPr>
              <a:t>Counter b=new Counter(4);</a:t>
            </a:r>
          </a:p>
          <a:p>
            <a:pPr marL="0" indent="0">
              <a:buNone/>
            </a:pPr>
            <a:r>
              <a:rPr lang="it-IT" dirty="0">
                <a:solidFill>
                  <a:srgbClr val="FF0000"/>
                </a:solidFill>
              </a:rPr>
              <a:t>Counter c=new Counter(7);</a:t>
            </a:r>
          </a:p>
          <a:p>
            <a:r>
              <a:rPr lang="it-IT" dirty="0">
                <a:solidFill>
                  <a:srgbClr val="FF0000"/>
                </a:solidFill>
              </a:rPr>
              <a:t>c=b;</a:t>
            </a:r>
          </a:p>
        </p:txBody>
      </p:sp>
      <p:grpSp>
        <p:nvGrpSpPr>
          <p:cNvPr id="26" name="Gruppo 25">
            <a:extLst>
              <a:ext uri="{FF2B5EF4-FFF2-40B4-BE49-F238E27FC236}">
                <a16:creationId xmlns:a16="http://schemas.microsoft.com/office/drawing/2014/main" id="{D190C5DD-D117-9351-77C0-76B25A24BD2F}"/>
              </a:ext>
            </a:extLst>
          </p:cNvPr>
          <p:cNvGrpSpPr/>
          <p:nvPr/>
        </p:nvGrpSpPr>
        <p:grpSpPr>
          <a:xfrm>
            <a:off x="3801001" y="3576368"/>
            <a:ext cx="4462256" cy="1846078"/>
            <a:chOff x="3830214" y="1346284"/>
            <a:chExt cx="4462256" cy="1846078"/>
          </a:xfrm>
        </p:grpSpPr>
        <p:grpSp>
          <p:nvGrpSpPr>
            <p:cNvPr id="27" name="Gruppo 26">
              <a:extLst>
                <a:ext uri="{FF2B5EF4-FFF2-40B4-BE49-F238E27FC236}">
                  <a16:creationId xmlns:a16="http://schemas.microsoft.com/office/drawing/2014/main" id="{F22455A9-D080-EB8A-A405-522DDAF32A98}"/>
                </a:ext>
              </a:extLst>
            </p:cNvPr>
            <p:cNvGrpSpPr/>
            <p:nvPr/>
          </p:nvGrpSpPr>
          <p:grpSpPr>
            <a:xfrm>
              <a:off x="3830214" y="1346284"/>
              <a:ext cx="4276643" cy="1249127"/>
              <a:chOff x="733870" y="4941167"/>
              <a:chExt cx="4276643" cy="1249127"/>
            </a:xfrm>
          </p:grpSpPr>
          <p:sp>
            <p:nvSpPr>
              <p:cNvPr id="29" name="Rettangolo 28">
                <a:extLst>
                  <a:ext uri="{FF2B5EF4-FFF2-40B4-BE49-F238E27FC236}">
                    <a16:creationId xmlns:a16="http://schemas.microsoft.com/office/drawing/2014/main" id="{E13889C1-AF47-A310-6C3A-A6ACB848EBB8}"/>
                  </a:ext>
                </a:extLst>
              </p:cNvPr>
              <p:cNvSpPr/>
              <p:nvPr/>
            </p:nvSpPr>
            <p:spPr bwMode="auto">
              <a:xfrm>
                <a:off x="1189542" y="5079667"/>
                <a:ext cx="441146" cy="369332"/>
              </a:xfrm>
              <a:prstGeom prst="rect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it-IT" dirty="0"/>
                  <a:t>    </a:t>
                </a:r>
                <a:endParaRPr kumimoji="0" lang="it-IT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59A989A6-0479-DF78-67F2-7CAB8553F54D}"/>
                  </a:ext>
                </a:extLst>
              </p:cNvPr>
              <p:cNvSpPr txBox="1"/>
              <p:nvPr/>
            </p:nvSpPr>
            <p:spPr>
              <a:xfrm>
                <a:off x="757494" y="5079667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b</a:t>
                </a:r>
              </a:p>
            </p:txBody>
          </p:sp>
          <p:sp>
            <p:nvSpPr>
              <p:cNvPr id="31" name="Rettangolo 30">
                <a:extLst>
                  <a:ext uri="{FF2B5EF4-FFF2-40B4-BE49-F238E27FC236}">
                    <a16:creationId xmlns:a16="http://schemas.microsoft.com/office/drawing/2014/main" id="{2008A0F1-7220-9EB1-9B82-4CFBEB0676E2}"/>
                  </a:ext>
                </a:extLst>
              </p:cNvPr>
              <p:cNvSpPr/>
              <p:nvPr/>
            </p:nvSpPr>
            <p:spPr bwMode="auto">
              <a:xfrm>
                <a:off x="2634251" y="4941167"/>
                <a:ext cx="2376262" cy="646331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2700" cap="flat" cmpd="sng" algn="ctr">
                <a:solidFill>
                  <a:schemeClr val="accent2">
                    <a:lumMod val="20000"/>
                    <a:lumOff val="8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it-IT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rPr>
                  <a:t>Oggetto Counter</a:t>
                </a:r>
              </a:p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it-IT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rPr>
                  <a:t>4 (max) 0 (</a:t>
                </a:r>
                <a:r>
                  <a:rPr kumimoji="0" lang="it-IT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rPr>
                  <a:t>value</a:t>
                </a:r>
                <a:r>
                  <a:rPr kumimoji="0" lang="it-IT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rPr>
                  <a:t>)</a:t>
                </a:r>
              </a:p>
            </p:txBody>
          </p:sp>
          <p:cxnSp>
            <p:nvCxnSpPr>
              <p:cNvPr id="32" name="Connettore 1 31">
                <a:extLst>
                  <a:ext uri="{FF2B5EF4-FFF2-40B4-BE49-F238E27FC236}">
                    <a16:creationId xmlns:a16="http://schemas.microsoft.com/office/drawing/2014/main" id="{975AF7B5-6341-6908-76F1-A377F0D7D21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410115" y="5264333"/>
                <a:ext cx="1224136" cy="0"/>
              </a:xfrm>
              <a:prstGeom prst="line">
                <a:avLst/>
              </a:prstGeom>
              <a:solidFill>
                <a:schemeClr val="accent1"/>
              </a:solidFill>
              <a:ln w="25400" cap="rnd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triangle" w="med" len="med"/>
              </a:ln>
              <a:effectLst/>
            </p:spPr>
          </p:cxnSp>
          <p:sp>
            <p:nvSpPr>
              <p:cNvPr id="33" name="Rettangolo 32">
                <a:extLst>
                  <a:ext uri="{FF2B5EF4-FFF2-40B4-BE49-F238E27FC236}">
                    <a16:creationId xmlns:a16="http://schemas.microsoft.com/office/drawing/2014/main" id="{31DAA3D3-A9D8-9414-5BEF-C75F88AA1E0B}"/>
                  </a:ext>
                </a:extLst>
              </p:cNvPr>
              <p:cNvSpPr/>
              <p:nvPr/>
            </p:nvSpPr>
            <p:spPr bwMode="auto">
              <a:xfrm>
                <a:off x="1189542" y="5820962"/>
                <a:ext cx="441146" cy="369332"/>
              </a:xfrm>
              <a:prstGeom prst="rect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it-IT" dirty="0"/>
                  <a:t>    </a:t>
                </a:r>
                <a:endParaRPr kumimoji="0" lang="it-IT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34" name="CasellaDiTesto 33">
                <a:extLst>
                  <a:ext uri="{FF2B5EF4-FFF2-40B4-BE49-F238E27FC236}">
                    <a16:creationId xmlns:a16="http://schemas.microsoft.com/office/drawing/2014/main" id="{CAE5B089-3A73-B544-1780-3B2A173E563E}"/>
                  </a:ext>
                </a:extLst>
              </p:cNvPr>
              <p:cNvSpPr txBox="1"/>
              <p:nvPr/>
            </p:nvSpPr>
            <p:spPr>
              <a:xfrm>
                <a:off x="733870" y="5818039"/>
                <a:ext cx="5059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c</a:t>
                </a:r>
              </a:p>
            </p:txBody>
          </p:sp>
        </p:grpSp>
        <p:sp>
          <p:nvSpPr>
            <p:cNvPr id="28" name="CasellaDiTesto 27">
              <a:extLst>
                <a:ext uri="{FF2B5EF4-FFF2-40B4-BE49-F238E27FC236}">
                  <a16:creationId xmlns:a16="http://schemas.microsoft.com/office/drawing/2014/main" id="{4676FE3E-C014-535F-0152-19B9483CAF88}"/>
                </a:ext>
              </a:extLst>
            </p:cNvPr>
            <p:cNvSpPr txBox="1"/>
            <p:nvPr/>
          </p:nvSpPr>
          <p:spPr>
            <a:xfrm>
              <a:off x="5607119" y="2823030"/>
              <a:ext cx="2685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Prima dell’assegnazione</a:t>
              </a:r>
            </a:p>
          </p:txBody>
        </p:sp>
      </p:grpSp>
      <p:sp>
        <p:nvSpPr>
          <p:cNvPr id="35" name="Rettangolo 34">
            <a:extLst>
              <a:ext uri="{FF2B5EF4-FFF2-40B4-BE49-F238E27FC236}">
                <a16:creationId xmlns:a16="http://schemas.microsoft.com/office/drawing/2014/main" id="{1A3285EF-A815-7813-2C83-A0C9EDE4C642}"/>
              </a:ext>
            </a:extLst>
          </p:cNvPr>
          <p:cNvSpPr/>
          <p:nvPr/>
        </p:nvSpPr>
        <p:spPr bwMode="auto">
          <a:xfrm>
            <a:off x="5701382" y="4325554"/>
            <a:ext cx="2376262" cy="646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 cmpd="sng" algn="ctr">
            <a:solidFill>
              <a:schemeClr val="accent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Oggetto Counter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dirty="0"/>
              <a:t>7</a:t>
            </a:r>
            <a:r>
              <a:rPr kumimoji="0" 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(max) 0 (</a:t>
            </a:r>
            <a:r>
              <a:rPr kumimoji="0" 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value</a:t>
            </a:r>
            <a:r>
              <a:rPr kumimoji="0" 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)</a:t>
            </a:r>
          </a:p>
        </p:txBody>
      </p:sp>
      <p:cxnSp>
        <p:nvCxnSpPr>
          <p:cNvPr id="36" name="Connettore 1 35">
            <a:extLst>
              <a:ext uri="{FF2B5EF4-FFF2-40B4-BE49-F238E27FC236}">
                <a16:creationId xmlns:a16="http://schemas.microsoft.com/office/drawing/2014/main" id="{0EB74D08-C246-53E4-725E-0058FE8717D9}"/>
              </a:ext>
            </a:extLst>
          </p:cNvPr>
          <p:cNvCxnSpPr>
            <a:cxnSpLocks/>
          </p:cNvCxnSpPr>
          <p:nvPr/>
        </p:nvCxnSpPr>
        <p:spPr bwMode="auto">
          <a:xfrm>
            <a:off x="4477246" y="4637906"/>
            <a:ext cx="1224136" cy="0"/>
          </a:xfrm>
          <a:prstGeom prst="line">
            <a:avLst/>
          </a:prstGeom>
          <a:solidFill>
            <a:schemeClr val="accent1"/>
          </a:solidFill>
          <a:ln w="25400" cap="rnd" cmpd="sng" algn="ctr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grpSp>
        <p:nvGrpSpPr>
          <p:cNvPr id="37" name="Gruppo 36">
            <a:extLst>
              <a:ext uri="{FF2B5EF4-FFF2-40B4-BE49-F238E27FC236}">
                <a16:creationId xmlns:a16="http://schemas.microsoft.com/office/drawing/2014/main" id="{38D1EAAE-1A27-4949-BB1D-1EBE9F82BEEA}"/>
              </a:ext>
            </a:extLst>
          </p:cNvPr>
          <p:cNvGrpSpPr/>
          <p:nvPr/>
        </p:nvGrpSpPr>
        <p:grpSpPr>
          <a:xfrm>
            <a:off x="880743" y="5036661"/>
            <a:ext cx="4277955" cy="1764849"/>
            <a:chOff x="3830214" y="1346284"/>
            <a:chExt cx="4277955" cy="1764849"/>
          </a:xfrm>
        </p:grpSpPr>
        <p:grpSp>
          <p:nvGrpSpPr>
            <p:cNvPr id="38" name="Gruppo 37">
              <a:extLst>
                <a:ext uri="{FF2B5EF4-FFF2-40B4-BE49-F238E27FC236}">
                  <a16:creationId xmlns:a16="http://schemas.microsoft.com/office/drawing/2014/main" id="{5C1685CE-16C3-0586-4B9E-7E3D57B87FC6}"/>
                </a:ext>
              </a:extLst>
            </p:cNvPr>
            <p:cNvGrpSpPr/>
            <p:nvPr/>
          </p:nvGrpSpPr>
          <p:grpSpPr>
            <a:xfrm>
              <a:off x="3830214" y="1346284"/>
              <a:ext cx="4276643" cy="1249127"/>
              <a:chOff x="733870" y="4941167"/>
              <a:chExt cx="4276643" cy="1249127"/>
            </a:xfrm>
          </p:grpSpPr>
          <p:sp>
            <p:nvSpPr>
              <p:cNvPr id="40" name="Rettangolo 39">
                <a:extLst>
                  <a:ext uri="{FF2B5EF4-FFF2-40B4-BE49-F238E27FC236}">
                    <a16:creationId xmlns:a16="http://schemas.microsoft.com/office/drawing/2014/main" id="{8042B53C-E6B9-AA15-386E-5D3B3139C2CD}"/>
                  </a:ext>
                </a:extLst>
              </p:cNvPr>
              <p:cNvSpPr/>
              <p:nvPr/>
            </p:nvSpPr>
            <p:spPr bwMode="auto">
              <a:xfrm>
                <a:off x="1189542" y="5079667"/>
                <a:ext cx="441146" cy="369332"/>
              </a:xfrm>
              <a:prstGeom prst="rect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it-IT" dirty="0"/>
                  <a:t>    </a:t>
                </a:r>
                <a:endParaRPr kumimoji="0" lang="it-IT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41" name="CasellaDiTesto 40">
                <a:extLst>
                  <a:ext uri="{FF2B5EF4-FFF2-40B4-BE49-F238E27FC236}">
                    <a16:creationId xmlns:a16="http://schemas.microsoft.com/office/drawing/2014/main" id="{AEA573FC-B43B-0900-875B-791DD73FBF7C}"/>
                  </a:ext>
                </a:extLst>
              </p:cNvPr>
              <p:cNvSpPr txBox="1"/>
              <p:nvPr/>
            </p:nvSpPr>
            <p:spPr>
              <a:xfrm>
                <a:off x="757494" y="5079667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b</a:t>
                </a:r>
              </a:p>
            </p:txBody>
          </p:sp>
          <p:sp>
            <p:nvSpPr>
              <p:cNvPr id="42" name="Rettangolo 41">
                <a:extLst>
                  <a:ext uri="{FF2B5EF4-FFF2-40B4-BE49-F238E27FC236}">
                    <a16:creationId xmlns:a16="http://schemas.microsoft.com/office/drawing/2014/main" id="{94CEE21C-F6F6-B102-8688-92C0BE3F7D69}"/>
                  </a:ext>
                </a:extLst>
              </p:cNvPr>
              <p:cNvSpPr/>
              <p:nvPr/>
            </p:nvSpPr>
            <p:spPr bwMode="auto">
              <a:xfrm>
                <a:off x="2634251" y="4941167"/>
                <a:ext cx="2376262" cy="646331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2700" cap="flat" cmpd="sng" algn="ctr">
                <a:solidFill>
                  <a:schemeClr val="accent2">
                    <a:lumMod val="20000"/>
                    <a:lumOff val="8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it-IT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rPr>
                  <a:t>Oggetto Counter</a:t>
                </a:r>
              </a:p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it-IT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rPr>
                  <a:t>4 (max) 0 (</a:t>
                </a:r>
                <a:r>
                  <a:rPr kumimoji="0" lang="it-IT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rPr>
                  <a:t>value</a:t>
                </a:r>
                <a:r>
                  <a:rPr kumimoji="0" lang="it-IT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</a:rPr>
                  <a:t>)</a:t>
                </a:r>
              </a:p>
            </p:txBody>
          </p:sp>
          <p:cxnSp>
            <p:nvCxnSpPr>
              <p:cNvPr id="43" name="Connettore 1 42">
                <a:extLst>
                  <a:ext uri="{FF2B5EF4-FFF2-40B4-BE49-F238E27FC236}">
                    <a16:creationId xmlns:a16="http://schemas.microsoft.com/office/drawing/2014/main" id="{424F74F8-2C69-1999-4F36-B1BABEAE953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410115" y="5264333"/>
                <a:ext cx="1224136" cy="0"/>
              </a:xfrm>
              <a:prstGeom prst="line">
                <a:avLst/>
              </a:prstGeom>
              <a:solidFill>
                <a:schemeClr val="accent1"/>
              </a:solidFill>
              <a:ln w="25400" cap="rnd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triangle" w="med" len="med"/>
              </a:ln>
              <a:effectLst/>
            </p:spPr>
          </p:cxnSp>
          <p:sp>
            <p:nvSpPr>
              <p:cNvPr id="44" name="Rettangolo 43">
                <a:extLst>
                  <a:ext uri="{FF2B5EF4-FFF2-40B4-BE49-F238E27FC236}">
                    <a16:creationId xmlns:a16="http://schemas.microsoft.com/office/drawing/2014/main" id="{10C39D2C-F02E-44AA-C06B-D4E619507D24}"/>
                  </a:ext>
                </a:extLst>
              </p:cNvPr>
              <p:cNvSpPr/>
              <p:nvPr/>
            </p:nvSpPr>
            <p:spPr bwMode="auto">
              <a:xfrm>
                <a:off x="1189542" y="5820962"/>
                <a:ext cx="441146" cy="369332"/>
              </a:xfrm>
              <a:prstGeom prst="rect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it-IT" dirty="0"/>
                  <a:t>    </a:t>
                </a:r>
                <a:endParaRPr kumimoji="0" lang="it-IT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45" name="CasellaDiTesto 44">
                <a:extLst>
                  <a:ext uri="{FF2B5EF4-FFF2-40B4-BE49-F238E27FC236}">
                    <a16:creationId xmlns:a16="http://schemas.microsoft.com/office/drawing/2014/main" id="{57227B96-9620-8B45-8183-95655226E32D}"/>
                  </a:ext>
                </a:extLst>
              </p:cNvPr>
              <p:cNvSpPr txBox="1"/>
              <p:nvPr/>
            </p:nvSpPr>
            <p:spPr>
              <a:xfrm>
                <a:off x="733870" y="5818039"/>
                <a:ext cx="5059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c</a:t>
                </a:r>
              </a:p>
            </p:txBody>
          </p:sp>
        </p:grpSp>
        <p:sp>
          <p:nvSpPr>
            <p:cNvPr id="39" name="CasellaDiTesto 38">
              <a:extLst>
                <a:ext uri="{FF2B5EF4-FFF2-40B4-BE49-F238E27FC236}">
                  <a16:creationId xmlns:a16="http://schemas.microsoft.com/office/drawing/2014/main" id="{254D4A27-7536-4843-B3F8-FE53D9C7F039}"/>
                </a:ext>
              </a:extLst>
            </p:cNvPr>
            <p:cNvSpPr txBox="1"/>
            <p:nvPr/>
          </p:nvSpPr>
          <p:spPr>
            <a:xfrm>
              <a:off x="5730595" y="2741801"/>
              <a:ext cx="23775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Dopo l’assegnazione</a:t>
              </a:r>
            </a:p>
          </p:txBody>
        </p:sp>
      </p:grpSp>
      <p:sp>
        <p:nvSpPr>
          <p:cNvPr id="46" name="Rettangolo 45">
            <a:extLst>
              <a:ext uri="{FF2B5EF4-FFF2-40B4-BE49-F238E27FC236}">
                <a16:creationId xmlns:a16="http://schemas.microsoft.com/office/drawing/2014/main" id="{F4DC75DB-C7C4-3190-4824-951D1ECD4109}"/>
              </a:ext>
            </a:extLst>
          </p:cNvPr>
          <p:cNvSpPr/>
          <p:nvPr/>
        </p:nvSpPr>
        <p:spPr bwMode="auto">
          <a:xfrm>
            <a:off x="2781124" y="5785847"/>
            <a:ext cx="2376262" cy="646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 cmpd="sng" algn="ctr">
            <a:solidFill>
              <a:schemeClr val="accent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Oggetto Counter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dirty="0"/>
              <a:t>7</a:t>
            </a:r>
            <a:r>
              <a:rPr kumimoji="0" 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(max) 0 (</a:t>
            </a:r>
            <a:r>
              <a:rPr kumimoji="0" 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value</a:t>
            </a:r>
            <a:r>
              <a:rPr kumimoji="0" 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)</a:t>
            </a:r>
          </a:p>
        </p:txBody>
      </p:sp>
      <p:cxnSp>
        <p:nvCxnSpPr>
          <p:cNvPr id="47" name="Connettore 1 46">
            <a:extLst>
              <a:ext uri="{FF2B5EF4-FFF2-40B4-BE49-F238E27FC236}">
                <a16:creationId xmlns:a16="http://schemas.microsoft.com/office/drawing/2014/main" id="{042084E9-D373-2D77-E218-74979614674F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6988" y="5544493"/>
            <a:ext cx="1224136" cy="553706"/>
          </a:xfrm>
          <a:prstGeom prst="line">
            <a:avLst/>
          </a:prstGeom>
          <a:solidFill>
            <a:schemeClr val="accent1"/>
          </a:solidFill>
          <a:ln w="25400" cap="rnd" cmpd="sng" algn="ctr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ffectLst/>
        </p:spPr>
      </p:cxnSp>
      <p:grpSp>
        <p:nvGrpSpPr>
          <p:cNvPr id="50" name="Gruppo 49">
            <a:extLst>
              <a:ext uri="{FF2B5EF4-FFF2-40B4-BE49-F238E27FC236}">
                <a16:creationId xmlns:a16="http://schemas.microsoft.com/office/drawing/2014/main" id="{6292BF92-6327-F558-B9F5-89069E5A6CC9}"/>
              </a:ext>
            </a:extLst>
          </p:cNvPr>
          <p:cNvGrpSpPr/>
          <p:nvPr/>
        </p:nvGrpSpPr>
        <p:grpSpPr>
          <a:xfrm>
            <a:off x="5345938" y="5634638"/>
            <a:ext cx="3328529" cy="923330"/>
            <a:chOff x="5345938" y="5634638"/>
            <a:chExt cx="3328529" cy="923330"/>
          </a:xfrm>
        </p:grpSpPr>
        <p:pic>
          <p:nvPicPr>
            <p:cNvPr id="2050" name="Picture 2" descr="😢 Faccina Che Piange Emoji">
              <a:extLst>
                <a:ext uri="{FF2B5EF4-FFF2-40B4-BE49-F238E27FC236}">
                  <a16:creationId xmlns:a16="http://schemas.microsoft.com/office/drawing/2014/main" id="{49AA7B73-E900-B7E3-82AD-02A54A7B23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45938" y="5712769"/>
              <a:ext cx="815011" cy="7670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9" name="CasellaDiTesto 48">
              <a:extLst>
                <a:ext uri="{FF2B5EF4-FFF2-40B4-BE49-F238E27FC236}">
                  <a16:creationId xmlns:a16="http://schemas.microsoft.com/office/drawing/2014/main" id="{C0217A0A-0DEB-96D4-AA3C-212503E923B5}"/>
                </a:ext>
              </a:extLst>
            </p:cNvPr>
            <p:cNvSpPr txBox="1"/>
            <p:nvPr/>
          </p:nvSpPr>
          <p:spPr>
            <a:xfrm>
              <a:off x="6348189" y="5634638"/>
              <a:ext cx="2326278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>
                  <a:solidFill>
                    <a:srgbClr val="FF0000"/>
                  </a:solidFill>
                </a:rPr>
                <a:t>Oggetto orfano! </a:t>
              </a:r>
            </a:p>
            <a:p>
              <a:r>
                <a:rPr lang="it-IT" dirty="0"/>
                <a:t>Verrà deallocato</a:t>
              </a:r>
            </a:p>
            <a:p>
              <a:r>
                <a:rPr lang="it-IT" dirty="0"/>
                <a:t>dal </a:t>
              </a:r>
              <a:r>
                <a:rPr lang="it-IT" dirty="0" err="1"/>
                <a:t>garbage</a:t>
              </a:r>
              <a:r>
                <a:rPr lang="it-IT" dirty="0"/>
                <a:t> </a:t>
              </a:r>
              <a:r>
                <a:rPr lang="it-IT" dirty="0" err="1"/>
                <a:t>collector</a:t>
              </a:r>
              <a:endParaRPr lang="it-IT" dirty="0"/>
            </a:p>
          </p:txBody>
        </p:sp>
      </p:grp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CDB65B10-F1BE-C13E-5EE0-F487BF1B9F52}"/>
              </a:ext>
            </a:extLst>
          </p:cNvPr>
          <p:cNvSpPr txBox="1"/>
          <p:nvPr/>
        </p:nvSpPr>
        <p:spPr>
          <a:xfrm>
            <a:off x="1556988" y="2693511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caso1</a:t>
            </a:r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F110F56F-F406-36C3-3D2F-6AE9143B22B3}"/>
              </a:ext>
            </a:extLst>
          </p:cNvPr>
          <p:cNvSpPr txBox="1"/>
          <p:nvPr/>
        </p:nvSpPr>
        <p:spPr>
          <a:xfrm>
            <a:off x="1753069" y="4727373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caso2</a:t>
            </a:r>
          </a:p>
        </p:txBody>
      </p:sp>
    </p:spTree>
    <p:extLst>
      <p:ext uri="{BB962C8B-B14F-4D97-AF65-F5344CB8AC3E}">
        <p14:creationId xmlns:p14="http://schemas.microsoft.com/office/powerpoint/2010/main" val="367799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727C857-E9B2-4B8C-A984-FBAE2F454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709" y="-243408"/>
            <a:ext cx="7543800" cy="1295400"/>
          </a:xfrm>
        </p:spPr>
        <p:txBody>
          <a:bodyPr/>
          <a:lstStyle/>
          <a:p>
            <a:r>
              <a:rPr lang="it-IT" dirty="0"/>
              <a:t>Copia di oggetti (3/4)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ADA3B20-AEC2-235F-ED1B-BDBD1149B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709" y="1340768"/>
            <a:ext cx="8229600" cy="4411662"/>
          </a:xfrm>
        </p:spPr>
        <p:txBody>
          <a:bodyPr/>
          <a:lstStyle/>
          <a:p>
            <a:r>
              <a:rPr lang="it-IT" sz="2600" dirty="0"/>
              <a:t>La copia tra oggetti avviene in due casi:</a:t>
            </a:r>
          </a:p>
          <a:p>
            <a:pPr lvl="1"/>
            <a:r>
              <a:rPr lang="it-IT" sz="2200" dirty="0"/>
              <a:t>Quando un nuovo oggetto viene istanziato inizializzandolo con lo stato di un altro oggetto della sua classe già esistente (costruttore di copia)</a:t>
            </a:r>
          </a:p>
          <a:p>
            <a:pPr lvl="1"/>
            <a:r>
              <a:rPr lang="it-IT" sz="2200" dirty="0"/>
              <a:t>Quando lo stato di un oggetto già esistente sovrascrive lo stato di un altro oggetto già esistente della sua classe (assegnazione)</a:t>
            </a:r>
          </a:p>
          <a:p>
            <a:r>
              <a:rPr lang="it-IT" sz="2600" dirty="0"/>
              <a:t>Abbiamo già visto il caso del costruttore, nella precedente lezione sulle classi, quel costruttore copia lo stato variabile per variabile nel nuovo oggetto (riferito attraverso </a:t>
            </a:r>
            <a:r>
              <a:rPr lang="it-IT" sz="2600" dirty="0" err="1"/>
              <a:t>this</a:t>
            </a:r>
            <a:r>
              <a:rPr lang="it-IT" sz="2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65284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7BE5F1-368C-A1D0-66DB-380AAB11A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Copia di oggetti (4/4)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C21767-0247-AAE8-D112-192E20D98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Nel caso dell’assegnazione come abbiamo capito, NON è possibile utilizzare = </a:t>
            </a:r>
          </a:p>
          <a:p>
            <a:r>
              <a:rPr lang="it-IT" dirty="0">
                <a:effectLst/>
                <a:latin typeface="Arial" panose="020B0604020202020204" pitchFamily="34" charset="0"/>
              </a:rPr>
              <a:t>Per creare davvero una copia si usa tipicamente il metodo </a:t>
            </a:r>
            <a:r>
              <a:rPr lang="it-IT" b="1" dirty="0">
                <a:effectLst/>
                <a:latin typeface="Courier New" panose="02070309020205020404" pitchFamily="49" charset="0"/>
              </a:rPr>
              <a:t>clone</a:t>
            </a:r>
            <a:r>
              <a:rPr lang="it-IT" dirty="0">
                <a:effectLst/>
                <a:latin typeface="Arial" panose="020B0604020202020204" pitchFamily="34" charset="0"/>
              </a:rPr>
              <a:t>, implementato in molte classi di libreria.</a:t>
            </a:r>
          </a:p>
          <a:p>
            <a:r>
              <a:rPr lang="it-IT" dirty="0">
                <a:latin typeface="Arial" panose="020B0604020202020204" pitchFamily="34" charset="0"/>
              </a:rPr>
              <a:t>Lo studio e l’utilizzo del metodo clone verrà trattato dopo le lezioni sulla ereditarietà</a:t>
            </a:r>
            <a:endParaRPr lang="it-IT" dirty="0">
              <a:effectLst/>
              <a:latin typeface="Arial" panose="020B0604020202020204" pitchFamily="34" charset="0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69646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0DE0CD-290A-4E8E-9A18-B01333B3B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565" y="-405854"/>
            <a:ext cx="7543800" cy="1295400"/>
          </a:xfrm>
        </p:spPr>
        <p:txBody>
          <a:bodyPr/>
          <a:lstStyle/>
          <a:p>
            <a:r>
              <a:rPr lang="it-IT" dirty="0"/>
              <a:t>Confronto tra oggetti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18D433C-4984-A106-D1FE-FC3DBD26D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565" y="1340768"/>
            <a:ext cx="8229600" cy="4411662"/>
          </a:xfrm>
        </p:spPr>
        <p:txBody>
          <a:bodyPr/>
          <a:lstStyle/>
          <a:p>
            <a:r>
              <a:rPr lang="it-IT" sz="2400" dirty="0"/>
              <a:t>Lo stesso problema che si presenta per la copia si pone per il confronto tra oggetti</a:t>
            </a:r>
          </a:p>
          <a:p>
            <a:r>
              <a:rPr lang="it-IT" sz="2400" dirty="0"/>
              <a:t>L’istruzione: </a:t>
            </a:r>
            <a:r>
              <a:rPr lang="it-IT" sz="2400" dirty="0">
                <a:solidFill>
                  <a:srgbClr val="FF0000"/>
                </a:solidFill>
              </a:rPr>
              <a:t>b==c NON confronta lo stato di due oggetti </a:t>
            </a:r>
            <a:r>
              <a:rPr lang="it-IT" sz="2400" dirty="0"/>
              <a:t>ma il valore di due riferimenti!!!</a:t>
            </a:r>
          </a:p>
          <a:p>
            <a:pPr lvl="1"/>
            <a:r>
              <a:rPr lang="it-IT" sz="2000" dirty="0"/>
              <a:t>Due riferimenti sono uguali se puntano allo stesso oggetto e sono diversi altrimenti</a:t>
            </a:r>
          </a:p>
          <a:p>
            <a:r>
              <a:rPr lang="it-IT" sz="2400" dirty="0"/>
              <a:t>Per confrontate lo stato degli oggetti Java fornisce il metodo (</a:t>
            </a:r>
            <a:r>
              <a:rPr lang="it-IT" sz="2400" b="1" dirty="0" err="1">
                <a:latin typeface="Courier New" panose="02070309020205020404" pitchFamily="49" charset="0"/>
              </a:rPr>
              <a:t>equals</a:t>
            </a:r>
            <a:r>
              <a:rPr lang="it-IT" sz="2400" dirty="0"/>
              <a:t>) di cui è necessario fare l’</a:t>
            </a:r>
            <a:r>
              <a:rPr lang="it-IT" sz="2400" dirty="0" err="1"/>
              <a:t>oveloading</a:t>
            </a:r>
            <a:r>
              <a:rPr lang="it-IT" sz="2400" dirty="0"/>
              <a:t> per personalizzare il criterio di uguaglianza tra gli oggetti da caso a caso.</a:t>
            </a:r>
            <a:endParaRPr lang="it-IT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5676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CAABE2-573D-B072-5109-85490FD45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09" y="-315416"/>
            <a:ext cx="7543800" cy="1295400"/>
          </a:xfrm>
        </p:spPr>
        <p:txBody>
          <a:bodyPr/>
          <a:lstStyle/>
          <a:p>
            <a:r>
              <a:rPr lang="it-IT" dirty="0"/>
              <a:t>Classe Counter: </a:t>
            </a:r>
            <a:r>
              <a:rPr lang="it-IT" i="1" dirty="0" err="1"/>
              <a:t>equals</a:t>
            </a:r>
            <a:endParaRPr lang="it-IT" i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0E53FAA-151E-713B-3563-4D5E02EAA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2520280"/>
          </a:xfrm>
        </p:spPr>
        <p:txBody>
          <a:bodyPr/>
          <a:lstStyle/>
          <a:p>
            <a:r>
              <a:rPr lang="it-IT" sz="1600" dirty="0"/>
              <a:t>Facciamo l’</a:t>
            </a:r>
            <a:r>
              <a:rPr lang="it-IT" sz="1600" dirty="0" err="1"/>
              <a:t>overload</a:t>
            </a:r>
            <a:r>
              <a:rPr lang="it-IT" sz="1600" dirty="0"/>
              <a:t> del metodo </a:t>
            </a:r>
            <a:r>
              <a:rPr lang="it-IT" sz="1600" b="1" i="1" dirty="0" err="1"/>
              <a:t>equals</a:t>
            </a:r>
            <a:r>
              <a:rPr lang="it-IT" sz="1600" dirty="0"/>
              <a:t> per la classe Counter. </a:t>
            </a:r>
          </a:p>
          <a:p>
            <a:r>
              <a:rPr lang="it-IT" sz="1600" dirty="0"/>
              <a:t>Il metodo deve implementare l’operatore binario == quindi deve operare su due oggetti, l’operando di sinistra è il riferimento all’oggetto corrente al quale si applica il metodo, l’operando di destra è il riferimento all’altro oggetto, che viene passato come parametro al metodo</a:t>
            </a:r>
          </a:p>
          <a:p>
            <a:r>
              <a:rPr lang="it-IT" sz="1600" dirty="0"/>
              <a:t>Il metodo confronta il valore delle variabili di istanza dell’oggetto corrente (quello implicitamente riferito da </a:t>
            </a:r>
            <a:r>
              <a:rPr lang="it-IT" sz="1600" b="1" i="1" dirty="0" err="1"/>
              <a:t>this</a:t>
            </a:r>
            <a:r>
              <a:rPr lang="it-IT" sz="1600" dirty="0"/>
              <a:t>) con il valore delle variabili di istanza dell’altro oggetto</a:t>
            </a:r>
          </a:p>
          <a:p>
            <a:r>
              <a:rPr lang="it-IT" sz="1600" dirty="0"/>
              <a:t>Il metodo è un predicato, ritorna un valore booleano che sarà vero se se lo stato dei due oggetti è uguale, falso altrimenti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5327A35-DCE0-2588-CE95-84FA3DAA5D78}"/>
              </a:ext>
            </a:extLst>
          </p:cNvPr>
          <p:cNvSpPr txBox="1"/>
          <p:nvPr/>
        </p:nvSpPr>
        <p:spPr>
          <a:xfrm>
            <a:off x="2195736" y="3872081"/>
            <a:ext cx="5186035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dirty="0"/>
              <a:t>public </a:t>
            </a:r>
            <a:r>
              <a:rPr lang="it-IT" dirty="0" err="1"/>
              <a:t>boolean</a:t>
            </a:r>
            <a:r>
              <a:rPr lang="it-IT" dirty="0"/>
              <a:t> </a:t>
            </a:r>
            <a:r>
              <a:rPr lang="it-IT" dirty="0" err="1"/>
              <a:t>equals</a:t>
            </a:r>
            <a:r>
              <a:rPr lang="it-IT" dirty="0"/>
              <a:t>(Counter C) {</a:t>
            </a:r>
          </a:p>
          <a:p>
            <a:r>
              <a:rPr lang="it-IT" dirty="0"/>
              <a:t>           </a:t>
            </a:r>
            <a:r>
              <a:rPr lang="it-IT" dirty="0" err="1"/>
              <a:t>return</a:t>
            </a:r>
            <a:r>
              <a:rPr lang="it-IT" dirty="0"/>
              <a:t> (max==</a:t>
            </a:r>
            <a:r>
              <a:rPr lang="it-IT" dirty="0" err="1"/>
              <a:t>C.max</a:t>
            </a:r>
            <a:r>
              <a:rPr lang="it-IT" dirty="0"/>
              <a:t> &amp;&amp; </a:t>
            </a:r>
            <a:r>
              <a:rPr lang="it-IT" dirty="0" err="1"/>
              <a:t>value</a:t>
            </a:r>
            <a:r>
              <a:rPr lang="it-IT" dirty="0"/>
              <a:t>==</a:t>
            </a:r>
            <a:r>
              <a:rPr lang="it-IT" dirty="0" err="1"/>
              <a:t>C.value</a:t>
            </a:r>
            <a:r>
              <a:rPr lang="it-IT" dirty="0"/>
              <a:t>);</a:t>
            </a:r>
          </a:p>
          <a:p>
            <a:r>
              <a:rPr lang="it-IT" dirty="0"/>
              <a:t>    }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76FBA62-0DFC-1B99-F45C-5EFE64A57FF5}"/>
              </a:ext>
            </a:extLst>
          </p:cNvPr>
          <p:cNvSpPr txBox="1"/>
          <p:nvPr/>
        </p:nvSpPr>
        <p:spPr>
          <a:xfrm>
            <a:off x="153162" y="5061083"/>
            <a:ext cx="8837676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dirty="0" err="1"/>
              <a:t>if</a:t>
            </a:r>
            <a:r>
              <a:rPr lang="it-IT" dirty="0"/>
              <a:t>(</a:t>
            </a:r>
            <a:r>
              <a:rPr lang="it-IT" dirty="0" err="1">
                <a:solidFill>
                  <a:srgbClr val="FF0000"/>
                </a:solidFill>
              </a:rPr>
              <a:t>c.equals</a:t>
            </a:r>
            <a:r>
              <a:rPr lang="it-IT" dirty="0">
                <a:solidFill>
                  <a:srgbClr val="FF0000"/>
                </a:solidFill>
              </a:rPr>
              <a:t>(d</a:t>
            </a:r>
            <a:r>
              <a:rPr lang="it-IT" dirty="0"/>
              <a:t>)) </a:t>
            </a:r>
            <a:r>
              <a:rPr lang="it-IT" dirty="0" err="1"/>
              <a:t>System.out.print</a:t>
            </a:r>
            <a:r>
              <a:rPr lang="it-IT" dirty="0"/>
              <a:t>("gli oggetti riferiti da c e d sono uguali \</a:t>
            </a:r>
            <a:r>
              <a:rPr lang="it-IT" dirty="0" err="1"/>
              <a:t>n</a:t>
            </a:r>
            <a:r>
              <a:rPr lang="it-IT" dirty="0"/>
              <a:t>");</a:t>
            </a:r>
          </a:p>
          <a:p>
            <a:r>
              <a:rPr lang="it-IT" dirty="0"/>
              <a:t>    else </a:t>
            </a:r>
            <a:r>
              <a:rPr lang="it-IT" dirty="0" err="1"/>
              <a:t>System.out.print</a:t>
            </a:r>
            <a:r>
              <a:rPr lang="it-IT" dirty="0"/>
              <a:t>("gli oggetti riferiti da c e d sono diversi \</a:t>
            </a:r>
            <a:r>
              <a:rPr lang="it-IT" dirty="0" err="1"/>
              <a:t>n</a:t>
            </a:r>
            <a:r>
              <a:rPr lang="it-IT" dirty="0"/>
              <a:t>");</a:t>
            </a:r>
          </a:p>
          <a:p>
            <a:r>
              <a:rPr lang="it-IT" dirty="0" err="1"/>
              <a:t>if</a:t>
            </a:r>
            <a:r>
              <a:rPr lang="it-IT" dirty="0"/>
              <a:t>(</a:t>
            </a:r>
            <a:r>
              <a:rPr lang="it-IT" dirty="0">
                <a:solidFill>
                  <a:srgbClr val="FF0000"/>
                </a:solidFill>
              </a:rPr>
              <a:t>c==d</a:t>
            </a:r>
            <a:r>
              <a:rPr lang="it-IT" dirty="0"/>
              <a:t>) </a:t>
            </a:r>
            <a:r>
              <a:rPr lang="it-IT" dirty="0" err="1"/>
              <a:t>System.out.print</a:t>
            </a:r>
            <a:r>
              <a:rPr lang="it-IT" dirty="0"/>
              <a:t>("c e d sono uguali, quindi puntano allo stesso oggetto \</a:t>
            </a:r>
            <a:r>
              <a:rPr lang="it-IT" dirty="0" err="1"/>
              <a:t>n</a:t>
            </a:r>
            <a:r>
              <a:rPr lang="it-IT" dirty="0"/>
              <a:t>");</a:t>
            </a:r>
          </a:p>
          <a:p>
            <a:r>
              <a:rPr lang="it-IT" dirty="0"/>
              <a:t>   else </a:t>
            </a:r>
            <a:r>
              <a:rPr lang="it-IT" dirty="0" err="1"/>
              <a:t>System.out.print</a:t>
            </a:r>
            <a:r>
              <a:rPr lang="it-IT" dirty="0"/>
              <a:t>("c e d sono diversi, quindi puntano a oggetti diversi \</a:t>
            </a:r>
            <a:r>
              <a:rPr lang="it-IT" dirty="0" err="1"/>
              <a:t>n</a:t>
            </a:r>
            <a:r>
              <a:rPr lang="it-IT" dirty="0"/>
              <a:t>");</a:t>
            </a:r>
          </a:p>
        </p:txBody>
      </p:sp>
    </p:spTree>
    <p:extLst>
      <p:ext uri="{BB962C8B-B14F-4D97-AF65-F5344CB8AC3E}">
        <p14:creationId xmlns:p14="http://schemas.microsoft.com/office/powerpoint/2010/main" val="1998793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F8897C5-2F3F-6BCD-26E6-7C3B26231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E se volessimo implementare un metodo che realizza l’operatore != (diverso) per gli oggetti Counter?</a:t>
            </a:r>
          </a:p>
          <a:p>
            <a:r>
              <a:rPr lang="it-IT" dirty="0"/>
              <a:t>Abbiamo due possibilità:</a:t>
            </a:r>
          </a:p>
          <a:p>
            <a:pPr lvl="1"/>
            <a:r>
              <a:rPr lang="it-IT" dirty="0"/>
              <a:t>Lo implementiamo «from scratch»… scrivendo il codice che confronta le singole variabili di istanza</a:t>
            </a:r>
          </a:p>
          <a:p>
            <a:pPr lvl="1"/>
            <a:r>
              <a:rPr lang="it-IT" dirty="0"/>
              <a:t>Usiamo </a:t>
            </a:r>
            <a:r>
              <a:rPr lang="it-IT" b="1" i="1" dirty="0" err="1"/>
              <a:t>equals</a:t>
            </a:r>
            <a:r>
              <a:rPr lang="it-IT" dirty="0"/>
              <a:t> (se due oggetti non sono uguali sono diversi…)</a:t>
            </a: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D5B18BBD-C7DB-ECF2-4AE8-E305D28E7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Classe Counter: </a:t>
            </a:r>
            <a:r>
              <a:rPr lang="it-IT" dirty="0" err="1"/>
              <a:t>not_</a:t>
            </a:r>
            <a:r>
              <a:rPr lang="it-IT" i="1" dirty="0" err="1"/>
              <a:t>equal</a:t>
            </a:r>
            <a:endParaRPr lang="it-IT" i="1" dirty="0"/>
          </a:p>
        </p:txBody>
      </p:sp>
    </p:spTree>
    <p:extLst>
      <p:ext uri="{BB962C8B-B14F-4D97-AF65-F5344CB8AC3E}">
        <p14:creationId xmlns:p14="http://schemas.microsoft.com/office/powerpoint/2010/main" val="759242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7BF78E-C875-E812-8333-BCB40B3B5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006" y="-459432"/>
            <a:ext cx="7543800" cy="1295400"/>
          </a:xfrm>
        </p:spPr>
        <p:txBody>
          <a:bodyPr/>
          <a:lstStyle/>
          <a:p>
            <a:r>
              <a:rPr lang="it-IT" dirty="0"/>
              <a:t>Counter: </a:t>
            </a:r>
            <a:r>
              <a:rPr lang="it-IT" dirty="0" err="1"/>
              <a:t>not_equal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5C6A696-63BD-163C-79C9-06DE3247C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980728"/>
            <a:ext cx="8229600" cy="4411662"/>
          </a:xfrm>
        </p:spPr>
        <p:txBody>
          <a:bodyPr/>
          <a:lstStyle/>
          <a:p>
            <a:r>
              <a:rPr lang="it-IT" sz="2400" dirty="0"/>
              <a:t>Implementiamo il metodo </a:t>
            </a:r>
            <a:r>
              <a:rPr lang="it-IT" sz="2400" b="1" i="1" dirty="0" err="1"/>
              <a:t>not_equal</a:t>
            </a:r>
            <a:r>
              <a:rPr lang="it-IT" sz="2400" b="1" i="1" dirty="0"/>
              <a:t> </a:t>
            </a:r>
            <a:r>
              <a:rPr lang="it-IT" sz="2400" dirty="0"/>
              <a:t>utilizzando </a:t>
            </a:r>
            <a:r>
              <a:rPr lang="it-IT" sz="2400" b="1" i="1" dirty="0" err="1"/>
              <a:t>equals</a:t>
            </a:r>
            <a:r>
              <a:rPr lang="it-IT" sz="2400" dirty="0"/>
              <a:t> già a nostra disposizione</a:t>
            </a:r>
          </a:p>
          <a:p>
            <a:r>
              <a:rPr lang="it-IT" sz="2400" dirty="0"/>
              <a:t>Anche </a:t>
            </a:r>
            <a:r>
              <a:rPr lang="it-IT" sz="2400" b="1" i="1" dirty="0" err="1"/>
              <a:t>not_equal</a:t>
            </a:r>
            <a:r>
              <a:rPr lang="it-IT" sz="2400" b="1" i="1" dirty="0"/>
              <a:t> </a:t>
            </a:r>
            <a:r>
              <a:rPr lang="it-IT" sz="2400" dirty="0"/>
              <a:t>realizza un operatore binario, quindi si applica ad un riferimento all’oggetto corrente, e riceve il riferimento all’operando di destra come parametro</a:t>
            </a:r>
          </a:p>
          <a:p>
            <a:r>
              <a:rPr lang="it-IT" sz="2400" dirty="0"/>
              <a:t>Per negare il risultato di </a:t>
            </a:r>
            <a:r>
              <a:rPr lang="it-IT" sz="2400" b="1" i="1" dirty="0" err="1"/>
              <a:t>equal</a:t>
            </a:r>
            <a:r>
              <a:rPr lang="it-IT" sz="2400" dirty="0"/>
              <a:t> dobbiamo applicare al valore ritornato l’operatore </a:t>
            </a:r>
            <a:r>
              <a:rPr lang="it-IT" sz="2400" b="1" dirty="0" err="1"/>
              <a:t>not</a:t>
            </a:r>
            <a:r>
              <a:rPr lang="it-IT" sz="2400" b="1" dirty="0"/>
              <a:t> </a:t>
            </a:r>
            <a:r>
              <a:rPr lang="it-IT" sz="2400" dirty="0"/>
              <a:t>che è </a:t>
            </a:r>
            <a:r>
              <a:rPr lang="it-IT" sz="2400" b="1" dirty="0"/>
              <a:t>! </a:t>
            </a:r>
            <a:r>
              <a:rPr lang="it-IT" sz="2400" dirty="0"/>
              <a:t>in Java (e anche in C/C++), in questo modo </a:t>
            </a:r>
            <a:r>
              <a:rPr lang="it-IT" sz="2400" b="1" i="1" dirty="0" err="1"/>
              <a:t>not_equal</a:t>
            </a:r>
            <a:r>
              <a:rPr lang="it-IT" sz="2400" b="1" i="1" dirty="0"/>
              <a:t> </a:t>
            </a:r>
            <a:r>
              <a:rPr lang="it-IT" sz="2400" dirty="0"/>
              <a:t>negherà il risultato di </a:t>
            </a:r>
            <a:r>
              <a:rPr lang="it-IT" sz="2400" b="1" i="1" dirty="0" err="1"/>
              <a:t>equal</a:t>
            </a:r>
            <a:endParaRPr lang="it-IT" sz="2400" b="1" i="1" dirty="0"/>
          </a:p>
          <a:p>
            <a:r>
              <a:rPr lang="it-IT" sz="2400" b="1" i="1" dirty="0"/>
              <a:t>Ma a chi dobbiamo applicare </a:t>
            </a:r>
            <a:r>
              <a:rPr lang="it-IT" sz="2400" b="1" i="1" dirty="0" err="1"/>
              <a:t>equals</a:t>
            </a:r>
            <a:r>
              <a:rPr lang="it-IT" sz="2400" b="1" i="1" dirty="0"/>
              <a:t>?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DDAA566-085C-9835-CCC1-223CEF4799A5}"/>
              </a:ext>
            </a:extLst>
          </p:cNvPr>
          <p:cNvSpPr txBox="1"/>
          <p:nvPr/>
        </p:nvSpPr>
        <p:spPr>
          <a:xfrm>
            <a:off x="1691680" y="5075485"/>
            <a:ext cx="4095993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dirty="0"/>
              <a:t>public </a:t>
            </a:r>
            <a:r>
              <a:rPr lang="it-IT" dirty="0" err="1"/>
              <a:t>boolean</a:t>
            </a:r>
            <a:r>
              <a:rPr lang="it-IT" dirty="0"/>
              <a:t> </a:t>
            </a:r>
            <a:r>
              <a:rPr lang="it-IT" dirty="0" err="1"/>
              <a:t>not_equal</a:t>
            </a:r>
            <a:r>
              <a:rPr lang="it-IT" dirty="0"/>
              <a:t>(Counter C) {</a:t>
            </a:r>
          </a:p>
          <a:p>
            <a:r>
              <a:rPr lang="it-IT" dirty="0"/>
              <a:t>           </a:t>
            </a:r>
            <a:r>
              <a:rPr lang="it-IT" dirty="0" err="1"/>
              <a:t>return</a:t>
            </a:r>
            <a:r>
              <a:rPr lang="it-IT" dirty="0"/>
              <a:t> </a:t>
            </a:r>
            <a:r>
              <a:rPr lang="it-IT" b="1" dirty="0">
                <a:solidFill>
                  <a:srgbClr val="00B050"/>
                </a:solidFill>
              </a:rPr>
              <a:t>!</a:t>
            </a:r>
            <a:r>
              <a:rPr lang="it-IT" dirty="0"/>
              <a:t>(</a:t>
            </a:r>
            <a:r>
              <a:rPr lang="it-IT" dirty="0" err="1">
                <a:solidFill>
                  <a:srgbClr val="FF0000"/>
                </a:solidFill>
              </a:rPr>
              <a:t>this.</a:t>
            </a:r>
            <a:r>
              <a:rPr lang="it-IT" dirty="0" err="1"/>
              <a:t>equals</a:t>
            </a:r>
            <a:r>
              <a:rPr lang="it-IT" dirty="0"/>
              <a:t>(C));</a:t>
            </a:r>
          </a:p>
          <a:p>
            <a:r>
              <a:rPr lang="it-IT" dirty="0"/>
              <a:t>    }</a:t>
            </a:r>
          </a:p>
        </p:txBody>
      </p:sp>
      <p:sp>
        <p:nvSpPr>
          <p:cNvPr id="5" name="Fumetto 3 4">
            <a:extLst>
              <a:ext uri="{FF2B5EF4-FFF2-40B4-BE49-F238E27FC236}">
                <a16:creationId xmlns:a16="http://schemas.microsoft.com/office/drawing/2014/main" id="{3D6D0796-1FE2-57EF-21DF-17733467D796}"/>
              </a:ext>
            </a:extLst>
          </p:cNvPr>
          <p:cNvSpPr/>
          <p:nvPr/>
        </p:nvSpPr>
        <p:spPr bwMode="auto">
          <a:xfrm>
            <a:off x="5553044" y="5537150"/>
            <a:ext cx="1933132" cy="1168539"/>
          </a:xfrm>
          <a:prstGeom prst="wedgeEllipseCallout">
            <a:avLst>
              <a:gd name="adj1" fmla="val -156837"/>
              <a:gd name="adj2" fmla="val -37748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In realtà anche in questo caso </a:t>
            </a:r>
            <a:r>
              <a:rPr kumimoji="0" lang="it-IT" sz="12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this</a:t>
            </a:r>
            <a:r>
              <a:rPr kumimoji="0" lang="it-IT" sz="1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</a:t>
            </a:r>
            <a:r>
              <a:rPr kumimoji="0" lang="it-IT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può essere implicito…</a:t>
            </a:r>
          </a:p>
        </p:txBody>
      </p:sp>
    </p:spTree>
    <p:extLst>
      <p:ext uri="{BB962C8B-B14F-4D97-AF65-F5344CB8AC3E}">
        <p14:creationId xmlns:p14="http://schemas.microsoft.com/office/powerpoint/2010/main" val="3125396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5EDB26-0865-8B16-26C6-F02AF1DCB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15416"/>
            <a:ext cx="7543800" cy="1295400"/>
          </a:xfrm>
        </p:spPr>
        <p:txBody>
          <a:bodyPr/>
          <a:lstStyle/>
          <a:p>
            <a:r>
              <a:rPr lang="it-IT" sz="3200" dirty="0"/>
              <a:t>Membri </a:t>
            </a:r>
            <a:r>
              <a:rPr lang="it-IT" sz="3200" i="1" dirty="0" err="1">
                <a:solidFill>
                  <a:srgbClr val="FF0000"/>
                </a:solidFill>
              </a:rPr>
              <a:t>static</a:t>
            </a:r>
            <a:r>
              <a:rPr lang="it-IT" sz="3200" i="1" dirty="0">
                <a:solidFill>
                  <a:srgbClr val="FF0000"/>
                </a:solidFill>
              </a:rPr>
              <a:t>: </a:t>
            </a:r>
            <a:r>
              <a:rPr lang="it-IT" sz="3200" dirty="0"/>
              <a:t>variabili di classe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174C58F-FAE7-6CAE-94A6-CB3EC57B0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268760"/>
            <a:ext cx="8229600" cy="5374183"/>
          </a:xfrm>
        </p:spPr>
        <p:txBody>
          <a:bodyPr>
            <a:normAutofit/>
          </a:bodyPr>
          <a:lstStyle/>
          <a:p>
            <a:r>
              <a:rPr lang="it-IT" sz="2000" dirty="0"/>
              <a:t>In alcuni casi è utile che gli oggetti di una stessa classe possano accedere ad una area di memoria condivisa per accedere e modificare informazioni che devono essere condivise da tutti gli oggetti della classe</a:t>
            </a:r>
          </a:p>
          <a:p>
            <a:pPr lvl="1"/>
            <a:r>
              <a:rPr lang="it-IT" sz="1800" dirty="0"/>
              <a:t>Questa area di memoria quindi farà parte della specifica della classe ma la sua creazione deve essere indipendente dagli oggetti della classe</a:t>
            </a:r>
          </a:p>
          <a:p>
            <a:pPr lvl="1"/>
            <a:r>
              <a:rPr lang="it-IT" sz="1800" dirty="0"/>
              <a:t>Essa viene allocata al via dell’esecuzione dell’applicazione anche se non esistono ancora oggetti della classe</a:t>
            </a:r>
          </a:p>
          <a:p>
            <a:r>
              <a:rPr lang="it-IT" sz="2000" dirty="0"/>
              <a:t>In Java è possibile introdurre in una classe delle </a:t>
            </a:r>
            <a:r>
              <a:rPr lang="it-IT" sz="2000" dirty="0">
                <a:solidFill>
                  <a:srgbClr val="FF0000"/>
                </a:solidFill>
              </a:rPr>
              <a:t>variabili </a:t>
            </a:r>
            <a:r>
              <a:rPr lang="it-IT" sz="2000" dirty="0" err="1">
                <a:solidFill>
                  <a:srgbClr val="FF0000"/>
                </a:solidFill>
              </a:rPr>
              <a:t>static</a:t>
            </a:r>
            <a:r>
              <a:rPr lang="it-IT" sz="2000" dirty="0">
                <a:solidFill>
                  <a:srgbClr val="FF0000"/>
                </a:solidFill>
              </a:rPr>
              <a:t>, </a:t>
            </a:r>
            <a:r>
              <a:rPr lang="it-IT" sz="2000" dirty="0"/>
              <a:t>che </a:t>
            </a:r>
            <a:r>
              <a:rPr lang="it-IT" sz="2000" u="sng" dirty="0"/>
              <a:t>NON sono variabili di istanza </a:t>
            </a:r>
            <a:r>
              <a:rPr lang="it-IT" sz="2000" dirty="0"/>
              <a:t>perché NON sono diverse per ogni oggetto, ma allocate in area dati statici (quindi né in area heap né in area stack)</a:t>
            </a:r>
          </a:p>
          <a:p>
            <a:r>
              <a:rPr lang="it-IT" sz="2000" dirty="0">
                <a:latin typeface="Arial" panose="020B0604020202020204" pitchFamily="34" charset="0"/>
              </a:rPr>
              <a:t>Le variabili</a:t>
            </a:r>
            <a:r>
              <a:rPr lang="it-IT" sz="2000" dirty="0">
                <a:effectLst/>
                <a:latin typeface="Arial" panose="020B0604020202020204" pitchFamily="34" charset="0"/>
              </a:rPr>
              <a:t> </a:t>
            </a:r>
            <a:r>
              <a:rPr lang="it-IT" sz="2000" b="1" i="1" dirty="0" err="1">
                <a:effectLst/>
                <a:latin typeface="Arial" panose="020B0604020202020204" pitchFamily="34" charset="0"/>
              </a:rPr>
              <a:t>static</a:t>
            </a:r>
            <a:r>
              <a:rPr lang="it-IT" sz="2000" dirty="0">
                <a:effectLst/>
                <a:latin typeface="Arial" panose="020B0604020202020204" pitchFamily="34" charset="0"/>
              </a:rPr>
              <a:t> sono anche dette </a:t>
            </a:r>
            <a:r>
              <a:rPr lang="it-IT" sz="2000" b="1" dirty="0">
                <a:effectLst/>
                <a:latin typeface="Arial" panose="020B0604020202020204" pitchFamily="34" charset="0"/>
              </a:rPr>
              <a:t>variabili di classe</a:t>
            </a:r>
            <a:r>
              <a:rPr lang="it-IT" sz="2000" dirty="0">
                <a:effectLst/>
                <a:latin typeface="Arial" panose="020B0604020202020204" pitchFamily="34" charset="0"/>
              </a:rPr>
              <a:t> (in contrapposizione alle variabili d’istanza, che sono appunto associate a specifici oggetti).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630731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4B6216-99D2-77A2-C66B-BFD55BE9A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87424"/>
            <a:ext cx="7543800" cy="1295400"/>
          </a:xfrm>
        </p:spPr>
        <p:txBody>
          <a:bodyPr/>
          <a:lstStyle/>
          <a:p>
            <a:r>
              <a:rPr lang="it-IT" sz="3200" dirty="0"/>
              <a:t>Membri</a:t>
            </a:r>
            <a:r>
              <a:rPr lang="it-IT" i="1" dirty="0">
                <a:solidFill>
                  <a:srgbClr val="FF0000"/>
                </a:solidFill>
              </a:rPr>
              <a:t> </a:t>
            </a:r>
            <a:r>
              <a:rPr lang="it-IT" sz="3200" i="1" dirty="0" err="1">
                <a:solidFill>
                  <a:srgbClr val="FF0000"/>
                </a:solidFill>
              </a:rPr>
              <a:t>static</a:t>
            </a:r>
            <a:r>
              <a:rPr lang="it-IT" sz="3200" dirty="0"/>
              <a:t>: variabili di classe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E4CB6A3-560F-0DC1-F643-A2F932899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23169"/>
            <a:ext cx="8229600" cy="4411662"/>
          </a:xfrm>
        </p:spPr>
        <p:txBody>
          <a:bodyPr/>
          <a:lstStyle/>
          <a:p>
            <a:r>
              <a:rPr lang="it-IT" sz="2000" dirty="0">
                <a:effectLst/>
                <a:latin typeface="Arial" panose="020B0604020202020204" pitchFamily="34" charset="0"/>
              </a:rPr>
              <a:t>Le variabili di classe vengono create dalla JVM quando viene eseguita la prima istruzione che contiene un riferimento a quella classe </a:t>
            </a:r>
          </a:p>
          <a:p>
            <a:r>
              <a:rPr lang="it-IT" sz="2000" dirty="0">
                <a:effectLst/>
                <a:latin typeface="Arial" panose="020B0604020202020204" pitchFamily="34" charset="0"/>
              </a:rPr>
              <a:t>Tutte le variabili </a:t>
            </a:r>
            <a:r>
              <a:rPr lang="it-IT" sz="2000" dirty="0" err="1">
                <a:effectLst/>
                <a:latin typeface="Arial" panose="020B0604020202020204" pitchFamily="34" charset="0"/>
              </a:rPr>
              <a:t>static</a:t>
            </a:r>
            <a:r>
              <a:rPr lang="it-IT" sz="2000" dirty="0">
                <a:effectLst/>
                <a:latin typeface="Arial" panose="020B0604020202020204" pitchFamily="34" charset="0"/>
              </a:rPr>
              <a:t> di una classe vengono inizializzate al valore di default prima che un qualunque altra variabile </a:t>
            </a:r>
            <a:r>
              <a:rPr lang="it-IT" sz="2000" dirty="0" err="1">
                <a:effectLst/>
                <a:latin typeface="Arial" panose="020B0604020202020204" pitchFamily="34" charset="0"/>
              </a:rPr>
              <a:t>static</a:t>
            </a:r>
            <a:r>
              <a:rPr lang="it-IT" sz="2000" dirty="0">
                <a:effectLst/>
                <a:latin typeface="Arial" panose="020B0604020202020204" pitchFamily="34" charset="0"/>
              </a:rPr>
              <a:t> della classe venga utilizzata, e prima che qualunque metodo della classe venga utilizzato.</a:t>
            </a:r>
          </a:p>
          <a:p>
            <a:r>
              <a:rPr lang="it-IT" sz="2000" i="1" dirty="0">
                <a:latin typeface="Arial" panose="020B0604020202020204" pitchFamily="34" charset="0"/>
              </a:rPr>
              <a:t>E’ possibile inizializzare una variabile di classe ad un valore diverso da quello di default </a:t>
            </a:r>
            <a:r>
              <a:rPr lang="it-IT" sz="2000" dirty="0">
                <a:latin typeface="Arial" panose="020B0604020202020204" pitchFamily="34" charset="0"/>
              </a:rPr>
              <a:t>direttamente quando viene dichiarata nella specifica della classe</a:t>
            </a:r>
          </a:p>
          <a:p>
            <a:r>
              <a:rPr lang="it-IT" sz="2000" dirty="0">
                <a:latin typeface="Arial" panose="020B0604020202020204" pitchFamily="34" charset="0"/>
              </a:rPr>
              <a:t>Le variabili di classe possono essere sia pubbliche che private.</a:t>
            </a:r>
          </a:p>
          <a:p>
            <a:r>
              <a:rPr lang="it-IT" sz="2000" dirty="0">
                <a:effectLst/>
                <a:latin typeface="Arial" panose="020B0604020202020204" pitchFamily="34" charset="0"/>
              </a:rPr>
              <a:t>Le variabili di classe pubbliche sono accessibili direttamente agli utenti </a:t>
            </a:r>
            <a:r>
              <a:rPr lang="it-IT" sz="2000" dirty="0">
                <a:latin typeface="Arial" panose="020B0604020202020204" pitchFamily="34" charset="0"/>
              </a:rPr>
              <a:t>usando il nome della classe e la notazione punto .</a:t>
            </a:r>
          </a:p>
          <a:p>
            <a:pPr marL="0" indent="0" algn="ctr">
              <a:buNone/>
            </a:pPr>
            <a:r>
              <a:rPr lang="it-IT" sz="2000" dirty="0" err="1">
                <a:solidFill>
                  <a:srgbClr val="FF0000"/>
                </a:solidFill>
                <a:latin typeface="Arial" panose="020B0604020202020204" pitchFamily="34" charset="0"/>
              </a:rPr>
              <a:t>nome_classe</a:t>
            </a:r>
            <a:r>
              <a:rPr lang="it-IT" sz="2000" b="1" dirty="0" err="1">
                <a:latin typeface="Arial" panose="020B0604020202020204" pitchFamily="34" charset="0"/>
              </a:rPr>
              <a:t>.</a:t>
            </a:r>
            <a:r>
              <a:rPr lang="it-IT" sz="2000" dirty="0" err="1">
                <a:solidFill>
                  <a:srgbClr val="FF0000"/>
                </a:solidFill>
                <a:latin typeface="Arial" panose="020B0604020202020204" pitchFamily="34" charset="0"/>
              </a:rPr>
              <a:t>nome_variabile_statica</a:t>
            </a:r>
            <a:endParaRPr lang="it-IT" sz="20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endParaRPr lang="it-IT" sz="2000" dirty="0">
              <a:latin typeface="Arial" panose="020B0604020202020204" pitchFamily="34" charset="0"/>
            </a:endParaRPr>
          </a:p>
          <a:p>
            <a:endParaRPr lang="it-IT" dirty="0"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71802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5E5905-F879-60EA-7FDA-C017C27AA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15416"/>
            <a:ext cx="7543800" cy="1295400"/>
          </a:xfrm>
        </p:spPr>
        <p:txBody>
          <a:bodyPr/>
          <a:lstStyle/>
          <a:p>
            <a:r>
              <a:rPr lang="it-IT" sz="4000" dirty="0"/>
              <a:t>Membri</a:t>
            </a:r>
            <a:r>
              <a:rPr lang="it-IT" i="1" dirty="0">
                <a:solidFill>
                  <a:srgbClr val="FF0000"/>
                </a:solidFill>
              </a:rPr>
              <a:t> </a:t>
            </a:r>
            <a:r>
              <a:rPr lang="it-IT" sz="4000" i="1" dirty="0" err="1">
                <a:solidFill>
                  <a:srgbClr val="FF0000"/>
                </a:solidFill>
              </a:rPr>
              <a:t>static</a:t>
            </a:r>
            <a:r>
              <a:rPr lang="it-IT" sz="4000" dirty="0"/>
              <a:t>: metodi statici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CA0E1A8-C6DF-345B-07CA-EBF2AC27D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223169"/>
            <a:ext cx="8229600" cy="4411662"/>
          </a:xfrm>
        </p:spPr>
        <p:txBody>
          <a:bodyPr/>
          <a:lstStyle/>
          <a:p>
            <a:r>
              <a:rPr lang="it-IT" sz="2400" dirty="0">
                <a:latin typeface="Arial" panose="020B0604020202020204" pitchFamily="34" charset="0"/>
              </a:rPr>
              <a:t>Le variabili di classe private possono essere utilizzate dagli utenti della classe solo attraverso appositi </a:t>
            </a:r>
            <a:r>
              <a:rPr lang="it-IT" sz="2400" dirty="0">
                <a:solidFill>
                  <a:srgbClr val="FF0000"/>
                </a:solidFill>
                <a:latin typeface="Arial" panose="020B0604020202020204" pitchFamily="34" charset="0"/>
              </a:rPr>
              <a:t>metodi statici</a:t>
            </a:r>
          </a:p>
          <a:p>
            <a:r>
              <a:rPr lang="it-IT" sz="2400" dirty="0">
                <a:effectLst/>
                <a:latin typeface="Arial" panose="020B0604020202020204" pitchFamily="34" charset="0"/>
              </a:rPr>
              <a:t>I meto</a:t>
            </a:r>
            <a:r>
              <a:rPr lang="it-IT" sz="2400" dirty="0">
                <a:latin typeface="Arial" panose="020B0604020202020204" pitchFamily="34" charset="0"/>
              </a:rPr>
              <a:t>di dichiarati </a:t>
            </a:r>
            <a:r>
              <a:rPr lang="it-IT" sz="2400" i="1" dirty="0" err="1">
                <a:solidFill>
                  <a:srgbClr val="FF0000"/>
                </a:solidFill>
                <a:latin typeface="Arial" panose="020B0604020202020204" pitchFamily="34" charset="0"/>
              </a:rPr>
              <a:t>static</a:t>
            </a:r>
            <a:r>
              <a:rPr lang="it-IT" sz="2400" dirty="0">
                <a:latin typeface="Arial" panose="020B0604020202020204" pitchFamily="34" charset="0"/>
              </a:rPr>
              <a:t> possono essere invocati anche in assenza di oggetti della classe e quindi </a:t>
            </a:r>
            <a:r>
              <a:rPr lang="it-IT" sz="2400" u="sng" dirty="0">
                <a:latin typeface="Arial" panose="020B0604020202020204" pitchFamily="34" charset="0"/>
              </a:rPr>
              <a:t>non accedono all’oggetto corrente attraverso il riferimento </a:t>
            </a:r>
            <a:r>
              <a:rPr lang="it-IT" sz="2400" u="sng" dirty="0" err="1">
                <a:latin typeface="Arial" panose="020B0604020202020204" pitchFamily="34" charset="0"/>
              </a:rPr>
              <a:t>this</a:t>
            </a:r>
            <a:r>
              <a:rPr lang="it-IT" sz="2400" dirty="0">
                <a:latin typeface="Arial" panose="020B0604020202020204" pitchFamily="34" charset="0"/>
              </a:rPr>
              <a:t>. </a:t>
            </a:r>
          </a:p>
          <a:p>
            <a:r>
              <a:rPr lang="it-IT" sz="2400" dirty="0">
                <a:latin typeface="Arial" panose="020B0604020202020204" pitchFamily="34" charset="0"/>
              </a:rPr>
              <a:t>I metodi statici possono essere dichiarati anche in assenza di variabili di classe, </a:t>
            </a:r>
            <a:r>
              <a:rPr lang="it-IT" sz="2400" u="sng" dirty="0">
                <a:latin typeface="Arial" panose="020B0604020202020204" pitchFamily="34" charset="0"/>
              </a:rPr>
              <a:t>in questo caso non lavorano su oggetti</a:t>
            </a:r>
          </a:p>
          <a:p>
            <a:r>
              <a:rPr lang="it-IT" sz="2400" dirty="0">
                <a:effectLst/>
                <a:latin typeface="Arial" panose="020B0604020202020204" pitchFamily="34" charset="0"/>
              </a:rPr>
              <a:t>Possono essere chiamati:</a:t>
            </a:r>
          </a:p>
          <a:p>
            <a:pPr lvl="1"/>
            <a:r>
              <a:rPr lang="it-IT" sz="2000" dirty="0">
                <a:effectLst/>
                <a:latin typeface="Arial" panose="020B0604020202020204" pitchFamily="34" charset="0"/>
              </a:rPr>
              <a:t>utilizzando il nome della classe e la notazione punto</a:t>
            </a:r>
          </a:p>
          <a:p>
            <a:pPr lvl="1"/>
            <a:r>
              <a:rPr lang="it-IT" sz="2000" dirty="0">
                <a:latin typeface="Arial" panose="020B0604020202020204" pitchFamily="34" charset="0"/>
              </a:rPr>
              <a:t>applicandoli ad un qualunque riferimento ad oggetto della classe esistente</a:t>
            </a:r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1003451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871505-3FE4-C903-4DA6-AD920C54A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2263"/>
            <a:ext cx="7543800" cy="1295400"/>
          </a:xfrm>
        </p:spPr>
        <p:txBody>
          <a:bodyPr/>
          <a:lstStyle/>
          <a:p>
            <a:r>
              <a:rPr lang="it-IT" dirty="0"/>
              <a:t>Counter: contatore di istanze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4ECC93E-41F1-36CA-630F-9370721C4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411662"/>
          </a:xfrm>
        </p:spPr>
        <p:txBody>
          <a:bodyPr/>
          <a:lstStyle/>
          <a:p>
            <a:r>
              <a:rPr lang="it-IT" sz="2400" dirty="0"/>
              <a:t>Supponiamo che si voglia sapere ad ogni istante quanti contatori sono stati creati fino a quel momento.</a:t>
            </a:r>
          </a:p>
          <a:p>
            <a:r>
              <a:rPr lang="it-IT" sz="2400" dirty="0"/>
              <a:t>Questo significa che tutte le volte che viene chiamato un costruttore deve essere incrementata una variabile statica che tiene il conto del numero di oggetti creati</a:t>
            </a:r>
          </a:p>
          <a:p>
            <a:r>
              <a:rPr lang="it-IT" sz="2400" dirty="0"/>
              <a:t>Tutti i contatori avranno accesso a questa informazione e potranno modificarla (in questo caso attraverso i costruttori), inoltre deve essere possibile per l’utente interrogare questa variabile statica (attraverso un metodo statico)</a:t>
            </a:r>
          </a:p>
        </p:txBody>
      </p:sp>
    </p:spTree>
    <p:extLst>
      <p:ext uri="{BB962C8B-B14F-4D97-AF65-F5344CB8AC3E}">
        <p14:creationId xmlns:p14="http://schemas.microsoft.com/office/powerpoint/2010/main" val="1289238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68DC6A-C278-4509-CDDE-1386DB653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Membri </a:t>
            </a:r>
            <a:r>
              <a:rPr lang="it-IT" dirty="0" err="1"/>
              <a:t>static</a:t>
            </a:r>
            <a:r>
              <a:rPr lang="it-IT" dirty="0"/>
              <a:t>: osservazioni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18350C3-E196-8F6C-A5D4-1E38CB0EE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>
                <a:effectLst/>
                <a:latin typeface="Arial" panose="020B0604020202020204" pitchFamily="34" charset="0"/>
              </a:rPr>
              <a:t>In generale, è bene limitare il più possibile tutto quanto è </a:t>
            </a:r>
            <a:r>
              <a:rPr lang="it-IT" b="1" dirty="0" err="1">
                <a:effectLst/>
                <a:latin typeface="Courier New" panose="02070309020205020404" pitchFamily="49" charset="0"/>
              </a:rPr>
              <a:t>static</a:t>
            </a:r>
            <a:r>
              <a:rPr lang="it-IT" dirty="0"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it-IT" dirty="0">
                <a:effectLst/>
                <a:latin typeface="Arial" panose="020B0604020202020204" pitchFamily="34" charset="0"/>
              </a:rPr>
              <a:t>I metodi statici vanno introdotti solo quando è necessario (tipicamente: il </a:t>
            </a:r>
            <a:r>
              <a:rPr lang="it-IT" b="1" dirty="0" err="1">
                <a:effectLst/>
                <a:latin typeface="Courier New" panose="02070309020205020404" pitchFamily="49" charset="0"/>
              </a:rPr>
              <a:t>main</a:t>
            </a:r>
            <a:r>
              <a:rPr lang="it-IT" dirty="0">
                <a:effectLst/>
                <a:latin typeface="Arial" panose="020B0604020202020204" pitchFamily="34" charset="0"/>
              </a:rPr>
              <a:t>, e metodi che agiscono su numeri, che non sono oggetti)</a:t>
            </a:r>
          </a:p>
          <a:p>
            <a:r>
              <a:rPr lang="it-IT" dirty="0">
                <a:effectLst/>
                <a:latin typeface="Arial" panose="020B0604020202020204" pitchFamily="34" charset="0"/>
              </a:rPr>
              <a:t>Le variabili statiche vanno usate con cautela perché </a:t>
            </a:r>
            <a:r>
              <a:rPr lang="it-IT" u="sng" dirty="0">
                <a:effectLst/>
                <a:latin typeface="Arial" panose="020B0604020202020204" pitchFamily="34" charset="0"/>
              </a:rPr>
              <a:t>a tutti gli effetti sono variabili globali a livello di classe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458659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5EDB26-0865-8B16-26C6-F02AF1DCB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37" y="-315416"/>
            <a:ext cx="7543800" cy="1295400"/>
          </a:xfrm>
        </p:spPr>
        <p:txBody>
          <a:bodyPr/>
          <a:lstStyle/>
          <a:p>
            <a:r>
              <a:rPr lang="it-IT" dirty="0"/>
              <a:t>Variabili di istanza costanti</a:t>
            </a:r>
            <a:endParaRPr lang="it-IT" i="1" dirty="0">
              <a:solidFill>
                <a:srgbClr val="FF0000"/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174C58F-FAE7-6CAE-94A6-CB3EC57B0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23169"/>
            <a:ext cx="8229600" cy="4411662"/>
          </a:xfrm>
        </p:spPr>
        <p:txBody>
          <a:bodyPr/>
          <a:lstStyle/>
          <a:p>
            <a:r>
              <a:rPr lang="it-IT" sz="2800" dirty="0"/>
              <a:t>Può essere utile poter dichiarare variabili di istanza che non possano più essere modificate dopo la loro inizializzazione</a:t>
            </a:r>
          </a:p>
          <a:p>
            <a:r>
              <a:rPr lang="it-IT" sz="2800" dirty="0"/>
              <a:t>Si pensi ad esempio alla data di nascita di una persona, una volta istanziato un oggetto e inizializzata la sua data di nascita può non avere senso che tale data venga modificata</a:t>
            </a:r>
          </a:p>
          <a:p>
            <a:r>
              <a:rPr lang="it-IT" sz="2800" dirty="0"/>
              <a:t>Ogni oggetto di tipo persona avrà la sua data di nascita, parte del suo stato, il cui valore - diverso da quello di altri oggetti – </a:t>
            </a:r>
            <a:r>
              <a:rPr lang="it-IT" sz="2800" b="1" dirty="0"/>
              <a:t>deve</a:t>
            </a:r>
            <a:r>
              <a:rPr lang="it-IT" sz="2800" dirty="0"/>
              <a:t> essere inizializzato </a:t>
            </a:r>
            <a:r>
              <a:rPr lang="it-IT" sz="2800" u="sng" dirty="0"/>
              <a:t>all’atto della creazione </a:t>
            </a:r>
            <a:r>
              <a:rPr lang="it-IT" sz="2800" dirty="0"/>
              <a:t>dell’oggetto</a:t>
            </a:r>
          </a:p>
        </p:txBody>
      </p:sp>
    </p:spTree>
    <p:extLst>
      <p:ext uri="{BB962C8B-B14F-4D97-AF65-F5344CB8AC3E}">
        <p14:creationId xmlns:p14="http://schemas.microsoft.com/office/powerpoint/2010/main" val="6729821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0C2FB1-C681-6024-B08C-38F772981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103" y="-315416"/>
            <a:ext cx="7543800" cy="1295400"/>
          </a:xfrm>
        </p:spPr>
        <p:txBody>
          <a:bodyPr/>
          <a:lstStyle/>
          <a:p>
            <a:r>
              <a:rPr lang="it-IT" dirty="0"/>
              <a:t>Variabili di istanza </a:t>
            </a:r>
            <a:r>
              <a:rPr lang="it-IT" dirty="0" err="1">
                <a:solidFill>
                  <a:srgbClr val="FF0000"/>
                </a:solidFill>
              </a:rPr>
              <a:t>final</a:t>
            </a:r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C8E6303-9B5A-AD31-B740-F824858F3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321" y="1223168"/>
            <a:ext cx="8229600" cy="5158159"/>
          </a:xfrm>
        </p:spPr>
        <p:txBody>
          <a:bodyPr>
            <a:normAutofit/>
          </a:bodyPr>
          <a:lstStyle/>
          <a:p>
            <a:r>
              <a:rPr lang="it-IT" sz="2800" dirty="0"/>
              <a:t>Per ottenere questo effetto le variabili di istanza devono essere dichiarate </a:t>
            </a:r>
            <a:r>
              <a:rPr lang="it-IT" sz="2800" dirty="0" err="1">
                <a:solidFill>
                  <a:srgbClr val="FF0000"/>
                </a:solidFill>
              </a:rPr>
              <a:t>final</a:t>
            </a:r>
            <a:endParaRPr lang="it-IT" sz="2800" dirty="0">
              <a:solidFill>
                <a:srgbClr val="FF0000"/>
              </a:solidFill>
            </a:endParaRPr>
          </a:p>
          <a:p>
            <a:r>
              <a:rPr lang="it-IT" sz="2800" dirty="0"/>
              <a:t>In questo modo una parte dello stato degli oggetti della classe sarà costante e allo stesso tempo il suo valore potrà essere diverso per ciascun oggetto, inizializzando la costante nei costruttori</a:t>
            </a:r>
          </a:p>
          <a:p>
            <a:r>
              <a:rPr lang="it-IT" sz="2800" dirty="0"/>
              <a:t>Nel caso invece si voglia che tutti gli oggetti abbiano lo stesso valore per la costante, questa può essere inizializzata all’atto della sua dichiarazione nella classe</a:t>
            </a:r>
          </a:p>
        </p:txBody>
      </p:sp>
    </p:spTree>
    <p:extLst>
      <p:ext uri="{BB962C8B-B14F-4D97-AF65-F5344CB8AC3E}">
        <p14:creationId xmlns:p14="http://schemas.microsoft.com/office/powerpoint/2010/main" val="34407488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3C53B7-FF04-7696-AC42-F855081FE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882" y="-459432"/>
            <a:ext cx="8879646" cy="1295400"/>
          </a:xfrm>
        </p:spPr>
        <p:txBody>
          <a:bodyPr/>
          <a:lstStyle/>
          <a:p>
            <a:r>
              <a:rPr lang="it-IT" sz="3200" dirty="0"/>
              <a:t>Classe Counter: versione aggiornata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802EEF5-28DB-EDFF-4AC5-D66A64D2A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882" y="1052736"/>
            <a:ext cx="8229600" cy="4411662"/>
          </a:xfrm>
        </p:spPr>
        <p:txBody>
          <a:bodyPr/>
          <a:lstStyle/>
          <a:p>
            <a:r>
              <a:rPr lang="it-IT" sz="2000" dirty="0"/>
              <a:t>Nella classe Counter in effetti finora abbiamo considerato modificabile il valore massimo che il contatore può raggiungere. </a:t>
            </a:r>
          </a:p>
          <a:p>
            <a:r>
              <a:rPr lang="it-IT" sz="2000" dirty="0"/>
              <a:t>Un utente può addirittura modificare questo valore con un metodo set. Questo può non avere senso nella realtà, ed anzi minare la consistenza degli oggetti. </a:t>
            </a:r>
          </a:p>
          <a:p>
            <a:pPr lvl="1"/>
            <a:r>
              <a:rPr lang="it-IT" sz="2000" dirty="0"/>
              <a:t>Che succede se l’utente imposta la soglia ad un valore minore del valore già raggiunto dal contatore?</a:t>
            </a:r>
          </a:p>
          <a:p>
            <a:r>
              <a:rPr lang="it-IT" sz="2000" dirty="0"/>
              <a:t>Potrebbe essere più sensato che il valore massimo raggiungibile sia una costante, diversa per ogni contatore a seconda delle esigenze, ma costante.</a:t>
            </a:r>
          </a:p>
          <a:p>
            <a:r>
              <a:rPr lang="it-IT" sz="2000" dirty="0"/>
              <a:t>Questo richiede delle modifiche alla classe compresa l’eliminazione e l’uso della funzione set</a:t>
            </a:r>
          </a:p>
          <a:p>
            <a:r>
              <a:rPr lang="it-IT" sz="2000" dirty="0"/>
              <a:t>La prossima versione è aggiornata:</a:t>
            </a:r>
          </a:p>
          <a:p>
            <a:pPr lvl="1"/>
            <a:r>
              <a:rPr lang="it-IT" sz="1600" dirty="0"/>
              <a:t>con le modifiche necessarie per rendere costante la variabile di istanza max</a:t>
            </a:r>
          </a:p>
          <a:p>
            <a:pPr lvl="1"/>
            <a:r>
              <a:rPr lang="it-IT" sz="1600" dirty="0"/>
              <a:t>con l’aggiunta della variabile di classe (</a:t>
            </a:r>
            <a:r>
              <a:rPr lang="it-IT" sz="1600" dirty="0" err="1"/>
              <a:t>static</a:t>
            </a:r>
            <a:r>
              <a:rPr lang="it-IT" sz="1600" dirty="0"/>
              <a:t>) per il conteggio degli oggetti e la funzione statica per l’accesso a tale variabile.</a:t>
            </a:r>
          </a:p>
        </p:txBody>
      </p:sp>
    </p:spTree>
    <p:extLst>
      <p:ext uri="{BB962C8B-B14F-4D97-AF65-F5344CB8AC3E}">
        <p14:creationId xmlns:p14="http://schemas.microsoft.com/office/powerpoint/2010/main" val="2482837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37F8985F-B659-CB8D-7175-486B1641EDAF}"/>
              </a:ext>
            </a:extLst>
          </p:cNvPr>
          <p:cNvSpPr txBox="1"/>
          <p:nvPr/>
        </p:nvSpPr>
        <p:spPr>
          <a:xfrm>
            <a:off x="1547664" y="86916"/>
            <a:ext cx="5873724" cy="677108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1400" dirty="0"/>
              <a:t>package </a:t>
            </a:r>
            <a:r>
              <a:rPr lang="it-IT" sz="1400" dirty="0" err="1"/>
              <a:t>runningexamples</a:t>
            </a:r>
            <a:r>
              <a:rPr lang="it-IT" sz="1400" dirty="0"/>
              <a:t>;</a:t>
            </a:r>
          </a:p>
          <a:p>
            <a:endParaRPr lang="it-IT" sz="1400" dirty="0"/>
          </a:p>
          <a:p>
            <a:r>
              <a:rPr lang="it-IT" sz="1400" dirty="0"/>
              <a:t>public class Counter {</a:t>
            </a:r>
          </a:p>
          <a:p>
            <a:r>
              <a:rPr lang="it-IT" sz="1400" dirty="0"/>
              <a:t>    </a:t>
            </a:r>
          </a:p>
          <a:p>
            <a:r>
              <a:rPr lang="it-IT" sz="1400" dirty="0"/>
              <a:t>    private long </a:t>
            </a:r>
            <a:r>
              <a:rPr lang="it-IT" sz="1400" dirty="0" err="1"/>
              <a:t>value</a:t>
            </a:r>
            <a:r>
              <a:rPr lang="it-IT" sz="1400" dirty="0"/>
              <a:t>;</a:t>
            </a:r>
          </a:p>
          <a:p>
            <a:r>
              <a:rPr lang="it-IT" sz="1400" dirty="0"/>
              <a:t>    private </a:t>
            </a:r>
            <a:r>
              <a:rPr lang="it-IT" sz="1400" dirty="0" err="1">
                <a:solidFill>
                  <a:srgbClr val="FF0000"/>
                </a:solidFill>
              </a:rPr>
              <a:t>final</a:t>
            </a:r>
            <a:r>
              <a:rPr lang="it-IT" sz="1400" dirty="0"/>
              <a:t> long max;</a:t>
            </a:r>
          </a:p>
          <a:p>
            <a:r>
              <a:rPr lang="it-IT" sz="1400" dirty="0"/>
              <a:t>    private </a:t>
            </a:r>
            <a:r>
              <a:rPr lang="it-IT" sz="1400" dirty="0" err="1">
                <a:solidFill>
                  <a:srgbClr val="FF0000"/>
                </a:solidFill>
              </a:rPr>
              <a:t>static</a:t>
            </a:r>
            <a:r>
              <a:rPr lang="it-IT" sz="1400" dirty="0"/>
              <a:t> long </a:t>
            </a:r>
            <a:r>
              <a:rPr lang="it-IT" sz="1400" dirty="0" err="1"/>
              <a:t>objcount</a:t>
            </a:r>
            <a:r>
              <a:rPr lang="it-IT" sz="1400" dirty="0"/>
              <a:t>;</a:t>
            </a:r>
          </a:p>
          <a:p>
            <a:r>
              <a:rPr lang="it-IT" sz="1400" dirty="0"/>
              <a:t>    </a:t>
            </a:r>
          </a:p>
          <a:p>
            <a:r>
              <a:rPr lang="it-IT" sz="1400" dirty="0">
                <a:solidFill>
                  <a:srgbClr val="00B0F0"/>
                </a:solidFill>
              </a:rPr>
              <a:t>    //costruttore senza argomenti</a:t>
            </a:r>
          </a:p>
          <a:p>
            <a:r>
              <a:rPr lang="it-IT" sz="1400" dirty="0"/>
              <a:t>    public Counter() {</a:t>
            </a:r>
            <a:r>
              <a:rPr lang="it-IT" sz="1400" dirty="0">
                <a:solidFill>
                  <a:srgbClr val="FF0000"/>
                </a:solidFill>
              </a:rPr>
              <a:t>max=10</a:t>
            </a:r>
            <a:r>
              <a:rPr lang="it-IT" sz="1400" dirty="0"/>
              <a:t>; </a:t>
            </a:r>
            <a:r>
              <a:rPr lang="it-IT" sz="1400" dirty="0" err="1"/>
              <a:t>value</a:t>
            </a:r>
            <a:r>
              <a:rPr lang="it-IT" sz="1400" dirty="0"/>
              <a:t>=0; </a:t>
            </a:r>
            <a:r>
              <a:rPr lang="it-IT" sz="1400" dirty="0" err="1">
                <a:solidFill>
                  <a:srgbClr val="FF0000"/>
                </a:solidFill>
              </a:rPr>
              <a:t>objcount</a:t>
            </a:r>
            <a:r>
              <a:rPr lang="it-IT" sz="1400" dirty="0">
                <a:solidFill>
                  <a:srgbClr val="FF0000"/>
                </a:solidFill>
              </a:rPr>
              <a:t>++;}</a:t>
            </a:r>
            <a:endParaRPr lang="it-IT" sz="1400" dirty="0"/>
          </a:p>
          <a:p>
            <a:r>
              <a:rPr lang="it-IT" sz="1400" dirty="0">
                <a:solidFill>
                  <a:srgbClr val="00B0F0"/>
                </a:solidFill>
              </a:rPr>
              <a:t>    //costruttore con argomenti</a:t>
            </a:r>
          </a:p>
          <a:p>
            <a:r>
              <a:rPr lang="it-IT" sz="1400" dirty="0"/>
              <a:t>    public Counter(long m) {</a:t>
            </a:r>
            <a:r>
              <a:rPr lang="it-IT" sz="1400" dirty="0">
                <a:solidFill>
                  <a:srgbClr val="FF0000"/>
                </a:solidFill>
              </a:rPr>
              <a:t>max=m</a:t>
            </a:r>
            <a:r>
              <a:rPr lang="it-IT" sz="1400" dirty="0"/>
              <a:t>; </a:t>
            </a:r>
            <a:r>
              <a:rPr lang="it-IT" sz="1400" dirty="0" err="1"/>
              <a:t>value</a:t>
            </a:r>
            <a:r>
              <a:rPr lang="it-IT" sz="1400" dirty="0"/>
              <a:t>=0; </a:t>
            </a:r>
            <a:r>
              <a:rPr lang="it-IT" sz="1400" dirty="0" err="1">
                <a:solidFill>
                  <a:srgbClr val="FF0000"/>
                </a:solidFill>
              </a:rPr>
              <a:t>objcount</a:t>
            </a:r>
            <a:r>
              <a:rPr lang="it-IT" sz="1400" dirty="0">
                <a:solidFill>
                  <a:srgbClr val="FF0000"/>
                </a:solidFill>
              </a:rPr>
              <a:t>++;}</a:t>
            </a:r>
          </a:p>
          <a:p>
            <a:r>
              <a:rPr lang="it-IT" sz="1400" dirty="0"/>
              <a:t>    </a:t>
            </a:r>
            <a:r>
              <a:rPr lang="it-IT" sz="1400" dirty="0">
                <a:solidFill>
                  <a:srgbClr val="00B0F0"/>
                </a:solidFill>
              </a:rPr>
              <a:t>//costruttore di copia</a:t>
            </a:r>
          </a:p>
          <a:p>
            <a:r>
              <a:rPr lang="it-IT" sz="1400" dirty="0"/>
              <a:t>    public Counter(Counter C) </a:t>
            </a:r>
            <a:r>
              <a:rPr lang="it-IT" sz="1400" dirty="0">
                <a:solidFill>
                  <a:srgbClr val="FF0000"/>
                </a:solidFill>
              </a:rPr>
              <a:t>{max=</a:t>
            </a:r>
            <a:r>
              <a:rPr lang="it-IT" sz="1400" dirty="0" err="1">
                <a:solidFill>
                  <a:srgbClr val="FF0000"/>
                </a:solidFill>
              </a:rPr>
              <a:t>C.max</a:t>
            </a:r>
            <a:r>
              <a:rPr lang="it-IT" sz="1400" dirty="0"/>
              <a:t>; </a:t>
            </a:r>
            <a:r>
              <a:rPr lang="it-IT" sz="1400" dirty="0" err="1"/>
              <a:t>value</a:t>
            </a:r>
            <a:r>
              <a:rPr lang="it-IT" sz="1400" dirty="0"/>
              <a:t>=</a:t>
            </a:r>
            <a:r>
              <a:rPr lang="it-IT" sz="1400" dirty="0" err="1"/>
              <a:t>C.value</a:t>
            </a:r>
            <a:r>
              <a:rPr lang="it-IT" sz="1400" dirty="0"/>
              <a:t>; </a:t>
            </a:r>
            <a:r>
              <a:rPr lang="it-IT" sz="1400" dirty="0" err="1">
                <a:solidFill>
                  <a:srgbClr val="FF0000"/>
                </a:solidFill>
              </a:rPr>
              <a:t>objcount</a:t>
            </a:r>
            <a:r>
              <a:rPr lang="it-IT" sz="1400" dirty="0">
                <a:solidFill>
                  <a:srgbClr val="FF0000"/>
                </a:solidFill>
              </a:rPr>
              <a:t>++</a:t>
            </a:r>
            <a:r>
              <a:rPr lang="it-IT" sz="1400" dirty="0"/>
              <a:t>;}</a:t>
            </a:r>
          </a:p>
          <a:p>
            <a:r>
              <a:rPr lang="it-IT" sz="1400" dirty="0">
                <a:solidFill>
                  <a:srgbClr val="00B0F0"/>
                </a:solidFill>
              </a:rPr>
              <a:t>    // getter</a:t>
            </a:r>
          </a:p>
          <a:p>
            <a:r>
              <a:rPr lang="it-IT" sz="1400" dirty="0"/>
              <a:t>    public long </a:t>
            </a:r>
            <a:r>
              <a:rPr lang="it-IT" sz="1400" dirty="0" err="1"/>
              <a:t>get_value</a:t>
            </a:r>
            <a:r>
              <a:rPr lang="it-IT" sz="1400" dirty="0"/>
              <a:t>() {</a:t>
            </a:r>
            <a:r>
              <a:rPr lang="it-IT" sz="1400" dirty="0" err="1"/>
              <a:t>return</a:t>
            </a:r>
            <a:r>
              <a:rPr lang="it-IT" sz="1400" dirty="0"/>
              <a:t> </a:t>
            </a:r>
            <a:r>
              <a:rPr lang="it-IT" sz="1400" dirty="0" err="1"/>
              <a:t>value</a:t>
            </a:r>
            <a:r>
              <a:rPr lang="it-IT" sz="1400" dirty="0"/>
              <a:t>;}</a:t>
            </a:r>
          </a:p>
          <a:p>
            <a:r>
              <a:rPr lang="it-IT" sz="1400" dirty="0"/>
              <a:t>    public long </a:t>
            </a:r>
            <a:r>
              <a:rPr lang="it-IT" sz="1400" dirty="0" err="1"/>
              <a:t>get_max</a:t>
            </a:r>
            <a:r>
              <a:rPr lang="it-IT" sz="1400" dirty="0"/>
              <a:t>() {</a:t>
            </a:r>
            <a:r>
              <a:rPr lang="it-IT" sz="1400" dirty="0" err="1"/>
              <a:t>return</a:t>
            </a:r>
            <a:r>
              <a:rPr lang="it-IT" sz="1400" dirty="0"/>
              <a:t> max;}</a:t>
            </a:r>
          </a:p>
          <a:p>
            <a:r>
              <a:rPr lang="it-IT" sz="1400" dirty="0">
                <a:solidFill>
                  <a:srgbClr val="00B0F0"/>
                </a:solidFill>
              </a:rPr>
              <a:t>    //metodi </a:t>
            </a:r>
            <a:r>
              <a:rPr lang="it-IT" sz="1400" dirty="0" err="1">
                <a:solidFill>
                  <a:srgbClr val="00B0F0"/>
                </a:solidFill>
              </a:rPr>
              <a:t>static</a:t>
            </a:r>
            <a:endParaRPr lang="it-IT" sz="1400" dirty="0">
              <a:solidFill>
                <a:srgbClr val="00B0F0"/>
              </a:solidFill>
            </a:endParaRPr>
          </a:p>
          <a:p>
            <a:r>
              <a:rPr lang="it-IT" sz="1400" dirty="0"/>
              <a:t>    public </a:t>
            </a:r>
            <a:r>
              <a:rPr lang="it-IT" sz="1400" dirty="0" err="1"/>
              <a:t>static</a:t>
            </a:r>
            <a:r>
              <a:rPr lang="it-IT" sz="1400" dirty="0"/>
              <a:t> long </a:t>
            </a:r>
            <a:r>
              <a:rPr lang="it-IT" sz="1400" dirty="0" err="1"/>
              <a:t>get_objcount</a:t>
            </a:r>
            <a:r>
              <a:rPr lang="it-IT" sz="1400" dirty="0"/>
              <a:t>() {</a:t>
            </a:r>
            <a:r>
              <a:rPr lang="it-IT" sz="1400" dirty="0" err="1"/>
              <a:t>return</a:t>
            </a:r>
            <a:r>
              <a:rPr lang="it-IT" sz="1400" dirty="0"/>
              <a:t> </a:t>
            </a:r>
            <a:r>
              <a:rPr lang="it-IT" sz="1400" dirty="0" err="1"/>
              <a:t>objcount</a:t>
            </a:r>
            <a:r>
              <a:rPr lang="it-IT" sz="1400" dirty="0"/>
              <a:t>;}</a:t>
            </a:r>
          </a:p>
          <a:p>
            <a:r>
              <a:rPr lang="it-IT" sz="1400" dirty="0"/>
              <a:t>    </a:t>
            </a:r>
            <a:r>
              <a:rPr lang="it-IT" sz="1400" dirty="0">
                <a:solidFill>
                  <a:srgbClr val="00B0F0"/>
                </a:solidFill>
              </a:rPr>
              <a:t>// metodi per la gestione del contatore</a:t>
            </a:r>
          </a:p>
          <a:p>
            <a:r>
              <a:rPr lang="it-IT" sz="1400" dirty="0"/>
              <a:t>    public </a:t>
            </a:r>
            <a:r>
              <a:rPr lang="it-IT" sz="1400" dirty="0" err="1"/>
              <a:t>void</a:t>
            </a:r>
            <a:r>
              <a:rPr lang="it-IT" sz="1400" dirty="0"/>
              <a:t> </a:t>
            </a:r>
            <a:r>
              <a:rPr lang="it-IT" sz="1400" dirty="0" err="1"/>
              <a:t>increment</a:t>
            </a:r>
            <a:r>
              <a:rPr lang="it-IT" sz="1400" dirty="0"/>
              <a:t>() {</a:t>
            </a:r>
            <a:r>
              <a:rPr lang="it-IT" sz="1400" dirty="0" err="1"/>
              <a:t>value</a:t>
            </a:r>
            <a:r>
              <a:rPr lang="it-IT" sz="1400" dirty="0"/>
              <a:t>++;}</a:t>
            </a:r>
          </a:p>
          <a:p>
            <a:r>
              <a:rPr lang="it-IT" sz="1400" dirty="0"/>
              <a:t>    public </a:t>
            </a:r>
            <a:r>
              <a:rPr lang="it-IT" sz="1400" dirty="0" err="1"/>
              <a:t>void</a:t>
            </a:r>
            <a:r>
              <a:rPr lang="it-IT" sz="1400" dirty="0"/>
              <a:t> </a:t>
            </a:r>
            <a:r>
              <a:rPr lang="it-IT" sz="1400" dirty="0" err="1"/>
              <a:t>decrement</a:t>
            </a:r>
            <a:r>
              <a:rPr lang="it-IT" sz="1400" dirty="0"/>
              <a:t>() {</a:t>
            </a:r>
            <a:r>
              <a:rPr lang="it-IT" sz="1400" dirty="0" err="1"/>
              <a:t>value</a:t>
            </a:r>
            <a:r>
              <a:rPr lang="it-IT" sz="1400" dirty="0"/>
              <a:t>--;}</a:t>
            </a:r>
          </a:p>
          <a:p>
            <a:r>
              <a:rPr lang="it-IT" sz="1400" dirty="0"/>
              <a:t>    </a:t>
            </a:r>
            <a:r>
              <a:rPr lang="it-IT" sz="1400" dirty="0">
                <a:solidFill>
                  <a:srgbClr val="00B0F0"/>
                </a:solidFill>
              </a:rPr>
              <a:t>//predicati</a:t>
            </a:r>
          </a:p>
          <a:p>
            <a:r>
              <a:rPr lang="it-IT" sz="1400" dirty="0"/>
              <a:t>    public </a:t>
            </a:r>
            <a:r>
              <a:rPr lang="it-IT" sz="1400" dirty="0" err="1"/>
              <a:t>boolean</a:t>
            </a:r>
            <a:r>
              <a:rPr lang="it-IT" sz="1400" dirty="0"/>
              <a:t> </a:t>
            </a:r>
            <a:r>
              <a:rPr lang="it-IT" sz="1400" dirty="0" err="1"/>
              <a:t>ovf</a:t>
            </a:r>
            <a:r>
              <a:rPr lang="it-IT" sz="1400" dirty="0"/>
              <a:t>() {</a:t>
            </a:r>
            <a:r>
              <a:rPr lang="it-IT" sz="1400" dirty="0" err="1"/>
              <a:t>return</a:t>
            </a:r>
            <a:r>
              <a:rPr lang="it-IT" sz="1400" dirty="0"/>
              <a:t> (value+1)&gt;=max;}</a:t>
            </a:r>
          </a:p>
          <a:p>
            <a:r>
              <a:rPr lang="it-IT" sz="1400" dirty="0"/>
              <a:t>    public </a:t>
            </a:r>
            <a:r>
              <a:rPr lang="it-IT" sz="1400" dirty="0" err="1"/>
              <a:t>boolean</a:t>
            </a:r>
            <a:r>
              <a:rPr lang="it-IT" sz="1400" dirty="0"/>
              <a:t> </a:t>
            </a:r>
            <a:r>
              <a:rPr lang="it-IT" sz="1400" dirty="0" err="1"/>
              <a:t>unf</a:t>
            </a:r>
            <a:r>
              <a:rPr lang="it-IT" sz="1400" dirty="0"/>
              <a:t>() {</a:t>
            </a:r>
            <a:r>
              <a:rPr lang="it-IT" sz="1400" dirty="0" err="1"/>
              <a:t>return</a:t>
            </a:r>
            <a:r>
              <a:rPr lang="it-IT" sz="1400" dirty="0"/>
              <a:t> (value-1)&lt;0;}</a:t>
            </a:r>
          </a:p>
          <a:p>
            <a:r>
              <a:rPr lang="it-IT" sz="1400" dirty="0"/>
              <a:t>    public </a:t>
            </a:r>
            <a:r>
              <a:rPr lang="it-IT" sz="1400" dirty="0" err="1">
                <a:solidFill>
                  <a:srgbClr val="FF0000"/>
                </a:solidFill>
              </a:rPr>
              <a:t>boolean</a:t>
            </a:r>
            <a:r>
              <a:rPr lang="it-IT" sz="1400" dirty="0">
                <a:solidFill>
                  <a:srgbClr val="FF0000"/>
                </a:solidFill>
              </a:rPr>
              <a:t> </a:t>
            </a:r>
            <a:r>
              <a:rPr lang="it-IT" sz="1400" dirty="0" err="1">
                <a:solidFill>
                  <a:srgbClr val="FF0000"/>
                </a:solidFill>
              </a:rPr>
              <a:t>equals</a:t>
            </a:r>
            <a:r>
              <a:rPr lang="it-IT" sz="1400" dirty="0">
                <a:solidFill>
                  <a:srgbClr val="FF0000"/>
                </a:solidFill>
              </a:rPr>
              <a:t>(Counter C) </a:t>
            </a:r>
            <a:r>
              <a:rPr lang="it-IT" sz="1400" dirty="0"/>
              <a:t>{</a:t>
            </a:r>
          </a:p>
          <a:p>
            <a:r>
              <a:rPr lang="it-IT" sz="1400" dirty="0"/>
              <a:t>           </a:t>
            </a:r>
            <a:r>
              <a:rPr lang="it-IT" sz="1400" dirty="0" err="1"/>
              <a:t>return</a:t>
            </a:r>
            <a:r>
              <a:rPr lang="it-IT" sz="1400" dirty="0"/>
              <a:t> ((max==</a:t>
            </a:r>
            <a:r>
              <a:rPr lang="it-IT" sz="1400" dirty="0" err="1"/>
              <a:t>C.max</a:t>
            </a:r>
            <a:r>
              <a:rPr lang="it-IT" sz="1400" dirty="0"/>
              <a:t>) &amp;&amp; (</a:t>
            </a:r>
            <a:r>
              <a:rPr lang="it-IT" sz="1400" dirty="0" err="1"/>
              <a:t>value</a:t>
            </a:r>
            <a:r>
              <a:rPr lang="it-IT" sz="1400" dirty="0"/>
              <a:t>==</a:t>
            </a:r>
            <a:r>
              <a:rPr lang="it-IT" sz="1400" dirty="0" err="1"/>
              <a:t>C.value</a:t>
            </a:r>
            <a:r>
              <a:rPr lang="it-IT" sz="1400" dirty="0"/>
              <a:t>)); }</a:t>
            </a:r>
          </a:p>
          <a:p>
            <a:r>
              <a:rPr lang="it-IT" sz="1400" dirty="0"/>
              <a:t>    public </a:t>
            </a:r>
            <a:r>
              <a:rPr lang="it-IT" sz="1400" dirty="0" err="1">
                <a:solidFill>
                  <a:srgbClr val="FF0000"/>
                </a:solidFill>
              </a:rPr>
              <a:t>boolean</a:t>
            </a:r>
            <a:r>
              <a:rPr lang="it-IT" sz="1400" dirty="0">
                <a:solidFill>
                  <a:srgbClr val="FF0000"/>
                </a:solidFill>
              </a:rPr>
              <a:t> </a:t>
            </a:r>
            <a:r>
              <a:rPr lang="it-IT" sz="1400" dirty="0" err="1">
                <a:solidFill>
                  <a:srgbClr val="FF0000"/>
                </a:solidFill>
              </a:rPr>
              <a:t>not_equal</a:t>
            </a:r>
            <a:r>
              <a:rPr lang="it-IT" sz="1400" dirty="0">
                <a:solidFill>
                  <a:srgbClr val="FF0000"/>
                </a:solidFill>
              </a:rPr>
              <a:t>(Counter C)</a:t>
            </a:r>
            <a:r>
              <a:rPr lang="it-IT" sz="1400" dirty="0"/>
              <a:t> {</a:t>
            </a:r>
          </a:p>
          <a:p>
            <a:r>
              <a:rPr lang="it-IT" sz="1400" dirty="0"/>
              <a:t>           </a:t>
            </a:r>
            <a:r>
              <a:rPr lang="it-IT" sz="1400" dirty="0" err="1"/>
              <a:t>return</a:t>
            </a:r>
            <a:r>
              <a:rPr lang="it-IT" sz="1400" dirty="0"/>
              <a:t> !(</a:t>
            </a:r>
            <a:r>
              <a:rPr lang="it-IT" sz="1400" dirty="0" err="1"/>
              <a:t>equals</a:t>
            </a:r>
            <a:r>
              <a:rPr lang="it-IT" sz="1400" dirty="0"/>
              <a:t>(C));  }</a:t>
            </a:r>
          </a:p>
          <a:p>
            <a:r>
              <a:rPr lang="it-IT" sz="1400" dirty="0"/>
              <a:t>}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C1FCD3C-9EDA-0090-F472-E26A919C79F5}"/>
              </a:ext>
            </a:extLst>
          </p:cNvPr>
          <p:cNvSpPr txBox="1"/>
          <p:nvPr/>
        </p:nvSpPr>
        <p:spPr>
          <a:xfrm rot="16200000">
            <a:off x="-2183663" y="3028288"/>
            <a:ext cx="56717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Classe Counter – versione 5</a:t>
            </a:r>
          </a:p>
        </p:txBody>
      </p:sp>
    </p:spTree>
    <p:extLst>
      <p:ext uri="{BB962C8B-B14F-4D97-AF65-F5344CB8AC3E}">
        <p14:creationId xmlns:p14="http://schemas.microsoft.com/office/powerpoint/2010/main" val="9010014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330C3E-77F6-0868-6796-6B6BB40C9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771900" y="2160712"/>
            <a:ext cx="7543800" cy="1295400"/>
          </a:xfrm>
        </p:spPr>
        <p:txBody>
          <a:bodyPr/>
          <a:lstStyle/>
          <a:p>
            <a:r>
              <a:rPr lang="it-IT" sz="2600" dirty="0"/>
              <a:t>Classe di prova – versione 5 (continua)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CDC308D-7159-A658-9756-3E67A791DE32}"/>
              </a:ext>
            </a:extLst>
          </p:cNvPr>
          <p:cNvSpPr txBox="1"/>
          <p:nvPr/>
        </p:nvSpPr>
        <p:spPr>
          <a:xfrm>
            <a:off x="679234" y="89624"/>
            <a:ext cx="8317159" cy="667875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it-IT" sz="1400" dirty="0"/>
              <a:t>package </a:t>
            </a:r>
            <a:r>
              <a:rPr lang="it-IT" sz="1400" dirty="0" err="1"/>
              <a:t>runningexamples</a:t>
            </a:r>
            <a:r>
              <a:rPr lang="it-IT" sz="1400" dirty="0"/>
              <a:t>;</a:t>
            </a:r>
          </a:p>
          <a:p>
            <a:endParaRPr lang="it-IT" sz="800" dirty="0"/>
          </a:p>
          <a:p>
            <a:r>
              <a:rPr lang="it-IT" sz="1400" dirty="0"/>
              <a:t>public class </a:t>
            </a:r>
            <a:r>
              <a:rPr lang="it-IT" sz="1400" dirty="0" err="1"/>
              <a:t>RunningExamples</a:t>
            </a:r>
            <a:r>
              <a:rPr lang="it-IT" sz="1400" dirty="0"/>
              <a:t> {</a:t>
            </a:r>
          </a:p>
          <a:p>
            <a:endParaRPr lang="it-IT" sz="800" dirty="0"/>
          </a:p>
          <a:p>
            <a:r>
              <a:rPr lang="it-IT" sz="1400" dirty="0"/>
              <a:t>    public </a:t>
            </a:r>
            <a:r>
              <a:rPr lang="it-IT" sz="1400" dirty="0" err="1"/>
              <a:t>static</a:t>
            </a:r>
            <a:r>
              <a:rPr lang="it-IT" sz="1400" dirty="0"/>
              <a:t> </a:t>
            </a:r>
            <a:r>
              <a:rPr lang="it-IT" sz="1400" dirty="0" err="1"/>
              <a:t>void</a:t>
            </a:r>
            <a:r>
              <a:rPr lang="it-IT" sz="1400" dirty="0"/>
              <a:t> </a:t>
            </a:r>
            <a:r>
              <a:rPr lang="it-IT" sz="1400" b="1" dirty="0" err="1"/>
              <a:t>main</a:t>
            </a:r>
            <a:r>
              <a:rPr lang="it-IT" sz="1400" dirty="0"/>
              <a:t>(</a:t>
            </a:r>
            <a:r>
              <a:rPr lang="it-IT" sz="1400" dirty="0" err="1"/>
              <a:t>String</a:t>
            </a:r>
            <a:r>
              <a:rPr lang="it-IT" sz="1400" dirty="0"/>
              <a:t>[] </a:t>
            </a:r>
            <a:r>
              <a:rPr lang="it-IT" sz="1400" dirty="0" err="1"/>
              <a:t>args</a:t>
            </a:r>
            <a:r>
              <a:rPr lang="it-IT" sz="1400" dirty="0"/>
              <a:t>) {</a:t>
            </a:r>
          </a:p>
          <a:p>
            <a:r>
              <a:rPr lang="it-IT" sz="1400" dirty="0"/>
              <a:t>    </a:t>
            </a:r>
            <a:endParaRPr lang="it-IT" sz="800" dirty="0"/>
          </a:p>
          <a:p>
            <a:r>
              <a:rPr lang="it-IT" sz="1400" dirty="0"/>
              <a:t>        </a:t>
            </a:r>
            <a:r>
              <a:rPr lang="it-IT" sz="1400" dirty="0" err="1"/>
              <a:t>System.out.print</a:t>
            </a:r>
            <a:r>
              <a:rPr lang="it-IT" sz="1400" dirty="0"/>
              <a:t>("numero di oggetti contatore creati: " + </a:t>
            </a:r>
            <a:r>
              <a:rPr lang="it-IT" sz="1400" dirty="0" err="1">
                <a:solidFill>
                  <a:srgbClr val="FF0000"/>
                </a:solidFill>
              </a:rPr>
              <a:t>Counter.get_objcount</a:t>
            </a:r>
            <a:r>
              <a:rPr lang="it-IT" sz="1400" dirty="0">
                <a:solidFill>
                  <a:srgbClr val="FF0000"/>
                </a:solidFill>
              </a:rPr>
              <a:t>() </a:t>
            </a:r>
            <a:r>
              <a:rPr lang="it-IT" sz="1400" dirty="0"/>
              <a:t>+ "\</a:t>
            </a:r>
            <a:r>
              <a:rPr lang="it-IT" sz="1400" dirty="0" err="1"/>
              <a:t>n</a:t>
            </a:r>
            <a:r>
              <a:rPr lang="it-IT" sz="1400" dirty="0"/>
              <a:t>");</a:t>
            </a:r>
          </a:p>
          <a:p>
            <a:r>
              <a:rPr lang="it-IT" sz="1400" dirty="0"/>
              <a:t>        </a:t>
            </a:r>
          </a:p>
          <a:p>
            <a:r>
              <a:rPr lang="it-IT" sz="1400" dirty="0"/>
              <a:t>        Counter b = new Counter();</a:t>
            </a:r>
          </a:p>
          <a:p>
            <a:r>
              <a:rPr lang="it-IT" sz="1400" dirty="0"/>
              <a:t>        Counter c = new Counter(4);</a:t>
            </a:r>
          </a:p>
          <a:p>
            <a:r>
              <a:rPr lang="it-IT" sz="1400" dirty="0"/>
              <a:t>        Counter d = new Counter(c);</a:t>
            </a:r>
          </a:p>
          <a:p>
            <a:r>
              <a:rPr lang="it-IT" sz="1400" dirty="0"/>
              <a:t>        </a:t>
            </a:r>
          </a:p>
          <a:p>
            <a:r>
              <a:rPr lang="it-IT" sz="1400" dirty="0"/>
              <a:t>        </a:t>
            </a:r>
            <a:r>
              <a:rPr lang="it-IT" sz="1400" dirty="0" err="1"/>
              <a:t>System.out.print</a:t>
            </a:r>
            <a:r>
              <a:rPr lang="it-IT" sz="1400" dirty="0"/>
              <a:t>("valore corrente del contatore b: " + </a:t>
            </a:r>
            <a:r>
              <a:rPr lang="it-IT" sz="1400" dirty="0" err="1"/>
              <a:t>b.get_value</a:t>
            </a:r>
            <a:r>
              <a:rPr lang="it-IT" sz="1400" dirty="0"/>
              <a:t>() + "\</a:t>
            </a:r>
            <a:r>
              <a:rPr lang="it-IT" sz="1400" dirty="0" err="1"/>
              <a:t>n</a:t>
            </a:r>
            <a:r>
              <a:rPr lang="it-IT" sz="1400" dirty="0"/>
              <a:t>");</a:t>
            </a:r>
          </a:p>
          <a:p>
            <a:r>
              <a:rPr lang="it-IT" sz="1400" dirty="0"/>
              <a:t>        </a:t>
            </a:r>
            <a:r>
              <a:rPr lang="it-IT" sz="1400" dirty="0" err="1"/>
              <a:t>System.out.print</a:t>
            </a:r>
            <a:r>
              <a:rPr lang="it-IT" sz="1400" dirty="0"/>
              <a:t>("valore corrente del contatore c: " + </a:t>
            </a:r>
            <a:r>
              <a:rPr lang="it-IT" sz="1400" dirty="0" err="1"/>
              <a:t>c.get_value</a:t>
            </a:r>
            <a:r>
              <a:rPr lang="it-IT" sz="1400" dirty="0"/>
              <a:t>() + "\</a:t>
            </a:r>
            <a:r>
              <a:rPr lang="it-IT" sz="1400" dirty="0" err="1"/>
              <a:t>n</a:t>
            </a:r>
            <a:r>
              <a:rPr lang="it-IT" sz="1400" dirty="0"/>
              <a:t>");</a:t>
            </a:r>
          </a:p>
          <a:p>
            <a:r>
              <a:rPr lang="it-IT" sz="1400" dirty="0"/>
              <a:t>        </a:t>
            </a:r>
            <a:r>
              <a:rPr lang="it-IT" sz="1400" dirty="0" err="1"/>
              <a:t>System.out.print</a:t>
            </a:r>
            <a:r>
              <a:rPr lang="it-IT" sz="1400" dirty="0"/>
              <a:t>("valore corrente del contatore d: " + </a:t>
            </a:r>
            <a:r>
              <a:rPr lang="it-IT" sz="1400" dirty="0" err="1"/>
              <a:t>d.get_value</a:t>
            </a:r>
            <a:r>
              <a:rPr lang="it-IT" sz="1400" dirty="0"/>
              <a:t>() + "\</a:t>
            </a:r>
            <a:r>
              <a:rPr lang="it-IT" sz="1400" dirty="0" err="1"/>
              <a:t>n</a:t>
            </a:r>
            <a:r>
              <a:rPr lang="it-IT" sz="1400" dirty="0"/>
              <a:t>");</a:t>
            </a:r>
          </a:p>
          <a:p>
            <a:r>
              <a:rPr lang="it-IT" sz="1400" dirty="0"/>
              <a:t>        </a:t>
            </a:r>
            <a:r>
              <a:rPr lang="it-IT" sz="1400" dirty="0" err="1"/>
              <a:t>System.out.print</a:t>
            </a:r>
            <a:r>
              <a:rPr lang="it-IT" sz="1400" dirty="0"/>
              <a:t>("soglia corrente del contatore b: " + </a:t>
            </a:r>
            <a:r>
              <a:rPr lang="it-IT" sz="1400" dirty="0" err="1"/>
              <a:t>b.get_max</a:t>
            </a:r>
            <a:r>
              <a:rPr lang="it-IT" sz="1400" dirty="0"/>
              <a:t>() + "\</a:t>
            </a:r>
            <a:r>
              <a:rPr lang="it-IT" sz="1400" dirty="0" err="1"/>
              <a:t>n</a:t>
            </a:r>
            <a:r>
              <a:rPr lang="it-IT" sz="1400" dirty="0"/>
              <a:t>");</a:t>
            </a:r>
          </a:p>
          <a:p>
            <a:r>
              <a:rPr lang="it-IT" sz="1400" dirty="0"/>
              <a:t>        </a:t>
            </a:r>
            <a:r>
              <a:rPr lang="it-IT" sz="1400" dirty="0" err="1"/>
              <a:t>System.out.print</a:t>
            </a:r>
            <a:r>
              <a:rPr lang="it-IT" sz="1400" dirty="0"/>
              <a:t>("soglia corrente del contatore c: " + </a:t>
            </a:r>
            <a:r>
              <a:rPr lang="it-IT" sz="1400" dirty="0" err="1"/>
              <a:t>c.get_max</a:t>
            </a:r>
            <a:r>
              <a:rPr lang="it-IT" sz="1400" dirty="0"/>
              <a:t>() + "\</a:t>
            </a:r>
            <a:r>
              <a:rPr lang="it-IT" sz="1400" dirty="0" err="1"/>
              <a:t>n</a:t>
            </a:r>
            <a:r>
              <a:rPr lang="it-IT" sz="1400" dirty="0"/>
              <a:t>");</a:t>
            </a:r>
          </a:p>
          <a:p>
            <a:r>
              <a:rPr lang="it-IT" sz="1400" dirty="0"/>
              <a:t>        </a:t>
            </a:r>
            <a:r>
              <a:rPr lang="it-IT" sz="1400" dirty="0" err="1"/>
              <a:t>System.out.print</a:t>
            </a:r>
            <a:r>
              <a:rPr lang="it-IT" sz="1400" dirty="0"/>
              <a:t>("soglia corrente del contatore d: " + </a:t>
            </a:r>
            <a:r>
              <a:rPr lang="it-IT" sz="1400" dirty="0" err="1"/>
              <a:t>d.get_max</a:t>
            </a:r>
            <a:r>
              <a:rPr lang="it-IT" sz="1400" dirty="0"/>
              <a:t>() + "\</a:t>
            </a:r>
            <a:r>
              <a:rPr lang="it-IT" sz="1400" dirty="0" err="1"/>
              <a:t>n</a:t>
            </a:r>
            <a:r>
              <a:rPr lang="it-IT" sz="1400" dirty="0"/>
              <a:t>");</a:t>
            </a:r>
          </a:p>
          <a:p>
            <a:r>
              <a:rPr lang="it-IT" sz="1400" dirty="0"/>
              <a:t>        </a:t>
            </a:r>
          </a:p>
          <a:p>
            <a:r>
              <a:rPr lang="it-IT" sz="1400" dirty="0"/>
              <a:t>        </a:t>
            </a:r>
            <a:r>
              <a:rPr lang="it-IT" sz="1400" dirty="0" err="1"/>
              <a:t>if</a:t>
            </a:r>
            <a:r>
              <a:rPr lang="it-IT" sz="1400" dirty="0"/>
              <a:t>(!</a:t>
            </a:r>
            <a:r>
              <a:rPr lang="it-IT" sz="1400" dirty="0" err="1"/>
              <a:t>c.ovf</a:t>
            </a:r>
            <a:r>
              <a:rPr lang="it-IT" sz="1400" dirty="0"/>
              <a:t>()) {</a:t>
            </a:r>
          </a:p>
          <a:p>
            <a:r>
              <a:rPr lang="it-IT" sz="1400" dirty="0"/>
              <a:t>            </a:t>
            </a:r>
            <a:r>
              <a:rPr lang="it-IT" sz="1400" dirty="0" err="1"/>
              <a:t>c.increment</a:t>
            </a:r>
            <a:r>
              <a:rPr lang="it-IT" sz="1400" dirty="0"/>
              <a:t>();</a:t>
            </a:r>
          </a:p>
          <a:p>
            <a:r>
              <a:rPr lang="it-IT" sz="1400" dirty="0"/>
              <a:t>            </a:t>
            </a:r>
            <a:r>
              <a:rPr lang="it-IT" sz="1400" dirty="0" err="1"/>
              <a:t>System.out.print</a:t>
            </a:r>
            <a:r>
              <a:rPr lang="it-IT" sz="1400" dirty="0"/>
              <a:t>("valore corrente del contatore c dopo l'incremento: " + </a:t>
            </a:r>
            <a:r>
              <a:rPr lang="it-IT" sz="1400" dirty="0" err="1"/>
              <a:t>c.get_value</a:t>
            </a:r>
            <a:r>
              <a:rPr lang="it-IT" sz="1400" dirty="0"/>
              <a:t>() + "\</a:t>
            </a:r>
            <a:r>
              <a:rPr lang="it-IT" sz="1400" dirty="0" err="1"/>
              <a:t>n</a:t>
            </a:r>
            <a:r>
              <a:rPr lang="it-IT" sz="1400" dirty="0"/>
              <a:t>"); }</a:t>
            </a:r>
          </a:p>
          <a:p>
            <a:r>
              <a:rPr lang="it-IT" sz="1400" dirty="0"/>
              <a:t>        else </a:t>
            </a:r>
            <a:r>
              <a:rPr lang="it-IT" sz="1400" dirty="0" err="1"/>
              <a:t>System.out.print</a:t>
            </a:r>
            <a:r>
              <a:rPr lang="it-IT" sz="1400" dirty="0"/>
              <a:t>("pre-condizione non verificata, impossibile incrementare c! \</a:t>
            </a:r>
            <a:r>
              <a:rPr lang="it-IT" sz="1400" dirty="0" err="1"/>
              <a:t>n</a:t>
            </a:r>
            <a:r>
              <a:rPr lang="it-IT" sz="1400" dirty="0"/>
              <a:t>");</a:t>
            </a:r>
          </a:p>
          <a:p>
            <a:r>
              <a:rPr lang="it-IT" sz="1400" dirty="0"/>
              <a:t>        </a:t>
            </a:r>
            <a:r>
              <a:rPr lang="it-IT" sz="1400" dirty="0" err="1"/>
              <a:t>if</a:t>
            </a:r>
            <a:r>
              <a:rPr lang="it-IT" sz="1400" dirty="0"/>
              <a:t>(!</a:t>
            </a:r>
            <a:r>
              <a:rPr lang="it-IT" sz="1400" dirty="0" err="1"/>
              <a:t>c.unf</a:t>
            </a:r>
            <a:r>
              <a:rPr lang="it-IT" sz="1400" dirty="0"/>
              <a:t>()){</a:t>
            </a:r>
          </a:p>
          <a:p>
            <a:r>
              <a:rPr lang="it-IT" sz="1400" dirty="0"/>
              <a:t>            </a:t>
            </a:r>
            <a:r>
              <a:rPr lang="it-IT" sz="1400" dirty="0" err="1"/>
              <a:t>c.decrement</a:t>
            </a:r>
            <a:r>
              <a:rPr lang="it-IT" sz="1400" dirty="0"/>
              <a:t>();</a:t>
            </a:r>
          </a:p>
          <a:p>
            <a:r>
              <a:rPr lang="it-IT" sz="1400" dirty="0"/>
              <a:t>            </a:t>
            </a:r>
            <a:r>
              <a:rPr lang="it-IT" sz="1400" dirty="0" err="1"/>
              <a:t>System.out.print</a:t>
            </a:r>
            <a:r>
              <a:rPr lang="it-IT" sz="1400" dirty="0"/>
              <a:t>("valore corrente del contatore c dopo il decremento: " + </a:t>
            </a:r>
            <a:r>
              <a:rPr lang="it-IT" sz="1400" dirty="0" err="1"/>
              <a:t>c.get_value</a:t>
            </a:r>
            <a:r>
              <a:rPr lang="it-IT" sz="1400" dirty="0"/>
              <a:t>() + "\</a:t>
            </a:r>
            <a:r>
              <a:rPr lang="it-IT" sz="1400" dirty="0" err="1"/>
              <a:t>n</a:t>
            </a:r>
            <a:r>
              <a:rPr lang="it-IT" sz="1400" dirty="0"/>
              <a:t>"); }</a:t>
            </a:r>
          </a:p>
          <a:p>
            <a:r>
              <a:rPr lang="it-IT" sz="1400" dirty="0"/>
              <a:t>            else </a:t>
            </a:r>
            <a:r>
              <a:rPr lang="it-IT" sz="1400" dirty="0" err="1"/>
              <a:t>System.out.print</a:t>
            </a:r>
            <a:r>
              <a:rPr lang="it-IT" sz="1400" dirty="0"/>
              <a:t>("pre-condizione non verificata, impossibile decrementare c! \</a:t>
            </a:r>
            <a:r>
              <a:rPr lang="it-IT" sz="1400" dirty="0" err="1"/>
              <a:t>n</a:t>
            </a:r>
            <a:r>
              <a:rPr lang="it-IT" sz="1400" dirty="0"/>
              <a:t>");</a:t>
            </a:r>
          </a:p>
          <a:p>
            <a:r>
              <a:rPr lang="it-IT" sz="1400" dirty="0"/>
              <a:t>        </a:t>
            </a:r>
            <a:r>
              <a:rPr lang="it-IT" sz="1400" dirty="0" err="1"/>
              <a:t>if</a:t>
            </a:r>
            <a:r>
              <a:rPr lang="it-IT" sz="1400" dirty="0"/>
              <a:t>(!</a:t>
            </a:r>
            <a:r>
              <a:rPr lang="it-IT" sz="1400" dirty="0" err="1"/>
              <a:t>c.unf</a:t>
            </a:r>
            <a:r>
              <a:rPr lang="it-IT" sz="1400" dirty="0"/>
              <a:t>()){</a:t>
            </a:r>
          </a:p>
          <a:p>
            <a:r>
              <a:rPr lang="it-IT" sz="1400" dirty="0"/>
              <a:t>            </a:t>
            </a:r>
            <a:r>
              <a:rPr lang="it-IT" sz="1400" dirty="0" err="1"/>
              <a:t>c.decrement</a:t>
            </a:r>
            <a:r>
              <a:rPr lang="it-IT" sz="1400" dirty="0"/>
              <a:t>();</a:t>
            </a:r>
          </a:p>
          <a:p>
            <a:r>
              <a:rPr lang="it-IT" sz="1400" dirty="0"/>
              <a:t>            </a:t>
            </a:r>
            <a:r>
              <a:rPr lang="it-IT" sz="1400" dirty="0" err="1"/>
              <a:t>System.out.print</a:t>
            </a:r>
            <a:r>
              <a:rPr lang="it-IT" sz="1400" dirty="0"/>
              <a:t>("valore corrente del contatore c dopo il decremento: " + </a:t>
            </a:r>
            <a:r>
              <a:rPr lang="it-IT" sz="1400" dirty="0" err="1"/>
              <a:t>c.get_value</a:t>
            </a:r>
            <a:r>
              <a:rPr lang="it-IT" sz="1400" dirty="0"/>
              <a:t>() + "\</a:t>
            </a:r>
            <a:r>
              <a:rPr lang="it-IT" sz="1400" dirty="0" err="1"/>
              <a:t>n</a:t>
            </a:r>
            <a:r>
              <a:rPr lang="it-IT" sz="1400" dirty="0"/>
              <a:t>"); }</a:t>
            </a:r>
          </a:p>
          <a:p>
            <a:r>
              <a:rPr lang="it-IT" sz="1400" dirty="0"/>
              <a:t>        else </a:t>
            </a:r>
            <a:r>
              <a:rPr lang="it-IT" sz="1400" dirty="0" err="1"/>
              <a:t>System.out.print</a:t>
            </a:r>
            <a:r>
              <a:rPr lang="it-IT" sz="1400" dirty="0"/>
              <a:t>("pre-condizione non verificata, impossibile decrementare c! \</a:t>
            </a:r>
            <a:r>
              <a:rPr lang="it-IT" sz="1400" dirty="0" err="1"/>
              <a:t>n</a:t>
            </a:r>
            <a:r>
              <a:rPr lang="it-IT" sz="1400" dirty="0"/>
              <a:t>");</a:t>
            </a:r>
          </a:p>
        </p:txBody>
      </p:sp>
    </p:spTree>
    <p:extLst>
      <p:ext uri="{BB962C8B-B14F-4D97-AF65-F5344CB8AC3E}">
        <p14:creationId xmlns:p14="http://schemas.microsoft.com/office/powerpoint/2010/main" val="28340631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330C3E-77F6-0868-6796-6B6BB40C9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-448280"/>
            <a:ext cx="7543800" cy="1295400"/>
          </a:xfrm>
        </p:spPr>
        <p:txBody>
          <a:bodyPr/>
          <a:lstStyle/>
          <a:p>
            <a:r>
              <a:rPr lang="it-IT" sz="3200" dirty="0"/>
              <a:t>Classe di prova – versione 5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CDC308D-7159-A658-9756-3E67A791DE32}"/>
              </a:ext>
            </a:extLst>
          </p:cNvPr>
          <p:cNvSpPr txBox="1"/>
          <p:nvPr/>
        </p:nvSpPr>
        <p:spPr>
          <a:xfrm>
            <a:off x="395536" y="1628800"/>
            <a:ext cx="8174033" cy="329320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1600" dirty="0" err="1"/>
              <a:t>System.out.print</a:t>
            </a:r>
            <a:r>
              <a:rPr lang="it-IT" sz="1600" dirty="0"/>
              <a:t>("valore corrente della soglia massima di d: " + </a:t>
            </a:r>
            <a:r>
              <a:rPr lang="it-IT" sz="1600" dirty="0" err="1"/>
              <a:t>d.get_max</a:t>
            </a:r>
            <a:r>
              <a:rPr lang="it-IT" sz="1600" dirty="0"/>
              <a:t>() + "\</a:t>
            </a:r>
            <a:r>
              <a:rPr lang="it-IT" sz="1600" dirty="0" err="1"/>
              <a:t>n</a:t>
            </a:r>
            <a:r>
              <a:rPr lang="it-IT" sz="1600" dirty="0"/>
              <a:t>");</a:t>
            </a:r>
          </a:p>
          <a:p>
            <a:r>
              <a:rPr lang="it-IT" sz="1600" dirty="0"/>
              <a:t>        </a:t>
            </a:r>
          </a:p>
          <a:p>
            <a:r>
              <a:rPr lang="it-IT" sz="1600" dirty="0"/>
              <a:t>       // test del metodo </a:t>
            </a:r>
            <a:r>
              <a:rPr lang="it-IT" sz="1600" dirty="0" err="1"/>
              <a:t>equal</a:t>
            </a:r>
            <a:endParaRPr lang="it-IT" sz="1600" dirty="0"/>
          </a:p>
          <a:p>
            <a:r>
              <a:rPr lang="it-IT" sz="1600" dirty="0"/>
              <a:t>       </a:t>
            </a:r>
            <a:r>
              <a:rPr lang="it-IT" sz="1600" dirty="0" err="1"/>
              <a:t>System.out.print</a:t>
            </a:r>
            <a:r>
              <a:rPr lang="it-IT" sz="1600" dirty="0"/>
              <a:t>("valore corrente della soglia massima di c: " + </a:t>
            </a:r>
            <a:r>
              <a:rPr lang="it-IT" sz="1600" dirty="0" err="1"/>
              <a:t>c.get_max</a:t>
            </a:r>
            <a:r>
              <a:rPr lang="it-IT" sz="1600" dirty="0"/>
              <a:t>() + "\</a:t>
            </a:r>
            <a:r>
              <a:rPr lang="it-IT" sz="1600" dirty="0" err="1"/>
              <a:t>n</a:t>
            </a:r>
            <a:r>
              <a:rPr lang="it-IT" sz="1600" dirty="0"/>
              <a:t>");</a:t>
            </a:r>
          </a:p>
          <a:p>
            <a:r>
              <a:rPr lang="it-IT" sz="1600" dirty="0"/>
              <a:t>       </a:t>
            </a:r>
            <a:r>
              <a:rPr lang="it-IT" sz="1600" dirty="0" err="1">
                <a:solidFill>
                  <a:srgbClr val="FF0000"/>
                </a:solidFill>
              </a:rPr>
              <a:t>if</a:t>
            </a:r>
            <a:r>
              <a:rPr lang="it-IT" sz="1600" dirty="0">
                <a:solidFill>
                  <a:srgbClr val="FF0000"/>
                </a:solidFill>
              </a:rPr>
              <a:t>(</a:t>
            </a:r>
            <a:r>
              <a:rPr lang="it-IT" sz="1600" dirty="0" err="1">
                <a:solidFill>
                  <a:srgbClr val="FF0000"/>
                </a:solidFill>
              </a:rPr>
              <a:t>c.equals</a:t>
            </a:r>
            <a:r>
              <a:rPr lang="it-IT" sz="1600" dirty="0">
                <a:solidFill>
                  <a:srgbClr val="FF0000"/>
                </a:solidFill>
              </a:rPr>
              <a:t>(d)) </a:t>
            </a:r>
            <a:r>
              <a:rPr lang="it-IT" sz="1600" dirty="0" err="1">
                <a:solidFill>
                  <a:srgbClr val="FF0000"/>
                </a:solidFill>
              </a:rPr>
              <a:t>System.out.print</a:t>
            </a:r>
            <a:r>
              <a:rPr lang="it-IT" sz="1600" dirty="0">
                <a:solidFill>
                  <a:srgbClr val="FF0000"/>
                </a:solidFill>
              </a:rPr>
              <a:t>("gli oggetti riferiti da c e d sono uguali \</a:t>
            </a:r>
            <a:r>
              <a:rPr lang="it-IT" sz="1600" dirty="0" err="1">
                <a:solidFill>
                  <a:srgbClr val="FF0000"/>
                </a:solidFill>
              </a:rPr>
              <a:t>n</a:t>
            </a:r>
            <a:r>
              <a:rPr lang="it-IT" sz="1600" dirty="0">
                <a:solidFill>
                  <a:srgbClr val="FF0000"/>
                </a:solidFill>
              </a:rPr>
              <a:t>");</a:t>
            </a:r>
          </a:p>
          <a:p>
            <a:r>
              <a:rPr lang="it-IT" sz="1600" dirty="0">
                <a:solidFill>
                  <a:srgbClr val="FF0000"/>
                </a:solidFill>
              </a:rPr>
              <a:t>       else </a:t>
            </a:r>
            <a:r>
              <a:rPr lang="it-IT" sz="1600" dirty="0" err="1">
                <a:solidFill>
                  <a:srgbClr val="FF0000"/>
                </a:solidFill>
              </a:rPr>
              <a:t>System.out.print</a:t>
            </a:r>
            <a:r>
              <a:rPr lang="it-IT" sz="1600" dirty="0">
                <a:solidFill>
                  <a:srgbClr val="FF0000"/>
                </a:solidFill>
              </a:rPr>
              <a:t>("gli oggetti riferiti da c e d sono diversi \</a:t>
            </a:r>
            <a:r>
              <a:rPr lang="it-IT" sz="1600" dirty="0" err="1">
                <a:solidFill>
                  <a:srgbClr val="FF0000"/>
                </a:solidFill>
              </a:rPr>
              <a:t>n</a:t>
            </a:r>
            <a:r>
              <a:rPr lang="it-IT" sz="1600" dirty="0">
                <a:solidFill>
                  <a:srgbClr val="FF0000"/>
                </a:solidFill>
              </a:rPr>
              <a:t>");</a:t>
            </a:r>
          </a:p>
          <a:p>
            <a:r>
              <a:rPr lang="it-IT" sz="1600" dirty="0">
                <a:solidFill>
                  <a:srgbClr val="00B050"/>
                </a:solidFill>
              </a:rPr>
              <a:t>       </a:t>
            </a:r>
            <a:r>
              <a:rPr lang="it-IT" sz="1600" dirty="0" err="1">
                <a:solidFill>
                  <a:srgbClr val="00B050"/>
                </a:solidFill>
              </a:rPr>
              <a:t>if</a:t>
            </a:r>
            <a:r>
              <a:rPr lang="it-IT" sz="1600" dirty="0">
                <a:solidFill>
                  <a:srgbClr val="00B050"/>
                </a:solidFill>
              </a:rPr>
              <a:t>(c==d) </a:t>
            </a:r>
            <a:r>
              <a:rPr lang="it-IT" sz="1600" dirty="0" err="1">
                <a:solidFill>
                  <a:srgbClr val="00B050"/>
                </a:solidFill>
              </a:rPr>
              <a:t>System.out.print</a:t>
            </a:r>
            <a:r>
              <a:rPr lang="it-IT" sz="1600" dirty="0">
                <a:solidFill>
                  <a:srgbClr val="00B050"/>
                </a:solidFill>
              </a:rPr>
              <a:t>("c e d sono uguali, quindi puntano allo stesso oggetto \</a:t>
            </a:r>
            <a:r>
              <a:rPr lang="it-IT" sz="1600" dirty="0" err="1">
                <a:solidFill>
                  <a:srgbClr val="00B050"/>
                </a:solidFill>
              </a:rPr>
              <a:t>n</a:t>
            </a:r>
            <a:r>
              <a:rPr lang="it-IT" sz="1600" dirty="0">
                <a:solidFill>
                  <a:srgbClr val="00B050"/>
                </a:solidFill>
              </a:rPr>
              <a:t>");</a:t>
            </a:r>
          </a:p>
          <a:p>
            <a:r>
              <a:rPr lang="it-IT" sz="1600" dirty="0">
                <a:solidFill>
                  <a:srgbClr val="00B050"/>
                </a:solidFill>
              </a:rPr>
              <a:t>       else </a:t>
            </a:r>
            <a:r>
              <a:rPr lang="it-IT" sz="1600" dirty="0" err="1">
                <a:solidFill>
                  <a:srgbClr val="00B050"/>
                </a:solidFill>
              </a:rPr>
              <a:t>System.out.print</a:t>
            </a:r>
            <a:r>
              <a:rPr lang="it-IT" sz="1600" dirty="0">
                <a:solidFill>
                  <a:srgbClr val="00B050"/>
                </a:solidFill>
              </a:rPr>
              <a:t>("c e d sono diversi, quindi puntano a oggetti diversi \</a:t>
            </a:r>
            <a:r>
              <a:rPr lang="it-IT" sz="1600" dirty="0" err="1">
                <a:solidFill>
                  <a:srgbClr val="00B050"/>
                </a:solidFill>
              </a:rPr>
              <a:t>n</a:t>
            </a:r>
            <a:r>
              <a:rPr lang="it-IT" sz="1600" dirty="0">
                <a:solidFill>
                  <a:srgbClr val="00B050"/>
                </a:solidFill>
              </a:rPr>
              <a:t>");</a:t>
            </a:r>
          </a:p>
          <a:p>
            <a:r>
              <a:rPr lang="it-IT" sz="1600" dirty="0"/>
              <a:t>       </a:t>
            </a:r>
            <a:r>
              <a:rPr lang="it-IT" sz="1600" dirty="0" err="1"/>
              <a:t>System.out.print</a:t>
            </a:r>
            <a:r>
              <a:rPr lang="it-IT" sz="1600" dirty="0"/>
              <a:t>("numero di oggetti contatore creati: " + </a:t>
            </a:r>
            <a:r>
              <a:rPr lang="it-IT" sz="1600" dirty="0" err="1">
                <a:solidFill>
                  <a:srgbClr val="FF0000"/>
                </a:solidFill>
              </a:rPr>
              <a:t>b.get_objcount</a:t>
            </a:r>
            <a:r>
              <a:rPr lang="it-IT" sz="1600" dirty="0">
                <a:solidFill>
                  <a:srgbClr val="FF0000"/>
                </a:solidFill>
              </a:rPr>
              <a:t>()</a:t>
            </a:r>
            <a:r>
              <a:rPr lang="it-IT" sz="1600" dirty="0"/>
              <a:t> + "\</a:t>
            </a:r>
            <a:r>
              <a:rPr lang="it-IT" sz="1600" dirty="0" err="1"/>
              <a:t>n</a:t>
            </a:r>
            <a:r>
              <a:rPr lang="it-IT" sz="1600" dirty="0"/>
              <a:t>");</a:t>
            </a:r>
          </a:p>
          <a:p>
            <a:r>
              <a:rPr lang="it-IT" sz="1600" dirty="0"/>
              <a:t>    </a:t>
            </a:r>
          </a:p>
          <a:p>
            <a:r>
              <a:rPr lang="it-IT" sz="1600" dirty="0"/>
              <a:t>    }</a:t>
            </a:r>
          </a:p>
          <a:p>
            <a:r>
              <a:rPr lang="it-IT" sz="1600" dirty="0"/>
              <a:t>}</a:t>
            </a:r>
          </a:p>
          <a:p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8404194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5CD200-FB23-50F8-06A5-C3C15D729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15416"/>
            <a:ext cx="7543800" cy="1295400"/>
          </a:xfrm>
        </p:spPr>
        <p:txBody>
          <a:bodyPr/>
          <a:lstStyle/>
          <a:p>
            <a:r>
              <a:rPr lang="it-IT" dirty="0"/>
              <a:t>Classi e Oggetti Immutabili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68886F9-8B34-DB93-5CA9-33A51A5A3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411662"/>
          </a:xfrm>
        </p:spPr>
        <p:txBody>
          <a:bodyPr/>
          <a:lstStyle/>
          <a:p>
            <a:r>
              <a:rPr lang="it-IT" sz="2400" dirty="0"/>
              <a:t>Una classe che non fornisce funzioni che consentono all’utente di modificare lo stato di un oggetto è una </a:t>
            </a:r>
            <a:r>
              <a:rPr lang="it-IT" sz="2400" dirty="0">
                <a:solidFill>
                  <a:srgbClr val="FF0000"/>
                </a:solidFill>
              </a:rPr>
              <a:t>classe immutabile, </a:t>
            </a:r>
            <a:r>
              <a:rPr lang="it-IT" sz="2400" dirty="0"/>
              <a:t>e le sue istanze sono dette </a:t>
            </a:r>
            <a:r>
              <a:rPr lang="it-IT" sz="2400" dirty="0">
                <a:solidFill>
                  <a:srgbClr val="FF0000"/>
                </a:solidFill>
              </a:rPr>
              <a:t>oggetti immutabili</a:t>
            </a:r>
          </a:p>
          <a:p>
            <a:r>
              <a:rPr lang="it-IT" sz="2400" dirty="0"/>
              <a:t>Dopo essere stato creato un oggetto immutabile non è più modificabile dall’utente</a:t>
            </a:r>
          </a:p>
          <a:p>
            <a:r>
              <a:rPr lang="it-IT" sz="2400" dirty="0"/>
              <a:t>Una classe immutabile offre dei vantaggi, perché è possibile condividere riferimenti oggetti della classe senza mettere a rischio l’incapsulamento</a:t>
            </a:r>
          </a:p>
          <a:p>
            <a:r>
              <a:rPr lang="it-IT" sz="2400" dirty="0">
                <a:effectLst/>
                <a:latin typeface="Arial" panose="020B0604020202020204" pitchFamily="34" charset="0"/>
              </a:rPr>
              <a:t>In particolare è pericoloso un metodo di accesso (</a:t>
            </a:r>
            <a:r>
              <a:rPr lang="it-IT" sz="2400" dirty="0" err="1">
                <a:effectLst/>
                <a:latin typeface="Arial" panose="020B0604020202020204" pitchFamily="34" charset="0"/>
              </a:rPr>
              <a:t>get</a:t>
            </a:r>
            <a:r>
              <a:rPr lang="it-IT" sz="2400" dirty="0">
                <a:effectLst/>
                <a:latin typeface="Arial" panose="020B0604020202020204" pitchFamily="34" charset="0"/>
              </a:rPr>
              <a:t>) che restituisce un riferimento a un oggetto che non sia di una classe immutabile. </a:t>
            </a:r>
          </a:p>
          <a:p>
            <a:pPr marL="0" indent="0">
              <a:buNone/>
            </a:pP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26522800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B12621-DC35-D04A-F2ED-547A43BD0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90508"/>
            <a:ext cx="7543800" cy="1295400"/>
          </a:xfrm>
        </p:spPr>
        <p:txBody>
          <a:bodyPr/>
          <a:lstStyle/>
          <a:p>
            <a:r>
              <a:rPr lang="it-IT" dirty="0"/>
              <a:t>Esempio (1/2)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AE04ACC-BEA7-09EE-39B1-E49136CE6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762" y="1223169"/>
            <a:ext cx="8229600" cy="4411662"/>
          </a:xfrm>
        </p:spPr>
        <p:txBody>
          <a:bodyPr/>
          <a:lstStyle/>
          <a:p>
            <a:r>
              <a:rPr lang="it-IT" dirty="0"/>
              <a:t>Supponiamo di voler sviluppare la classe Persona che tra le sue variabili di istanza ha un riferimento ad un oggetto di tipo Data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B33E648-0B5F-C156-DAA0-4E9EDF517AFF}"/>
              </a:ext>
            </a:extLst>
          </p:cNvPr>
          <p:cNvSpPr txBox="1"/>
          <p:nvPr/>
        </p:nvSpPr>
        <p:spPr>
          <a:xfrm>
            <a:off x="1691680" y="2924944"/>
            <a:ext cx="6112571" cy="34163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b="1" dirty="0">
                <a:effectLst/>
                <a:latin typeface="Courier New" panose="02070309020205020404" pitchFamily="49" charset="0"/>
              </a:rPr>
              <a:t>class </a:t>
            </a:r>
            <a:r>
              <a:rPr lang="it-IT" b="1" dirty="0">
                <a:latin typeface="Courier New" panose="02070309020205020404" pitchFamily="49" charset="0"/>
              </a:rPr>
              <a:t>Persona</a:t>
            </a:r>
            <a:endParaRPr lang="it-IT" dirty="0">
              <a:effectLst/>
              <a:latin typeface="Courier New" panose="02070309020205020404" pitchFamily="49" charset="0"/>
            </a:endParaRPr>
          </a:p>
          <a:p>
            <a:r>
              <a:rPr lang="it-IT" b="1" dirty="0">
                <a:effectLst/>
                <a:latin typeface="Courier New" panose="02070309020205020404" pitchFamily="49" charset="0"/>
              </a:rPr>
              <a:t>{</a:t>
            </a:r>
            <a:endParaRPr lang="it-IT" dirty="0">
              <a:effectLst/>
              <a:latin typeface="Courier New" panose="02070309020205020404" pitchFamily="49" charset="0"/>
            </a:endParaRPr>
          </a:p>
          <a:p>
            <a:r>
              <a:rPr lang="it-IT" b="1" dirty="0">
                <a:effectLst/>
                <a:latin typeface="Courier New" panose="02070309020205020404" pitchFamily="49" charset="0"/>
              </a:rPr>
              <a:t>//variabili di istanza</a:t>
            </a:r>
            <a:endParaRPr lang="it-IT" dirty="0">
              <a:effectLst/>
              <a:latin typeface="Courier New" panose="02070309020205020404" pitchFamily="49" charset="0"/>
            </a:endParaRPr>
          </a:p>
          <a:p>
            <a:r>
              <a:rPr lang="it-IT" b="1" dirty="0">
                <a:effectLst/>
                <a:latin typeface="Courier New" panose="02070309020205020404" pitchFamily="49" charset="0"/>
              </a:rPr>
              <a:t>private </a:t>
            </a:r>
            <a:r>
              <a:rPr lang="it-IT" b="1" dirty="0" err="1">
                <a:effectLst/>
                <a:latin typeface="Courier New" panose="02070309020205020404" pitchFamily="49" charset="0"/>
              </a:rPr>
              <a:t>String</a:t>
            </a:r>
            <a:r>
              <a:rPr lang="it-IT" b="1" dirty="0">
                <a:effectLst/>
                <a:latin typeface="Courier New" panose="02070309020205020404" pitchFamily="49" charset="0"/>
              </a:rPr>
              <a:t> nome;</a:t>
            </a:r>
            <a:endParaRPr lang="it-IT" dirty="0">
              <a:effectLst/>
              <a:latin typeface="Courier New" panose="02070309020205020404" pitchFamily="49" charset="0"/>
            </a:endParaRPr>
          </a:p>
          <a:p>
            <a:r>
              <a:rPr lang="it-IT" b="1" dirty="0">
                <a:effectLst/>
                <a:latin typeface="Courier New" panose="02070309020205020404" pitchFamily="49" charset="0"/>
              </a:rPr>
              <a:t>private Data </a:t>
            </a:r>
            <a:r>
              <a:rPr lang="it-IT" b="1" dirty="0" err="1">
                <a:effectLst/>
                <a:latin typeface="Courier New" panose="02070309020205020404" pitchFamily="49" charset="0"/>
              </a:rPr>
              <a:t>Birthday</a:t>
            </a:r>
            <a:r>
              <a:rPr lang="it-IT" b="1" dirty="0">
                <a:effectLst/>
                <a:latin typeface="Courier New" panose="02070309020205020404" pitchFamily="49" charset="0"/>
              </a:rPr>
              <a:t>;</a:t>
            </a:r>
          </a:p>
          <a:p>
            <a:endParaRPr lang="it-IT" dirty="0">
              <a:effectLst/>
              <a:latin typeface="Courier New" panose="02070309020205020404" pitchFamily="49" charset="0"/>
            </a:endParaRPr>
          </a:p>
          <a:p>
            <a:r>
              <a:rPr lang="it-IT" b="1" dirty="0">
                <a:effectLst/>
                <a:latin typeface="Courier New" panose="02070309020205020404" pitchFamily="49" charset="0"/>
              </a:rPr>
              <a:t>//metodi</a:t>
            </a:r>
          </a:p>
          <a:p>
            <a:r>
              <a:rPr lang="it-IT" b="1" dirty="0">
                <a:latin typeface="Courier New" panose="02070309020205020404" pitchFamily="49" charset="0"/>
              </a:rPr>
              <a:t>…</a:t>
            </a:r>
            <a:endParaRPr lang="it-IT" dirty="0">
              <a:effectLst/>
              <a:latin typeface="Courier New" panose="02070309020205020404" pitchFamily="49" charset="0"/>
            </a:endParaRPr>
          </a:p>
          <a:p>
            <a:r>
              <a:rPr lang="it-IT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public Data</a:t>
            </a:r>
            <a:r>
              <a:rPr lang="it-IT" b="1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it-IT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getBirthday</a:t>
            </a:r>
            <a:r>
              <a:rPr lang="it-IT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(){</a:t>
            </a:r>
            <a:r>
              <a:rPr lang="it-IT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it-IT" b="1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it-IT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Birthday</a:t>
            </a:r>
            <a:r>
              <a:rPr lang="it-IT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;}</a:t>
            </a:r>
          </a:p>
          <a:p>
            <a:r>
              <a:rPr lang="it-IT" b="1" dirty="0">
                <a:latin typeface="Courier New" panose="02070309020205020404" pitchFamily="49" charset="0"/>
              </a:rPr>
              <a:t>…</a:t>
            </a:r>
            <a:endParaRPr lang="it-IT" dirty="0">
              <a:effectLst/>
              <a:latin typeface="Courier New" panose="02070309020205020404" pitchFamily="49" charset="0"/>
            </a:endParaRPr>
          </a:p>
          <a:p>
            <a:r>
              <a:rPr lang="it-IT" b="1" dirty="0">
                <a:effectLst/>
                <a:latin typeface="Courier New" panose="02070309020205020404" pitchFamily="49" charset="0"/>
              </a:rPr>
              <a:t>}</a:t>
            </a:r>
            <a:endParaRPr lang="it-IT" dirty="0">
              <a:effectLst/>
              <a:latin typeface="Courier New" panose="02070309020205020404" pitchFamily="49" charset="0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41354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B12621-DC35-D04A-F2ED-547A43BD0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53" y="-358021"/>
            <a:ext cx="7543800" cy="1295400"/>
          </a:xfrm>
        </p:spPr>
        <p:txBody>
          <a:bodyPr/>
          <a:lstStyle/>
          <a:p>
            <a:r>
              <a:rPr lang="it-IT" dirty="0"/>
              <a:t>Esempio (2/2)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AE04ACC-BEA7-09EE-39B1-E49136CE6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764" y="1223169"/>
            <a:ext cx="7848872" cy="4411662"/>
          </a:xfrm>
        </p:spPr>
        <p:txBody>
          <a:bodyPr/>
          <a:lstStyle/>
          <a:p>
            <a:r>
              <a:rPr lang="it-IT" sz="2200" dirty="0"/>
              <a:t>Se la classe Data non è immutabile e fornisce ad esempio i metodi set che consentono di modificare giorno, mese ed anno, un utente della classe Persona </a:t>
            </a:r>
            <a:r>
              <a:rPr lang="it-IT" sz="2200" b="1" dirty="0"/>
              <a:t>potrebbe modificare la variabile di istanza privata </a:t>
            </a:r>
            <a:r>
              <a:rPr lang="it-IT" sz="2200" b="1" dirty="0" err="1"/>
              <a:t>Birthday</a:t>
            </a:r>
            <a:r>
              <a:rPr lang="it-IT" sz="2200" dirty="0"/>
              <a:t> utilizzando tali metodi sul riferimento ritornato da </a:t>
            </a:r>
            <a:r>
              <a:rPr lang="it-IT" sz="2200" dirty="0" err="1"/>
              <a:t>getBirthday</a:t>
            </a:r>
            <a:r>
              <a:rPr lang="it-IT" sz="2200" dirty="0"/>
              <a:t>! </a:t>
            </a:r>
          </a:p>
          <a:p>
            <a:r>
              <a:rPr lang="it-IT" sz="2400" dirty="0"/>
              <a:t>Questo fenomeno è detto </a:t>
            </a:r>
            <a:r>
              <a:rPr lang="it-IT" sz="2400" dirty="0">
                <a:solidFill>
                  <a:srgbClr val="FF0000"/>
                </a:solidFill>
              </a:rPr>
              <a:t>privacy leak</a:t>
            </a:r>
            <a:endParaRPr lang="it-IT" sz="2400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03383E1-5900-A81A-66DF-F4463561D81B}"/>
              </a:ext>
            </a:extLst>
          </p:cNvPr>
          <p:cNvSpPr txBox="1"/>
          <p:nvPr/>
        </p:nvSpPr>
        <p:spPr>
          <a:xfrm>
            <a:off x="757494" y="4437112"/>
            <a:ext cx="7629012" cy="9233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b="1" dirty="0">
                <a:latin typeface="Courier New" panose="02070309020205020404" pitchFamily="49" charset="0"/>
              </a:rPr>
              <a:t>Persona</a:t>
            </a:r>
            <a:r>
              <a:rPr lang="it-IT" b="1" dirty="0">
                <a:effectLst/>
                <a:latin typeface="Courier New" panose="02070309020205020404" pitchFamily="49" charset="0"/>
              </a:rPr>
              <a:t> </a:t>
            </a:r>
            <a:r>
              <a:rPr lang="it-IT" b="1" dirty="0" err="1">
                <a:latin typeface="Courier New" panose="02070309020205020404" pitchFamily="49" charset="0"/>
              </a:rPr>
              <a:t>mario</a:t>
            </a:r>
            <a:r>
              <a:rPr lang="it-IT" b="1" dirty="0">
                <a:effectLst/>
                <a:latin typeface="Courier New" panose="02070309020205020404" pitchFamily="49" charset="0"/>
              </a:rPr>
              <a:t> = ...;</a:t>
            </a:r>
            <a:endParaRPr lang="it-IT" dirty="0">
              <a:effectLst/>
              <a:latin typeface="Courier New" panose="02070309020205020404" pitchFamily="49" charset="0"/>
            </a:endParaRPr>
          </a:p>
          <a:p>
            <a:r>
              <a:rPr lang="it-IT" b="1" dirty="0">
                <a:effectLst/>
                <a:latin typeface="Courier New" panose="02070309020205020404" pitchFamily="49" charset="0"/>
              </a:rPr>
              <a:t>Data d = </a:t>
            </a:r>
            <a:r>
              <a:rPr lang="it-IT" b="1" dirty="0" err="1">
                <a:latin typeface="Courier New" panose="02070309020205020404" pitchFamily="49" charset="0"/>
              </a:rPr>
              <a:t>mario</a:t>
            </a:r>
            <a:r>
              <a:rPr lang="it-IT" b="1" dirty="0" err="1">
                <a:effectLst/>
                <a:latin typeface="Courier New" panose="02070309020205020404" pitchFamily="49" charset="0"/>
              </a:rPr>
              <a:t>.getBirthday</a:t>
            </a:r>
            <a:r>
              <a:rPr lang="it-IT" b="1" dirty="0">
                <a:effectLst/>
                <a:latin typeface="Courier New" panose="02070309020205020404" pitchFamily="49" charset="0"/>
              </a:rPr>
              <a:t>();</a:t>
            </a:r>
            <a:endParaRPr lang="it-IT" dirty="0">
              <a:effectLst/>
              <a:latin typeface="Courier New" panose="02070309020205020404" pitchFamily="49" charset="0"/>
            </a:endParaRPr>
          </a:p>
          <a:p>
            <a:r>
              <a:rPr lang="it-IT" b="1" dirty="0" err="1">
                <a:effectLst/>
                <a:latin typeface="Courier New" panose="02070309020205020404" pitchFamily="49" charset="0"/>
              </a:rPr>
              <a:t>d.setGiorno</a:t>
            </a:r>
            <a:r>
              <a:rPr lang="it-IT" b="1" dirty="0">
                <a:effectLst/>
                <a:latin typeface="Courier New" panose="02070309020205020404" pitchFamily="49" charset="0"/>
              </a:rPr>
              <a:t>(10); //cambia la data di nascita di </a:t>
            </a:r>
            <a:r>
              <a:rPr lang="it-IT" b="1" dirty="0" err="1">
                <a:effectLst/>
                <a:latin typeface="Courier New" panose="02070309020205020404" pitchFamily="49" charset="0"/>
              </a:rPr>
              <a:t>mario</a:t>
            </a:r>
            <a:r>
              <a:rPr lang="it-IT" b="1" dirty="0">
                <a:effectLst/>
                <a:latin typeface="Courier New" panose="02070309020205020404" pitchFamily="49" charset="0"/>
              </a:rPr>
              <a:t>!</a:t>
            </a:r>
            <a:endParaRPr lang="it-IT" dirty="0"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9806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ADA39C-1D91-40A2-92B5-B469AEF6E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621" y="-315416"/>
            <a:ext cx="7543800" cy="1295400"/>
          </a:xfrm>
        </p:spPr>
        <p:txBody>
          <a:bodyPr/>
          <a:lstStyle/>
          <a:p>
            <a:r>
              <a:rPr lang="it-IT" dirty="0"/>
              <a:t>Classi e privacy leak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3A4BBC5-6196-2116-3F13-6092B1F79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484784"/>
            <a:ext cx="8229600" cy="4411662"/>
          </a:xfrm>
        </p:spPr>
        <p:txBody>
          <a:bodyPr/>
          <a:lstStyle/>
          <a:p>
            <a:r>
              <a:rPr lang="it-IT" sz="2400" dirty="0"/>
              <a:t>Ci sono diversi modi per evitare i privacy leak. </a:t>
            </a:r>
            <a:r>
              <a:rPr lang="it-IT" sz="2400" i="1" dirty="0"/>
              <a:t>Alcuni </a:t>
            </a:r>
            <a:r>
              <a:rPr lang="it-IT" sz="2400" dirty="0"/>
              <a:t>sono i seguenti:</a:t>
            </a:r>
          </a:p>
          <a:p>
            <a:pPr lvl="1"/>
            <a:r>
              <a:rPr lang="it-IT" sz="2000" dirty="0"/>
              <a:t>Il modo più semplice è utilizzare come variabili di istanza solo tipi primitivi, ma questa è una limitazione molto forte</a:t>
            </a:r>
          </a:p>
          <a:p>
            <a:pPr lvl="1"/>
            <a:r>
              <a:rPr lang="it-IT" sz="2000" dirty="0"/>
              <a:t>Un altro modo è evitare che il metodo </a:t>
            </a:r>
            <a:r>
              <a:rPr lang="it-IT" sz="2000" dirty="0" err="1"/>
              <a:t>get</a:t>
            </a:r>
            <a:r>
              <a:rPr lang="it-IT" sz="2000" dirty="0"/>
              <a:t> restituisca un riferimento all’oggetto, </a:t>
            </a:r>
            <a:r>
              <a:rPr lang="it-IT" sz="2000" u="sng" dirty="0"/>
              <a:t>ma piuttosto una copia dell’oggetto, cioè ad un suo clone (vedremo più avanti)</a:t>
            </a:r>
          </a:p>
          <a:p>
            <a:pPr lvl="1"/>
            <a:r>
              <a:rPr lang="it-IT" sz="2000" dirty="0"/>
              <a:t>In alternativa un modo per rendere immutabili delle variabili di istanza è dichiararle </a:t>
            </a:r>
            <a:r>
              <a:rPr lang="it-IT" sz="2000" dirty="0" err="1">
                <a:solidFill>
                  <a:srgbClr val="FF0000"/>
                </a:solidFill>
              </a:rPr>
              <a:t>final</a:t>
            </a:r>
            <a:r>
              <a:rPr lang="it-IT" sz="2000" dirty="0"/>
              <a:t> (introducendo però anche in questo caso evidenti limitazioni del loro uso anche da parte della classe)</a:t>
            </a:r>
          </a:p>
          <a:p>
            <a:pPr lvl="1"/>
            <a:r>
              <a:rPr lang="it-IT" sz="2000" dirty="0"/>
              <a:t>Un altro modo ancora è utilizzare solo riferimenti a oggetti immutabili. Notiamo che la variabile di istanza </a:t>
            </a:r>
            <a:r>
              <a:rPr lang="it-IT" sz="2000" i="1" dirty="0"/>
              <a:t>nome</a:t>
            </a:r>
            <a:r>
              <a:rPr lang="it-IT" sz="2000" dirty="0"/>
              <a:t> nell’esempio persona non presenta questo problema perché … in Java le stringhe sono immutabili!!!</a:t>
            </a:r>
          </a:p>
          <a:p>
            <a:pPr marL="0" indent="0">
              <a:buNone/>
            </a:pP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41526079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DCB421-3055-B4DE-4989-BA94B9DAB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Riferimenti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B5B64D3-990B-5BF0-F32D-B74C92E1B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altLang="en-US" dirty="0"/>
              <a:t>Programmare in Java: </a:t>
            </a:r>
            <a:r>
              <a:rPr lang="it-IT" dirty="0"/>
              <a:t>Capitolo 8, </a:t>
            </a:r>
            <a:br>
              <a:rPr lang="it-IT" dirty="0"/>
            </a:br>
            <a:r>
              <a:rPr lang="it-IT" dirty="0"/>
              <a:t>§8.3, §8.4, §8.5, §8.6, §8.7, §8.11, §8.13</a:t>
            </a:r>
          </a:p>
          <a:p>
            <a:r>
              <a:rPr lang="it-IT" dirty="0" err="1"/>
              <a:t>Savitch</a:t>
            </a:r>
            <a:r>
              <a:rPr lang="it-IT"/>
              <a:t>: Capitoli 8 e 9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7406494"/>
      </p:ext>
    </p:extLst>
  </p:cSld>
  <p:clrMapOvr>
    <a:masterClrMapping/>
  </p:clrMapOvr>
</p:sld>
</file>

<file path=ppt/theme/theme1.xml><?xml version="1.0" encoding="utf-8"?>
<a:theme xmlns:a="http://schemas.openxmlformats.org/drawingml/2006/main" name="Rete">
  <a:themeElements>
    <a:clrScheme name="Rete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Re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Rete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te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75877EE1B70A4284EAAAD4F5DAB5A8" ma:contentTypeVersion="3" ma:contentTypeDescription="Create a new document." ma:contentTypeScope="" ma:versionID="f90efe8b9a013048999e04d4d7cbb7e6">
  <xsd:schema xmlns:xsd="http://www.w3.org/2001/XMLSchema" xmlns:xs="http://www.w3.org/2001/XMLSchema" xmlns:p="http://schemas.microsoft.com/office/2006/metadata/properties" xmlns:ns2="26b08820-12d9-4581-8254-4e993db2160e" targetNamespace="http://schemas.microsoft.com/office/2006/metadata/properties" ma:root="true" ma:fieldsID="f6cef277e2c68d9d910b222ad249d322" ns2:_="">
    <xsd:import namespace="26b08820-12d9-4581-8254-4e993db216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b08820-12d9-4581-8254-4e993db216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E0D556-2660-47B1-A57E-F73B2C4011E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A059795-F0A5-4E7A-97EF-A65D40A3BC7A}">
  <ds:schemaRefs>
    <ds:schemaRef ds:uri="http://schemas.microsoft.com/office/2006/metadata/properties"/>
    <ds:schemaRef ds:uri="http://schemas.microsoft.com/office/infopath/2007/PartnerControls"/>
    <ds:schemaRef ds:uri="35be80a6-5618-4845-bacd-cf0098900a47"/>
    <ds:schemaRef ds:uri="17cb46fe-fb09-4fdf-a472-4e2c88d31c8c"/>
  </ds:schemaRefs>
</ds:datastoreItem>
</file>

<file path=customXml/itemProps3.xml><?xml version="1.0" encoding="utf-8"?>
<ds:datastoreItem xmlns:ds="http://schemas.openxmlformats.org/officeDocument/2006/customXml" ds:itemID="{05FE1FF8-5384-4538-9F15-F3AF60184F77}"/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22087</TotalTime>
  <Words>3388</Words>
  <Application>Microsoft Macintosh PowerPoint</Application>
  <PresentationFormat>Presentazione su schermo (4:3)</PresentationFormat>
  <Paragraphs>285</Paragraphs>
  <Slides>29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29</vt:i4>
      </vt:variant>
    </vt:vector>
  </HeadingPairs>
  <TitlesOfParts>
    <vt:vector size="36" baseType="lpstr">
      <vt:lpstr>Arial</vt:lpstr>
      <vt:lpstr>Calibri</vt:lpstr>
      <vt:lpstr>Courier New</vt:lpstr>
      <vt:lpstr>Times New Roman</vt:lpstr>
      <vt:lpstr>Verdana</vt:lpstr>
      <vt:lpstr>Wingdings</vt:lpstr>
      <vt:lpstr>Rete</vt:lpstr>
      <vt:lpstr>  Corso di Programmazione</vt:lpstr>
      <vt:lpstr>Metodi e accesso ai membri  </vt:lpstr>
      <vt:lpstr>Il riferimento this</vt:lpstr>
      <vt:lpstr>Uso implicito di this</vt:lpstr>
      <vt:lpstr>Uso esplicito di this</vt:lpstr>
      <vt:lpstr>Copia di oggetti (1/4)</vt:lpstr>
      <vt:lpstr>Effetti della copia tra riferimenti </vt:lpstr>
      <vt:lpstr>Copia di oggetti (3/4)</vt:lpstr>
      <vt:lpstr>Copia di oggetti (4/4)</vt:lpstr>
      <vt:lpstr>Confronto tra oggetti</vt:lpstr>
      <vt:lpstr>Classe Counter: equals</vt:lpstr>
      <vt:lpstr>Classe Counter: not_equal</vt:lpstr>
      <vt:lpstr>Counter: not_equal</vt:lpstr>
      <vt:lpstr>Membri static: variabili di classe</vt:lpstr>
      <vt:lpstr>Membri static: variabili di classe</vt:lpstr>
      <vt:lpstr>Membri static: metodi statici</vt:lpstr>
      <vt:lpstr>Counter: contatore di istanze</vt:lpstr>
      <vt:lpstr>Membri static: osservazioni</vt:lpstr>
      <vt:lpstr>Variabili di istanza costanti</vt:lpstr>
      <vt:lpstr>Variabili di istanza final</vt:lpstr>
      <vt:lpstr>Classe Counter: versione aggiornata</vt:lpstr>
      <vt:lpstr>Presentazione standard di PowerPoint</vt:lpstr>
      <vt:lpstr>Classe di prova – versione 5 (continua)</vt:lpstr>
      <vt:lpstr>Classe di prova – versione 5</vt:lpstr>
      <vt:lpstr>Classi e Oggetti Immutabili</vt:lpstr>
      <vt:lpstr>Esempio (1/2)</vt:lpstr>
      <vt:lpstr>Esempio (2/2)</vt:lpstr>
      <vt:lpstr>Classi e privacy leak</vt:lpstr>
      <vt:lpstr>Riferimenti</vt:lpstr>
    </vt:vector>
  </TitlesOfParts>
  <Company>la pulce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Nessun titolo diapositiva</dc:title>
  <dc:creator>domenique</dc:creator>
  <cp:lastModifiedBy>VALERIA VITTORINI</cp:lastModifiedBy>
  <cp:revision>103</cp:revision>
  <cp:lastPrinted>1999-11-19T14:12:44Z</cp:lastPrinted>
  <dcterms:created xsi:type="dcterms:W3CDTF">1999-10-30T10:20:48Z</dcterms:created>
  <dcterms:modified xsi:type="dcterms:W3CDTF">2025-03-26T12:04:25Z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2023-11-30T08:44:01Z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c4a52107-c177-479a-bcd7-dbf9d4e988dd</vt:lpwstr>
  </property>
  <property fmtid="{D5CDD505-2E9C-101B-9397-08002B2CF9AE}" pid="8" name="MSIP_Label_2ad0b24d-6422-44b0-b3de-abb3a9e8c81a_ContentBits">
    <vt:lpwstr>0</vt:lpwstr>
  </property>
  <property fmtid="{D5CDD505-2E9C-101B-9397-08002B2CF9AE}" pid="9" name="ContentTypeId">
    <vt:lpwstr>0x010100C075877EE1B70A4284EAAAD4F5DAB5A8</vt:lpwstr>
  </property>
  <property fmtid="{D5CDD505-2E9C-101B-9397-08002B2CF9AE}" pid="10" name="MediaServiceImageTags">
    <vt:lpwstr/>
  </property>
</Properties>
</file>